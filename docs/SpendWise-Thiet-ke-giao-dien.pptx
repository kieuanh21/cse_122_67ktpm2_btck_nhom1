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slide thiết kế giao diện SpendWise gồm 27 trang: 6 trang bối cảnh và hệ thống thiết kế, 19 trang màn hình, 1 trang bàn giao. Mỗi màn hình đều ghi rõ mục tiêu, CRUD, trạng thái, tương tác và mã video 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này chốt lại vấn đề và mục tiêu. Bốn điểm đau P1–P4 ánh xạ trực tiếp vào bốn nhóm tính năng: phân loại, mục tiêu, dashboard có giải thích và cảnh báo bất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vai trò, nhưng không phải bốn website con. Dùng chung design system, dữ liệu mô phỏng và quy ước trạng thái. SV1 phụ trách người dùng và màn hình dùng chung; SV2 phụ trách coach và lớp JavaScript/dữ liệu; SV3 phụ trách moderator, admin và tích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cộng 19 tệp HTML. Mười hai màn hình theo đúng tên tệp trong đề, thêm user-budgets vì nghiệp vụ ngân sách cần màn hình riêng, và sáu màn hình dùng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system được tách thành một tệp css/style.css dùng chung cho cả 19 màn hình, nên giao diện luôn nhất quán và chỉ cần sửa một nơi. Màu chính xanh #059669, phụ hổ phách #F59E0B; chữ Inter/Segoe UI; bo góc 8–12 px; breakpoint 960 và 640.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Hành trình tổng quát 8 bước áp dụng cho cả bốn vai trò. Ba làn bên dưới cho thấy điểm khác nhau: người dùng tạo dữ liệu, coach duyệt và tư vấn, moderator/admin kiểm soát chất lượng và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quan trọng khi bảo vệ: chín trạng thái và bảy bước hợp đồng AI. Điểm khác biệt so với CRUD thường là AI luôn có giải thích, có độ tin cậy, có đường thoát và không tự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chủ là điểm vào công khai. Bốn thẻ vai trò dẫn thẳng vào màn hình đầu tiên của mỗi vai trò; khối AI giới thiệu ba tính năng nhưng không gọi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Đăng nhập gộp hai trạng thái quan trọng: lỗi xác thực và tài khoản bị khoá. Bốn nút đăng nhập nhanh giúp giảng viên chuyển vai trò trong lúc bảo vệ mà không phải nhập mật khẩu.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đăng ký thể hiện hai trạng thái cùng lúc: lỗi email trùng và khối thành công. Mật khẩu tối thiểu 6 ký tự, xác nhận mật khẩu phải khớp, điều khoản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quên mật khẩu cố tình trả lời trung tính để tránh dò email. Nút gửi lại bị vô hiệu hoá trong 60 giây là ví dụ về trạng thái disabled có mục đích.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 không chỉ là trang lỗi. Nó giải thích ai đang đăng nhập, vì sao bị chặn và đưa ra hai lối thoát: về đúng vai trò hoặc đổi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 giữ tông thân thiện, có ô tìm kiếm và bốn liên kết nhanh. Đây là màn hình dùng chung nên không phụ thuộc vai trò.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tính bốn KPI trực tiếp từ transactions, goals và budgets của người đang đăng nhập. Với Minh: chi 1.620.000, thu 3.000.000, tiết kiệm 6.500.000, ngân sách còn 335.000. AI-2 nằm ngay dưới biểu đồ để nối số liệu với hành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giao dịch có tám dòng để thấy cả trạng thái hoạt động và lưu trữ. AI-1 không nằm trong ô chat riêng mà xuất hiện ngay dưới bảng, gắn với một giao dịch cụ thể và có nút áp dụng hoặc từ chối.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thẻ mục tiêu thể hiện ba trạng thái: đang thực hiện, hoàn thành và đã huỷ. Panel AI-3 cho thấy kế hoạch có thể không đạt 100% và nói rõ lý do, thay vì hứa hẹn một con số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Ngân sách là nơi hai vai trò gặp nhau: người dùng tạo và sửa hạn mức, coach duyệt hoặc yêu cầu chỉnh sửa kèm ghi chú. Ba trạng thái được đặt cạnh nhau để thấy luồng duyệt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học viên ưu tiên tín hiệu hành động: ai có ngân sách chờ, ai cần chú ý. Bảo đang bị khoá nên thẻ có nền xám và nhãn đỏ, thể hiện trạng thái nghiệp vụ chứ không chỉ là màu trang trí.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yêu cầu chờ duyệt và một panel ghi chú ở cạnh phải. Nút Duyệt cập nhật trạng thái ngay; nút Yêu cầu chỉnh sửa mở form bắt buộc lý do, đồng thời tạo coachNote để học viên nhìn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nguyên đi qua ba trạng thái: nháp, chờ kiểm duyệt, xuất bản. Coach không tự xuất bản; quyền quyết định cuối thuộc kiểm duyệt viên, thể hiện đúng phân quyền của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duyệt viên thấy nội dung trước, quyết định ở cạnh phải. Từ chối bắt buộc lý do; lý do này được ghi vào tài nguyên và hiển thị cho coach, không phải thông báo qua email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mẫu AI cho thấy kiểm duyệt viên không chỉ bật/tắt mà còn chạy thử với dữ liệu mẫu. Kết quả thử có độ tin cậy, lý do và nút áp dụng; lỗi prompt rỗng được mô tả ngay dưới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phản hồi mẫu đại diện ba trạng thái. Tab đếm số lượng, thẻ có ưu tiên và loại, panel phải là nơi phản hồi và chuyển trạng thái; lưu trữ thay vì xoá cứng.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mục là dữ liệu dùng chung nên không xoá cứng. Màn hình tách rõ danh mục đang hoạt động và đã lưu trữ, kèm số lượt dùng để quản trị viên biết danh mục nào quan trọng.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người dùng có đủ sáu tài khoản, ba vai trò và trạng thái khoá. Hộp xác nhận khoá nằm ngay dưới bảng để thấy thao tác nguy hiểm luôn cần bước xác nhận thứ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điều khiển hệ thống là nơi duy nhất admin thấy toàn bộ số liệu. Bốn KPI khớp dữ liệu mẫu: 6 tài khoản, 17 giao dịch hoạt động, 1 tài nguyên xuất bản, 2 phản hồi chưa xử lý xong. Form gửi thông báo thể hiện thao tác C duy nhất ở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cuối chốt định nghĩa DONE và phân công. Điểm cần nhấn: không có màn hình nào chỉ do một người làm phần HTML hay phần JS; mỗi sinh viên phải có một lát cắt end-to-end và một trách nhiệm xuyên suốt.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E22"/>
        </a:solidFill>
      </p:bgPr>
    </p:bg>
    <p:spTree>
      <p:nvGrpSpPr>
        <p:cNvPr id="1" name=""/>
        <p:cNvGrpSpPr/>
        <p:nvPr/>
      </p:nvGrpSpPr>
      <p:grpSpPr>
        <a:xfrm>
          <a:off x="0" y="0"/>
          <a:ext cx="0" cy="0"/>
          <a:chOff x="0" y="0"/>
          <a:chExt cx="0" cy="0"/>
        </a:xfrm>
      </p:grpSpPr>
      <p:sp>
        <p:nvSpPr>
          <p:cNvPr id="2" name="Shape 0"/>
          <p:cNvSpPr/>
          <p:nvPr/>
        </p:nvSpPr>
        <p:spPr>
          <a:xfrm>
            <a:off x="8096250" y="762000"/>
            <a:ext cx="4953000" cy="4953000"/>
          </a:xfrm>
          <a:prstGeom prst="donut">
            <a:avLst/>
          </a:prstGeom>
          <a:solidFill>
            <a:srgbClr val="0B4A36"/>
          </a:solidFill>
          <a:ln/>
        </p:spPr>
      </p:sp>
      <p:sp>
        <p:nvSpPr>
          <p:cNvPr id="3" name="Shape 1"/>
          <p:cNvSpPr/>
          <p:nvPr/>
        </p:nvSpPr>
        <p:spPr>
          <a:xfrm>
            <a:off x="9048750" y="1714500"/>
            <a:ext cx="3048000" cy="3048000"/>
          </a:xfrm>
          <a:prstGeom prst="ellipse">
            <a:avLst/>
          </a:prstGeom>
          <a:solidFill>
            <a:srgbClr val="052E22"/>
          </a:solidFill>
          <a:ln/>
        </p:spPr>
      </p:sp>
      <p:sp>
        <p:nvSpPr>
          <p:cNvPr id="4" name="Shape 2"/>
          <p:cNvSpPr/>
          <p:nvPr/>
        </p:nvSpPr>
        <p:spPr>
          <a:xfrm>
            <a:off x="11201400" y="800100"/>
            <a:ext cx="685800" cy="685800"/>
          </a:xfrm>
          <a:prstGeom prst="ellipse">
            <a:avLst/>
          </a:prstGeom>
          <a:solidFill>
            <a:srgbClr val="F59E0B"/>
          </a:solidFill>
          <a:ln/>
        </p:spPr>
      </p:sp>
      <p:sp>
        <p:nvSpPr>
          <p:cNvPr id="5" name="Shape 3"/>
          <p:cNvSpPr/>
          <p:nvPr/>
        </p:nvSpPr>
        <p:spPr>
          <a:xfrm>
            <a:off x="8210550" y="5219700"/>
            <a:ext cx="323850" cy="323850"/>
          </a:xfrm>
          <a:prstGeom prst="ellipse">
            <a:avLst/>
          </a:prstGeom>
          <a:solidFill>
            <a:srgbClr val="059669"/>
          </a:solidFill>
          <a:ln/>
        </p:spPr>
      </p:sp>
      <p:sp>
        <p:nvSpPr>
          <p:cNvPr id="6" name="Text 4"/>
          <p:cNvSpPr txBox="1"/>
          <p:nvPr/>
        </p:nvSpPr>
        <p:spPr>
          <a:xfrm>
            <a:off x="9334500" y="2495550"/>
            <a:ext cx="2476500" cy="1428750"/>
          </a:xfrm>
          <a:prstGeom prst="rect">
            <a:avLst/>
          </a:prstGeom>
          <a:noFill/>
          <a:ln/>
        </p:spPr>
        <p:txBody>
          <a:bodyPr wrap="square" lIns="0" tIns="0" rIns="0" bIns="0" rtlCol="0" anchor="ctr"/>
          <a:lstStyle/>
          <a:p>
            <a:pPr algn="ctr" indent="0" marL="0">
              <a:lnSpc>
                <a:spcPct val="106000"/>
              </a:lnSpc>
              <a:buNone/>
            </a:pPr>
            <a:r>
              <a:rPr lang="en-US" sz="11600" b="1" dirty="0">
                <a:solidFill>
                  <a:srgbClr val="FFFFFF"/>
                </a:solidFill>
                <a:latin typeface="Segoe UI" pitchFamily="34" charset="0"/>
                <a:ea typeface="Segoe UI" pitchFamily="34" charset="-122"/>
                <a:cs typeface="Segoe UI" pitchFamily="34" charset="-120"/>
              </a:rPr>
              <a:t>19</a:t>
            </a:r>
            <a:endParaRPr lang="en-US" sz="11600" dirty="0"/>
          </a:p>
        </p:txBody>
      </p:sp>
      <p:sp>
        <p:nvSpPr>
          <p:cNvPr id="7" name="Text 5"/>
          <p:cNvSpPr txBox="1"/>
          <p:nvPr/>
        </p:nvSpPr>
        <p:spPr>
          <a:xfrm>
            <a:off x="9334500" y="4038600"/>
            <a:ext cx="2476500" cy="266700"/>
          </a:xfrm>
          <a:prstGeom prst="rect">
            <a:avLst/>
          </a:prstGeom>
          <a:noFill/>
          <a:ln/>
        </p:spPr>
        <p:txBody>
          <a:bodyPr wrap="square" lIns="0" tIns="0" rIns="0" bIns="0" rtlCol="0" anchor="t"/>
          <a:lstStyle/>
          <a:p>
            <a:pPr algn="ctr" indent="0" marL="0">
              <a:lnSpc>
                <a:spcPct val="106000"/>
              </a:lnSpc>
              <a:buNone/>
            </a:pPr>
            <a:r>
              <a:rPr lang="en-US" sz="1700" dirty="0">
                <a:solidFill>
                  <a:srgbClr val="A7F3D0"/>
                </a:solidFill>
                <a:latin typeface="Segoe UI" pitchFamily="34" charset="0"/>
                <a:ea typeface="Segoe UI" pitchFamily="34" charset="-122"/>
                <a:cs typeface="Segoe UI" pitchFamily="34" charset="-120"/>
              </a:rPr>
              <a:t>màn hình</a:t>
            </a:r>
            <a:endParaRPr lang="en-US" sz="1700" dirty="0"/>
          </a:p>
        </p:txBody>
      </p:sp>
      <p:sp>
        <p:nvSpPr>
          <p:cNvPr id="8" name="Text 6"/>
          <p:cNvSpPr txBox="1"/>
          <p:nvPr/>
        </p:nvSpPr>
        <p:spPr>
          <a:xfrm>
            <a:off x="762000" y="1390650"/>
            <a:ext cx="5905500" cy="209550"/>
          </a:xfrm>
          <a:prstGeom prst="rect">
            <a:avLst/>
          </a:prstGeom>
          <a:noFill/>
          <a:ln/>
        </p:spPr>
        <p:txBody>
          <a:bodyPr wrap="square" lIns="0" tIns="0" rIns="0" bIns="0" rtlCol="0" anchor="t"/>
          <a:lstStyle/>
          <a:p>
            <a:pPr algn="l" indent="0" marL="0">
              <a:lnSpc>
                <a:spcPct val="106000"/>
              </a:lnSpc>
              <a:buNone/>
            </a:pPr>
            <a:r>
              <a:rPr lang="en-US" sz="1150" b="1" spc="100" kern="0" dirty="0">
                <a:solidFill>
                  <a:srgbClr val="F59E0B"/>
                </a:solidFill>
                <a:latin typeface="Segoe UI" pitchFamily="34" charset="0"/>
                <a:ea typeface="Segoe UI" pitchFamily="34" charset="-122"/>
                <a:cs typeface="Segoe UI" pitchFamily="34" charset="-120"/>
              </a:rPr>
              <a:t>BTL-18 · CSE122 · NHÓM 3 SINH VIÊN</a:t>
            </a:r>
            <a:endParaRPr lang="en-US" sz="1150" dirty="0"/>
          </a:p>
        </p:txBody>
      </p:sp>
      <p:sp>
        <p:nvSpPr>
          <p:cNvPr id="9" name="Text 7"/>
          <p:cNvSpPr txBox="1"/>
          <p:nvPr/>
        </p:nvSpPr>
        <p:spPr>
          <a:xfrm>
            <a:off x="762000" y="1733550"/>
            <a:ext cx="7239000" cy="990600"/>
          </a:xfrm>
          <a:prstGeom prst="rect">
            <a:avLst/>
          </a:prstGeom>
          <a:noFill/>
          <a:ln/>
        </p:spPr>
        <p:txBody>
          <a:bodyPr wrap="square" lIns="0" tIns="0" rIns="0" bIns="0" rtlCol="0" anchor="t"/>
          <a:lstStyle/>
          <a:p>
            <a:pPr algn="l" indent="0" marL="0">
              <a:lnSpc>
                <a:spcPct val="106000"/>
              </a:lnSpc>
              <a:buNone/>
            </a:pPr>
            <a:r>
              <a:rPr lang="en-US" sz="7400" b="1" dirty="0">
                <a:solidFill>
                  <a:srgbClr val="FFFFFF"/>
                </a:solidFill>
                <a:latin typeface="Segoe UI" pitchFamily="34" charset="0"/>
                <a:ea typeface="Segoe UI" pitchFamily="34" charset="-122"/>
                <a:cs typeface="Segoe UI" pitchFamily="34" charset="-120"/>
              </a:rPr>
              <a:t>SpendWise</a:t>
            </a:r>
            <a:endParaRPr lang="en-US" sz="7400" dirty="0"/>
          </a:p>
        </p:txBody>
      </p:sp>
      <p:sp>
        <p:nvSpPr>
          <p:cNvPr id="10" name="Text 8"/>
          <p:cNvSpPr txBox="1"/>
          <p:nvPr/>
        </p:nvSpPr>
        <p:spPr>
          <a:xfrm>
            <a:off x="762000" y="2819400"/>
            <a:ext cx="6858000" cy="381000"/>
          </a:xfrm>
          <a:prstGeom prst="rect">
            <a:avLst/>
          </a:prstGeom>
          <a:noFill/>
          <a:ln/>
        </p:spPr>
        <p:txBody>
          <a:bodyPr wrap="square" lIns="0" tIns="0" rIns="0" bIns="0" rtlCol="0" anchor="t"/>
          <a:lstStyle/>
          <a:p>
            <a:pPr algn="l" indent="0" marL="0">
              <a:lnSpc>
                <a:spcPct val="106000"/>
              </a:lnSpc>
              <a:buNone/>
            </a:pPr>
            <a:r>
              <a:rPr lang="en-US" sz="2500" dirty="0">
                <a:solidFill>
                  <a:srgbClr val="D1FAE5"/>
                </a:solidFill>
                <a:latin typeface="Segoe UI" pitchFamily="34" charset="0"/>
                <a:ea typeface="Segoe UI" pitchFamily="34" charset="-122"/>
                <a:cs typeface="Segoe UI" pitchFamily="34" charset="-120"/>
              </a:rPr>
              <a:t>Thiết kế giao diện trước khi viết mã</a:t>
            </a:r>
            <a:endParaRPr lang="en-US" sz="2500" dirty="0"/>
          </a:p>
        </p:txBody>
      </p:sp>
      <p:sp>
        <p:nvSpPr>
          <p:cNvPr id="11" name="Text 9"/>
          <p:cNvSpPr txBox="1"/>
          <p:nvPr/>
        </p:nvSpPr>
        <p:spPr>
          <a:xfrm>
            <a:off x="762000" y="3371850"/>
            <a:ext cx="7048500" cy="247650"/>
          </a:xfrm>
          <a:prstGeom prst="rect">
            <a:avLst/>
          </a:prstGeom>
          <a:noFill/>
          <a:ln/>
        </p:spPr>
        <p:txBody>
          <a:bodyPr wrap="square" lIns="0" tIns="0" rIns="0" bIns="0" rtlCol="0" anchor="t"/>
          <a:lstStyle/>
          <a:p>
            <a:pPr algn="l" indent="0" marL="0">
              <a:lnSpc>
                <a:spcPct val="106000"/>
              </a:lnSpc>
              <a:buNone/>
            </a:pPr>
            <a:r>
              <a:rPr lang="en-US" sz="1300" dirty="0">
                <a:solidFill>
                  <a:srgbClr val="A7F3D0"/>
                </a:solidFill>
                <a:latin typeface="Segoe UI" pitchFamily="34" charset="0"/>
                <a:ea typeface="Segoe UI" pitchFamily="34" charset="-122"/>
                <a:cs typeface="Segoe UI" pitchFamily="34" charset="-120"/>
              </a:rPr>
              <a:t>4 vai trò · 19 màn hình · 3 tính năng AI có giải thích và trạng thái thất bại</a:t>
            </a:r>
            <a:endParaRPr lang="en-US" sz="1300" dirty="0"/>
          </a:p>
        </p:txBody>
      </p:sp>
      <p:sp>
        <p:nvSpPr>
          <p:cNvPr id="12" name="Shape 10"/>
          <p:cNvSpPr/>
          <p:nvPr/>
        </p:nvSpPr>
        <p:spPr>
          <a:xfrm>
            <a:off x="762000" y="5429250"/>
            <a:ext cx="6667500" cy="9525"/>
          </a:xfrm>
          <a:prstGeom prst="rect">
            <a:avLst/>
          </a:prstGeom>
          <a:solidFill>
            <a:srgbClr val="14513C"/>
          </a:solidFill>
          <a:ln/>
        </p:spPr>
      </p:sp>
      <p:sp>
        <p:nvSpPr>
          <p:cNvPr id="13" name="Text 11"/>
          <p:cNvSpPr txBox="1"/>
          <p:nvPr/>
        </p:nvSpPr>
        <p:spPr>
          <a:xfrm>
            <a:off x="762000" y="5638800"/>
            <a:ext cx="2095500" cy="190500"/>
          </a:xfrm>
          <a:prstGeom prst="rect">
            <a:avLst/>
          </a:prstGeom>
          <a:noFill/>
          <a:ln/>
        </p:spPr>
        <p:txBody>
          <a:bodyPr wrap="square" lIns="0" tIns="0" rIns="0" bIns="0" rtlCol="0" anchor="t"/>
          <a:lstStyle/>
          <a:p>
            <a:pPr algn="l" indent="0" marL="0">
              <a:lnSpc>
                <a:spcPct val="106000"/>
              </a:lnSpc>
              <a:buNone/>
            </a:pPr>
            <a:r>
              <a:rPr lang="en-US" sz="1050" b="1" dirty="0">
                <a:solidFill>
                  <a:srgbClr val="6EE7B7"/>
                </a:solidFill>
                <a:latin typeface="Segoe UI" pitchFamily="34" charset="0"/>
                <a:ea typeface="Segoe UI" pitchFamily="34" charset="-122"/>
                <a:cs typeface="Segoe UI" pitchFamily="34" charset="-120"/>
              </a:rPr>
              <a:t>Figma / wireframe</a:t>
            </a:r>
            <a:endParaRPr lang="en-US" sz="1050" dirty="0"/>
          </a:p>
        </p:txBody>
      </p:sp>
      <p:sp>
        <p:nvSpPr>
          <p:cNvPr id="14" name="Text 12"/>
          <p:cNvSpPr txBox="1"/>
          <p:nvPr/>
        </p:nvSpPr>
        <p:spPr>
          <a:xfrm>
            <a:off x="762000" y="5905500"/>
            <a:ext cx="4191000" cy="190500"/>
          </a:xfrm>
          <a:prstGeom prst="rect">
            <a:avLst/>
          </a:prstGeom>
          <a:noFill/>
          <a:ln/>
        </p:spPr>
        <p:txBody>
          <a:bodyPr wrap="square" lIns="0" tIns="0" rIns="0" bIns="0" rtlCol="0" anchor="t"/>
          <a:lstStyle/>
          <a:p>
            <a:pPr algn="l" indent="0" marL="0">
              <a:lnSpc>
                <a:spcPct val="106000"/>
              </a:lnSpc>
              <a:buNone/>
            </a:pPr>
            <a:r>
              <a:rPr lang="en-US" sz="1050" dirty="0">
                <a:solidFill>
                  <a:srgbClr val="6EE7B7"/>
                </a:solidFill>
                <a:latin typeface="Segoe UI" pitchFamily="34" charset="0"/>
                <a:ea typeface="Segoe UI" pitchFamily="34" charset="-122"/>
                <a:cs typeface="Segoe UI" pitchFamily="34" charset="-120"/>
              </a:rPr>
              <a:t>HTML ngữ nghĩa · CSS responsive · JavaScript · JSON</a:t>
            </a:r>
            <a:endParaRPr lang="en-US" sz="1050" dirty="0"/>
          </a:p>
        </p:txBody>
      </p:sp>
      <p:sp>
        <p:nvSpPr>
          <p:cNvPr id="15" name="Text 13"/>
          <p:cNvSpPr txBox="1"/>
          <p:nvPr/>
        </p:nvSpPr>
        <p:spPr>
          <a:xfrm>
            <a:off x="762000" y="6172200"/>
            <a:ext cx="4191000" cy="190500"/>
          </a:xfrm>
          <a:prstGeom prst="rect">
            <a:avLst/>
          </a:prstGeom>
          <a:noFill/>
          <a:ln/>
        </p:spPr>
        <p:txBody>
          <a:bodyPr wrap="square" lIns="0" tIns="0" rIns="0" bIns="0" rtlCol="0" anchor="t"/>
          <a:lstStyle/>
          <a:p>
            <a:pPr algn="l" indent="0" marL="0">
              <a:lnSpc>
                <a:spcPct val="106000"/>
              </a:lnSpc>
              <a:buNone/>
            </a:pPr>
            <a:r>
              <a:rPr lang="en-US" sz="1050" dirty="0">
                <a:solidFill>
                  <a:srgbClr val="6EE7B7"/>
                </a:solidFill>
                <a:latin typeface="Segoe UI" pitchFamily="34" charset="0"/>
                <a:ea typeface="Segoe UI" pitchFamily="34" charset="-122"/>
                <a:cs typeface="Segoe UI" pitchFamily="34" charset="-120"/>
              </a:rPr>
              <a:t>Công việc ↔ nhánh ↔ commit ↔ PR ↔ OBS</a:t>
            </a:r>
            <a:endParaRPr lang="en-US" sz="1050" dirty="0"/>
          </a:p>
        </p:txBody>
      </p:sp>
      <p:sp>
        <p:nvSpPr>
          <p:cNvPr id="16" name="Text 14"/>
          <p:cNvSpPr txBox="1"/>
          <p:nvPr/>
        </p:nvSpPr>
        <p:spPr>
          <a:xfrm>
            <a:off x="9144000" y="6172200"/>
            <a:ext cx="2286000" cy="190500"/>
          </a:xfrm>
          <a:prstGeom prst="rect">
            <a:avLst/>
          </a:prstGeom>
          <a:noFill/>
          <a:ln/>
        </p:spPr>
        <p:txBody>
          <a:bodyPr wrap="square" lIns="0" tIns="0" rIns="0" bIns="0" rtlCol="0" anchor="t"/>
          <a:lstStyle/>
          <a:p>
            <a:pPr algn="r" indent="0" marL="0">
              <a:lnSpc>
                <a:spcPct val="106000"/>
              </a:lnSpc>
              <a:buNone/>
            </a:pPr>
            <a:r>
              <a:rPr lang="en-US" sz="1050" dirty="0">
                <a:solidFill>
                  <a:srgbClr val="6EE7B7"/>
                </a:solidFill>
                <a:latin typeface="Segoe UI" pitchFamily="34" charset="0"/>
                <a:ea typeface="Segoe UI" pitchFamily="34" charset="-122"/>
                <a:cs typeface="Segoe UI" pitchFamily="34" charset="-120"/>
              </a:rPr>
              <a:t>Tháng 10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715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01 · BỐI CẢNH &amp; MỤC TIÊU</a:t>
            </a:r>
            <a:endParaRPr lang="en-US" sz="950" dirty="0"/>
          </a:p>
        </p:txBody>
      </p:sp>
      <p:sp>
        <p:nvSpPr>
          <p:cNvPr id="3" name="Text 1"/>
          <p:cNvSpPr txBox="1"/>
          <p:nvPr/>
        </p:nvSpPr>
        <p:spPr>
          <a:xfrm>
            <a:off x="571500" y="685800"/>
            <a:ext cx="100965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Từ ghi chép rời rạc đến hành vi tài chính tốt hơn</a:t>
            </a:r>
            <a:endParaRPr lang="en-US" sz="2900" dirty="0"/>
          </a:p>
        </p:txBody>
      </p:sp>
      <p:sp>
        <p:nvSpPr>
          <p:cNvPr id="4" name="Text 2"/>
          <p:cNvSpPr txBox="1"/>
          <p:nvPr/>
        </p:nvSpPr>
        <p:spPr>
          <a:xfrm>
            <a:off x="571500" y="1257300"/>
            <a:ext cx="1000125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Người mới quản lý tài chính biết mình đã tiêu bao nhiêu, nhưng chưa hiểu vì sao và chưa biết điều chỉnh thế nào.</a:t>
            </a:r>
            <a:endParaRPr lang="en-US" sz="1200" dirty="0"/>
          </a:p>
        </p:txBody>
      </p:sp>
      <p:sp>
        <p:nvSpPr>
          <p:cNvPr id="5" name="Shape 3"/>
          <p:cNvSpPr/>
          <p:nvPr/>
        </p:nvSpPr>
        <p:spPr>
          <a:xfrm>
            <a:off x="571500" y="1771650"/>
            <a:ext cx="5238750" cy="4324350"/>
          </a:xfrm>
          <a:prstGeom prst="roundRect">
            <a:avLst>
              <a:gd name="adj" fmla="val 1762"/>
            </a:avLst>
          </a:prstGeom>
          <a:solidFill>
            <a:srgbClr val="FFFFFF"/>
          </a:solidFill>
          <a:ln w="9525">
            <a:solidFill>
              <a:srgbClr val="E2E8F0"/>
            </a:solidFill>
            <a:prstDash val="solid"/>
          </a:ln>
        </p:spPr>
      </p:sp>
      <p:sp>
        <p:nvSpPr>
          <p:cNvPr id="6" name="Text 4"/>
          <p:cNvSpPr txBox="1"/>
          <p:nvPr/>
        </p:nvSpPr>
        <p:spPr>
          <a:xfrm>
            <a:off x="800100" y="1943100"/>
            <a:ext cx="3810000" cy="133350"/>
          </a:xfrm>
          <a:prstGeom prst="rect">
            <a:avLst/>
          </a:prstGeom>
          <a:noFill/>
          <a:ln/>
        </p:spPr>
        <p:txBody>
          <a:bodyPr wrap="square" lIns="0" tIns="0" rIns="0" bIns="0" rtlCol="0" anchor="t"/>
          <a:lstStyle/>
          <a:p>
            <a:pPr algn="l" indent="0" marL="0">
              <a:lnSpc>
                <a:spcPct val="106000"/>
              </a:lnSpc>
              <a:buNone/>
            </a:pPr>
            <a:r>
              <a:rPr lang="en-US" sz="760" b="1" spc="60" kern="0" dirty="0">
                <a:solidFill>
                  <a:srgbClr val="059669"/>
                </a:solidFill>
                <a:latin typeface="Segoe UI" pitchFamily="34" charset="0"/>
                <a:ea typeface="Segoe UI" pitchFamily="34" charset="-122"/>
                <a:cs typeface="Segoe UI" pitchFamily="34" charset="-120"/>
              </a:rPr>
              <a:t>4 ĐIỂM ĐAU NGƯỜI DÙNG</a:t>
            </a:r>
            <a:endParaRPr lang="en-US" sz="760" dirty="0"/>
          </a:p>
        </p:txBody>
      </p:sp>
      <p:sp>
        <p:nvSpPr>
          <p:cNvPr id="7" name="Text 5"/>
          <p:cNvSpPr txBox="1"/>
          <p:nvPr/>
        </p:nvSpPr>
        <p:spPr>
          <a:xfrm>
            <a:off x="800100" y="2324100"/>
            <a:ext cx="381000" cy="247650"/>
          </a:xfrm>
          <a:prstGeom prst="rect">
            <a:avLst/>
          </a:prstGeom>
          <a:noFill/>
          <a:ln/>
        </p:spPr>
        <p:txBody>
          <a:bodyPr wrap="square" lIns="0" tIns="0" rIns="0" bIns="0" rtlCol="0" anchor="t"/>
          <a:lstStyle/>
          <a:p>
            <a:pPr algn="l" indent="0" marL="0">
              <a:lnSpc>
                <a:spcPct val="106000"/>
              </a:lnSpc>
              <a:buNone/>
            </a:pPr>
            <a:r>
              <a:rPr lang="en-US" sz="1900" b="1" dirty="0">
                <a:solidFill>
                  <a:srgbClr val="F59E0B"/>
                </a:solidFill>
                <a:latin typeface="Segoe UI" pitchFamily="34" charset="0"/>
                <a:ea typeface="Segoe UI" pitchFamily="34" charset="-122"/>
                <a:cs typeface="Segoe UI" pitchFamily="34" charset="-120"/>
              </a:rPr>
              <a:t>P1</a:t>
            </a:r>
            <a:endParaRPr lang="en-US" sz="1900" dirty="0"/>
          </a:p>
        </p:txBody>
      </p:sp>
      <p:sp>
        <p:nvSpPr>
          <p:cNvPr id="8" name="Text 6"/>
          <p:cNvSpPr txBox="1"/>
          <p:nvPr/>
        </p:nvSpPr>
        <p:spPr>
          <a:xfrm>
            <a:off x="1219200" y="2314575"/>
            <a:ext cx="4343400" cy="209550"/>
          </a:xfrm>
          <a:prstGeom prst="rect">
            <a:avLst/>
          </a:prstGeom>
          <a:noFill/>
          <a:ln/>
        </p:spPr>
        <p:txBody>
          <a:bodyPr wrap="square" lIns="0" tIns="0" rIns="0" bIns="0" rtlCol="0" anchor="t"/>
          <a:lstStyle/>
          <a:p>
            <a:pPr algn="l" indent="0" marL="0">
              <a:lnSpc>
                <a:spcPct val="106000"/>
              </a:lnSpc>
              <a:buNone/>
            </a:pPr>
            <a:r>
              <a:rPr lang="en-US" sz="1200" b="1" dirty="0">
                <a:solidFill>
                  <a:srgbClr val="0F172A"/>
                </a:solidFill>
                <a:latin typeface="Segoe UI" pitchFamily="34" charset="0"/>
                <a:ea typeface="Segoe UI" pitchFamily="34" charset="-122"/>
                <a:cs typeface="Segoe UI" pitchFamily="34" charset="-120"/>
              </a:rPr>
              <a:t>Giao dịch khó phân loại nhất quán</a:t>
            </a:r>
            <a:endParaRPr lang="en-US" sz="1200" dirty="0"/>
          </a:p>
        </p:txBody>
      </p:sp>
      <p:sp>
        <p:nvSpPr>
          <p:cNvPr id="9" name="Text 7"/>
          <p:cNvSpPr txBox="1"/>
          <p:nvPr/>
        </p:nvSpPr>
        <p:spPr>
          <a:xfrm>
            <a:off x="1219200" y="2552700"/>
            <a:ext cx="4343400" cy="53340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Nhập tay nhanh nhưng danh mục mơ hồ; cùng một khoản chi có thể bị xếp vào nhiều nhóm.</a:t>
            </a:r>
            <a:endParaRPr lang="en-US" sz="920" dirty="0"/>
          </a:p>
        </p:txBody>
      </p:sp>
      <p:sp>
        <p:nvSpPr>
          <p:cNvPr id="10" name="Text 8"/>
          <p:cNvSpPr txBox="1"/>
          <p:nvPr/>
        </p:nvSpPr>
        <p:spPr>
          <a:xfrm>
            <a:off x="800100" y="3238500"/>
            <a:ext cx="381000" cy="247650"/>
          </a:xfrm>
          <a:prstGeom prst="rect">
            <a:avLst/>
          </a:prstGeom>
          <a:noFill/>
          <a:ln/>
        </p:spPr>
        <p:txBody>
          <a:bodyPr wrap="square" lIns="0" tIns="0" rIns="0" bIns="0" rtlCol="0" anchor="t"/>
          <a:lstStyle/>
          <a:p>
            <a:pPr algn="l" indent="0" marL="0">
              <a:lnSpc>
                <a:spcPct val="106000"/>
              </a:lnSpc>
              <a:buNone/>
            </a:pPr>
            <a:r>
              <a:rPr lang="en-US" sz="1900" b="1" dirty="0">
                <a:solidFill>
                  <a:srgbClr val="F59E0B"/>
                </a:solidFill>
                <a:latin typeface="Segoe UI" pitchFamily="34" charset="0"/>
                <a:ea typeface="Segoe UI" pitchFamily="34" charset="-122"/>
                <a:cs typeface="Segoe UI" pitchFamily="34" charset="-120"/>
              </a:rPr>
              <a:t>P2</a:t>
            </a:r>
            <a:endParaRPr lang="en-US" sz="1900" dirty="0"/>
          </a:p>
        </p:txBody>
      </p:sp>
      <p:sp>
        <p:nvSpPr>
          <p:cNvPr id="11" name="Text 9"/>
          <p:cNvSpPr txBox="1"/>
          <p:nvPr/>
        </p:nvSpPr>
        <p:spPr>
          <a:xfrm>
            <a:off x="1219200" y="3228975"/>
            <a:ext cx="4343400" cy="209550"/>
          </a:xfrm>
          <a:prstGeom prst="rect">
            <a:avLst/>
          </a:prstGeom>
          <a:noFill/>
          <a:ln/>
        </p:spPr>
        <p:txBody>
          <a:bodyPr wrap="square" lIns="0" tIns="0" rIns="0" bIns="0" rtlCol="0" anchor="t"/>
          <a:lstStyle/>
          <a:p>
            <a:pPr algn="l" indent="0" marL="0">
              <a:lnSpc>
                <a:spcPct val="106000"/>
              </a:lnSpc>
              <a:buNone/>
            </a:pPr>
            <a:r>
              <a:rPr lang="en-US" sz="1200" b="1" dirty="0">
                <a:solidFill>
                  <a:srgbClr val="0F172A"/>
                </a:solidFill>
                <a:latin typeface="Segoe UI" pitchFamily="34" charset="0"/>
                <a:ea typeface="Segoe UI" pitchFamily="34" charset="-122"/>
                <a:cs typeface="Segoe UI" pitchFamily="34" charset="-120"/>
              </a:rPr>
              <a:t>Mục tiêu tiết kiệm thiếu kế hoạch</a:t>
            </a:r>
            <a:endParaRPr lang="en-US" sz="1200" dirty="0"/>
          </a:p>
        </p:txBody>
      </p:sp>
      <p:sp>
        <p:nvSpPr>
          <p:cNvPr id="12" name="Text 10"/>
          <p:cNvSpPr txBox="1"/>
          <p:nvPr/>
        </p:nvSpPr>
        <p:spPr>
          <a:xfrm>
            <a:off x="1219200" y="3467100"/>
            <a:ext cx="4343400" cy="53340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Có mục tiêu nhưng không biết chia nhỏ theo tuần và có khả thi với thu nhập hiện tại hay không.</a:t>
            </a:r>
            <a:endParaRPr lang="en-US" sz="920" dirty="0"/>
          </a:p>
        </p:txBody>
      </p:sp>
      <p:sp>
        <p:nvSpPr>
          <p:cNvPr id="13" name="Text 11"/>
          <p:cNvSpPr txBox="1"/>
          <p:nvPr/>
        </p:nvSpPr>
        <p:spPr>
          <a:xfrm>
            <a:off x="800100" y="4152900"/>
            <a:ext cx="381000" cy="247650"/>
          </a:xfrm>
          <a:prstGeom prst="rect">
            <a:avLst/>
          </a:prstGeom>
          <a:noFill/>
          <a:ln/>
        </p:spPr>
        <p:txBody>
          <a:bodyPr wrap="square" lIns="0" tIns="0" rIns="0" bIns="0" rtlCol="0" anchor="t"/>
          <a:lstStyle/>
          <a:p>
            <a:pPr algn="l" indent="0" marL="0">
              <a:lnSpc>
                <a:spcPct val="106000"/>
              </a:lnSpc>
              <a:buNone/>
            </a:pPr>
            <a:r>
              <a:rPr lang="en-US" sz="1900" b="1" dirty="0">
                <a:solidFill>
                  <a:srgbClr val="F59E0B"/>
                </a:solidFill>
                <a:latin typeface="Segoe UI" pitchFamily="34" charset="0"/>
                <a:ea typeface="Segoe UI" pitchFamily="34" charset="-122"/>
                <a:cs typeface="Segoe UI" pitchFamily="34" charset="-120"/>
              </a:rPr>
              <a:t>P3</a:t>
            </a:r>
            <a:endParaRPr lang="en-US" sz="1900" dirty="0"/>
          </a:p>
        </p:txBody>
      </p:sp>
      <p:sp>
        <p:nvSpPr>
          <p:cNvPr id="14" name="Text 12"/>
          <p:cNvSpPr txBox="1"/>
          <p:nvPr/>
        </p:nvSpPr>
        <p:spPr>
          <a:xfrm>
            <a:off x="1219200" y="4143375"/>
            <a:ext cx="4343400" cy="209550"/>
          </a:xfrm>
          <a:prstGeom prst="rect">
            <a:avLst/>
          </a:prstGeom>
          <a:noFill/>
          <a:ln/>
        </p:spPr>
        <p:txBody>
          <a:bodyPr wrap="square" lIns="0" tIns="0" rIns="0" bIns="0" rtlCol="0" anchor="t"/>
          <a:lstStyle/>
          <a:p>
            <a:pPr algn="l" indent="0" marL="0">
              <a:lnSpc>
                <a:spcPct val="106000"/>
              </a:lnSpc>
              <a:buNone/>
            </a:pPr>
            <a:r>
              <a:rPr lang="en-US" sz="1200" b="1" dirty="0">
                <a:solidFill>
                  <a:srgbClr val="0F172A"/>
                </a:solidFill>
                <a:latin typeface="Segoe UI" pitchFamily="34" charset="0"/>
                <a:ea typeface="Segoe UI" pitchFamily="34" charset="-122"/>
                <a:cs typeface="Segoe UI" pitchFamily="34" charset="-120"/>
              </a:rPr>
              <a:t>Dashboard nhiều số nhưng ít giải thích</a:t>
            </a:r>
            <a:endParaRPr lang="en-US" sz="1200" dirty="0"/>
          </a:p>
        </p:txBody>
      </p:sp>
      <p:sp>
        <p:nvSpPr>
          <p:cNvPr id="15" name="Text 13"/>
          <p:cNvSpPr txBox="1"/>
          <p:nvPr/>
        </p:nvSpPr>
        <p:spPr>
          <a:xfrm>
            <a:off x="1219200" y="4381500"/>
            <a:ext cx="4343400" cy="53340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Biết tổng chi tăng, nhưng không rõ phần nào tăng, tăng so với gì và nên làm gì tiếp theo.</a:t>
            </a:r>
            <a:endParaRPr lang="en-US" sz="920" dirty="0"/>
          </a:p>
        </p:txBody>
      </p:sp>
      <p:sp>
        <p:nvSpPr>
          <p:cNvPr id="16" name="Text 14"/>
          <p:cNvSpPr txBox="1"/>
          <p:nvPr/>
        </p:nvSpPr>
        <p:spPr>
          <a:xfrm>
            <a:off x="800100" y="5067300"/>
            <a:ext cx="381000" cy="247650"/>
          </a:xfrm>
          <a:prstGeom prst="rect">
            <a:avLst/>
          </a:prstGeom>
          <a:noFill/>
          <a:ln/>
        </p:spPr>
        <p:txBody>
          <a:bodyPr wrap="square" lIns="0" tIns="0" rIns="0" bIns="0" rtlCol="0" anchor="t"/>
          <a:lstStyle/>
          <a:p>
            <a:pPr algn="l" indent="0" marL="0">
              <a:lnSpc>
                <a:spcPct val="106000"/>
              </a:lnSpc>
              <a:buNone/>
            </a:pPr>
            <a:r>
              <a:rPr lang="en-US" sz="1900" b="1" dirty="0">
                <a:solidFill>
                  <a:srgbClr val="F59E0B"/>
                </a:solidFill>
                <a:latin typeface="Segoe UI" pitchFamily="34" charset="0"/>
                <a:ea typeface="Segoe UI" pitchFamily="34" charset="-122"/>
                <a:cs typeface="Segoe UI" pitchFamily="34" charset="-120"/>
              </a:rPr>
              <a:t>P4</a:t>
            </a:r>
            <a:endParaRPr lang="en-US" sz="1900" dirty="0"/>
          </a:p>
        </p:txBody>
      </p:sp>
      <p:sp>
        <p:nvSpPr>
          <p:cNvPr id="17" name="Text 15"/>
          <p:cNvSpPr txBox="1"/>
          <p:nvPr/>
        </p:nvSpPr>
        <p:spPr>
          <a:xfrm>
            <a:off x="1219200" y="5057775"/>
            <a:ext cx="4343400" cy="209550"/>
          </a:xfrm>
          <a:prstGeom prst="rect">
            <a:avLst/>
          </a:prstGeom>
          <a:noFill/>
          <a:ln/>
        </p:spPr>
        <p:txBody>
          <a:bodyPr wrap="square" lIns="0" tIns="0" rIns="0" bIns="0" rtlCol="0" anchor="t"/>
          <a:lstStyle/>
          <a:p>
            <a:pPr algn="l" indent="0" marL="0">
              <a:lnSpc>
                <a:spcPct val="106000"/>
              </a:lnSpc>
              <a:buNone/>
            </a:pPr>
            <a:r>
              <a:rPr lang="en-US" sz="1200" b="1" dirty="0">
                <a:solidFill>
                  <a:srgbClr val="0F172A"/>
                </a:solidFill>
                <a:latin typeface="Segoe UI" pitchFamily="34" charset="0"/>
                <a:ea typeface="Segoe UI" pitchFamily="34" charset="-122"/>
                <a:cs typeface="Segoe UI" pitchFamily="34" charset="-120"/>
              </a:rPr>
              <a:t>Khoản chi bất thường khó nhận ra</a:t>
            </a:r>
            <a:endParaRPr lang="en-US" sz="1200" dirty="0"/>
          </a:p>
        </p:txBody>
      </p:sp>
      <p:sp>
        <p:nvSpPr>
          <p:cNvPr id="18" name="Text 16"/>
          <p:cNvSpPr txBox="1"/>
          <p:nvPr/>
        </p:nvSpPr>
        <p:spPr>
          <a:xfrm>
            <a:off x="1219200" y="5295900"/>
            <a:ext cx="4343400" cy="53340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Không so sánh được với tháng trước, không có tín hiệu cảnh báo trước khi vượt hạn mức.</a:t>
            </a:r>
            <a:endParaRPr lang="en-US" sz="920" dirty="0"/>
          </a:p>
        </p:txBody>
      </p:sp>
      <p:sp>
        <p:nvSpPr>
          <p:cNvPr id="19" name="Shape 17"/>
          <p:cNvSpPr/>
          <p:nvPr/>
        </p:nvSpPr>
        <p:spPr>
          <a:xfrm>
            <a:off x="6000750" y="1771650"/>
            <a:ext cx="5619750" cy="4324350"/>
          </a:xfrm>
          <a:prstGeom prst="roundRect">
            <a:avLst>
              <a:gd name="adj" fmla="val 1762"/>
            </a:avLst>
          </a:prstGeom>
          <a:solidFill>
            <a:srgbClr val="FFFFFF"/>
          </a:solidFill>
          <a:ln w="9525">
            <a:solidFill>
              <a:srgbClr val="E2E8F0"/>
            </a:solidFill>
            <a:prstDash val="solid"/>
          </a:ln>
        </p:spPr>
      </p:sp>
      <p:sp>
        <p:nvSpPr>
          <p:cNvPr id="20" name="Text 18"/>
          <p:cNvSpPr txBox="1"/>
          <p:nvPr/>
        </p:nvSpPr>
        <p:spPr>
          <a:xfrm>
            <a:off x="6229350" y="1943100"/>
            <a:ext cx="3810000" cy="133350"/>
          </a:xfrm>
          <a:prstGeom prst="rect">
            <a:avLst/>
          </a:prstGeom>
          <a:noFill/>
          <a:ln/>
        </p:spPr>
        <p:txBody>
          <a:bodyPr wrap="square" lIns="0" tIns="0" rIns="0" bIns="0" rtlCol="0" anchor="t"/>
          <a:lstStyle/>
          <a:p>
            <a:pPr algn="l" indent="0" marL="0">
              <a:lnSpc>
                <a:spcPct val="106000"/>
              </a:lnSpc>
              <a:buNone/>
            </a:pPr>
            <a:r>
              <a:rPr lang="en-US" sz="760" b="1" spc="60" kern="0" dirty="0">
                <a:solidFill>
                  <a:srgbClr val="059669"/>
                </a:solidFill>
                <a:latin typeface="Segoe UI" pitchFamily="34" charset="0"/>
                <a:ea typeface="Segoe UI" pitchFamily="34" charset="-122"/>
                <a:cs typeface="Segoe UI" pitchFamily="34" charset="-120"/>
              </a:rPr>
              <a:t>MỤC TIÊU SẢN PHẨM</a:t>
            </a:r>
            <a:endParaRPr lang="en-US" sz="760" dirty="0"/>
          </a:p>
        </p:txBody>
      </p:sp>
      <p:sp>
        <p:nvSpPr>
          <p:cNvPr id="21" name="Text 19"/>
          <p:cNvSpPr txBox="1"/>
          <p:nvPr/>
        </p:nvSpPr>
        <p:spPr>
          <a:xfrm>
            <a:off x="6229350" y="2324100"/>
            <a:ext cx="24765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O1</a:t>
            </a:r>
            <a:endParaRPr lang="en-US" sz="820" dirty="0"/>
          </a:p>
        </p:txBody>
      </p:sp>
      <p:sp>
        <p:nvSpPr>
          <p:cNvPr id="22" name="Text 20"/>
          <p:cNvSpPr txBox="1"/>
          <p:nvPr/>
        </p:nvSpPr>
        <p:spPr>
          <a:xfrm>
            <a:off x="6515100" y="2305050"/>
            <a:ext cx="4762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Hành trình rõ ràng</a:t>
            </a:r>
            <a:endParaRPr lang="en-US" sz="1040" dirty="0"/>
          </a:p>
        </p:txBody>
      </p:sp>
      <p:sp>
        <p:nvSpPr>
          <p:cNvPr id="23" name="Text 21"/>
          <p:cNvSpPr txBox="1"/>
          <p:nvPr/>
        </p:nvSpPr>
        <p:spPr>
          <a:xfrm>
            <a:off x="6515100" y="2476500"/>
            <a:ext cx="4762500" cy="361950"/>
          </a:xfrm>
          <a:prstGeom prst="rect">
            <a:avLst/>
          </a:prstGeom>
          <a:noFill/>
          <a:ln/>
        </p:spPr>
        <p:txBody>
          <a:bodyPr wrap="square" lIns="0" tIns="0" rIns="0" bIns="0" rtlCol="0" anchor="t"/>
          <a:lstStyle/>
          <a:p>
            <a:pPr algn="l" indent="0" marL="0">
              <a:lnSpc>
                <a:spcPct val="106000"/>
              </a:lnSpc>
              <a:buNone/>
            </a:pPr>
            <a:r>
              <a:rPr lang="en-US" sz="850" dirty="0">
                <a:solidFill>
                  <a:srgbClr val="475569"/>
                </a:solidFill>
                <a:latin typeface="Segoe UI" pitchFamily="34" charset="0"/>
                <a:ea typeface="Segoe UI" pitchFamily="34" charset="-122"/>
                <a:cs typeface="Segoe UI" pitchFamily="34" charset="-120"/>
              </a:rPr>
              <a:t>4 vai trò, mỗi vai trò một luồng end-to-end có điểm bắt đầu và kết thúc.</a:t>
            </a:r>
            <a:endParaRPr lang="en-US" sz="850" dirty="0"/>
          </a:p>
        </p:txBody>
      </p:sp>
      <p:sp>
        <p:nvSpPr>
          <p:cNvPr id="24" name="Text 22"/>
          <p:cNvSpPr txBox="1"/>
          <p:nvPr/>
        </p:nvSpPr>
        <p:spPr>
          <a:xfrm>
            <a:off x="6229350" y="2914650"/>
            <a:ext cx="24765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O2</a:t>
            </a:r>
            <a:endParaRPr lang="en-US" sz="820" dirty="0"/>
          </a:p>
        </p:txBody>
      </p:sp>
      <p:sp>
        <p:nvSpPr>
          <p:cNvPr id="25" name="Text 23"/>
          <p:cNvSpPr txBox="1"/>
          <p:nvPr/>
        </p:nvSpPr>
        <p:spPr>
          <a:xfrm>
            <a:off x="6515100" y="2895600"/>
            <a:ext cx="4762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Đủ màn hình theo nghiệp vụ</a:t>
            </a:r>
            <a:endParaRPr lang="en-US" sz="1040" dirty="0"/>
          </a:p>
        </p:txBody>
      </p:sp>
      <p:sp>
        <p:nvSpPr>
          <p:cNvPr id="26" name="Text 24"/>
          <p:cNvSpPr txBox="1"/>
          <p:nvPr/>
        </p:nvSpPr>
        <p:spPr>
          <a:xfrm>
            <a:off x="6515100" y="3067050"/>
            <a:ext cx="4762500" cy="361950"/>
          </a:xfrm>
          <a:prstGeom prst="rect">
            <a:avLst/>
          </a:prstGeom>
          <a:noFill/>
          <a:ln/>
        </p:spPr>
        <p:txBody>
          <a:bodyPr wrap="square" lIns="0" tIns="0" rIns="0" bIns="0" rtlCol="0" anchor="t"/>
          <a:lstStyle/>
          <a:p>
            <a:pPr algn="l" indent="0" marL="0">
              <a:lnSpc>
                <a:spcPct val="106000"/>
              </a:lnSpc>
              <a:buNone/>
            </a:pPr>
            <a:r>
              <a:rPr lang="en-US" sz="850" dirty="0">
                <a:solidFill>
                  <a:srgbClr val="475569"/>
                </a:solidFill>
                <a:latin typeface="Segoe UI" pitchFamily="34" charset="0"/>
                <a:ea typeface="Segoe UI" pitchFamily="34" charset="-122"/>
                <a:cs typeface="Segoe UI" pitchFamily="34" charset="-120"/>
              </a:rPr>
              <a:t>12 màn hình bắt buộc + 1 bổ sung + 6 màn hình dùng chung.</a:t>
            </a:r>
            <a:endParaRPr lang="en-US" sz="850" dirty="0"/>
          </a:p>
        </p:txBody>
      </p:sp>
      <p:sp>
        <p:nvSpPr>
          <p:cNvPr id="27" name="Text 25"/>
          <p:cNvSpPr txBox="1"/>
          <p:nvPr/>
        </p:nvSpPr>
        <p:spPr>
          <a:xfrm>
            <a:off x="6229350" y="3505200"/>
            <a:ext cx="24765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O3</a:t>
            </a:r>
            <a:endParaRPr lang="en-US" sz="820" dirty="0"/>
          </a:p>
        </p:txBody>
      </p:sp>
      <p:sp>
        <p:nvSpPr>
          <p:cNvPr id="28" name="Text 26"/>
          <p:cNvSpPr txBox="1"/>
          <p:nvPr/>
        </p:nvSpPr>
        <p:spPr>
          <a:xfrm>
            <a:off x="6515100" y="3486150"/>
            <a:ext cx="4762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CRUD có ý nghĩa</a:t>
            </a:r>
            <a:endParaRPr lang="en-US" sz="1040" dirty="0"/>
          </a:p>
        </p:txBody>
      </p:sp>
      <p:sp>
        <p:nvSpPr>
          <p:cNvPr id="29" name="Text 27"/>
          <p:cNvSpPr txBox="1"/>
          <p:nvPr/>
        </p:nvSpPr>
        <p:spPr>
          <a:xfrm>
            <a:off x="6515100" y="3657600"/>
            <a:ext cx="4762500" cy="361950"/>
          </a:xfrm>
          <a:prstGeom prst="rect">
            <a:avLst/>
          </a:prstGeom>
          <a:noFill/>
          <a:ln/>
        </p:spPr>
        <p:txBody>
          <a:bodyPr wrap="square" lIns="0" tIns="0" rIns="0" bIns="0" rtlCol="0" anchor="t"/>
          <a:lstStyle/>
          <a:p>
            <a:pPr algn="l" indent="0" marL="0">
              <a:lnSpc>
                <a:spcPct val="106000"/>
              </a:lnSpc>
              <a:buNone/>
            </a:pPr>
            <a:r>
              <a:rPr lang="en-US" sz="850" dirty="0">
                <a:solidFill>
                  <a:srgbClr val="475569"/>
                </a:solidFill>
                <a:latin typeface="Segoe UI" pitchFamily="34" charset="0"/>
                <a:ea typeface="Segoe UI" pitchFamily="34" charset="-122"/>
                <a:cs typeface="Segoe UI" pitchFamily="34" charset="-120"/>
              </a:rPr>
              <a:t>Duyệt, yêu cầu sửa, lưu trữ, khoá/mở thay vì xoá cứng.</a:t>
            </a:r>
            <a:endParaRPr lang="en-US" sz="850" dirty="0"/>
          </a:p>
        </p:txBody>
      </p:sp>
      <p:sp>
        <p:nvSpPr>
          <p:cNvPr id="30" name="Text 28"/>
          <p:cNvSpPr txBox="1"/>
          <p:nvPr/>
        </p:nvSpPr>
        <p:spPr>
          <a:xfrm>
            <a:off x="6229350" y="4095750"/>
            <a:ext cx="24765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O4</a:t>
            </a:r>
            <a:endParaRPr lang="en-US" sz="820" dirty="0"/>
          </a:p>
        </p:txBody>
      </p:sp>
      <p:sp>
        <p:nvSpPr>
          <p:cNvPr id="31" name="Text 29"/>
          <p:cNvSpPr txBox="1"/>
          <p:nvPr/>
        </p:nvSpPr>
        <p:spPr>
          <a:xfrm>
            <a:off x="6515100" y="4076700"/>
            <a:ext cx="4762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JavaScript &amp; dữ liệu</a:t>
            </a:r>
            <a:endParaRPr lang="en-US" sz="1040" dirty="0"/>
          </a:p>
        </p:txBody>
      </p:sp>
      <p:sp>
        <p:nvSpPr>
          <p:cNvPr id="32" name="Text 30"/>
          <p:cNvSpPr txBox="1"/>
          <p:nvPr/>
        </p:nvSpPr>
        <p:spPr>
          <a:xfrm>
            <a:off x="6515100" y="4248150"/>
            <a:ext cx="4762500" cy="361950"/>
          </a:xfrm>
          <a:prstGeom prst="rect">
            <a:avLst/>
          </a:prstGeom>
          <a:noFill/>
          <a:ln/>
        </p:spPr>
        <p:txBody>
          <a:bodyPr wrap="square" lIns="0" tIns="0" rIns="0" bIns="0" rtlCol="0" anchor="t"/>
          <a:lstStyle/>
          <a:p>
            <a:pPr algn="l" indent="0" marL="0">
              <a:lnSpc>
                <a:spcPct val="106000"/>
              </a:lnSpc>
              <a:buNone/>
            </a:pPr>
            <a:r>
              <a:rPr lang="en-US" sz="850" dirty="0">
                <a:solidFill>
                  <a:srgbClr val="475569"/>
                </a:solidFill>
                <a:latin typeface="Segoe UI" pitchFamily="34" charset="0"/>
                <a:ea typeface="Segoe UI" pitchFamily="34" charset="-122"/>
                <a:cs typeface="Segoe UI" pitchFamily="34" charset="-120"/>
              </a:rPr>
              <a:t>Tìm kiếm, lọc, kiểm tra hợp lệ, modal, toast, JSON + LocalStorage.</a:t>
            </a:r>
            <a:endParaRPr lang="en-US" sz="850" dirty="0"/>
          </a:p>
        </p:txBody>
      </p:sp>
      <p:sp>
        <p:nvSpPr>
          <p:cNvPr id="33" name="Text 31"/>
          <p:cNvSpPr txBox="1"/>
          <p:nvPr/>
        </p:nvSpPr>
        <p:spPr>
          <a:xfrm>
            <a:off x="6229350" y="4686300"/>
            <a:ext cx="24765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O5</a:t>
            </a:r>
            <a:endParaRPr lang="en-US" sz="820" dirty="0"/>
          </a:p>
        </p:txBody>
      </p:sp>
      <p:sp>
        <p:nvSpPr>
          <p:cNvPr id="34" name="Text 32"/>
          <p:cNvSpPr txBox="1"/>
          <p:nvPr/>
        </p:nvSpPr>
        <p:spPr>
          <a:xfrm>
            <a:off x="6515100" y="4667250"/>
            <a:ext cx="4762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3 tính năng AI có kiểm soát</a:t>
            </a:r>
            <a:endParaRPr lang="en-US" sz="1040" dirty="0"/>
          </a:p>
        </p:txBody>
      </p:sp>
      <p:sp>
        <p:nvSpPr>
          <p:cNvPr id="35" name="Text 33"/>
          <p:cNvSpPr txBox="1"/>
          <p:nvPr/>
        </p:nvSpPr>
        <p:spPr>
          <a:xfrm>
            <a:off x="6515100" y="4838700"/>
            <a:ext cx="4762500" cy="361950"/>
          </a:xfrm>
          <a:prstGeom prst="rect">
            <a:avLst/>
          </a:prstGeom>
          <a:noFill/>
          <a:ln/>
        </p:spPr>
        <p:txBody>
          <a:bodyPr wrap="square" lIns="0" tIns="0" rIns="0" bIns="0" rtlCol="0" anchor="t"/>
          <a:lstStyle/>
          <a:p>
            <a:pPr algn="l" indent="0" marL="0">
              <a:lnSpc>
                <a:spcPct val="106000"/>
              </a:lnSpc>
              <a:buNone/>
            </a:pPr>
            <a:r>
              <a:rPr lang="en-US" sz="850" dirty="0">
                <a:solidFill>
                  <a:srgbClr val="475569"/>
                </a:solidFill>
                <a:latin typeface="Segoe UI" pitchFamily="34" charset="0"/>
                <a:ea typeface="Segoe UI" pitchFamily="34" charset="-122"/>
                <a:cs typeface="Segoe UI" pitchFamily="34" charset="-120"/>
              </a:rPr>
              <a:t>Giải thích lý do, cho phép chấp nhận / sửa / từ chối / tạo lại.</a:t>
            </a:r>
            <a:endParaRPr lang="en-US" sz="850" dirty="0"/>
          </a:p>
        </p:txBody>
      </p:sp>
      <p:sp>
        <p:nvSpPr>
          <p:cNvPr id="36" name="Text 34"/>
          <p:cNvSpPr txBox="1"/>
          <p:nvPr/>
        </p:nvSpPr>
        <p:spPr>
          <a:xfrm>
            <a:off x="6229350" y="5276850"/>
            <a:ext cx="24765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O6</a:t>
            </a:r>
            <a:endParaRPr lang="en-US" sz="820" dirty="0"/>
          </a:p>
        </p:txBody>
      </p:sp>
      <p:sp>
        <p:nvSpPr>
          <p:cNvPr id="37" name="Text 35"/>
          <p:cNvSpPr txBox="1"/>
          <p:nvPr/>
        </p:nvSpPr>
        <p:spPr>
          <a:xfrm>
            <a:off x="6515100" y="5257800"/>
            <a:ext cx="4762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Quy trình làm nhóm</a:t>
            </a:r>
            <a:endParaRPr lang="en-US" sz="1040" dirty="0"/>
          </a:p>
        </p:txBody>
      </p:sp>
      <p:sp>
        <p:nvSpPr>
          <p:cNvPr id="38" name="Text 36"/>
          <p:cNvSpPr txBox="1"/>
          <p:nvPr/>
        </p:nvSpPr>
        <p:spPr>
          <a:xfrm>
            <a:off x="6515100" y="5429250"/>
            <a:ext cx="4762500" cy="361950"/>
          </a:xfrm>
          <a:prstGeom prst="rect">
            <a:avLst/>
          </a:prstGeom>
          <a:noFill/>
          <a:ln/>
        </p:spPr>
        <p:txBody>
          <a:bodyPr wrap="square" lIns="0" tIns="0" rIns="0" bIns="0" rtlCol="0" anchor="t"/>
          <a:lstStyle/>
          <a:p>
            <a:pPr algn="l" indent="0" marL="0">
              <a:lnSpc>
                <a:spcPct val="106000"/>
              </a:lnSpc>
              <a:buNone/>
            </a:pPr>
            <a:r>
              <a:rPr lang="en-US" sz="850" dirty="0">
                <a:solidFill>
                  <a:srgbClr val="475569"/>
                </a:solidFill>
                <a:latin typeface="Segoe UI" pitchFamily="34" charset="0"/>
                <a:ea typeface="Segoe UI" pitchFamily="34" charset="-122"/>
                <a:cs typeface="Segoe UI" pitchFamily="34" charset="-120"/>
              </a:rPr>
              <a:t>Trello, nhánh feature/*, PR, review chéo và OBS từng màn hình.</a:t>
            </a:r>
            <a:endParaRPr lang="en-US" sz="850" dirty="0"/>
          </a:p>
        </p:txBody>
      </p:sp>
      <p:sp>
        <p:nvSpPr>
          <p:cNvPr id="39" name="Text 37"/>
          <p:cNvSpPr txBox="1"/>
          <p:nvPr/>
        </p:nvSpPr>
        <p:spPr>
          <a:xfrm>
            <a:off x="571500" y="6286500"/>
            <a:ext cx="7620000" cy="190500"/>
          </a:xfrm>
          <a:prstGeom prst="rect">
            <a:avLst/>
          </a:prstGeom>
          <a:noFill/>
          <a:ln/>
        </p:spPr>
        <p:txBody>
          <a:bodyPr wrap="square" lIns="0" tIns="0" rIns="0" bIns="0" rtlCol="0" anchor="t"/>
          <a:lstStyle/>
          <a:p>
            <a:pPr algn="l" indent="0" marL="0">
              <a:lnSpc>
                <a:spcPct val="106000"/>
              </a:lnSpc>
              <a:buNone/>
            </a:pPr>
            <a:r>
              <a:rPr lang="en-US" sz="860" dirty="0">
                <a:solidFill>
                  <a:srgbClr val="94A3B8"/>
                </a:solidFill>
                <a:latin typeface="Segoe UI" pitchFamily="34" charset="0"/>
                <a:ea typeface="Segoe UI" pitchFamily="34" charset="-122"/>
                <a:cs typeface="Segoe UI" pitchFamily="34" charset="-120"/>
              </a:rPr>
              <a:t>Ràng buộc: Frontend thuần · dữ liệu mô phỏng · không cung cấp tư vấn đầu tư</a:t>
            </a:r>
            <a:endParaRPr lang="en-US" sz="860" dirty="0"/>
          </a:p>
        </p:txBody>
      </p:sp>
      <p:sp>
        <p:nvSpPr>
          <p:cNvPr id="40" name="Text 38"/>
          <p:cNvSpPr txBox="1"/>
          <p:nvPr/>
        </p:nvSpPr>
        <p:spPr>
          <a:xfrm>
            <a:off x="8572500" y="6286500"/>
            <a:ext cx="2667000" cy="190500"/>
          </a:xfrm>
          <a:prstGeom prst="rect">
            <a:avLst/>
          </a:prstGeom>
          <a:noFill/>
          <a:ln/>
        </p:spPr>
        <p:txBody>
          <a:bodyPr wrap="square" lIns="0" tIns="0" rIns="0" bIns="0" rtlCol="0" anchor="t"/>
          <a:lstStyle/>
          <a:p>
            <a:pPr algn="r" indent="0" marL="0">
              <a:lnSpc>
                <a:spcPct val="106000"/>
              </a:lnSpc>
              <a:buNone/>
            </a:pPr>
            <a:r>
              <a:rPr lang="en-US" sz="860" dirty="0">
                <a:solidFill>
                  <a:srgbClr val="94A3B8"/>
                </a:solidFill>
                <a:latin typeface="Segoe UI" pitchFamily="34" charset="0"/>
                <a:ea typeface="Segoe UI" pitchFamily="34" charset="-122"/>
                <a:cs typeface="Segoe UI" pitchFamily="34" charset="-120"/>
              </a:rPr>
              <a:t>Nguồn: đề BTL-18 – CSE122</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715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02 · VAI TRÒ</a:t>
            </a:r>
            <a:endParaRPr lang="en-US" sz="950" dirty="0"/>
          </a:p>
        </p:txBody>
      </p:sp>
      <p:sp>
        <p:nvSpPr>
          <p:cNvPr id="3" name="Text 1"/>
          <p:cNvSpPr txBox="1"/>
          <p:nvPr/>
        </p:nvSpPr>
        <p:spPr>
          <a:xfrm>
            <a:off x="571500" y="685800"/>
            <a:ext cx="95250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Bốn vai trò, một sản phẩm</a:t>
            </a:r>
            <a:endParaRPr lang="en-US" sz="2900" dirty="0"/>
          </a:p>
        </p:txBody>
      </p:sp>
      <p:sp>
        <p:nvSpPr>
          <p:cNvPr id="4" name="Text 2"/>
          <p:cNvSpPr txBox="1"/>
          <p:nvPr/>
        </p:nvSpPr>
        <p:spPr>
          <a:xfrm>
            <a:off x="571500" y="1257300"/>
            <a:ext cx="1000125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Mỗi vai trò có mục tiêu riêng nhưng dùng chung ngôn ngữ thiết kế, dữ liệu và quy trình duyệt.</a:t>
            </a:r>
            <a:endParaRPr lang="en-US" sz="1200" dirty="0"/>
          </a:p>
        </p:txBody>
      </p:sp>
      <p:sp>
        <p:nvSpPr>
          <p:cNvPr id="5" name="Shape 3"/>
          <p:cNvSpPr/>
          <p:nvPr/>
        </p:nvSpPr>
        <p:spPr>
          <a:xfrm>
            <a:off x="571500" y="1809750"/>
            <a:ext cx="2619375" cy="3905250"/>
          </a:xfrm>
          <a:prstGeom prst="roundRect">
            <a:avLst>
              <a:gd name="adj" fmla="val 2909"/>
            </a:avLst>
          </a:prstGeom>
          <a:solidFill>
            <a:srgbClr val="FFFFFF"/>
          </a:solidFill>
          <a:ln w="9525">
            <a:solidFill>
              <a:srgbClr val="E2E8F0"/>
            </a:solidFill>
            <a:prstDash val="solid"/>
          </a:ln>
        </p:spPr>
      </p:sp>
      <p:sp>
        <p:nvSpPr>
          <p:cNvPr id="6" name="Text 4"/>
          <p:cNvSpPr txBox="1"/>
          <p:nvPr/>
        </p:nvSpPr>
        <p:spPr>
          <a:xfrm>
            <a:off x="762000" y="1962150"/>
            <a:ext cx="762000" cy="400050"/>
          </a:xfrm>
          <a:prstGeom prst="rect">
            <a:avLst/>
          </a:prstGeom>
          <a:noFill/>
          <a:ln/>
        </p:spPr>
        <p:txBody>
          <a:bodyPr wrap="square" lIns="0" tIns="0" rIns="0" bIns="0" rtlCol="0" anchor="t"/>
          <a:lstStyle/>
          <a:p>
            <a:pPr algn="l" indent="0" marL="0">
              <a:lnSpc>
                <a:spcPct val="106000"/>
              </a:lnSpc>
              <a:buNone/>
            </a:pPr>
            <a:r>
              <a:rPr lang="en-US" sz="3000" b="1" dirty="0">
                <a:solidFill>
                  <a:srgbClr val="D1FAE5"/>
                </a:solidFill>
                <a:latin typeface="Segoe UI" pitchFamily="34" charset="0"/>
                <a:ea typeface="Segoe UI" pitchFamily="34" charset="-122"/>
                <a:cs typeface="Segoe UI" pitchFamily="34" charset="-120"/>
              </a:rPr>
              <a:t>01</a:t>
            </a:r>
            <a:endParaRPr lang="en-US" sz="3000" dirty="0"/>
          </a:p>
        </p:txBody>
      </p:sp>
      <p:sp>
        <p:nvSpPr>
          <p:cNvPr id="7" name="Text 5"/>
          <p:cNvSpPr txBox="1"/>
          <p:nvPr/>
        </p:nvSpPr>
        <p:spPr>
          <a:xfrm>
            <a:off x="762000" y="2400300"/>
            <a:ext cx="2238375" cy="247650"/>
          </a:xfrm>
          <a:prstGeom prst="rect">
            <a:avLst/>
          </a:prstGeom>
          <a:noFill/>
          <a:ln/>
        </p:spPr>
        <p:txBody>
          <a:bodyPr wrap="square" lIns="0" tIns="0" rIns="0" bIns="0" rtlCol="0" anchor="t"/>
          <a:lstStyle/>
          <a:p>
            <a:pPr algn="l" indent="0" marL="0">
              <a:lnSpc>
                <a:spcPct val="106000"/>
              </a:lnSpc>
              <a:buNone/>
            </a:pPr>
            <a:r>
              <a:rPr lang="en-US" sz="1750" b="1" dirty="0">
                <a:solidFill>
                  <a:srgbClr val="0F172A"/>
                </a:solidFill>
                <a:latin typeface="Segoe UI" pitchFamily="34" charset="0"/>
                <a:ea typeface="Segoe UI" pitchFamily="34" charset="-122"/>
                <a:cs typeface="Segoe UI" pitchFamily="34" charset="-120"/>
              </a:rPr>
              <a:t>Người dùng</a:t>
            </a:r>
            <a:endParaRPr lang="en-US" sz="1750" dirty="0"/>
          </a:p>
        </p:txBody>
      </p:sp>
      <p:sp>
        <p:nvSpPr>
          <p:cNvPr id="8" name="Text 6"/>
          <p:cNvSpPr txBox="1"/>
          <p:nvPr/>
        </p:nvSpPr>
        <p:spPr>
          <a:xfrm>
            <a:off x="762000" y="2705100"/>
            <a:ext cx="2238375" cy="55245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Ghi giao dịch, giữ ngân sách, theo đuổi mục tiêu tiết kiệm.</a:t>
            </a:r>
            <a:endParaRPr lang="en-US" sz="920" dirty="0"/>
          </a:p>
        </p:txBody>
      </p:sp>
      <p:sp>
        <p:nvSpPr>
          <p:cNvPr id="9" name="Shape 7"/>
          <p:cNvSpPr/>
          <p:nvPr/>
        </p:nvSpPr>
        <p:spPr>
          <a:xfrm>
            <a:off x="762000" y="3333750"/>
            <a:ext cx="2238375" cy="9525"/>
          </a:xfrm>
          <a:prstGeom prst="line">
            <a:avLst/>
          </a:prstGeom>
          <a:solidFill>
            <a:srgbClr val="FFFFFF">
              <a:alpha val="0"/>
            </a:srgbClr>
          </a:solidFill>
          <a:ln w="9525">
            <a:solidFill>
              <a:srgbClr val="E2E8F0"/>
            </a:solidFill>
            <a:prstDash val="solid"/>
          </a:ln>
        </p:spPr>
      </p:sp>
      <p:sp>
        <p:nvSpPr>
          <p:cNvPr id="10" name="Text 8"/>
          <p:cNvSpPr txBox="1"/>
          <p:nvPr/>
        </p:nvSpPr>
        <p:spPr>
          <a:xfrm>
            <a:off x="762000" y="3448050"/>
            <a:ext cx="2238375" cy="114300"/>
          </a:xfrm>
          <a:prstGeom prst="rect">
            <a:avLst/>
          </a:prstGeom>
          <a:noFill/>
          <a:ln/>
        </p:spPr>
        <p:txBody>
          <a:bodyPr wrap="square" lIns="0" tIns="0" rIns="0" bIns="0" rtlCol="0" anchor="t"/>
          <a:lstStyle/>
          <a:p>
            <a:pPr algn="l" indent="0" marL="0">
              <a:lnSpc>
                <a:spcPct val="106000"/>
              </a:lnSpc>
              <a:buNone/>
            </a:pPr>
            <a:r>
              <a:rPr lang="en-US" sz="680" b="1" spc="50" kern="0" dirty="0">
                <a:solidFill>
                  <a:srgbClr val="94A3B8"/>
                </a:solidFill>
                <a:latin typeface="Segoe UI" pitchFamily="34" charset="0"/>
                <a:ea typeface="Segoe UI" pitchFamily="34" charset="-122"/>
                <a:cs typeface="Segoe UI" pitchFamily="34" charset="-120"/>
              </a:rPr>
              <a:t>MÀN HÌNH</a:t>
            </a:r>
            <a:endParaRPr lang="en-US" sz="680" dirty="0"/>
          </a:p>
        </p:txBody>
      </p:sp>
      <p:sp>
        <p:nvSpPr>
          <p:cNvPr id="11" name="Text 9"/>
          <p:cNvSpPr txBox="1"/>
          <p:nvPr/>
        </p:nvSpPr>
        <p:spPr>
          <a:xfrm>
            <a:off x="762000" y="3600450"/>
            <a:ext cx="2238375" cy="1066800"/>
          </a:xfrm>
          <a:prstGeom prst="rect">
            <a:avLst/>
          </a:prstGeom>
          <a:noFill/>
          <a:ln/>
        </p:spPr>
        <p:txBody>
          <a:bodyPr wrap="square" lIns="0" tIns="0" rIns="0" bIns="0" rtlCol="0" anchor="t"/>
          <a:lstStyle/>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Tổng quan tài chính</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Quản lý giao dịch</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Mục tiêu tiết kiệm</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Ngân sách tháng</a:t>
            </a:r>
            <a:endParaRPr lang="en-US" sz="880" dirty="0"/>
          </a:p>
        </p:txBody>
      </p:sp>
      <p:sp>
        <p:nvSpPr>
          <p:cNvPr id="12" name="Shape 10"/>
          <p:cNvSpPr/>
          <p:nvPr/>
        </p:nvSpPr>
        <p:spPr>
          <a:xfrm>
            <a:off x="762000" y="4762500"/>
            <a:ext cx="1428750" cy="190500"/>
          </a:xfrm>
          <a:prstGeom prst="roundRect">
            <a:avLst>
              <a:gd name="adj" fmla="val 50000"/>
            </a:avLst>
          </a:prstGeom>
          <a:solidFill>
            <a:srgbClr val="ECFDF5"/>
          </a:solidFill>
          <a:ln/>
        </p:spPr>
      </p:sp>
      <p:sp>
        <p:nvSpPr>
          <p:cNvPr id="13" name="Text 11"/>
          <p:cNvSpPr txBox="1"/>
          <p:nvPr/>
        </p:nvSpPr>
        <p:spPr>
          <a:xfrm>
            <a:off x="790575" y="4762500"/>
            <a:ext cx="1371600" cy="19050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AI-1 · AI-2 · AI-3</a:t>
            </a:r>
            <a:endParaRPr lang="en-US" sz="640" dirty="0"/>
          </a:p>
        </p:txBody>
      </p:sp>
      <p:sp>
        <p:nvSpPr>
          <p:cNvPr id="14" name="Text 12"/>
          <p:cNvSpPr txBox="1"/>
          <p:nvPr/>
        </p:nvSpPr>
        <p:spPr>
          <a:xfrm>
            <a:off x="762000" y="5124450"/>
            <a:ext cx="2238375" cy="11430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Phụ trách</a:t>
            </a:r>
            <a:endParaRPr lang="en-US" sz="680" dirty="0"/>
          </a:p>
        </p:txBody>
      </p:sp>
      <p:sp>
        <p:nvSpPr>
          <p:cNvPr id="15" name="Text 13"/>
          <p:cNvSpPr txBox="1"/>
          <p:nvPr/>
        </p:nvSpPr>
        <p:spPr>
          <a:xfrm>
            <a:off x="762000" y="5257800"/>
            <a:ext cx="2238375" cy="190500"/>
          </a:xfrm>
          <a:prstGeom prst="rect">
            <a:avLst/>
          </a:prstGeom>
          <a:noFill/>
          <a:ln/>
        </p:spPr>
        <p:txBody>
          <a:bodyPr wrap="square" lIns="0" tIns="0" rIns="0" bIns="0" rtlCol="0" anchor="t"/>
          <a:lstStyle/>
          <a:p>
            <a:pPr algn="l" indent="0" marL="0">
              <a:lnSpc>
                <a:spcPct val="106000"/>
              </a:lnSpc>
              <a:buNone/>
            </a:pPr>
            <a:r>
              <a:rPr lang="en-US" sz="1000" b="1" dirty="0">
                <a:solidFill>
                  <a:srgbClr val="047857"/>
                </a:solidFill>
                <a:latin typeface="Segoe UI" pitchFamily="34" charset="0"/>
                <a:ea typeface="Segoe UI" pitchFamily="34" charset="-122"/>
                <a:cs typeface="Segoe UI" pitchFamily="34" charset="-120"/>
              </a:rPr>
              <a:t>SV1</a:t>
            </a:r>
            <a:endParaRPr lang="en-US" sz="1000" dirty="0"/>
          </a:p>
        </p:txBody>
      </p:sp>
      <p:sp>
        <p:nvSpPr>
          <p:cNvPr id="16" name="Shape 14"/>
          <p:cNvSpPr/>
          <p:nvPr/>
        </p:nvSpPr>
        <p:spPr>
          <a:xfrm>
            <a:off x="3381375" y="1809750"/>
            <a:ext cx="2619375" cy="3905250"/>
          </a:xfrm>
          <a:prstGeom prst="roundRect">
            <a:avLst>
              <a:gd name="adj" fmla="val 2909"/>
            </a:avLst>
          </a:prstGeom>
          <a:solidFill>
            <a:srgbClr val="FFFFFF"/>
          </a:solidFill>
          <a:ln w="9525">
            <a:solidFill>
              <a:srgbClr val="E2E8F0"/>
            </a:solidFill>
            <a:prstDash val="solid"/>
          </a:ln>
        </p:spPr>
      </p:sp>
      <p:sp>
        <p:nvSpPr>
          <p:cNvPr id="17" name="Text 15"/>
          <p:cNvSpPr txBox="1"/>
          <p:nvPr/>
        </p:nvSpPr>
        <p:spPr>
          <a:xfrm>
            <a:off x="3571875" y="1962150"/>
            <a:ext cx="762000" cy="400050"/>
          </a:xfrm>
          <a:prstGeom prst="rect">
            <a:avLst/>
          </a:prstGeom>
          <a:noFill/>
          <a:ln/>
        </p:spPr>
        <p:txBody>
          <a:bodyPr wrap="square" lIns="0" tIns="0" rIns="0" bIns="0" rtlCol="0" anchor="t"/>
          <a:lstStyle/>
          <a:p>
            <a:pPr algn="l" indent="0" marL="0">
              <a:lnSpc>
                <a:spcPct val="106000"/>
              </a:lnSpc>
              <a:buNone/>
            </a:pPr>
            <a:r>
              <a:rPr lang="en-US" sz="3000" b="1" dirty="0">
                <a:solidFill>
                  <a:srgbClr val="D1FAE5"/>
                </a:solidFill>
                <a:latin typeface="Segoe UI" pitchFamily="34" charset="0"/>
                <a:ea typeface="Segoe UI" pitchFamily="34" charset="-122"/>
                <a:cs typeface="Segoe UI" pitchFamily="34" charset="-120"/>
              </a:rPr>
              <a:t>02</a:t>
            </a:r>
            <a:endParaRPr lang="en-US" sz="3000" dirty="0"/>
          </a:p>
        </p:txBody>
      </p:sp>
      <p:sp>
        <p:nvSpPr>
          <p:cNvPr id="18" name="Text 16"/>
          <p:cNvSpPr txBox="1"/>
          <p:nvPr/>
        </p:nvSpPr>
        <p:spPr>
          <a:xfrm>
            <a:off x="3571875" y="2400300"/>
            <a:ext cx="2238375" cy="247650"/>
          </a:xfrm>
          <a:prstGeom prst="rect">
            <a:avLst/>
          </a:prstGeom>
          <a:noFill/>
          <a:ln/>
        </p:spPr>
        <p:txBody>
          <a:bodyPr wrap="square" lIns="0" tIns="0" rIns="0" bIns="0" rtlCol="0" anchor="t"/>
          <a:lstStyle/>
          <a:p>
            <a:pPr algn="l" indent="0" marL="0">
              <a:lnSpc>
                <a:spcPct val="106000"/>
              </a:lnSpc>
              <a:buNone/>
            </a:pPr>
            <a:r>
              <a:rPr lang="en-US" sz="1750" b="1" dirty="0">
                <a:solidFill>
                  <a:srgbClr val="0F172A"/>
                </a:solidFill>
                <a:latin typeface="Segoe UI" pitchFamily="34" charset="0"/>
                <a:ea typeface="Segoe UI" pitchFamily="34" charset="-122"/>
                <a:cs typeface="Segoe UI" pitchFamily="34" charset="-120"/>
              </a:rPr>
              <a:t>Huấn luyện viên</a:t>
            </a:r>
            <a:endParaRPr lang="en-US" sz="1750" dirty="0"/>
          </a:p>
        </p:txBody>
      </p:sp>
      <p:sp>
        <p:nvSpPr>
          <p:cNvPr id="19" name="Text 17"/>
          <p:cNvSpPr txBox="1"/>
          <p:nvPr/>
        </p:nvSpPr>
        <p:spPr>
          <a:xfrm>
            <a:off x="3571875" y="2705100"/>
            <a:ext cx="2238375" cy="55245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Theo dõi học viên, duyệt ngân sách và tạo tài nguyên giáo dục.</a:t>
            </a:r>
            <a:endParaRPr lang="en-US" sz="920" dirty="0"/>
          </a:p>
        </p:txBody>
      </p:sp>
      <p:sp>
        <p:nvSpPr>
          <p:cNvPr id="20" name="Shape 18"/>
          <p:cNvSpPr/>
          <p:nvPr/>
        </p:nvSpPr>
        <p:spPr>
          <a:xfrm>
            <a:off x="3571875" y="3333750"/>
            <a:ext cx="2238375" cy="9525"/>
          </a:xfrm>
          <a:prstGeom prst="line">
            <a:avLst/>
          </a:prstGeom>
          <a:solidFill>
            <a:srgbClr val="FFFFFF">
              <a:alpha val="0"/>
            </a:srgbClr>
          </a:solidFill>
          <a:ln w="9525">
            <a:solidFill>
              <a:srgbClr val="E2E8F0"/>
            </a:solidFill>
            <a:prstDash val="solid"/>
          </a:ln>
        </p:spPr>
      </p:sp>
      <p:sp>
        <p:nvSpPr>
          <p:cNvPr id="21" name="Text 19"/>
          <p:cNvSpPr txBox="1"/>
          <p:nvPr/>
        </p:nvSpPr>
        <p:spPr>
          <a:xfrm>
            <a:off x="3571875" y="3448050"/>
            <a:ext cx="2238375" cy="114300"/>
          </a:xfrm>
          <a:prstGeom prst="rect">
            <a:avLst/>
          </a:prstGeom>
          <a:noFill/>
          <a:ln/>
        </p:spPr>
        <p:txBody>
          <a:bodyPr wrap="square" lIns="0" tIns="0" rIns="0" bIns="0" rtlCol="0" anchor="t"/>
          <a:lstStyle/>
          <a:p>
            <a:pPr algn="l" indent="0" marL="0">
              <a:lnSpc>
                <a:spcPct val="106000"/>
              </a:lnSpc>
              <a:buNone/>
            </a:pPr>
            <a:r>
              <a:rPr lang="en-US" sz="680" b="1" spc="50" kern="0" dirty="0">
                <a:solidFill>
                  <a:srgbClr val="94A3B8"/>
                </a:solidFill>
                <a:latin typeface="Segoe UI" pitchFamily="34" charset="0"/>
                <a:ea typeface="Segoe UI" pitchFamily="34" charset="-122"/>
                <a:cs typeface="Segoe UI" pitchFamily="34" charset="-120"/>
              </a:rPr>
              <a:t>MÀN HÌNH</a:t>
            </a:r>
            <a:endParaRPr lang="en-US" sz="680" dirty="0"/>
          </a:p>
        </p:txBody>
      </p:sp>
      <p:sp>
        <p:nvSpPr>
          <p:cNvPr id="22" name="Text 20"/>
          <p:cNvSpPr txBox="1"/>
          <p:nvPr/>
        </p:nvSpPr>
        <p:spPr>
          <a:xfrm>
            <a:off x="3571875" y="3600450"/>
            <a:ext cx="2238375" cy="1066800"/>
          </a:xfrm>
          <a:prstGeom prst="rect">
            <a:avLst/>
          </a:prstGeom>
          <a:noFill/>
          <a:ln/>
        </p:spPr>
        <p:txBody>
          <a:bodyPr wrap="square" lIns="0" tIns="0" rIns="0" bIns="0" rtlCol="0" anchor="t"/>
          <a:lstStyle/>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Danh sách học viên</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Duyệt ngân sách</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Tài nguyên giáo dục</a:t>
            </a:r>
            <a:endParaRPr lang="en-US" sz="880" dirty="0"/>
          </a:p>
        </p:txBody>
      </p:sp>
      <p:sp>
        <p:nvSpPr>
          <p:cNvPr id="23" name="Shape 21"/>
          <p:cNvSpPr/>
          <p:nvPr/>
        </p:nvSpPr>
        <p:spPr>
          <a:xfrm>
            <a:off x="3571875" y="4762500"/>
            <a:ext cx="1428750" cy="190500"/>
          </a:xfrm>
          <a:prstGeom prst="roundRect">
            <a:avLst>
              <a:gd name="adj" fmla="val 50000"/>
            </a:avLst>
          </a:prstGeom>
          <a:solidFill>
            <a:srgbClr val="ECFDF5"/>
          </a:solidFill>
          <a:ln/>
        </p:spPr>
      </p:sp>
      <p:sp>
        <p:nvSpPr>
          <p:cNvPr id="24" name="Text 22"/>
          <p:cNvSpPr txBox="1"/>
          <p:nvPr/>
        </p:nvSpPr>
        <p:spPr>
          <a:xfrm>
            <a:off x="3600450" y="4762500"/>
            <a:ext cx="1371600" cy="19050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R · U · C · ghi chú</a:t>
            </a:r>
            <a:endParaRPr lang="en-US" sz="640" dirty="0"/>
          </a:p>
        </p:txBody>
      </p:sp>
      <p:sp>
        <p:nvSpPr>
          <p:cNvPr id="25" name="Text 23"/>
          <p:cNvSpPr txBox="1"/>
          <p:nvPr/>
        </p:nvSpPr>
        <p:spPr>
          <a:xfrm>
            <a:off x="3571875" y="5124450"/>
            <a:ext cx="2238375" cy="11430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Phụ trách</a:t>
            </a:r>
            <a:endParaRPr lang="en-US" sz="680" dirty="0"/>
          </a:p>
        </p:txBody>
      </p:sp>
      <p:sp>
        <p:nvSpPr>
          <p:cNvPr id="26" name="Text 24"/>
          <p:cNvSpPr txBox="1"/>
          <p:nvPr/>
        </p:nvSpPr>
        <p:spPr>
          <a:xfrm>
            <a:off x="3571875" y="5257800"/>
            <a:ext cx="2238375" cy="190500"/>
          </a:xfrm>
          <a:prstGeom prst="rect">
            <a:avLst/>
          </a:prstGeom>
          <a:noFill/>
          <a:ln/>
        </p:spPr>
        <p:txBody>
          <a:bodyPr wrap="square" lIns="0" tIns="0" rIns="0" bIns="0" rtlCol="0" anchor="t"/>
          <a:lstStyle/>
          <a:p>
            <a:pPr algn="l" indent="0" marL="0">
              <a:lnSpc>
                <a:spcPct val="106000"/>
              </a:lnSpc>
              <a:buNone/>
            </a:pPr>
            <a:r>
              <a:rPr lang="en-US" sz="1000" b="1" dirty="0">
                <a:solidFill>
                  <a:srgbClr val="047857"/>
                </a:solidFill>
                <a:latin typeface="Segoe UI" pitchFamily="34" charset="0"/>
                <a:ea typeface="Segoe UI" pitchFamily="34" charset="-122"/>
                <a:cs typeface="Segoe UI" pitchFamily="34" charset="-120"/>
              </a:rPr>
              <a:t>SV2</a:t>
            </a:r>
            <a:endParaRPr lang="en-US" sz="1000" dirty="0"/>
          </a:p>
        </p:txBody>
      </p:sp>
      <p:sp>
        <p:nvSpPr>
          <p:cNvPr id="27" name="Shape 25"/>
          <p:cNvSpPr/>
          <p:nvPr/>
        </p:nvSpPr>
        <p:spPr>
          <a:xfrm>
            <a:off x="6191250" y="1809750"/>
            <a:ext cx="2619375" cy="3905250"/>
          </a:xfrm>
          <a:prstGeom prst="roundRect">
            <a:avLst>
              <a:gd name="adj" fmla="val 2909"/>
            </a:avLst>
          </a:prstGeom>
          <a:solidFill>
            <a:srgbClr val="FFFFFF"/>
          </a:solidFill>
          <a:ln w="9525">
            <a:solidFill>
              <a:srgbClr val="E2E8F0"/>
            </a:solidFill>
            <a:prstDash val="solid"/>
          </a:ln>
        </p:spPr>
      </p:sp>
      <p:sp>
        <p:nvSpPr>
          <p:cNvPr id="28" name="Text 26"/>
          <p:cNvSpPr txBox="1"/>
          <p:nvPr/>
        </p:nvSpPr>
        <p:spPr>
          <a:xfrm>
            <a:off x="6381750" y="1962150"/>
            <a:ext cx="762000" cy="400050"/>
          </a:xfrm>
          <a:prstGeom prst="rect">
            <a:avLst/>
          </a:prstGeom>
          <a:noFill/>
          <a:ln/>
        </p:spPr>
        <p:txBody>
          <a:bodyPr wrap="square" lIns="0" tIns="0" rIns="0" bIns="0" rtlCol="0" anchor="t"/>
          <a:lstStyle/>
          <a:p>
            <a:pPr algn="l" indent="0" marL="0">
              <a:lnSpc>
                <a:spcPct val="106000"/>
              </a:lnSpc>
              <a:buNone/>
            </a:pPr>
            <a:r>
              <a:rPr lang="en-US" sz="3000" b="1" dirty="0">
                <a:solidFill>
                  <a:srgbClr val="D1FAE5"/>
                </a:solidFill>
                <a:latin typeface="Segoe UI" pitchFamily="34" charset="0"/>
                <a:ea typeface="Segoe UI" pitchFamily="34" charset="-122"/>
                <a:cs typeface="Segoe UI" pitchFamily="34" charset="-120"/>
              </a:rPr>
              <a:t>03</a:t>
            </a:r>
            <a:endParaRPr lang="en-US" sz="3000" dirty="0"/>
          </a:p>
        </p:txBody>
      </p:sp>
      <p:sp>
        <p:nvSpPr>
          <p:cNvPr id="29" name="Text 27"/>
          <p:cNvSpPr txBox="1"/>
          <p:nvPr/>
        </p:nvSpPr>
        <p:spPr>
          <a:xfrm>
            <a:off x="6381750" y="2400300"/>
            <a:ext cx="2238375" cy="247650"/>
          </a:xfrm>
          <a:prstGeom prst="rect">
            <a:avLst/>
          </a:prstGeom>
          <a:noFill/>
          <a:ln/>
        </p:spPr>
        <p:txBody>
          <a:bodyPr wrap="square" lIns="0" tIns="0" rIns="0" bIns="0" rtlCol="0" anchor="t"/>
          <a:lstStyle/>
          <a:p>
            <a:pPr algn="l" indent="0" marL="0">
              <a:lnSpc>
                <a:spcPct val="106000"/>
              </a:lnSpc>
              <a:buNone/>
            </a:pPr>
            <a:r>
              <a:rPr lang="en-US" sz="1750" b="1" dirty="0">
                <a:solidFill>
                  <a:srgbClr val="0F172A"/>
                </a:solidFill>
                <a:latin typeface="Segoe UI" pitchFamily="34" charset="0"/>
                <a:ea typeface="Segoe UI" pitchFamily="34" charset="-122"/>
                <a:cs typeface="Segoe UI" pitchFamily="34" charset="-120"/>
              </a:rPr>
              <a:t>Kiểm duyệt viên</a:t>
            </a:r>
            <a:endParaRPr lang="en-US" sz="1750" dirty="0"/>
          </a:p>
        </p:txBody>
      </p:sp>
      <p:sp>
        <p:nvSpPr>
          <p:cNvPr id="30" name="Text 28"/>
          <p:cNvSpPr txBox="1"/>
          <p:nvPr/>
        </p:nvSpPr>
        <p:spPr>
          <a:xfrm>
            <a:off x="6381750" y="2705100"/>
            <a:ext cx="2238375" cy="55245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Duyệt nội dung, quản lý mẫu AI và xử lý phản hồi.</a:t>
            </a:r>
            <a:endParaRPr lang="en-US" sz="920" dirty="0"/>
          </a:p>
        </p:txBody>
      </p:sp>
      <p:sp>
        <p:nvSpPr>
          <p:cNvPr id="31" name="Shape 29"/>
          <p:cNvSpPr/>
          <p:nvPr/>
        </p:nvSpPr>
        <p:spPr>
          <a:xfrm>
            <a:off x="6381750" y="3333750"/>
            <a:ext cx="2238375" cy="9525"/>
          </a:xfrm>
          <a:prstGeom prst="line">
            <a:avLst/>
          </a:prstGeom>
          <a:solidFill>
            <a:srgbClr val="FFFFFF">
              <a:alpha val="0"/>
            </a:srgbClr>
          </a:solidFill>
          <a:ln w="9525">
            <a:solidFill>
              <a:srgbClr val="E2E8F0"/>
            </a:solidFill>
            <a:prstDash val="solid"/>
          </a:ln>
        </p:spPr>
      </p:sp>
      <p:sp>
        <p:nvSpPr>
          <p:cNvPr id="32" name="Text 30"/>
          <p:cNvSpPr txBox="1"/>
          <p:nvPr/>
        </p:nvSpPr>
        <p:spPr>
          <a:xfrm>
            <a:off x="6381750" y="3448050"/>
            <a:ext cx="2238375" cy="114300"/>
          </a:xfrm>
          <a:prstGeom prst="rect">
            <a:avLst/>
          </a:prstGeom>
          <a:noFill/>
          <a:ln/>
        </p:spPr>
        <p:txBody>
          <a:bodyPr wrap="square" lIns="0" tIns="0" rIns="0" bIns="0" rtlCol="0" anchor="t"/>
          <a:lstStyle/>
          <a:p>
            <a:pPr algn="l" indent="0" marL="0">
              <a:lnSpc>
                <a:spcPct val="106000"/>
              </a:lnSpc>
              <a:buNone/>
            </a:pPr>
            <a:r>
              <a:rPr lang="en-US" sz="680" b="1" spc="50" kern="0" dirty="0">
                <a:solidFill>
                  <a:srgbClr val="94A3B8"/>
                </a:solidFill>
                <a:latin typeface="Segoe UI" pitchFamily="34" charset="0"/>
                <a:ea typeface="Segoe UI" pitchFamily="34" charset="-122"/>
                <a:cs typeface="Segoe UI" pitchFamily="34" charset="-120"/>
              </a:rPr>
              <a:t>MÀN HÌNH</a:t>
            </a:r>
            <a:endParaRPr lang="en-US" sz="680" dirty="0"/>
          </a:p>
        </p:txBody>
      </p:sp>
      <p:sp>
        <p:nvSpPr>
          <p:cNvPr id="33" name="Text 31"/>
          <p:cNvSpPr txBox="1"/>
          <p:nvPr/>
        </p:nvSpPr>
        <p:spPr>
          <a:xfrm>
            <a:off x="6381750" y="3600450"/>
            <a:ext cx="2238375" cy="1066800"/>
          </a:xfrm>
          <a:prstGeom prst="rect">
            <a:avLst/>
          </a:prstGeom>
          <a:noFill/>
          <a:ln/>
        </p:spPr>
        <p:txBody>
          <a:bodyPr wrap="square" lIns="0" tIns="0" rIns="0" bIns="0" rtlCol="0" anchor="t"/>
          <a:lstStyle/>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Duyệt tài nguyên</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Quản lý mẫu AI</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Trung tâm phản hồi</a:t>
            </a:r>
            <a:endParaRPr lang="en-US" sz="880" dirty="0"/>
          </a:p>
        </p:txBody>
      </p:sp>
      <p:sp>
        <p:nvSpPr>
          <p:cNvPr id="34" name="Shape 32"/>
          <p:cNvSpPr/>
          <p:nvPr/>
        </p:nvSpPr>
        <p:spPr>
          <a:xfrm>
            <a:off x="6381750" y="4762500"/>
            <a:ext cx="1428750" cy="190500"/>
          </a:xfrm>
          <a:prstGeom prst="roundRect">
            <a:avLst>
              <a:gd name="adj" fmla="val 50000"/>
            </a:avLst>
          </a:prstGeom>
          <a:solidFill>
            <a:srgbClr val="ECFDF5"/>
          </a:solidFill>
          <a:ln/>
        </p:spPr>
      </p:sp>
      <p:sp>
        <p:nvSpPr>
          <p:cNvPr id="35" name="Text 33"/>
          <p:cNvSpPr txBox="1"/>
          <p:nvPr/>
        </p:nvSpPr>
        <p:spPr>
          <a:xfrm>
            <a:off x="6410325" y="4762500"/>
            <a:ext cx="1371600" cy="19050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R · U · C · D</a:t>
            </a:r>
            <a:endParaRPr lang="en-US" sz="640" dirty="0"/>
          </a:p>
        </p:txBody>
      </p:sp>
      <p:sp>
        <p:nvSpPr>
          <p:cNvPr id="36" name="Text 34"/>
          <p:cNvSpPr txBox="1"/>
          <p:nvPr/>
        </p:nvSpPr>
        <p:spPr>
          <a:xfrm>
            <a:off x="6381750" y="5124450"/>
            <a:ext cx="2238375" cy="11430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Phụ trách</a:t>
            </a:r>
            <a:endParaRPr lang="en-US" sz="680" dirty="0"/>
          </a:p>
        </p:txBody>
      </p:sp>
      <p:sp>
        <p:nvSpPr>
          <p:cNvPr id="37" name="Text 35"/>
          <p:cNvSpPr txBox="1"/>
          <p:nvPr/>
        </p:nvSpPr>
        <p:spPr>
          <a:xfrm>
            <a:off x="6381750" y="5257800"/>
            <a:ext cx="2238375" cy="190500"/>
          </a:xfrm>
          <a:prstGeom prst="rect">
            <a:avLst/>
          </a:prstGeom>
          <a:noFill/>
          <a:ln/>
        </p:spPr>
        <p:txBody>
          <a:bodyPr wrap="square" lIns="0" tIns="0" rIns="0" bIns="0" rtlCol="0" anchor="t"/>
          <a:lstStyle/>
          <a:p>
            <a:pPr algn="l" indent="0" marL="0">
              <a:lnSpc>
                <a:spcPct val="106000"/>
              </a:lnSpc>
              <a:buNone/>
            </a:pPr>
            <a:r>
              <a:rPr lang="en-US" sz="1000" b="1" dirty="0">
                <a:solidFill>
                  <a:srgbClr val="047857"/>
                </a:solidFill>
                <a:latin typeface="Segoe UI" pitchFamily="34" charset="0"/>
                <a:ea typeface="Segoe UI" pitchFamily="34" charset="-122"/>
                <a:cs typeface="Segoe UI" pitchFamily="34" charset="-120"/>
              </a:rPr>
              <a:t>SV3</a:t>
            </a:r>
            <a:endParaRPr lang="en-US" sz="1000" dirty="0"/>
          </a:p>
        </p:txBody>
      </p:sp>
      <p:sp>
        <p:nvSpPr>
          <p:cNvPr id="38" name="Shape 36"/>
          <p:cNvSpPr/>
          <p:nvPr/>
        </p:nvSpPr>
        <p:spPr>
          <a:xfrm>
            <a:off x="9001125" y="1809750"/>
            <a:ext cx="2619375" cy="3905250"/>
          </a:xfrm>
          <a:prstGeom prst="roundRect">
            <a:avLst>
              <a:gd name="adj" fmla="val 2909"/>
            </a:avLst>
          </a:prstGeom>
          <a:solidFill>
            <a:srgbClr val="FFFFFF"/>
          </a:solidFill>
          <a:ln w="9525">
            <a:solidFill>
              <a:srgbClr val="E2E8F0"/>
            </a:solidFill>
            <a:prstDash val="solid"/>
          </a:ln>
        </p:spPr>
      </p:sp>
      <p:sp>
        <p:nvSpPr>
          <p:cNvPr id="39" name="Text 37"/>
          <p:cNvSpPr txBox="1"/>
          <p:nvPr/>
        </p:nvSpPr>
        <p:spPr>
          <a:xfrm>
            <a:off x="9191625" y="1962150"/>
            <a:ext cx="762000" cy="400050"/>
          </a:xfrm>
          <a:prstGeom prst="rect">
            <a:avLst/>
          </a:prstGeom>
          <a:noFill/>
          <a:ln/>
        </p:spPr>
        <p:txBody>
          <a:bodyPr wrap="square" lIns="0" tIns="0" rIns="0" bIns="0" rtlCol="0" anchor="t"/>
          <a:lstStyle/>
          <a:p>
            <a:pPr algn="l" indent="0" marL="0">
              <a:lnSpc>
                <a:spcPct val="106000"/>
              </a:lnSpc>
              <a:buNone/>
            </a:pPr>
            <a:r>
              <a:rPr lang="en-US" sz="3000" b="1" dirty="0">
                <a:solidFill>
                  <a:srgbClr val="D1FAE5"/>
                </a:solidFill>
                <a:latin typeface="Segoe UI" pitchFamily="34" charset="0"/>
                <a:ea typeface="Segoe UI" pitchFamily="34" charset="-122"/>
                <a:cs typeface="Segoe UI" pitchFamily="34" charset="-120"/>
              </a:rPr>
              <a:t>04</a:t>
            </a:r>
            <a:endParaRPr lang="en-US" sz="3000" dirty="0"/>
          </a:p>
        </p:txBody>
      </p:sp>
      <p:sp>
        <p:nvSpPr>
          <p:cNvPr id="40" name="Text 38"/>
          <p:cNvSpPr txBox="1"/>
          <p:nvPr/>
        </p:nvSpPr>
        <p:spPr>
          <a:xfrm>
            <a:off x="9191625" y="2400300"/>
            <a:ext cx="2238375" cy="247650"/>
          </a:xfrm>
          <a:prstGeom prst="rect">
            <a:avLst/>
          </a:prstGeom>
          <a:noFill/>
          <a:ln/>
        </p:spPr>
        <p:txBody>
          <a:bodyPr wrap="square" lIns="0" tIns="0" rIns="0" bIns="0" rtlCol="0" anchor="t"/>
          <a:lstStyle/>
          <a:p>
            <a:pPr algn="l" indent="0" marL="0">
              <a:lnSpc>
                <a:spcPct val="106000"/>
              </a:lnSpc>
              <a:buNone/>
            </a:pPr>
            <a:r>
              <a:rPr lang="en-US" sz="1750" b="1" dirty="0">
                <a:solidFill>
                  <a:srgbClr val="0F172A"/>
                </a:solidFill>
                <a:latin typeface="Segoe UI" pitchFamily="34" charset="0"/>
                <a:ea typeface="Segoe UI" pitchFamily="34" charset="-122"/>
                <a:cs typeface="Segoe UI" pitchFamily="34" charset="-120"/>
              </a:rPr>
              <a:t>Quản trị viên</a:t>
            </a:r>
            <a:endParaRPr lang="en-US" sz="1750" dirty="0"/>
          </a:p>
        </p:txBody>
      </p:sp>
      <p:sp>
        <p:nvSpPr>
          <p:cNvPr id="41" name="Text 39"/>
          <p:cNvSpPr txBox="1"/>
          <p:nvPr/>
        </p:nvSpPr>
        <p:spPr>
          <a:xfrm>
            <a:off x="9191625" y="2705100"/>
            <a:ext cx="2238375" cy="552450"/>
          </a:xfrm>
          <a:prstGeom prst="rect">
            <a:avLst/>
          </a:prstGeom>
          <a:noFill/>
          <a:ln/>
        </p:spPr>
        <p:txBody>
          <a:bodyPr wrap="square" lIns="0" tIns="0" rIns="0" bIns="0" rtlCol="0" anchor="t"/>
          <a:lstStyle/>
          <a:p>
            <a:pPr algn="l" indent="0" marL="0">
              <a:lnSpc>
                <a:spcPct val="106000"/>
              </a:lnSpc>
              <a:buNone/>
            </a:pPr>
            <a:r>
              <a:rPr lang="en-US" sz="920" dirty="0">
                <a:solidFill>
                  <a:srgbClr val="475569"/>
                </a:solidFill>
                <a:latin typeface="Segoe UI" pitchFamily="34" charset="0"/>
                <a:ea typeface="Segoe UI" pitchFamily="34" charset="-122"/>
                <a:cs typeface="Segoe UI" pitchFamily="34" charset="-120"/>
              </a:rPr>
              <a:t>Quản lý danh mục, tài khoản và sức khoẻ hệ thống.</a:t>
            </a:r>
            <a:endParaRPr lang="en-US" sz="920" dirty="0"/>
          </a:p>
        </p:txBody>
      </p:sp>
      <p:sp>
        <p:nvSpPr>
          <p:cNvPr id="42" name="Shape 40"/>
          <p:cNvSpPr/>
          <p:nvPr/>
        </p:nvSpPr>
        <p:spPr>
          <a:xfrm>
            <a:off x="9191625" y="3333750"/>
            <a:ext cx="2238375" cy="9525"/>
          </a:xfrm>
          <a:prstGeom prst="line">
            <a:avLst/>
          </a:prstGeom>
          <a:solidFill>
            <a:srgbClr val="FFFFFF">
              <a:alpha val="0"/>
            </a:srgbClr>
          </a:solidFill>
          <a:ln w="9525">
            <a:solidFill>
              <a:srgbClr val="E2E8F0"/>
            </a:solidFill>
            <a:prstDash val="solid"/>
          </a:ln>
        </p:spPr>
      </p:sp>
      <p:sp>
        <p:nvSpPr>
          <p:cNvPr id="43" name="Text 41"/>
          <p:cNvSpPr txBox="1"/>
          <p:nvPr/>
        </p:nvSpPr>
        <p:spPr>
          <a:xfrm>
            <a:off x="9191625" y="3448050"/>
            <a:ext cx="2238375" cy="114300"/>
          </a:xfrm>
          <a:prstGeom prst="rect">
            <a:avLst/>
          </a:prstGeom>
          <a:noFill/>
          <a:ln/>
        </p:spPr>
        <p:txBody>
          <a:bodyPr wrap="square" lIns="0" tIns="0" rIns="0" bIns="0" rtlCol="0" anchor="t"/>
          <a:lstStyle/>
          <a:p>
            <a:pPr algn="l" indent="0" marL="0">
              <a:lnSpc>
                <a:spcPct val="106000"/>
              </a:lnSpc>
              <a:buNone/>
            </a:pPr>
            <a:r>
              <a:rPr lang="en-US" sz="680" b="1" spc="50" kern="0" dirty="0">
                <a:solidFill>
                  <a:srgbClr val="94A3B8"/>
                </a:solidFill>
                <a:latin typeface="Segoe UI" pitchFamily="34" charset="0"/>
                <a:ea typeface="Segoe UI" pitchFamily="34" charset="-122"/>
                <a:cs typeface="Segoe UI" pitchFamily="34" charset="-120"/>
              </a:rPr>
              <a:t>MÀN HÌNH</a:t>
            </a:r>
            <a:endParaRPr lang="en-US" sz="680" dirty="0"/>
          </a:p>
        </p:txBody>
      </p:sp>
      <p:sp>
        <p:nvSpPr>
          <p:cNvPr id="44" name="Text 42"/>
          <p:cNvSpPr txBox="1"/>
          <p:nvPr/>
        </p:nvSpPr>
        <p:spPr>
          <a:xfrm>
            <a:off x="9191625" y="3600450"/>
            <a:ext cx="2238375" cy="1066800"/>
          </a:xfrm>
          <a:prstGeom prst="rect">
            <a:avLst/>
          </a:prstGeom>
          <a:noFill/>
          <a:ln/>
        </p:spPr>
        <p:txBody>
          <a:bodyPr wrap="square" lIns="0" tIns="0" rIns="0" bIns="0" rtlCol="0" anchor="t"/>
          <a:lstStyle/>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Danh mục chi</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Người dùng</a:t>
            </a:r>
            <a:endParaRPr lang="en-US" sz="880" dirty="0"/>
          </a:p>
          <a:p>
            <a:pPr algn="l" indent="0" marL="0">
              <a:lnSpc>
                <a:spcPct val="125000"/>
              </a:lnSpc>
              <a:buNone/>
            </a:pPr>
            <a:r>
              <a:rPr lang="en-US" sz="880" dirty="0">
                <a:solidFill>
                  <a:srgbClr val="334155"/>
                </a:solidFill>
                <a:latin typeface="Segoe UI" pitchFamily="34" charset="0"/>
                <a:ea typeface="Segoe UI" pitchFamily="34" charset="-122"/>
                <a:cs typeface="Segoe UI" pitchFamily="34" charset="-120"/>
              </a:rPr>
              <a:t>• Bảng điều khiển hệ thống</a:t>
            </a:r>
            <a:endParaRPr lang="en-US" sz="880" dirty="0"/>
          </a:p>
        </p:txBody>
      </p:sp>
      <p:sp>
        <p:nvSpPr>
          <p:cNvPr id="45" name="Shape 43"/>
          <p:cNvSpPr/>
          <p:nvPr/>
        </p:nvSpPr>
        <p:spPr>
          <a:xfrm>
            <a:off x="9191625" y="4762500"/>
            <a:ext cx="1428750" cy="190500"/>
          </a:xfrm>
          <a:prstGeom prst="roundRect">
            <a:avLst>
              <a:gd name="adj" fmla="val 50000"/>
            </a:avLst>
          </a:prstGeom>
          <a:solidFill>
            <a:srgbClr val="ECFDF5"/>
          </a:solidFill>
          <a:ln/>
        </p:spPr>
      </p:sp>
      <p:sp>
        <p:nvSpPr>
          <p:cNvPr id="46" name="Text 44"/>
          <p:cNvSpPr txBox="1"/>
          <p:nvPr/>
        </p:nvSpPr>
        <p:spPr>
          <a:xfrm>
            <a:off x="9220200" y="4762500"/>
            <a:ext cx="1371600" cy="19050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C · R · U · khoá</a:t>
            </a:r>
            <a:endParaRPr lang="en-US" sz="640" dirty="0"/>
          </a:p>
        </p:txBody>
      </p:sp>
      <p:sp>
        <p:nvSpPr>
          <p:cNvPr id="47" name="Text 45"/>
          <p:cNvSpPr txBox="1"/>
          <p:nvPr/>
        </p:nvSpPr>
        <p:spPr>
          <a:xfrm>
            <a:off x="9191625" y="5124450"/>
            <a:ext cx="2238375" cy="11430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Phụ trách</a:t>
            </a:r>
            <a:endParaRPr lang="en-US" sz="680" dirty="0"/>
          </a:p>
        </p:txBody>
      </p:sp>
      <p:sp>
        <p:nvSpPr>
          <p:cNvPr id="48" name="Text 46"/>
          <p:cNvSpPr txBox="1"/>
          <p:nvPr/>
        </p:nvSpPr>
        <p:spPr>
          <a:xfrm>
            <a:off x="9191625" y="5257800"/>
            <a:ext cx="2238375" cy="190500"/>
          </a:xfrm>
          <a:prstGeom prst="rect">
            <a:avLst/>
          </a:prstGeom>
          <a:noFill/>
          <a:ln/>
        </p:spPr>
        <p:txBody>
          <a:bodyPr wrap="square" lIns="0" tIns="0" rIns="0" bIns="0" rtlCol="0" anchor="t"/>
          <a:lstStyle/>
          <a:p>
            <a:pPr algn="l" indent="0" marL="0">
              <a:lnSpc>
                <a:spcPct val="106000"/>
              </a:lnSpc>
              <a:buNone/>
            </a:pPr>
            <a:r>
              <a:rPr lang="en-US" sz="1000" b="1" dirty="0">
                <a:solidFill>
                  <a:srgbClr val="047857"/>
                </a:solidFill>
                <a:latin typeface="Segoe UI" pitchFamily="34" charset="0"/>
                <a:ea typeface="Segoe UI" pitchFamily="34" charset="-122"/>
                <a:cs typeface="Segoe UI" pitchFamily="34" charset="-120"/>
              </a:rPr>
              <a:t>SV3</a:t>
            </a:r>
            <a:endParaRPr lang="en-US" sz="1000" dirty="0"/>
          </a:p>
        </p:txBody>
      </p:sp>
      <p:sp>
        <p:nvSpPr>
          <p:cNvPr id="49" name="Shape 47"/>
          <p:cNvSpPr/>
          <p:nvPr/>
        </p:nvSpPr>
        <p:spPr>
          <a:xfrm>
            <a:off x="571500" y="5905500"/>
            <a:ext cx="11049000" cy="438150"/>
          </a:xfrm>
          <a:prstGeom prst="roundRect">
            <a:avLst>
              <a:gd name="adj" fmla="val 21739"/>
            </a:avLst>
          </a:prstGeom>
          <a:solidFill>
            <a:srgbClr val="ECFDF5"/>
          </a:solidFill>
          <a:ln/>
        </p:spPr>
      </p:sp>
      <p:sp>
        <p:nvSpPr>
          <p:cNvPr id="50" name="Text 48"/>
          <p:cNvSpPr txBox="1"/>
          <p:nvPr/>
        </p:nvSpPr>
        <p:spPr>
          <a:xfrm>
            <a:off x="723900" y="6038850"/>
            <a:ext cx="10744200" cy="190500"/>
          </a:xfrm>
          <a:prstGeom prst="rect">
            <a:avLst/>
          </a:prstGeom>
          <a:noFill/>
          <a:ln/>
        </p:spPr>
        <p:txBody>
          <a:bodyPr wrap="square" lIns="0" tIns="0" rIns="0" bIns="0" rtlCol="0" anchor="t"/>
          <a:lstStyle/>
          <a:p>
            <a:pPr algn="l" indent="0" marL="0">
              <a:lnSpc>
                <a:spcPct val="106000"/>
              </a:lnSpc>
              <a:buNone/>
            </a:pPr>
            <a:r>
              <a:rPr lang="en-US" sz="940" dirty="0">
                <a:solidFill>
                  <a:srgbClr val="047857"/>
                </a:solidFill>
                <a:latin typeface="Segoe UI" pitchFamily="34" charset="0"/>
                <a:ea typeface="Segoe UI" pitchFamily="34" charset="-122"/>
                <a:cs typeface="Segoe UI" pitchFamily="34" charset="-120"/>
              </a:rPr>
              <a:t>Màn hình dùng chung: index · login · register · forgot-password (SV1) · 403 · 404 (SV3 quay) — SV3 kiểm tính nhất quán toàn hệ thống.</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3810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03 · KIỂM KÊ MÀN HÌNH</a:t>
            </a:r>
            <a:endParaRPr lang="en-US" sz="950" dirty="0"/>
          </a:p>
        </p:txBody>
      </p:sp>
      <p:sp>
        <p:nvSpPr>
          <p:cNvPr id="3" name="Text 1"/>
          <p:cNvSpPr txBox="1"/>
          <p:nvPr/>
        </p:nvSpPr>
        <p:spPr>
          <a:xfrm>
            <a:off x="381000" y="685800"/>
            <a:ext cx="85725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19 màn hình, 5 nhóm</a:t>
            </a:r>
            <a:endParaRPr lang="en-US" sz="2900" dirty="0"/>
          </a:p>
        </p:txBody>
      </p:sp>
      <p:sp>
        <p:nvSpPr>
          <p:cNvPr id="4" name="Text 2"/>
          <p:cNvSpPr txBox="1"/>
          <p:nvPr/>
        </p:nvSpPr>
        <p:spPr>
          <a:xfrm>
            <a:off x="381000" y="1257300"/>
            <a:ext cx="1000125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Bảng kiểm kê là nguồn sự thật: mỗi dòng tương ứng một tệp HTML, một video OBS và một nhánh Git.</a:t>
            </a:r>
            <a:endParaRPr lang="en-US" sz="1200" dirty="0"/>
          </a:p>
        </p:txBody>
      </p:sp>
      <p:sp>
        <p:nvSpPr>
          <p:cNvPr id="5" name="Shape 3"/>
          <p:cNvSpPr/>
          <p:nvPr/>
        </p:nvSpPr>
        <p:spPr>
          <a:xfrm>
            <a:off x="381000" y="1714500"/>
            <a:ext cx="2628900" cy="514350"/>
          </a:xfrm>
          <a:prstGeom prst="roundRect">
            <a:avLst>
              <a:gd name="adj" fmla="val 14815"/>
            </a:avLst>
          </a:prstGeom>
          <a:solidFill>
            <a:srgbClr val="ECFDF5"/>
          </a:solidFill>
          <a:ln/>
        </p:spPr>
      </p:sp>
      <p:sp>
        <p:nvSpPr>
          <p:cNvPr id="6" name="Text 4"/>
          <p:cNvSpPr txBox="1"/>
          <p:nvPr/>
        </p:nvSpPr>
        <p:spPr>
          <a:xfrm>
            <a:off x="495300" y="1819275"/>
            <a:ext cx="2400300" cy="171450"/>
          </a:xfrm>
          <a:prstGeom prst="rect">
            <a:avLst/>
          </a:prstGeom>
          <a:noFill/>
          <a:ln/>
        </p:spPr>
        <p:txBody>
          <a:bodyPr wrap="square" lIns="0" tIns="0" rIns="0" bIns="0" rtlCol="0" anchor="t"/>
          <a:lstStyle/>
          <a:p>
            <a:pPr algn="l" indent="0" marL="0">
              <a:lnSpc>
                <a:spcPct val="106000"/>
              </a:lnSpc>
              <a:buNone/>
            </a:pPr>
            <a:r>
              <a:rPr lang="en-US" sz="1060" b="1" dirty="0">
                <a:solidFill>
                  <a:srgbClr val="047857"/>
                </a:solidFill>
                <a:latin typeface="Segoe UI" pitchFamily="34" charset="0"/>
                <a:ea typeface="Segoe UI" pitchFamily="34" charset="-122"/>
                <a:cs typeface="Segoe UI" pitchFamily="34" charset="-120"/>
              </a:rPr>
              <a:t>Dùng chung</a:t>
            </a:r>
            <a:endParaRPr lang="en-US" sz="1060" dirty="0"/>
          </a:p>
        </p:txBody>
      </p:sp>
      <p:sp>
        <p:nvSpPr>
          <p:cNvPr id="7" name="Text 5"/>
          <p:cNvSpPr txBox="1"/>
          <p:nvPr/>
        </p:nvSpPr>
        <p:spPr>
          <a:xfrm>
            <a:off x="495300" y="2000250"/>
            <a:ext cx="2400300" cy="11430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6 màn hình</a:t>
            </a:r>
            <a:endParaRPr lang="en-US" sz="720" dirty="0"/>
          </a:p>
        </p:txBody>
      </p:sp>
      <p:sp>
        <p:nvSpPr>
          <p:cNvPr id="8" name="Shape 6"/>
          <p:cNvSpPr/>
          <p:nvPr/>
        </p:nvSpPr>
        <p:spPr>
          <a:xfrm>
            <a:off x="381000" y="2228850"/>
            <a:ext cx="2628900" cy="3981450"/>
          </a:xfrm>
          <a:prstGeom prst="roundRect">
            <a:avLst>
              <a:gd name="adj" fmla="val 2899"/>
            </a:avLst>
          </a:prstGeom>
          <a:solidFill>
            <a:srgbClr val="FFFFFF"/>
          </a:solidFill>
          <a:ln w="9525">
            <a:solidFill>
              <a:srgbClr val="E2E8F0"/>
            </a:solidFill>
            <a:prstDash val="solid"/>
          </a:ln>
        </p:spPr>
      </p:sp>
      <p:sp>
        <p:nvSpPr>
          <p:cNvPr id="9" name="Text 7"/>
          <p:cNvSpPr txBox="1"/>
          <p:nvPr/>
        </p:nvSpPr>
        <p:spPr>
          <a:xfrm>
            <a:off x="495300" y="2381250"/>
            <a:ext cx="240030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Trang chủ</a:t>
            </a:r>
            <a:endParaRPr lang="en-US" sz="870" dirty="0"/>
          </a:p>
        </p:txBody>
      </p:sp>
      <p:sp>
        <p:nvSpPr>
          <p:cNvPr id="10" name="Text 8"/>
          <p:cNvSpPr txBox="1"/>
          <p:nvPr/>
        </p:nvSpPr>
        <p:spPr>
          <a:xfrm>
            <a:off x="495300" y="2667000"/>
            <a:ext cx="240030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index.html</a:t>
            </a:r>
            <a:endParaRPr lang="en-US" sz="660" dirty="0"/>
          </a:p>
        </p:txBody>
      </p:sp>
      <p:sp>
        <p:nvSpPr>
          <p:cNvPr id="11" name="Shape 9"/>
          <p:cNvSpPr/>
          <p:nvPr/>
        </p:nvSpPr>
        <p:spPr>
          <a:xfrm>
            <a:off x="495300" y="2838450"/>
            <a:ext cx="2400300" cy="9525"/>
          </a:xfrm>
          <a:prstGeom prst="line">
            <a:avLst/>
          </a:prstGeom>
          <a:solidFill>
            <a:srgbClr val="FFFFFF">
              <a:alpha val="0"/>
            </a:srgbClr>
          </a:solidFill>
          <a:ln w="9525">
            <a:solidFill>
              <a:srgbClr val="F1F5F9"/>
            </a:solidFill>
            <a:prstDash val="solid"/>
          </a:ln>
        </p:spPr>
      </p:sp>
      <p:sp>
        <p:nvSpPr>
          <p:cNvPr id="12" name="Text 10"/>
          <p:cNvSpPr txBox="1"/>
          <p:nvPr/>
        </p:nvSpPr>
        <p:spPr>
          <a:xfrm>
            <a:off x="495300" y="2990850"/>
            <a:ext cx="240030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Đăng nhập</a:t>
            </a:r>
            <a:endParaRPr lang="en-US" sz="870" dirty="0"/>
          </a:p>
        </p:txBody>
      </p:sp>
      <p:sp>
        <p:nvSpPr>
          <p:cNvPr id="13" name="Text 11"/>
          <p:cNvSpPr txBox="1"/>
          <p:nvPr/>
        </p:nvSpPr>
        <p:spPr>
          <a:xfrm>
            <a:off x="495300" y="3276600"/>
            <a:ext cx="240030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login.html</a:t>
            </a:r>
            <a:endParaRPr lang="en-US" sz="660" dirty="0"/>
          </a:p>
        </p:txBody>
      </p:sp>
      <p:sp>
        <p:nvSpPr>
          <p:cNvPr id="14" name="Shape 12"/>
          <p:cNvSpPr/>
          <p:nvPr/>
        </p:nvSpPr>
        <p:spPr>
          <a:xfrm>
            <a:off x="495300" y="3448050"/>
            <a:ext cx="2400300" cy="9525"/>
          </a:xfrm>
          <a:prstGeom prst="line">
            <a:avLst/>
          </a:prstGeom>
          <a:solidFill>
            <a:srgbClr val="FFFFFF">
              <a:alpha val="0"/>
            </a:srgbClr>
          </a:solidFill>
          <a:ln w="9525">
            <a:solidFill>
              <a:srgbClr val="F1F5F9"/>
            </a:solidFill>
            <a:prstDash val="solid"/>
          </a:ln>
        </p:spPr>
      </p:sp>
      <p:sp>
        <p:nvSpPr>
          <p:cNvPr id="15" name="Text 13"/>
          <p:cNvSpPr txBox="1"/>
          <p:nvPr/>
        </p:nvSpPr>
        <p:spPr>
          <a:xfrm>
            <a:off x="495300" y="3600450"/>
            <a:ext cx="240030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Đăng ký</a:t>
            </a:r>
            <a:endParaRPr lang="en-US" sz="870" dirty="0"/>
          </a:p>
        </p:txBody>
      </p:sp>
      <p:sp>
        <p:nvSpPr>
          <p:cNvPr id="16" name="Text 14"/>
          <p:cNvSpPr txBox="1"/>
          <p:nvPr/>
        </p:nvSpPr>
        <p:spPr>
          <a:xfrm>
            <a:off x="495300" y="3886200"/>
            <a:ext cx="240030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register.html</a:t>
            </a:r>
            <a:endParaRPr lang="en-US" sz="660" dirty="0"/>
          </a:p>
        </p:txBody>
      </p:sp>
      <p:sp>
        <p:nvSpPr>
          <p:cNvPr id="17" name="Shape 15"/>
          <p:cNvSpPr/>
          <p:nvPr/>
        </p:nvSpPr>
        <p:spPr>
          <a:xfrm>
            <a:off x="495300" y="4057650"/>
            <a:ext cx="2400300" cy="9525"/>
          </a:xfrm>
          <a:prstGeom prst="line">
            <a:avLst/>
          </a:prstGeom>
          <a:solidFill>
            <a:srgbClr val="FFFFFF">
              <a:alpha val="0"/>
            </a:srgbClr>
          </a:solidFill>
          <a:ln w="9525">
            <a:solidFill>
              <a:srgbClr val="F1F5F9"/>
            </a:solidFill>
            <a:prstDash val="solid"/>
          </a:ln>
        </p:spPr>
      </p:sp>
      <p:sp>
        <p:nvSpPr>
          <p:cNvPr id="18" name="Text 16"/>
          <p:cNvSpPr txBox="1"/>
          <p:nvPr/>
        </p:nvSpPr>
        <p:spPr>
          <a:xfrm>
            <a:off x="495300" y="4210050"/>
            <a:ext cx="240030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Quên mật khẩu</a:t>
            </a:r>
            <a:endParaRPr lang="en-US" sz="870" dirty="0"/>
          </a:p>
        </p:txBody>
      </p:sp>
      <p:sp>
        <p:nvSpPr>
          <p:cNvPr id="19" name="Text 17"/>
          <p:cNvSpPr txBox="1"/>
          <p:nvPr/>
        </p:nvSpPr>
        <p:spPr>
          <a:xfrm>
            <a:off x="495300" y="4495800"/>
            <a:ext cx="240030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forgot-password.html</a:t>
            </a:r>
            <a:endParaRPr lang="en-US" sz="660" dirty="0"/>
          </a:p>
        </p:txBody>
      </p:sp>
      <p:sp>
        <p:nvSpPr>
          <p:cNvPr id="20" name="Shape 18"/>
          <p:cNvSpPr/>
          <p:nvPr/>
        </p:nvSpPr>
        <p:spPr>
          <a:xfrm>
            <a:off x="495300" y="4667250"/>
            <a:ext cx="2400300" cy="9525"/>
          </a:xfrm>
          <a:prstGeom prst="line">
            <a:avLst/>
          </a:prstGeom>
          <a:solidFill>
            <a:srgbClr val="FFFFFF">
              <a:alpha val="0"/>
            </a:srgbClr>
          </a:solidFill>
          <a:ln w="9525">
            <a:solidFill>
              <a:srgbClr val="F1F5F9"/>
            </a:solidFill>
            <a:prstDash val="solid"/>
          </a:ln>
        </p:spPr>
      </p:sp>
      <p:sp>
        <p:nvSpPr>
          <p:cNvPr id="21" name="Text 19"/>
          <p:cNvSpPr txBox="1"/>
          <p:nvPr/>
        </p:nvSpPr>
        <p:spPr>
          <a:xfrm>
            <a:off x="495300" y="4819650"/>
            <a:ext cx="240030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403 — Không có quyền</a:t>
            </a:r>
            <a:endParaRPr lang="en-US" sz="870" dirty="0"/>
          </a:p>
        </p:txBody>
      </p:sp>
      <p:sp>
        <p:nvSpPr>
          <p:cNvPr id="22" name="Text 20"/>
          <p:cNvSpPr txBox="1"/>
          <p:nvPr/>
        </p:nvSpPr>
        <p:spPr>
          <a:xfrm>
            <a:off x="495300" y="5105400"/>
            <a:ext cx="240030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403.html</a:t>
            </a:r>
            <a:endParaRPr lang="en-US" sz="660" dirty="0"/>
          </a:p>
        </p:txBody>
      </p:sp>
      <p:sp>
        <p:nvSpPr>
          <p:cNvPr id="23" name="Shape 21"/>
          <p:cNvSpPr/>
          <p:nvPr/>
        </p:nvSpPr>
        <p:spPr>
          <a:xfrm>
            <a:off x="495300" y="5276850"/>
            <a:ext cx="2400300" cy="9525"/>
          </a:xfrm>
          <a:prstGeom prst="line">
            <a:avLst/>
          </a:prstGeom>
          <a:solidFill>
            <a:srgbClr val="FFFFFF">
              <a:alpha val="0"/>
            </a:srgbClr>
          </a:solidFill>
          <a:ln w="9525">
            <a:solidFill>
              <a:srgbClr val="F1F5F9"/>
            </a:solidFill>
            <a:prstDash val="solid"/>
          </a:ln>
        </p:spPr>
      </p:sp>
      <p:sp>
        <p:nvSpPr>
          <p:cNvPr id="24" name="Text 22"/>
          <p:cNvSpPr txBox="1"/>
          <p:nvPr/>
        </p:nvSpPr>
        <p:spPr>
          <a:xfrm>
            <a:off x="495300" y="5429250"/>
            <a:ext cx="240030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404 — Không tìm thấy</a:t>
            </a:r>
            <a:endParaRPr lang="en-US" sz="870" dirty="0"/>
          </a:p>
        </p:txBody>
      </p:sp>
      <p:sp>
        <p:nvSpPr>
          <p:cNvPr id="25" name="Text 23"/>
          <p:cNvSpPr txBox="1"/>
          <p:nvPr/>
        </p:nvSpPr>
        <p:spPr>
          <a:xfrm>
            <a:off x="495300" y="5715000"/>
            <a:ext cx="240030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404.html</a:t>
            </a:r>
            <a:endParaRPr lang="en-US" sz="660" dirty="0"/>
          </a:p>
        </p:txBody>
      </p:sp>
      <p:sp>
        <p:nvSpPr>
          <p:cNvPr id="26" name="Shape 24"/>
          <p:cNvSpPr/>
          <p:nvPr/>
        </p:nvSpPr>
        <p:spPr>
          <a:xfrm>
            <a:off x="3105150" y="1714500"/>
            <a:ext cx="2114550" cy="514350"/>
          </a:xfrm>
          <a:prstGeom prst="roundRect">
            <a:avLst>
              <a:gd name="adj" fmla="val 14815"/>
            </a:avLst>
          </a:prstGeom>
          <a:solidFill>
            <a:srgbClr val="ECFDF5"/>
          </a:solidFill>
          <a:ln/>
        </p:spPr>
      </p:sp>
      <p:sp>
        <p:nvSpPr>
          <p:cNvPr id="27" name="Text 25"/>
          <p:cNvSpPr txBox="1"/>
          <p:nvPr/>
        </p:nvSpPr>
        <p:spPr>
          <a:xfrm>
            <a:off x="3219450" y="1819275"/>
            <a:ext cx="18859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47857"/>
                </a:solidFill>
                <a:latin typeface="Segoe UI" pitchFamily="34" charset="0"/>
                <a:ea typeface="Segoe UI" pitchFamily="34" charset="-122"/>
                <a:cs typeface="Segoe UI" pitchFamily="34" charset="-120"/>
              </a:rPr>
              <a:t>Người dùng</a:t>
            </a:r>
            <a:endParaRPr lang="en-US" sz="1060" dirty="0"/>
          </a:p>
        </p:txBody>
      </p:sp>
      <p:sp>
        <p:nvSpPr>
          <p:cNvPr id="28" name="Text 26"/>
          <p:cNvSpPr txBox="1"/>
          <p:nvPr/>
        </p:nvSpPr>
        <p:spPr>
          <a:xfrm>
            <a:off x="3219450" y="2000250"/>
            <a:ext cx="1885950" cy="11430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4 màn hình</a:t>
            </a:r>
            <a:endParaRPr lang="en-US" sz="720" dirty="0"/>
          </a:p>
        </p:txBody>
      </p:sp>
      <p:sp>
        <p:nvSpPr>
          <p:cNvPr id="29" name="Shape 27"/>
          <p:cNvSpPr/>
          <p:nvPr/>
        </p:nvSpPr>
        <p:spPr>
          <a:xfrm>
            <a:off x="3105150" y="2228850"/>
            <a:ext cx="2114550" cy="3981450"/>
          </a:xfrm>
          <a:prstGeom prst="roundRect">
            <a:avLst>
              <a:gd name="adj" fmla="val 3604"/>
            </a:avLst>
          </a:prstGeom>
          <a:solidFill>
            <a:srgbClr val="FFFFFF"/>
          </a:solidFill>
          <a:ln w="9525">
            <a:solidFill>
              <a:srgbClr val="E2E8F0"/>
            </a:solidFill>
            <a:prstDash val="solid"/>
          </a:ln>
        </p:spPr>
      </p:sp>
      <p:sp>
        <p:nvSpPr>
          <p:cNvPr id="30" name="Text 28"/>
          <p:cNvSpPr txBox="1"/>
          <p:nvPr/>
        </p:nvSpPr>
        <p:spPr>
          <a:xfrm>
            <a:off x="3219450" y="2381250"/>
            <a:ext cx="18859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Bảng điều khiển tài chính</a:t>
            </a:r>
            <a:endParaRPr lang="en-US" sz="870" dirty="0"/>
          </a:p>
        </p:txBody>
      </p:sp>
      <p:sp>
        <p:nvSpPr>
          <p:cNvPr id="31" name="Text 29"/>
          <p:cNvSpPr txBox="1"/>
          <p:nvPr/>
        </p:nvSpPr>
        <p:spPr>
          <a:xfrm>
            <a:off x="3219450" y="2667000"/>
            <a:ext cx="18859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user-finance-dashboard.html</a:t>
            </a:r>
            <a:endParaRPr lang="en-US" sz="660" dirty="0"/>
          </a:p>
        </p:txBody>
      </p:sp>
      <p:sp>
        <p:nvSpPr>
          <p:cNvPr id="32" name="Shape 30"/>
          <p:cNvSpPr/>
          <p:nvPr/>
        </p:nvSpPr>
        <p:spPr>
          <a:xfrm>
            <a:off x="3219450" y="3143250"/>
            <a:ext cx="1885950" cy="9525"/>
          </a:xfrm>
          <a:prstGeom prst="line">
            <a:avLst/>
          </a:prstGeom>
          <a:solidFill>
            <a:srgbClr val="FFFFFF">
              <a:alpha val="0"/>
            </a:srgbClr>
          </a:solidFill>
          <a:ln w="9525">
            <a:solidFill>
              <a:srgbClr val="F1F5F9"/>
            </a:solidFill>
            <a:prstDash val="solid"/>
          </a:ln>
        </p:spPr>
      </p:sp>
      <p:sp>
        <p:nvSpPr>
          <p:cNvPr id="33" name="Text 31"/>
          <p:cNvSpPr txBox="1"/>
          <p:nvPr/>
        </p:nvSpPr>
        <p:spPr>
          <a:xfrm>
            <a:off x="3219450" y="3295650"/>
            <a:ext cx="18859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Quản lý giao dịch</a:t>
            </a:r>
            <a:endParaRPr lang="en-US" sz="870" dirty="0"/>
          </a:p>
        </p:txBody>
      </p:sp>
      <p:sp>
        <p:nvSpPr>
          <p:cNvPr id="34" name="Text 32"/>
          <p:cNvSpPr txBox="1"/>
          <p:nvPr/>
        </p:nvSpPr>
        <p:spPr>
          <a:xfrm>
            <a:off x="3219450" y="3581400"/>
            <a:ext cx="18859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user-transaction-management.html</a:t>
            </a:r>
            <a:endParaRPr lang="en-US" sz="660" dirty="0"/>
          </a:p>
        </p:txBody>
      </p:sp>
      <p:sp>
        <p:nvSpPr>
          <p:cNvPr id="35" name="Shape 33"/>
          <p:cNvSpPr/>
          <p:nvPr/>
        </p:nvSpPr>
        <p:spPr>
          <a:xfrm>
            <a:off x="3219450" y="4057650"/>
            <a:ext cx="1885950" cy="9525"/>
          </a:xfrm>
          <a:prstGeom prst="line">
            <a:avLst/>
          </a:prstGeom>
          <a:solidFill>
            <a:srgbClr val="FFFFFF">
              <a:alpha val="0"/>
            </a:srgbClr>
          </a:solidFill>
          <a:ln w="9525">
            <a:solidFill>
              <a:srgbClr val="F1F5F9"/>
            </a:solidFill>
            <a:prstDash val="solid"/>
          </a:ln>
        </p:spPr>
      </p:sp>
      <p:sp>
        <p:nvSpPr>
          <p:cNvPr id="36" name="Text 34"/>
          <p:cNvSpPr txBox="1"/>
          <p:nvPr/>
        </p:nvSpPr>
        <p:spPr>
          <a:xfrm>
            <a:off x="3219450" y="4210050"/>
            <a:ext cx="18859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Mục tiêu tiết kiệm</a:t>
            </a:r>
            <a:endParaRPr lang="en-US" sz="870" dirty="0"/>
          </a:p>
        </p:txBody>
      </p:sp>
      <p:sp>
        <p:nvSpPr>
          <p:cNvPr id="37" name="Text 35"/>
          <p:cNvSpPr txBox="1"/>
          <p:nvPr/>
        </p:nvSpPr>
        <p:spPr>
          <a:xfrm>
            <a:off x="3219450" y="4495800"/>
            <a:ext cx="18859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user-saving-goals.html</a:t>
            </a:r>
            <a:endParaRPr lang="en-US" sz="660" dirty="0"/>
          </a:p>
        </p:txBody>
      </p:sp>
      <p:sp>
        <p:nvSpPr>
          <p:cNvPr id="38" name="Shape 36"/>
          <p:cNvSpPr/>
          <p:nvPr/>
        </p:nvSpPr>
        <p:spPr>
          <a:xfrm>
            <a:off x="3219450" y="4972050"/>
            <a:ext cx="1885950" cy="9525"/>
          </a:xfrm>
          <a:prstGeom prst="line">
            <a:avLst/>
          </a:prstGeom>
          <a:solidFill>
            <a:srgbClr val="FFFFFF">
              <a:alpha val="0"/>
            </a:srgbClr>
          </a:solidFill>
          <a:ln w="9525">
            <a:solidFill>
              <a:srgbClr val="F1F5F9"/>
            </a:solidFill>
            <a:prstDash val="solid"/>
          </a:ln>
        </p:spPr>
      </p:sp>
      <p:sp>
        <p:nvSpPr>
          <p:cNvPr id="39" name="Text 37"/>
          <p:cNvSpPr txBox="1"/>
          <p:nvPr/>
        </p:nvSpPr>
        <p:spPr>
          <a:xfrm>
            <a:off x="3219450" y="5124450"/>
            <a:ext cx="18859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Ngân sách tháng</a:t>
            </a:r>
            <a:endParaRPr lang="en-US" sz="870" dirty="0"/>
          </a:p>
        </p:txBody>
      </p:sp>
      <p:sp>
        <p:nvSpPr>
          <p:cNvPr id="40" name="Text 38"/>
          <p:cNvSpPr txBox="1"/>
          <p:nvPr/>
        </p:nvSpPr>
        <p:spPr>
          <a:xfrm>
            <a:off x="3219450" y="5410200"/>
            <a:ext cx="18859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user-budgets.html</a:t>
            </a:r>
            <a:endParaRPr lang="en-US" sz="660" dirty="0"/>
          </a:p>
        </p:txBody>
      </p:sp>
      <p:sp>
        <p:nvSpPr>
          <p:cNvPr id="41" name="Shape 39"/>
          <p:cNvSpPr/>
          <p:nvPr/>
        </p:nvSpPr>
        <p:spPr>
          <a:xfrm>
            <a:off x="5314950" y="1714500"/>
            <a:ext cx="2038350" cy="514350"/>
          </a:xfrm>
          <a:prstGeom prst="roundRect">
            <a:avLst>
              <a:gd name="adj" fmla="val 14815"/>
            </a:avLst>
          </a:prstGeom>
          <a:solidFill>
            <a:srgbClr val="ECFDF5"/>
          </a:solidFill>
          <a:ln/>
        </p:spPr>
      </p:sp>
      <p:sp>
        <p:nvSpPr>
          <p:cNvPr id="42" name="Text 40"/>
          <p:cNvSpPr txBox="1"/>
          <p:nvPr/>
        </p:nvSpPr>
        <p:spPr>
          <a:xfrm>
            <a:off x="5429250" y="1819275"/>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47857"/>
                </a:solidFill>
                <a:latin typeface="Segoe UI" pitchFamily="34" charset="0"/>
                <a:ea typeface="Segoe UI" pitchFamily="34" charset="-122"/>
                <a:cs typeface="Segoe UI" pitchFamily="34" charset="-120"/>
              </a:rPr>
              <a:t>Huấn luyện viên</a:t>
            </a:r>
            <a:endParaRPr lang="en-US" sz="1060" dirty="0"/>
          </a:p>
        </p:txBody>
      </p:sp>
      <p:sp>
        <p:nvSpPr>
          <p:cNvPr id="43" name="Text 41"/>
          <p:cNvSpPr txBox="1"/>
          <p:nvPr/>
        </p:nvSpPr>
        <p:spPr>
          <a:xfrm>
            <a:off x="5429250" y="2000250"/>
            <a:ext cx="1809750" cy="11430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3 màn hình</a:t>
            </a:r>
            <a:endParaRPr lang="en-US" sz="720" dirty="0"/>
          </a:p>
        </p:txBody>
      </p:sp>
      <p:sp>
        <p:nvSpPr>
          <p:cNvPr id="44" name="Shape 42"/>
          <p:cNvSpPr/>
          <p:nvPr/>
        </p:nvSpPr>
        <p:spPr>
          <a:xfrm>
            <a:off x="5314950" y="2228850"/>
            <a:ext cx="2038350" cy="3981450"/>
          </a:xfrm>
          <a:prstGeom prst="roundRect">
            <a:avLst>
              <a:gd name="adj" fmla="val 3738"/>
            </a:avLst>
          </a:prstGeom>
          <a:solidFill>
            <a:srgbClr val="FFFFFF"/>
          </a:solidFill>
          <a:ln w="9525">
            <a:solidFill>
              <a:srgbClr val="E2E8F0"/>
            </a:solidFill>
            <a:prstDash val="solid"/>
          </a:ln>
        </p:spPr>
      </p:sp>
      <p:sp>
        <p:nvSpPr>
          <p:cNvPr id="45" name="Text 43"/>
          <p:cNvSpPr txBox="1"/>
          <p:nvPr/>
        </p:nvSpPr>
        <p:spPr>
          <a:xfrm>
            <a:off x="5429250" y="238125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Danh sách học viên</a:t>
            </a:r>
            <a:endParaRPr lang="en-US" sz="870" dirty="0"/>
          </a:p>
        </p:txBody>
      </p:sp>
      <p:sp>
        <p:nvSpPr>
          <p:cNvPr id="46" name="Text 44"/>
          <p:cNvSpPr txBox="1"/>
          <p:nvPr/>
        </p:nvSpPr>
        <p:spPr>
          <a:xfrm>
            <a:off x="5429250" y="266700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coach-client-list.html</a:t>
            </a:r>
            <a:endParaRPr lang="en-US" sz="660" dirty="0"/>
          </a:p>
        </p:txBody>
      </p:sp>
      <p:sp>
        <p:nvSpPr>
          <p:cNvPr id="47" name="Shape 45"/>
          <p:cNvSpPr/>
          <p:nvPr/>
        </p:nvSpPr>
        <p:spPr>
          <a:xfrm>
            <a:off x="5429250" y="3467100"/>
            <a:ext cx="1809750" cy="9525"/>
          </a:xfrm>
          <a:prstGeom prst="line">
            <a:avLst/>
          </a:prstGeom>
          <a:solidFill>
            <a:srgbClr val="FFFFFF">
              <a:alpha val="0"/>
            </a:srgbClr>
          </a:solidFill>
          <a:ln w="9525">
            <a:solidFill>
              <a:srgbClr val="F1F5F9"/>
            </a:solidFill>
            <a:prstDash val="solid"/>
          </a:ln>
        </p:spPr>
      </p:sp>
      <p:sp>
        <p:nvSpPr>
          <p:cNvPr id="48" name="Text 46"/>
          <p:cNvSpPr txBox="1"/>
          <p:nvPr/>
        </p:nvSpPr>
        <p:spPr>
          <a:xfrm>
            <a:off x="5429250" y="361950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Duyệt ngân sách</a:t>
            </a:r>
            <a:endParaRPr lang="en-US" sz="870" dirty="0"/>
          </a:p>
        </p:txBody>
      </p:sp>
      <p:sp>
        <p:nvSpPr>
          <p:cNvPr id="49" name="Text 47"/>
          <p:cNvSpPr txBox="1"/>
          <p:nvPr/>
        </p:nvSpPr>
        <p:spPr>
          <a:xfrm>
            <a:off x="5429250" y="390525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coach-budget-review.html</a:t>
            </a:r>
            <a:endParaRPr lang="en-US" sz="660" dirty="0"/>
          </a:p>
        </p:txBody>
      </p:sp>
      <p:sp>
        <p:nvSpPr>
          <p:cNvPr id="50" name="Shape 48"/>
          <p:cNvSpPr/>
          <p:nvPr/>
        </p:nvSpPr>
        <p:spPr>
          <a:xfrm>
            <a:off x="5429250" y="4705350"/>
            <a:ext cx="1809750" cy="9525"/>
          </a:xfrm>
          <a:prstGeom prst="line">
            <a:avLst/>
          </a:prstGeom>
          <a:solidFill>
            <a:srgbClr val="FFFFFF">
              <a:alpha val="0"/>
            </a:srgbClr>
          </a:solidFill>
          <a:ln w="9525">
            <a:solidFill>
              <a:srgbClr val="F1F5F9"/>
            </a:solidFill>
            <a:prstDash val="solid"/>
          </a:ln>
        </p:spPr>
      </p:sp>
      <p:sp>
        <p:nvSpPr>
          <p:cNvPr id="51" name="Text 49"/>
          <p:cNvSpPr txBox="1"/>
          <p:nvPr/>
        </p:nvSpPr>
        <p:spPr>
          <a:xfrm>
            <a:off x="5429250" y="485775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Tài nguyên giáo dục</a:t>
            </a:r>
            <a:endParaRPr lang="en-US" sz="870" dirty="0"/>
          </a:p>
        </p:txBody>
      </p:sp>
      <p:sp>
        <p:nvSpPr>
          <p:cNvPr id="52" name="Text 50"/>
          <p:cNvSpPr txBox="1"/>
          <p:nvPr/>
        </p:nvSpPr>
        <p:spPr>
          <a:xfrm>
            <a:off x="5429250" y="514350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coach-resource-management.html</a:t>
            </a:r>
            <a:endParaRPr lang="en-US" sz="660" dirty="0"/>
          </a:p>
        </p:txBody>
      </p:sp>
      <p:sp>
        <p:nvSpPr>
          <p:cNvPr id="53" name="Shape 51"/>
          <p:cNvSpPr/>
          <p:nvPr/>
        </p:nvSpPr>
        <p:spPr>
          <a:xfrm>
            <a:off x="7448550" y="1714500"/>
            <a:ext cx="2038350" cy="514350"/>
          </a:xfrm>
          <a:prstGeom prst="roundRect">
            <a:avLst>
              <a:gd name="adj" fmla="val 14815"/>
            </a:avLst>
          </a:prstGeom>
          <a:solidFill>
            <a:srgbClr val="ECFDF5"/>
          </a:solidFill>
          <a:ln/>
        </p:spPr>
      </p:sp>
      <p:sp>
        <p:nvSpPr>
          <p:cNvPr id="54" name="Text 52"/>
          <p:cNvSpPr txBox="1"/>
          <p:nvPr/>
        </p:nvSpPr>
        <p:spPr>
          <a:xfrm>
            <a:off x="7562850" y="1819275"/>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47857"/>
                </a:solidFill>
                <a:latin typeface="Segoe UI" pitchFamily="34" charset="0"/>
                <a:ea typeface="Segoe UI" pitchFamily="34" charset="-122"/>
                <a:cs typeface="Segoe UI" pitchFamily="34" charset="-120"/>
              </a:rPr>
              <a:t>Kiểm duyệt viên</a:t>
            </a:r>
            <a:endParaRPr lang="en-US" sz="1060" dirty="0"/>
          </a:p>
        </p:txBody>
      </p:sp>
      <p:sp>
        <p:nvSpPr>
          <p:cNvPr id="55" name="Text 53"/>
          <p:cNvSpPr txBox="1"/>
          <p:nvPr/>
        </p:nvSpPr>
        <p:spPr>
          <a:xfrm>
            <a:off x="7562850" y="2000250"/>
            <a:ext cx="1809750" cy="11430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3 màn hình</a:t>
            </a:r>
            <a:endParaRPr lang="en-US" sz="720" dirty="0"/>
          </a:p>
        </p:txBody>
      </p:sp>
      <p:sp>
        <p:nvSpPr>
          <p:cNvPr id="56" name="Shape 54"/>
          <p:cNvSpPr/>
          <p:nvPr/>
        </p:nvSpPr>
        <p:spPr>
          <a:xfrm>
            <a:off x="7448550" y="2228850"/>
            <a:ext cx="2038350" cy="3981450"/>
          </a:xfrm>
          <a:prstGeom prst="roundRect">
            <a:avLst>
              <a:gd name="adj" fmla="val 3738"/>
            </a:avLst>
          </a:prstGeom>
          <a:solidFill>
            <a:srgbClr val="FFFFFF"/>
          </a:solidFill>
          <a:ln w="9525">
            <a:solidFill>
              <a:srgbClr val="E2E8F0"/>
            </a:solidFill>
            <a:prstDash val="solid"/>
          </a:ln>
        </p:spPr>
      </p:sp>
      <p:sp>
        <p:nvSpPr>
          <p:cNvPr id="57" name="Text 55"/>
          <p:cNvSpPr txBox="1"/>
          <p:nvPr/>
        </p:nvSpPr>
        <p:spPr>
          <a:xfrm>
            <a:off x="7562850" y="238125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Duyệt tài nguyên</a:t>
            </a:r>
            <a:endParaRPr lang="en-US" sz="870" dirty="0"/>
          </a:p>
        </p:txBody>
      </p:sp>
      <p:sp>
        <p:nvSpPr>
          <p:cNvPr id="58" name="Text 56"/>
          <p:cNvSpPr txBox="1"/>
          <p:nvPr/>
        </p:nvSpPr>
        <p:spPr>
          <a:xfrm>
            <a:off x="7562850" y="266700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moderator-resource-review.html</a:t>
            </a:r>
            <a:endParaRPr lang="en-US" sz="660" dirty="0"/>
          </a:p>
        </p:txBody>
      </p:sp>
      <p:sp>
        <p:nvSpPr>
          <p:cNvPr id="59" name="Shape 57"/>
          <p:cNvSpPr/>
          <p:nvPr/>
        </p:nvSpPr>
        <p:spPr>
          <a:xfrm>
            <a:off x="7562850" y="3467100"/>
            <a:ext cx="1809750" cy="9525"/>
          </a:xfrm>
          <a:prstGeom prst="line">
            <a:avLst/>
          </a:prstGeom>
          <a:solidFill>
            <a:srgbClr val="FFFFFF">
              <a:alpha val="0"/>
            </a:srgbClr>
          </a:solidFill>
          <a:ln w="9525">
            <a:solidFill>
              <a:srgbClr val="F1F5F9"/>
            </a:solidFill>
            <a:prstDash val="solid"/>
          </a:ln>
        </p:spPr>
      </p:sp>
      <p:sp>
        <p:nvSpPr>
          <p:cNvPr id="60" name="Text 58"/>
          <p:cNvSpPr txBox="1"/>
          <p:nvPr/>
        </p:nvSpPr>
        <p:spPr>
          <a:xfrm>
            <a:off x="7562850" y="361950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Quản lý mẫu AI</a:t>
            </a:r>
            <a:endParaRPr lang="en-US" sz="870" dirty="0"/>
          </a:p>
        </p:txBody>
      </p:sp>
      <p:sp>
        <p:nvSpPr>
          <p:cNvPr id="61" name="Text 59"/>
          <p:cNvSpPr txBox="1"/>
          <p:nvPr/>
        </p:nvSpPr>
        <p:spPr>
          <a:xfrm>
            <a:off x="7562850" y="390525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moderator-ai-template-management.html</a:t>
            </a:r>
            <a:endParaRPr lang="en-US" sz="660" dirty="0"/>
          </a:p>
        </p:txBody>
      </p:sp>
      <p:sp>
        <p:nvSpPr>
          <p:cNvPr id="62" name="Shape 60"/>
          <p:cNvSpPr/>
          <p:nvPr/>
        </p:nvSpPr>
        <p:spPr>
          <a:xfrm>
            <a:off x="7562850" y="4705350"/>
            <a:ext cx="1809750" cy="9525"/>
          </a:xfrm>
          <a:prstGeom prst="line">
            <a:avLst/>
          </a:prstGeom>
          <a:solidFill>
            <a:srgbClr val="FFFFFF">
              <a:alpha val="0"/>
            </a:srgbClr>
          </a:solidFill>
          <a:ln w="9525">
            <a:solidFill>
              <a:srgbClr val="F1F5F9"/>
            </a:solidFill>
            <a:prstDash val="solid"/>
          </a:ln>
        </p:spPr>
      </p:sp>
      <p:sp>
        <p:nvSpPr>
          <p:cNvPr id="63" name="Text 61"/>
          <p:cNvSpPr txBox="1"/>
          <p:nvPr/>
        </p:nvSpPr>
        <p:spPr>
          <a:xfrm>
            <a:off x="7562850" y="485775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Trung tâm phản hồi</a:t>
            </a:r>
            <a:endParaRPr lang="en-US" sz="870" dirty="0"/>
          </a:p>
        </p:txBody>
      </p:sp>
      <p:sp>
        <p:nvSpPr>
          <p:cNvPr id="64" name="Text 62"/>
          <p:cNvSpPr txBox="1"/>
          <p:nvPr/>
        </p:nvSpPr>
        <p:spPr>
          <a:xfrm>
            <a:off x="7562850" y="514350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moderator-feedback-center.html</a:t>
            </a:r>
            <a:endParaRPr lang="en-US" sz="660" dirty="0"/>
          </a:p>
        </p:txBody>
      </p:sp>
      <p:sp>
        <p:nvSpPr>
          <p:cNvPr id="65" name="Shape 63"/>
          <p:cNvSpPr/>
          <p:nvPr/>
        </p:nvSpPr>
        <p:spPr>
          <a:xfrm>
            <a:off x="9582150" y="1714500"/>
            <a:ext cx="2038350" cy="514350"/>
          </a:xfrm>
          <a:prstGeom prst="roundRect">
            <a:avLst>
              <a:gd name="adj" fmla="val 14815"/>
            </a:avLst>
          </a:prstGeom>
          <a:solidFill>
            <a:srgbClr val="ECFDF5"/>
          </a:solidFill>
          <a:ln/>
        </p:spPr>
      </p:sp>
      <p:sp>
        <p:nvSpPr>
          <p:cNvPr id="66" name="Text 64"/>
          <p:cNvSpPr txBox="1"/>
          <p:nvPr/>
        </p:nvSpPr>
        <p:spPr>
          <a:xfrm>
            <a:off x="9696450" y="1819275"/>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47857"/>
                </a:solidFill>
                <a:latin typeface="Segoe UI" pitchFamily="34" charset="0"/>
                <a:ea typeface="Segoe UI" pitchFamily="34" charset="-122"/>
                <a:cs typeface="Segoe UI" pitchFamily="34" charset="-120"/>
              </a:rPr>
              <a:t>Quản trị viên</a:t>
            </a:r>
            <a:endParaRPr lang="en-US" sz="1060" dirty="0"/>
          </a:p>
        </p:txBody>
      </p:sp>
      <p:sp>
        <p:nvSpPr>
          <p:cNvPr id="67" name="Text 65"/>
          <p:cNvSpPr txBox="1"/>
          <p:nvPr/>
        </p:nvSpPr>
        <p:spPr>
          <a:xfrm>
            <a:off x="9696450" y="2000250"/>
            <a:ext cx="1809750" cy="11430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3 màn hình</a:t>
            </a:r>
            <a:endParaRPr lang="en-US" sz="720" dirty="0"/>
          </a:p>
        </p:txBody>
      </p:sp>
      <p:sp>
        <p:nvSpPr>
          <p:cNvPr id="68" name="Shape 66"/>
          <p:cNvSpPr/>
          <p:nvPr/>
        </p:nvSpPr>
        <p:spPr>
          <a:xfrm>
            <a:off x="9582150" y="2228850"/>
            <a:ext cx="2038350" cy="3981450"/>
          </a:xfrm>
          <a:prstGeom prst="roundRect">
            <a:avLst>
              <a:gd name="adj" fmla="val 3738"/>
            </a:avLst>
          </a:prstGeom>
          <a:solidFill>
            <a:srgbClr val="FFFFFF"/>
          </a:solidFill>
          <a:ln w="9525">
            <a:solidFill>
              <a:srgbClr val="E2E8F0"/>
            </a:solidFill>
            <a:prstDash val="solid"/>
          </a:ln>
        </p:spPr>
      </p:sp>
      <p:sp>
        <p:nvSpPr>
          <p:cNvPr id="69" name="Text 67"/>
          <p:cNvSpPr txBox="1"/>
          <p:nvPr/>
        </p:nvSpPr>
        <p:spPr>
          <a:xfrm>
            <a:off x="9696450" y="238125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Danh mục chi</a:t>
            </a:r>
            <a:endParaRPr lang="en-US" sz="870" dirty="0"/>
          </a:p>
        </p:txBody>
      </p:sp>
      <p:sp>
        <p:nvSpPr>
          <p:cNvPr id="70" name="Text 68"/>
          <p:cNvSpPr txBox="1"/>
          <p:nvPr/>
        </p:nvSpPr>
        <p:spPr>
          <a:xfrm>
            <a:off x="9696450" y="266700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admin-expense-category-management.html</a:t>
            </a:r>
            <a:endParaRPr lang="en-US" sz="660" dirty="0"/>
          </a:p>
        </p:txBody>
      </p:sp>
      <p:sp>
        <p:nvSpPr>
          <p:cNvPr id="71" name="Shape 69"/>
          <p:cNvSpPr/>
          <p:nvPr/>
        </p:nvSpPr>
        <p:spPr>
          <a:xfrm>
            <a:off x="9696450" y="3467100"/>
            <a:ext cx="1809750" cy="9525"/>
          </a:xfrm>
          <a:prstGeom prst="line">
            <a:avLst/>
          </a:prstGeom>
          <a:solidFill>
            <a:srgbClr val="FFFFFF">
              <a:alpha val="0"/>
            </a:srgbClr>
          </a:solidFill>
          <a:ln w="9525">
            <a:solidFill>
              <a:srgbClr val="F1F5F9"/>
            </a:solidFill>
            <a:prstDash val="solid"/>
          </a:ln>
        </p:spPr>
      </p:sp>
      <p:sp>
        <p:nvSpPr>
          <p:cNvPr id="72" name="Text 70"/>
          <p:cNvSpPr txBox="1"/>
          <p:nvPr/>
        </p:nvSpPr>
        <p:spPr>
          <a:xfrm>
            <a:off x="9696450" y="361950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Người dùng</a:t>
            </a:r>
            <a:endParaRPr lang="en-US" sz="870" dirty="0"/>
          </a:p>
        </p:txBody>
      </p:sp>
      <p:sp>
        <p:nvSpPr>
          <p:cNvPr id="73" name="Text 71"/>
          <p:cNvSpPr txBox="1"/>
          <p:nvPr/>
        </p:nvSpPr>
        <p:spPr>
          <a:xfrm>
            <a:off x="9696450" y="390525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admin-user-management.html</a:t>
            </a:r>
            <a:endParaRPr lang="en-US" sz="660" dirty="0"/>
          </a:p>
        </p:txBody>
      </p:sp>
      <p:sp>
        <p:nvSpPr>
          <p:cNvPr id="74" name="Shape 72"/>
          <p:cNvSpPr/>
          <p:nvPr/>
        </p:nvSpPr>
        <p:spPr>
          <a:xfrm>
            <a:off x="9696450" y="4705350"/>
            <a:ext cx="1809750" cy="9525"/>
          </a:xfrm>
          <a:prstGeom prst="line">
            <a:avLst/>
          </a:prstGeom>
          <a:solidFill>
            <a:srgbClr val="FFFFFF">
              <a:alpha val="0"/>
            </a:srgbClr>
          </a:solidFill>
          <a:ln w="9525">
            <a:solidFill>
              <a:srgbClr val="F1F5F9"/>
            </a:solidFill>
            <a:prstDash val="solid"/>
          </a:ln>
        </p:spPr>
      </p:sp>
      <p:sp>
        <p:nvSpPr>
          <p:cNvPr id="75" name="Text 73"/>
          <p:cNvSpPr txBox="1"/>
          <p:nvPr/>
        </p:nvSpPr>
        <p:spPr>
          <a:xfrm>
            <a:off x="9696450" y="4857750"/>
            <a:ext cx="1809750" cy="285750"/>
          </a:xfrm>
          <a:prstGeom prst="rect">
            <a:avLst/>
          </a:prstGeom>
          <a:noFill/>
          <a:ln/>
        </p:spPr>
        <p:txBody>
          <a:bodyPr wrap="square" lIns="0" tIns="0" rIns="0" bIns="0" rtlCol="0" anchor="t"/>
          <a:lstStyle/>
          <a:p>
            <a:pPr algn="l" indent="0" marL="0">
              <a:lnSpc>
                <a:spcPct val="106000"/>
              </a:lnSpc>
              <a:buNone/>
            </a:pPr>
            <a:r>
              <a:rPr lang="en-US" sz="870" b="1" dirty="0">
                <a:solidFill>
                  <a:srgbClr val="0F172A"/>
                </a:solidFill>
                <a:latin typeface="Segoe UI" pitchFamily="34" charset="0"/>
                <a:ea typeface="Segoe UI" pitchFamily="34" charset="-122"/>
                <a:cs typeface="Segoe UI" pitchFamily="34" charset="-120"/>
              </a:rPr>
              <a:t>Bảng điều khiển hệ thống</a:t>
            </a:r>
            <a:endParaRPr lang="en-US" sz="870" dirty="0"/>
          </a:p>
        </p:txBody>
      </p:sp>
      <p:sp>
        <p:nvSpPr>
          <p:cNvPr id="76" name="Text 74"/>
          <p:cNvSpPr txBox="1"/>
          <p:nvPr/>
        </p:nvSpPr>
        <p:spPr>
          <a:xfrm>
            <a:off x="9696450" y="5143500"/>
            <a:ext cx="1809750" cy="2095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admin-system-dashboard.html</a:t>
            </a:r>
            <a:endParaRPr lang="en-US" sz="660" dirty="0"/>
          </a:p>
        </p:txBody>
      </p:sp>
      <p:sp>
        <p:nvSpPr>
          <p:cNvPr id="77" name="Text 75"/>
          <p:cNvSpPr txBox="1"/>
          <p:nvPr/>
        </p:nvSpPr>
        <p:spPr>
          <a:xfrm>
            <a:off x="400050" y="6324600"/>
            <a:ext cx="2590800" cy="171450"/>
          </a:xfrm>
          <a:prstGeom prst="rect">
            <a:avLst/>
          </a:prstGeom>
          <a:noFill/>
          <a:ln/>
        </p:spPr>
        <p:txBody>
          <a:bodyPr wrap="square" lIns="0" tIns="0" rIns="0" bIns="0" rtlCol="0" anchor="t"/>
          <a:lstStyle/>
          <a:p>
            <a:pPr algn="l" indent="0" marL="0">
              <a:lnSpc>
                <a:spcPct val="106000"/>
              </a:lnSpc>
              <a:buNone/>
            </a:pPr>
            <a:r>
              <a:rPr lang="en-US" sz="720" dirty="0">
                <a:solidFill>
                  <a:srgbClr val="94A3B8"/>
                </a:solidFill>
                <a:latin typeface="Segoe UI" pitchFamily="34" charset="0"/>
                <a:ea typeface="Segoe UI" pitchFamily="34" charset="-122"/>
                <a:cs typeface="Segoe UI" pitchFamily="34" charset="-120"/>
              </a:rPr>
              <a:t>Có trạng thái đăng nhập, 403, 404</a:t>
            </a:r>
            <a:endParaRPr lang="en-US" sz="720" dirty="0"/>
          </a:p>
        </p:txBody>
      </p:sp>
      <p:sp>
        <p:nvSpPr>
          <p:cNvPr id="78" name="Text 76"/>
          <p:cNvSpPr txBox="1"/>
          <p:nvPr/>
        </p:nvSpPr>
        <p:spPr>
          <a:xfrm>
            <a:off x="3124200" y="6324600"/>
            <a:ext cx="2076450" cy="171450"/>
          </a:xfrm>
          <a:prstGeom prst="rect">
            <a:avLst/>
          </a:prstGeom>
          <a:noFill/>
          <a:ln/>
        </p:spPr>
        <p:txBody>
          <a:bodyPr wrap="square" lIns="0" tIns="0" rIns="0" bIns="0" rtlCol="0" anchor="t"/>
          <a:lstStyle/>
          <a:p>
            <a:pPr algn="l" indent="0" marL="0">
              <a:lnSpc>
                <a:spcPct val="106000"/>
              </a:lnSpc>
              <a:buNone/>
            </a:pPr>
            <a:r>
              <a:rPr lang="en-US" sz="720" dirty="0">
                <a:solidFill>
                  <a:srgbClr val="94A3B8"/>
                </a:solidFill>
                <a:latin typeface="Segoe UI" pitchFamily="34" charset="0"/>
                <a:ea typeface="Segoe UI" pitchFamily="34" charset="-122"/>
                <a:cs typeface="Segoe UI" pitchFamily="34" charset="-120"/>
              </a:rPr>
              <a:t>4 màn hình, 3 AI</a:t>
            </a:r>
            <a:endParaRPr lang="en-US" sz="720" dirty="0"/>
          </a:p>
        </p:txBody>
      </p:sp>
      <p:sp>
        <p:nvSpPr>
          <p:cNvPr id="79" name="Text 77"/>
          <p:cNvSpPr txBox="1"/>
          <p:nvPr/>
        </p:nvSpPr>
        <p:spPr>
          <a:xfrm>
            <a:off x="5334000" y="6324600"/>
            <a:ext cx="2000250" cy="171450"/>
          </a:xfrm>
          <a:prstGeom prst="rect">
            <a:avLst/>
          </a:prstGeom>
          <a:noFill/>
          <a:ln/>
        </p:spPr>
        <p:txBody>
          <a:bodyPr wrap="square" lIns="0" tIns="0" rIns="0" bIns="0" rtlCol="0" anchor="t"/>
          <a:lstStyle/>
          <a:p>
            <a:pPr algn="l" indent="0" marL="0">
              <a:lnSpc>
                <a:spcPct val="106000"/>
              </a:lnSpc>
              <a:buNone/>
            </a:pPr>
            <a:r>
              <a:rPr lang="en-US" sz="720" dirty="0">
                <a:solidFill>
                  <a:srgbClr val="94A3B8"/>
                </a:solidFill>
                <a:latin typeface="Segoe UI" pitchFamily="34" charset="0"/>
                <a:ea typeface="Segoe UI" pitchFamily="34" charset="-122"/>
                <a:cs typeface="Segoe UI" pitchFamily="34" charset="-120"/>
              </a:rPr>
              <a:t>Đọc + duyệt + tài nguyên</a:t>
            </a:r>
            <a:endParaRPr lang="en-US" sz="720" dirty="0"/>
          </a:p>
        </p:txBody>
      </p:sp>
      <p:sp>
        <p:nvSpPr>
          <p:cNvPr id="80" name="Text 78"/>
          <p:cNvSpPr txBox="1"/>
          <p:nvPr/>
        </p:nvSpPr>
        <p:spPr>
          <a:xfrm>
            <a:off x="7467600" y="6324600"/>
            <a:ext cx="2000250" cy="171450"/>
          </a:xfrm>
          <a:prstGeom prst="rect">
            <a:avLst/>
          </a:prstGeom>
          <a:noFill/>
          <a:ln/>
        </p:spPr>
        <p:txBody>
          <a:bodyPr wrap="square" lIns="0" tIns="0" rIns="0" bIns="0" rtlCol="0" anchor="t"/>
          <a:lstStyle/>
          <a:p>
            <a:pPr algn="l" indent="0" marL="0">
              <a:lnSpc>
                <a:spcPct val="106000"/>
              </a:lnSpc>
              <a:buNone/>
            </a:pPr>
            <a:r>
              <a:rPr lang="en-US" sz="720" dirty="0">
                <a:solidFill>
                  <a:srgbClr val="94A3B8"/>
                </a:solidFill>
                <a:latin typeface="Segoe UI" pitchFamily="34" charset="0"/>
                <a:ea typeface="Segoe UI" pitchFamily="34" charset="-122"/>
                <a:cs typeface="Segoe UI" pitchFamily="34" charset="-120"/>
              </a:rPr>
              <a:t>Duyệt + mẫu AI + phản hồi</a:t>
            </a:r>
            <a:endParaRPr lang="en-US" sz="720" dirty="0"/>
          </a:p>
        </p:txBody>
      </p:sp>
      <p:sp>
        <p:nvSpPr>
          <p:cNvPr id="81" name="Text 79"/>
          <p:cNvSpPr txBox="1"/>
          <p:nvPr/>
        </p:nvSpPr>
        <p:spPr>
          <a:xfrm>
            <a:off x="9601200" y="6324600"/>
            <a:ext cx="2000250" cy="171450"/>
          </a:xfrm>
          <a:prstGeom prst="rect">
            <a:avLst/>
          </a:prstGeom>
          <a:noFill/>
          <a:ln/>
        </p:spPr>
        <p:txBody>
          <a:bodyPr wrap="square" lIns="0" tIns="0" rIns="0" bIns="0" rtlCol="0" anchor="t"/>
          <a:lstStyle/>
          <a:p>
            <a:pPr algn="l" indent="0" marL="0">
              <a:lnSpc>
                <a:spcPct val="106000"/>
              </a:lnSpc>
              <a:buNone/>
            </a:pPr>
            <a:r>
              <a:rPr lang="en-US" sz="720" dirty="0">
                <a:solidFill>
                  <a:srgbClr val="94A3B8"/>
                </a:solidFill>
                <a:latin typeface="Segoe UI" pitchFamily="34" charset="0"/>
                <a:ea typeface="Segoe UI" pitchFamily="34" charset="-122"/>
                <a:cs typeface="Segoe UI" pitchFamily="34" charset="-120"/>
              </a:rPr>
              <a:t>Danh mục + tài khoản + hệ thống</a:t>
            </a:r>
            <a:endParaRPr lang="en-US" sz="720" dirty="0"/>
          </a:p>
        </p:txBody>
      </p:sp>
      <p:sp>
        <p:nvSpPr>
          <p:cNvPr id="82" name="Text 80"/>
          <p:cNvSpPr txBox="1"/>
          <p:nvPr/>
        </p:nvSpPr>
        <p:spPr>
          <a:xfrm>
            <a:off x="381000" y="6553200"/>
            <a:ext cx="9525000" cy="152400"/>
          </a:xfrm>
          <a:prstGeom prst="rect">
            <a:avLst/>
          </a:prstGeom>
          <a:noFill/>
          <a:ln/>
        </p:spPr>
        <p:txBody>
          <a:bodyPr wrap="square" lIns="0" tIns="0" rIns="0" bIns="0" rtlCol="0" anchor="t"/>
          <a:lstStyle/>
          <a:p>
            <a:pPr algn="l" indent="0" marL="0">
              <a:lnSpc>
                <a:spcPct val="106000"/>
              </a:lnSpc>
              <a:buNone/>
            </a:pPr>
            <a:r>
              <a:rPr lang="en-US" sz="760" dirty="0">
                <a:solidFill>
                  <a:srgbClr val="475569"/>
                </a:solidFill>
                <a:latin typeface="Segoe UI" pitchFamily="34" charset="0"/>
                <a:ea typeface="Segoe UI" pitchFamily="34" charset="-122"/>
                <a:cs typeface="Segoe UI" pitchFamily="34" charset="-120"/>
              </a:rPr>
              <a:t>12 màn hình bắt buộc theo mục 8 + user-budgets (bổ sung) + 6 màn hình dùng chung = 19.</a:t>
            </a:r>
            <a:endParaRPr lang="en-US" sz="7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3810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04 · HỆ THỐNG THIẾT KẾ</a:t>
            </a:r>
            <a:endParaRPr lang="en-US" sz="950" dirty="0"/>
          </a:p>
        </p:txBody>
      </p:sp>
      <p:sp>
        <p:nvSpPr>
          <p:cNvPr id="3" name="Text 1"/>
          <p:cNvSpPr txBox="1"/>
          <p:nvPr/>
        </p:nvSpPr>
        <p:spPr>
          <a:xfrm>
            <a:off x="381000" y="685800"/>
            <a:ext cx="95250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Một ngôn ngữ cho 19 màn hình</a:t>
            </a:r>
            <a:endParaRPr lang="en-US" sz="2900" dirty="0"/>
          </a:p>
        </p:txBody>
      </p:sp>
      <p:sp>
        <p:nvSpPr>
          <p:cNvPr id="4" name="Text 2"/>
          <p:cNvSpPr txBox="1"/>
          <p:nvPr/>
        </p:nvSpPr>
        <p:spPr>
          <a:xfrm>
            <a:off x="381000" y="1257300"/>
            <a:ext cx="1028700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Token màu, kiểu chữ, khoảng cách và thành phần dùng lại; không màn hình nào tự định nghĩa style riêng.</a:t>
            </a:r>
            <a:endParaRPr lang="en-US" sz="1200" dirty="0"/>
          </a:p>
        </p:txBody>
      </p:sp>
      <p:sp>
        <p:nvSpPr>
          <p:cNvPr id="5" name="Shape 3"/>
          <p:cNvSpPr/>
          <p:nvPr/>
        </p:nvSpPr>
        <p:spPr>
          <a:xfrm>
            <a:off x="381000" y="1676400"/>
            <a:ext cx="5334000" cy="4476750"/>
          </a:xfrm>
          <a:prstGeom prst="roundRect">
            <a:avLst>
              <a:gd name="adj" fmla="val 1702"/>
            </a:avLst>
          </a:prstGeom>
          <a:solidFill>
            <a:srgbClr val="FFFFFF"/>
          </a:solidFill>
          <a:ln w="9525">
            <a:solidFill>
              <a:srgbClr val="E2E8F0"/>
            </a:solidFill>
            <a:prstDash val="solid"/>
          </a:ln>
        </p:spPr>
      </p:sp>
      <p:sp>
        <p:nvSpPr>
          <p:cNvPr id="6" name="Text 4"/>
          <p:cNvSpPr txBox="1"/>
          <p:nvPr/>
        </p:nvSpPr>
        <p:spPr>
          <a:xfrm>
            <a:off x="609600" y="1847850"/>
            <a:ext cx="38100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94A3B8"/>
                </a:solidFill>
                <a:latin typeface="Segoe UI" pitchFamily="34" charset="0"/>
                <a:ea typeface="Segoe UI" pitchFamily="34" charset="-122"/>
                <a:cs typeface="Segoe UI" pitchFamily="34" charset="-120"/>
              </a:rPr>
              <a:t>MÀU THƯƠNG HIỆU</a:t>
            </a:r>
            <a:endParaRPr lang="en-US" sz="740" dirty="0"/>
          </a:p>
        </p:txBody>
      </p:sp>
      <p:sp>
        <p:nvSpPr>
          <p:cNvPr id="7" name="Shape 5"/>
          <p:cNvSpPr/>
          <p:nvPr/>
        </p:nvSpPr>
        <p:spPr>
          <a:xfrm>
            <a:off x="609600" y="2019300"/>
            <a:ext cx="1428750" cy="628650"/>
          </a:xfrm>
          <a:prstGeom prst="roundRect">
            <a:avLst>
              <a:gd name="adj" fmla="val 12121"/>
            </a:avLst>
          </a:prstGeom>
          <a:solidFill>
            <a:srgbClr val="059669"/>
          </a:solidFill>
          <a:ln/>
        </p:spPr>
      </p:sp>
      <p:sp>
        <p:nvSpPr>
          <p:cNvPr id="8" name="Text 6"/>
          <p:cNvSpPr txBox="1"/>
          <p:nvPr/>
        </p:nvSpPr>
        <p:spPr>
          <a:xfrm>
            <a:off x="723900" y="2133600"/>
            <a:ext cx="1200150" cy="152400"/>
          </a:xfrm>
          <a:prstGeom prst="rect">
            <a:avLst/>
          </a:prstGeom>
          <a:noFill/>
          <a:ln/>
        </p:spPr>
        <p:txBody>
          <a:bodyPr wrap="square" lIns="0" tIns="0" rIns="0" bIns="0" rtlCol="0" anchor="t"/>
          <a:lstStyle/>
          <a:p>
            <a:pPr algn="l"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Primary</a:t>
            </a:r>
            <a:endParaRPr lang="en-US" sz="800" dirty="0"/>
          </a:p>
        </p:txBody>
      </p:sp>
      <p:sp>
        <p:nvSpPr>
          <p:cNvPr id="9" name="Text 7"/>
          <p:cNvSpPr txBox="1"/>
          <p:nvPr/>
        </p:nvSpPr>
        <p:spPr>
          <a:xfrm>
            <a:off x="723900" y="2324100"/>
            <a:ext cx="1200150" cy="152400"/>
          </a:xfrm>
          <a:prstGeom prst="rect">
            <a:avLst/>
          </a:prstGeom>
          <a:noFill/>
          <a:ln/>
        </p:spPr>
        <p:txBody>
          <a:bodyPr wrap="square" lIns="0" tIns="0" rIns="0" bIns="0" rtlCol="0" anchor="t"/>
          <a:lstStyle/>
          <a:p>
            <a:pPr algn="l" indent="0" marL="0">
              <a:lnSpc>
                <a:spcPct val="106000"/>
              </a:lnSpc>
              <a:buNone/>
            </a:pPr>
            <a:r>
              <a:rPr lang="en-US" sz="720" dirty="0">
                <a:solidFill>
                  <a:srgbClr val="FFFFFF"/>
                </a:solidFill>
                <a:latin typeface="Segoe UI" pitchFamily="34" charset="0"/>
                <a:ea typeface="Segoe UI" pitchFamily="34" charset="-122"/>
                <a:cs typeface="Segoe UI" pitchFamily="34" charset="-120"/>
              </a:rPr>
              <a:t>#059669</a:t>
            </a:r>
            <a:endParaRPr lang="en-US" sz="720" dirty="0"/>
          </a:p>
        </p:txBody>
      </p:sp>
      <p:sp>
        <p:nvSpPr>
          <p:cNvPr id="10" name="Shape 8"/>
          <p:cNvSpPr/>
          <p:nvPr/>
        </p:nvSpPr>
        <p:spPr>
          <a:xfrm>
            <a:off x="2190750" y="2019300"/>
            <a:ext cx="1428750" cy="628650"/>
          </a:xfrm>
          <a:prstGeom prst="roundRect">
            <a:avLst>
              <a:gd name="adj" fmla="val 12121"/>
            </a:avLst>
          </a:prstGeom>
          <a:solidFill>
            <a:srgbClr val="F59E0B"/>
          </a:solidFill>
          <a:ln/>
        </p:spPr>
      </p:sp>
      <p:sp>
        <p:nvSpPr>
          <p:cNvPr id="11" name="Text 9"/>
          <p:cNvSpPr txBox="1"/>
          <p:nvPr/>
        </p:nvSpPr>
        <p:spPr>
          <a:xfrm>
            <a:off x="2305050" y="2133600"/>
            <a:ext cx="1200150" cy="152400"/>
          </a:xfrm>
          <a:prstGeom prst="rect">
            <a:avLst/>
          </a:prstGeom>
          <a:noFill/>
          <a:ln/>
        </p:spPr>
        <p:txBody>
          <a:bodyPr wrap="square" lIns="0" tIns="0" rIns="0" bIns="0" rtlCol="0" anchor="t"/>
          <a:lstStyle/>
          <a:p>
            <a:pPr algn="l"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Accent</a:t>
            </a:r>
            <a:endParaRPr lang="en-US" sz="800" dirty="0"/>
          </a:p>
        </p:txBody>
      </p:sp>
      <p:sp>
        <p:nvSpPr>
          <p:cNvPr id="12" name="Text 10"/>
          <p:cNvSpPr txBox="1"/>
          <p:nvPr/>
        </p:nvSpPr>
        <p:spPr>
          <a:xfrm>
            <a:off x="2305050" y="2324100"/>
            <a:ext cx="1200150" cy="152400"/>
          </a:xfrm>
          <a:prstGeom prst="rect">
            <a:avLst/>
          </a:prstGeom>
          <a:noFill/>
          <a:ln/>
        </p:spPr>
        <p:txBody>
          <a:bodyPr wrap="square" lIns="0" tIns="0" rIns="0" bIns="0" rtlCol="0" anchor="t"/>
          <a:lstStyle/>
          <a:p>
            <a:pPr algn="l" indent="0" marL="0">
              <a:lnSpc>
                <a:spcPct val="106000"/>
              </a:lnSpc>
              <a:buNone/>
            </a:pPr>
            <a:r>
              <a:rPr lang="en-US" sz="720" dirty="0">
                <a:solidFill>
                  <a:srgbClr val="FFFFFF"/>
                </a:solidFill>
                <a:latin typeface="Segoe UI" pitchFamily="34" charset="0"/>
                <a:ea typeface="Segoe UI" pitchFamily="34" charset="-122"/>
                <a:cs typeface="Segoe UI" pitchFamily="34" charset="-120"/>
              </a:rPr>
              <a:t>#F59E0B</a:t>
            </a:r>
            <a:endParaRPr lang="en-US" sz="720" dirty="0"/>
          </a:p>
        </p:txBody>
      </p:sp>
      <p:sp>
        <p:nvSpPr>
          <p:cNvPr id="13" name="Shape 11"/>
          <p:cNvSpPr/>
          <p:nvPr/>
        </p:nvSpPr>
        <p:spPr>
          <a:xfrm>
            <a:off x="3771900" y="2019300"/>
            <a:ext cx="1428750" cy="628650"/>
          </a:xfrm>
          <a:prstGeom prst="roundRect">
            <a:avLst>
              <a:gd name="adj" fmla="val 12121"/>
            </a:avLst>
          </a:prstGeom>
          <a:solidFill>
            <a:srgbClr val="DC2626"/>
          </a:solidFill>
          <a:ln/>
        </p:spPr>
      </p:sp>
      <p:sp>
        <p:nvSpPr>
          <p:cNvPr id="14" name="Text 12"/>
          <p:cNvSpPr txBox="1"/>
          <p:nvPr/>
        </p:nvSpPr>
        <p:spPr>
          <a:xfrm>
            <a:off x="3886200" y="2133600"/>
            <a:ext cx="1200150" cy="152400"/>
          </a:xfrm>
          <a:prstGeom prst="rect">
            <a:avLst/>
          </a:prstGeom>
          <a:noFill/>
          <a:ln/>
        </p:spPr>
        <p:txBody>
          <a:bodyPr wrap="square" lIns="0" tIns="0" rIns="0" bIns="0" rtlCol="0" anchor="t"/>
          <a:lstStyle/>
          <a:p>
            <a:pPr algn="l"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Danger</a:t>
            </a:r>
            <a:endParaRPr lang="en-US" sz="800" dirty="0"/>
          </a:p>
        </p:txBody>
      </p:sp>
      <p:sp>
        <p:nvSpPr>
          <p:cNvPr id="15" name="Text 13"/>
          <p:cNvSpPr txBox="1"/>
          <p:nvPr/>
        </p:nvSpPr>
        <p:spPr>
          <a:xfrm>
            <a:off x="3886200" y="2324100"/>
            <a:ext cx="1200150" cy="152400"/>
          </a:xfrm>
          <a:prstGeom prst="rect">
            <a:avLst/>
          </a:prstGeom>
          <a:noFill/>
          <a:ln/>
        </p:spPr>
        <p:txBody>
          <a:bodyPr wrap="square" lIns="0" tIns="0" rIns="0" bIns="0" rtlCol="0" anchor="t"/>
          <a:lstStyle/>
          <a:p>
            <a:pPr algn="l" indent="0" marL="0">
              <a:lnSpc>
                <a:spcPct val="106000"/>
              </a:lnSpc>
              <a:buNone/>
            </a:pPr>
            <a:r>
              <a:rPr lang="en-US" sz="720" dirty="0">
                <a:solidFill>
                  <a:srgbClr val="FFFFFF"/>
                </a:solidFill>
                <a:latin typeface="Segoe UI" pitchFamily="34" charset="0"/>
                <a:ea typeface="Segoe UI" pitchFamily="34" charset="-122"/>
                <a:cs typeface="Segoe UI" pitchFamily="34" charset="-120"/>
              </a:rPr>
              <a:t>#DC2626</a:t>
            </a:r>
            <a:endParaRPr lang="en-US" sz="720" dirty="0"/>
          </a:p>
        </p:txBody>
      </p:sp>
      <p:sp>
        <p:nvSpPr>
          <p:cNvPr id="16" name="Text 14"/>
          <p:cNvSpPr txBox="1"/>
          <p:nvPr/>
        </p:nvSpPr>
        <p:spPr>
          <a:xfrm>
            <a:off x="609600" y="2800350"/>
            <a:ext cx="28575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94A3B8"/>
                </a:solidFill>
                <a:latin typeface="Segoe UI" pitchFamily="34" charset="0"/>
                <a:ea typeface="Segoe UI" pitchFamily="34" charset="-122"/>
                <a:cs typeface="Segoe UI" pitchFamily="34" charset="-120"/>
              </a:rPr>
              <a:t>TRUNG TÍNH</a:t>
            </a:r>
            <a:endParaRPr lang="en-US" sz="740" dirty="0"/>
          </a:p>
        </p:txBody>
      </p:sp>
      <p:sp>
        <p:nvSpPr>
          <p:cNvPr id="17" name="Shape 15"/>
          <p:cNvSpPr/>
          <p:nvPr/>
        </p:nvSpPr>
        <p:spPr>
          <a:xfrm>
            <a:off x="609600" y="2971800"/>
            <a:ext cx="1104900" cy="400050"/>
          </a:xfrm>
          <a:prstGeom prst="roundRect">
            <a:avLst>
              <a:gd name="adj" fmla="val 14286"/>
            </a:avLst>
          </a:prstGeom>
          <a:solidFill>
            <a:srgbClr val="0F172A"/>
          </a:solidFill>
          <a:ln w="9525">
            <a:solidFill>
              <a:srgbClr val="E2E8F0"/>
            </a:solidFill>
            <a:prstDash val="solid"/>
          </a:ln>
        </p:spPr>
      </p:sp>
      <p:sp>
        <p:nvSpPr>
          <p:cNvPr id="18" name="Text 16"/>
          <p:cNvSpPr txBox="1"/>
          <p:nvPr/>
        </p:nvSpPr>
        <p:spPr>
          <a:xfrm>
            <a:off x="685800" y="3105150"/>
            <a:ext cx="952500" cy="133350"/>
          </a:xfrm>
          <a:prstGeom prst="rect">
            <a:avLst/>
          </a:prstGeom>
          <a:noFill/>
          <a:ln/>
        </p:spPr>
        <p:txBody>
          <a:bodyPr wrap="square" lIns="0" tIns="0" rIns="0" bIns="0" rtlCol="0" anchor="t"/>
          <a:lstStyle/>
          <a:p>
            <a:pPr algn="l" indent="0" marL="0">
              <a:lnSpc>
                <a:spcPct val="106000"/>
              </a:lnSpc>
              <a:buNone/>
            </a:pPr>
            <a:r>
              <a:rPr lang="en-US" sz="650" b="1" dirty="0">
                <a:solidFill>
                  <a:srgbClr val="FFFFFF"/>
                </a:solidFill>
                <a:latin typeface="Segoe UI" pitchFamily="34" charset="0"/>
                <a:ea typeface="Segoe UI" pitchFamily="34" charset="-122"/>
                <a:cs typeface="Segoe UI" pitchFamily="34" charset="-120"/>
              </a:rPr>
              <a:t>#0F172A</a:t>
            </a:r>
            <a:endParaRPr lang="en-US" sz="650" dirty="0"/>
          </a:p>
        </p:txBody>
      </p:sp>
      <p:sp>
        <p:nvSpPr>
          <p:cNvPr id="19" name="Shape 17"/>
          <p:cNvSpPr/>
          <p:nvPr/>
        </p:nvSpPr>
        <p:spPr>
          <a:xfrm>
            <a:off x="1828800" y="2971800"/>
            <a:ext cx="1104900" cy="400050"/>
          </a:xfrm>
          <a:prstGeom prst="roundRect">
            <a:avLst>
              <a:gd name="adj" fmla="val 14286"/>
            </a:avLst>
          </a:prstGeom>
          <a:solidFill>
            <a:srgbClr val="475569"/>
          </a:solidFill>
          <a:ln w="9525">
            <a:solidFill>
              <a:srgbClr val="E2E8F0"/>
            </a:solidFill>
            <a:prstDash val="solid"/>
          </a:ln>
        </p:spPr>
      </p:sp>
      <p:sp>
        <p:nvSpPr>
          <p:cNvPr id="20" name="Text 18"/>
          <p:cNvSpPr txBox="1"/>
          <p:nvPr/>
        </p:nvSpPr>
        <p:spPr>
          <a:xfrm>
            <a:off x="1905000" y="3105150"/>
            <a:ext cx="952500" cy="133350"/>
          </a:xfrm>
          <a:prstGeom prst="rect">
            <a:avLst/>
          </a:prstGeom>
          <a:noFill/>
          <a:ln/>
        </p:spPr>
        <p:txBody>
          <a:bodyPr wrap="square" lIns="0" tIns="0" rIns="0" bIns="0" rtlCol="0" anchor="t"/>
          <a:lstStyle/>
          <a:p>
            <a:pPr algn="l" indent="0" marL="0">
              <a:lnSpc>
                <a:spcPct val="106000"/>
              </a:lnSpc>
              <a:buNone/>
            </a:pPr>
            <a:r>
              <a:rPr lang="en-US" sz="650" b="1" dirty="0">
                <a:solidFill>
                  <a:srgbClr val="FFFFFF"/>
                </a:solidFill>
                <a:latin typeface="Segoe UI" pitchFamily="34" charset="0"/>
                <a:ea typeface="Segoe UI" pitchFamily="34" charset="-122"/>
                <a:cs typeface="Segoe UI" pitchFamily="34" charset="-120"/>
              </a:rPr>
              <a:t>#475569</a:t>
            </a:r>
            <a:endParaRPr lang="en-US" sz="650" dirty="0"/>
          </a:p>
        </p:txBody>
      </p:sp>
      <p:sp>
        <p:nvSpPr>
          <p:cNvPr id="21" name="Shape 19"/>
          <p:cNvSpPr/>
          <p:nvPr/>
        </p:nvSpPr>
        <p:spPr>
          <a:xfrm>
            <a:off x="3048000" y="2971800"/>
            <a:ext cx="1104900" cy="400050"/>
          </a:xfrm>
          <a:prstGeom prst="roundRect">
            <a:avLst>
              <a:gd name="adj" fmla="val 14286"/>
            </a:avLst>
          </a:prstGeom>
          <a:solidFill>
            <a:srgbClr val="E2E8F0"/>
          </a:solidFill>
          <a:ln w="9525">
            <a:solidFill>
              <a:srgbClr val="E2E8F0"/>
            </a:solidFill>
            <a:prstDash val="solid"/>
          </a:ln>
        </p:spPr>
      </p:sp>
      <p:sp>
        <p:nvSpPr>
          <p:cNvPr id="22" name="Text 20"/>
          <p:cNvSpPr txBox="1"/>
          <p:nvPr/>
        </p:nvSpPr>
        <p:spPr>
          <a:xfrm>
            <a:off x="3124200" y="3105150"/>
            <a:ext cx="952500" cy="133350"/>
          </a:xfrm>
          <a:prstGeom prst="rect">
            <a:avLst/>
          </a:prstGeom>
          <a:noFill/>
          <a:ln/>
        </p:spPr>
        <p:txBody>
          <a:bodyPr wrap="square" lIns="0" tIns="0" rIns="0" bIns="0" rtlCol="0" anchor="t"/>
          <a:lstStyle/>
          <a:p>
            <a:pPr algn="l" indent="0" marL="0">
              <a:lnSpc>
                <a:spcPct val="106000"/>
              </a:lnSpc>
              <a:buNone/>
            </a:pPr>
            <a:r>
              <a:rPr lang="en-US" sz="650" b="1" dirty="0">
                <a:solidFill>
                  <a:srgbClr val="0F172A"/>
                </a:solidFill>
                <a:latin typeface="Segoe UI" pitchFamily="34" charset="0"/>
                <a:ea typeface="Segoe UI" pitchFamily="34" charset="-122"/>
                <a:cs typeface="Segoe UI" pitchFamily="34" charset="-120"/>
              </a:rPr>
              <a:t>#E2E8F0</a:t>
            </a:r>
            <a:endParaRPr lang="en-US" sz="650" dirty="0"/>
          </a:p>
        </p:txBody>
      </p:sp>
      <p:sp>
        <p:nvSpPr>
          <p:cNvPr id="23" name="Shape 21"/>
          <p:cNvSpPr/>
          <p:nvPr/>
        </p:nvSpPr>
        <p:spPr>
          <a:xfrm>
            <a:off x="4267200" y="2971800"/>
            <a:ext cx="1104900" cy="400050"/>
          </a:xfrm>
          <a:prstGeom prst="roundRect">
            <a:avLst>
              <a:gd name="adj" fmla="val 14286"/>
            </a:avLst>
          </a:prstGeom>
          <a:solidFill>
            <a:srgbClr val="F8FAFC"/>
          </a:solidFill>
          <a:ln w="9525">
            <a:solidFill>
              <a:srgbClr val="E2E8F0"/>
            </a:solidFill>
            <a:prstDash val="solid"/>
          </a:ln>
        </p:spPr>
      </p:sp>
      <p:sp>
        <p:nvSpPr>
          <p:cNvPr id="24" name="Text 22"/>
          <p:cNvSpPr txBox="1"/>
          <p:nvPr/>
        </p:nvSpPr>
        <p:spPr>
          <a:xfrm>
            <a:off x="4343400" y="3105150"/>
            <a:ext cx="952500" cy="133350"/>
          </a:xfrm>
          <a:prstGeom prst="rect">
            <a:avLst/>
          </a:prstGeom>
          <a:noFill/>
          <a:ln/>
        </p:spPr>
        <p:txBody>
          <a:bodyPr wrap="square" lIns="0" tIns="0" rIns="0" bIns="0" rtlCol="0" anchor="t"/>
          <a:lstStyle/>
          <a:p>
            <a:pPr algn="l" indent="0" marL="0">
              <a:lnSpc>
                <a:spcPct val="106000"/>
              </a:lnSpc>
              <a:buNone/>
            </a:pPr>
            <a:r>
              <a:rPr lang="en-US" sz="650" b="1" dirty="0">
                <a:solidFill>
                  <a:srgbClr val="0F172A"/>
                </a:solidFill>
                <a:latin typeface="Segoe UI" pitchFamily="34" charset="0"/>
                <a:ea typeface="Segoe UI" pitchFamily="34" charset="-122"/>
                <a:cs typeface="Segoe UI" pitchFamily="34" charset="-120"/>
              </a:rPr>
              <a:t>#F8FAFC</a:t>
            </a:r>
            <a:endParaRPr lang="en-US" sz="650" dirty="0"/>
          </a:p>
        </p:txBody>
      </p:sp>
      <p:sp>
        <p:nvSpPr>
          <p:cNvPr id="25" name="Text 23"/>
          <p:cNvSpPr txBox="1"/>
          <p:nvPr/>
        </p:nvSpPr>
        <p:spPr>
          <a:xfrm>
            <a:off x="609600" y="3562350"/>
            <a:ext cx="28575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94A3B8"/>
                </a:solidFill>
                <a:latin typeface="Segoe UI" pitchFamily="34" charset="0"/>
                <a:ea typeface="Segoe UI" pitchFamily="34" charset="-122"/>
                <a:cs typeface="Segoe UI" pitchFamily="34" charset="-120"/>
              </a:rPr>
              <a:t>KIỂU CHỮ</a:t>
            </a:r>
            <a:endParaRPr lang="en-US" sz="740" dirty="0"/>
          </a:p>
        </p:txBody>
      </p:sp>
      <p:sp>
        <p:nvSpPr>
          <p:cNvPr id="26" name="Text 24"/>
          <p:cNvSpPr txBox="1"/>
          <p:nvPr/>
        </p:nvSpPr>
        <p:spPr>
          <a:xfrm>
            <a:off x="609600" y="3714750"/>
            <a:ext cx="533400" cy="381000"/>
          </a:xfrm>
          <a:prstGeom prst="rect">
            <a:avLst/>
          </a:prstGeom>
          <a:noFill/>
          <a:ln/>
        </p:spPr>
        <p:txBody>
          <a:bodyPr wrap="square" lIns="0" tIns="0" rIns="0" bIns="0" rtlCol="0" anchor="t"/>
          <a:lstStyle/>
          <a:p>
            <a:pPr algn="l" indent="0" marL="0">
              <a:lnSpc>
                <a:spcPct val="106000"/>
              </a:lnSpc>
              <a:buNone/>
            </a:pPr>
            <a:r>
              <a:rPr lang="en-US" sz="3000" b="1" dirty="0">
                <a:solidFill>
                  <a:srgbClr val="047857"/>
                </a:solidFill>
                <a:latin typeface="Segoe UI" pitchFamily="34" charset="0"/>
                <a:ea typeface="Segoe UI" pitchFamily="34" charset="-122"/>
                <a:cs typeface="Segoe UI" pitchFamily="34" charset="-120"/>
              </a:rPr>
              <a:t>Aa</a:t>
            </a:r>
            <a:endParaRPr lang="en-US" sz="3000" dirty="0"/>
          </a:p>
        </p:txBody>
      </p:sp>
      <p:sp>
        <p:nvSpPr>
          <p:cNvPr id="27" name="Text 25"/>
          <p:cNvSpPr txBox="1"/>
          <p:nvPr/>
        </p:nvSpPr>
        <p:spPr>
          <a:xfrm>
            <a:off x="1219200" y="3733800"/>
            <a:ext cx="2857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Inter / Segoe UI</a:t>
            </a:r>
            <a:endParaRPr lang="en-US" sz="1040" dirty="0"/>
          </a:p>
        </p:txBody>
      </p:sp>
      <p:sp>
        <p:nvSpPr>
          <p:cNvPr id="28" name="Text 26"/>
          <p:cNvSpPr txBox="1"/>
          <p:nvPr/>
        </p:nvSpPr>
        <p:spPr>
          <a:xfrm>
            <a:off x="1219200" y="3924300"/>
            <a:ext cx="4191000" cy="152400"/>
          </a:xfrm>
          <a:prstGeom prst="rect">
            <a:avLst/>
          </a:prstGeom>
          <a:noFill/>
          <a:ln/>
        </p:spPr>
        <p:txBody>
          <a:bodyPr wrap="square" lIns="0" tIns="0" rIns="0" bIns="0" rtlCol="0" anchor="t"/>
          <a:lstStyle/>
          <a:p>
            <a:pPr algn="l" indent="0" marL="0">
              <a:lnSpc>
                <a:spcPct val="106000"/>
              </a:lnSpc>
              <a:buNone/>
            </a:pPr>
            <a:r>
              <a:rPr lang="en-US" sz="760" dirty="0">
                <a:solidFill>
                  <a:srgbClr val="475569"/>
                </a:solidFill>
                <a:latin typeface="Segoe UI" pitchFamily="34" charset="0"/>
                <a:ea typeface="Segoe UI" pitchFamily="34" charset="-122"/>
                <a:cs typeface="Segoe UI" pitchFamily="34" charset="-120"/>
              </a:rPr>
              <a:t>28 / 20 / 16 / 15 / 13 px · weight 800 / 700 / 600 / 400</a:t>
            </a:r>
            <a:endParaRPr lang="en-US" sz="760" dirty="0"/>
          </a:p>
        </p:txBody>
      </p:sp>
      <p:sp>
        <p:nvSpPr>
          <p:cNvPr id="29" name="Text 27"/>
          <p:cNvSpPr txBox="1"/>
          <p:nvPr/>
        </p:nvSpPr>
        <p:spPr>
          <a:xfrm>
            <a:off x="609600" y="4286250"/>
            <a:ext cx="28575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94A3B8"/>
                </a:solidFill>
                <a:latin typeface="Segoe UI" pitchFamily="34" charset="0"/>
                <a:ea typeface="Segoe UI" pitchFamily="34" charset="-122"/>
                <a:cs typeface="Segoe UI" pitchFamily="34" charset="-120"/>
              </a:rPr>
              <a:t>KHOẢNG CÁCH &amp; BO GÓC</a:t>
            </a:r>
            <a:endParaRPr lang="en-US" sz="740" dirty="0"/>
          </a:p>
        </p:txBody>
      </p:sp>
      <p:sp>
        <p:nvSpPr>
          <p:cNvPr id="30" name="Text 28"/>
          <p:cNvSpPr txBox="1"/>
          <p:nvPr/>
        </p:nvSpPr>
        <p:spPr>
          <a:xfrm>
            <a:off x="609600" y="4438650"/>
            <a:ext cx="2857500" cy="171450"/>
          </a:xfrm>
          <a:prstGeom prst="rect">
            <a:avLst/>
          </a:prstGeom>
          <a:noFill/>
          <a:ln/>
        </p:spPr>
        <p:txBody>
          <a:bodyPr wrap="square" lIns="0" tIns="0" rIns="0" bIns="0" rtlCol="0" anchor="t"/>
          <a:lstStyle/>
          <a:p>
            <a:pPr algn="l" indent="0" marL="0">
              <a:lnSpc>
                <a:spcPct val="106000"/>
              </a:lnSpc>
              <a:buNone/>
            </a:pPr>
            <a:r>
              <a:rPr lang="en-US" sz="1040" b="1" dirty="0">
                <a:solidFill>
                  <a:srgbClr val="0F172A"/>
                </a:solidFill>
                <a:latin typeface="Segoe UI" pitchFamily="34" charset="0"/>
                <a:ea typeface="Segoe UI" pitchFamily="34" charset="-122"/>
                <a:cs typeface="Segoe UI" pitchFamily="34" charset="-120"/>
              </a:rPr>
              <a:t>4 · 8 · 12 · 16 · 24 px</a:t>
            </a:r>
            <a:endParaRPr lang="en-US" sz="1040" dirty="0"/>
          </a:p>
        </p:txBody>
      </p:sp>
      <p:sp>
        <p:nvSpPr>
          <p:cNvPr id="31" name="Text 29"/>
          <p:cNvSpPr txBox="1"/>
          <p:nvPr/>
        </p:nvSpPr>
        <p:spPr>
          <a:xfrm>
            <a:off x="609600" y="4629150"/>
            <a:ext cx="4191000" cy="152400"/>
          </a:xfrm>
          <a:prstGeom prst="rect">
            <a:avLst/>
          </a:prstGeom>
          <a:noFill/>
          <a:ln/>
        </p:spPr>
        <p:txBody>
          <a:bodyPr wrap="square" lIns="0" tIns="0" rIns="0" bIns="0" rtlCol="0" anchor="t"/>
          <a:lstStyle/>
          <a:p>
            <a:pPr algn="l" indent="0" marL="0">
              <a:lnSpc>
                <a:spcPct val="106000"/>
              </a:lnSpc>
              <a:buNone/>
            </a:pPr>
            <a:r>
              <a:rPr lang="en-US" sz="760" dirty="0">
                <a:solidFill>
                  <a:srgbClr val="475569"/>
                </a:solidFill>
                <a:latin typeface="Segoe UI" pitchFamily="34" charset="0"/>
                <a:ea typeface="Segoe UI" pitchFamily="34" charset="-122"/>
                <a:cs typeface="Segoe UI" pitchFamily="34" charset="-120"/>
              </a:rPr>
              <a:t>radius 8 / 12 / 999 px · breakpoint 960 / 640 px</a:t>
            </a:r>
            <a:endParaRPr lang="en-US" sz="760" dirty="0"/>
          </a:p>
        </p:txBody>
      </p:sp>
      <p:sp>
        <p:nvSpPr>
          <p:cNvPr id="32" name="Text 30"/>
          <p:cNvSpPr txBox="1"/>
          <p:nvPr/>
        </p:nvSpPr>
        <p:spPr>
          <a:xfrm>
            <a:off x="609600" y="4953000"/>
            <a:ext cx="28575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94A3B8"/>
                </a:solidFill>
                <a:latin typeface="Segoe UI" pitchFamily="34" charset="0"/>
                <a:ea typeface="Segoe UI" pitchFamily="34" charset="-122"/>
                <a:cs typeface="Segoe UI" pitchFamily="34" charset="-120"/>
              </a:rPr>
              <a:t>TOKEN VAI TRÒ</a:t>
            </a:r>
            <a:endParaRPr lang="en-US" sz="740" dirty="0"/>
          </a:p>
        </p:txBody>
      </p:sp>
      <p:sp>
        <p:nvSpPr>
          <p:cNvPr id="33" name="Shape 31"/>
          <p:cNvSpPr/>
          <p:nvPr/>
        </p:nvSpPr>
        <p:spPr>
          <a:xfrm>
            <a:off x="609600" y="5124450"/>
            <a:ext cx="1104900" cy="209550"/>
          </a:xfrm>
          <a:prstGeom prst="roundRect">
            <a:avLst>
              <a:gd name="adj" fmla="val 50000"/>
            </a:avLst>
          </a:prstGeom>
          <a:solidFill>
            <a:srgbClr val="ECFDF5"/>
          </a:solidFill>
          <a:ln/>
        </p:spPr>
      </p:sp>
      <p:sp>
        <p:nvSpPr>
          <p:cNvPr id="34" name="Text 32"/>
          <p:cNvSpPr txBox="1"/>
          <p:nvPr/>
        </p:nvSpPr>
        <p:spPr>
          <a:xfrm>
            <a:off x="647700" y="5124450"/>
            <a:ext cx="1028700" cy="2095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Người dùng</a:t>
            </a:r>
            <a:endParaRPr lang="en-US" sz="660" dirty="0"/>
          </a:p>
        </p:txBody>
      </p:sp>
      <p:sp>
        <p:nvSpPr>
          <p:cNvPr id="35" name="Shape 33"/>
          <p:cNvSpPr/>
          <p:nvPr/>
        </p:nvSpPr>
        <p:spPr>
          <a:xfrm>
            <a:off x="1828800" y="5124450"/>
            <a:ext cx="1104900" cy="209550"/>
          </a:xfrm>
          <a:prstGeom prst="roundRect">
            <a:avLst>
              <a:gd name="adj" fmla="val 50000"/>
            </a:avLst>
          </a:prstGeom>
          <a:solidFill>
            <a:srgbClr val="EFF6FF"/>
          </a:solidFill>
          <a:ln/>
        </p:spPr>
      </p:sp>
      <p:sp>
        <p:nvSpPr>
          <p:cNvPr id="36" name="Text 34"/>
          <p:cNvSpPr txBox="1"/>
          <p:nvPr/>
        </p:nvSpPr>
        <p:spPr>
          <a:xfrm>
            <a:off x="1866900" y="5124450"/>
            <a:ext cx="1028700" cy="209550"/>
          </a:xfrm>
          <a:prstGeom prst="rect">
            <a:avLst/>
          </a:prstGeom>
          <a:noFill/>
          <a:ln/>
        </p:spPr>
        <p:txBody>
          <a:bodyPr wrap="square" lIns="0" tIns="0" rIns="0" bIns="0" rtlCol="0" anchor="ctr"/>
          <a:lstStyle/>
          <a:p>
            <a:pPr algn="ctr" indent="0" marL="0">
              <a:lnSpc>
                <a:spcPct val="106000"/>
              </a:lnSpc>
              <a:buNone/>
            </a:pPr>
            <a:r>
              <a:rPr lang="en-US" sz="660" b="1" dirty="0">
                <a:solidFill>
                  <a:srgbClr val="2563EB"/>
                </a:solidFill>
                <a:latin typeface="Segoe UI" pitchFamily="34" charset="0"/>
                <a:ea typeface="Segoe UI" pitchFamily="34" charset="-122"/>
                <a:cs typeface="Segoe UI" pitchFamily="34" charset="-120"/>
              </a:rPr>
              <a:t>Coach</a:t>
            </a:r>
            <a:endParaRPr lang="en-US" sz="660" dirty="0"/>
          </a:p>
        </p:txBody>
      </p:sp>
      <p:sp>
        <p:nvSpPr>
          <p:cNvPr id="37" name="Shape 35"/>
          <p:cNvSpPr/>
          <p:nvPr/>
        </p:nvSpPr>
        <p:spPr>
          <a:xfrm>
            <a:off x="3048000" y="5124450"/>
            <a:ext cx="1104900" cy="209550"/>
          </a:xfrm>
          <a:prstGeom prst="roundRect">
            <a:avLst>
              <a:gd name="adj" fmla="val 50000"/>
            </a:avLst>
          </a:prstGeom>
          <a:solidFill>
            <a:srgbClr val="F5F3FF"/>
          </a:solidFill>
          <a:ln/>
        </p:spPr>
      </p:sp>
      <p:sp>
        <p:nvSpPr>
          <p:cNvPr id="38" name="Text 36"/>
          <p:cNvSpPr txBox="1"/>
          <p:nvPr/>
        </p:nvSpPr>
        <p:spPr>
          <a:xfrm>
            <a:off x="3086100" y="5124450"/>
            <a:ext cx="1028700" cy="209550"/>
          </a:xfrm>
          <a:prstGeom prst="rect">
            <a:avLst/>
          </a:prstGeom>
          <a:noFill/>
          <a:ln/>
        </p:spPr>
        <p:txBody>
          <a:bodyPr wrap="square" lIns="0" tIns="0" rIns="0" bIns="0" rtlCol="0" anchor="ctr"/>
          <a:lstStyle/>
          <a:p>
            <a:pPr algn="ctr" indent="0" marL="0">
              <a:lnSpc>
                <a:spcPct val="106000"/>
              </a:lnSpc>
              <a:buNone/>
            </a:pPr>
            <a:r>
              <a:rPr lang="en-US" sz="660" b="1" dirty="0">
                <a:solidFill>
                  <a:srgbClr val="7C3AED"/>
                </a:solidFill>
                <a:latin typeface="Segoe UI" pitchFamily="34" charset="0"/>
                <a:ea typeface="Segoe UI" pitchFamily="34" charset="-122"/>
                <a:cs typeface="Segoe UI" pitchFamily="34" charset="-120"/>
              </a:rPr>
              <a:t>Kiểm duyệt</a:t>
            </a:r>
            <a:endParaRPr lang="en-US" sz="660" dirty="0"/>
          </a:p>
        </p:txBody>
      </p:sp>
      <p:sp>
        <p:nvSpPr>
          <p:cNvPr id="39" name="Shape 37"/>
          <p:cNvSpPr/>
          <p:nvPr/>
        </p:nvSpPr>
        <p:spPr>
          <a:xfrm>
            <a:off x="4267200" y="5124450"/>
            <a:ext cx="1104900" cy="209550"/>
          </a:xfrm>
          <a:prstGeom prst="roundRect">
            <a:avLst>
              <a:gd name="adj" fmla="val 50000"/>
            </a:avLst>
          </a:prstGeom>
          <a:solidFill>
            <a:srgbClr val="FFF7ED"/>
          </a:solidFill>
          <a:ln/>
        </p:spPr>
      </p:sp>
      <p:sp>
        <p:nvSpPr>
          <p:cNvPr id="40" name="Text 38"/>
          <p:cNvSpPr txBox="1"/>
          <p:nvPr/>
        </p:nvSpPr>
        <p:spPr>
          <a:xfrm>
            <a:off x="4305300" y="5124450"/>
            <a:ext cx="1028700" cy="209550"/>
          </a:xfrm>
          <a:prstGeom prst="rect">
            <a:avLst/>
          </a:prstGeom>
          <a:noFill/>
          <a:ln/>
        </p:spPr>
        <p:txBody>
          <a:bodyPr wrap="square" lIns="0" tIns="0" rIns="0" bIns="0" rtlCol="0" anchor="ctr"/>
          <a:lstStyle/>
          <a:p>
            <a:pPr algn="ctr" indent="0" marL="0">
              <a:lnSpc>
                <a:spcPct val="106000"/>
              </a:lnSpc>
              <a:buNone/>
            </a:pPr>
            <a:r>
              <a:rPr lang="en-US" sz="660" b="1" dirty="0">
                <a:solidFill>
                  <a:srgbClr val="EA580C"/>
                </a:solidFill>
                <a:latin typeface="Segoe UI" pitchFamily="34" charset="0"/>
                <a:ea typeface="Segoe UI" pitchFamily="34" charset="-122"/>
                <a:cs typeface="Segoe UI" pitchFamily="34" charset="-120"/>
              </a:rPr>
              <a:t>Quản trị</a:t>
            </a:r>
            <a:endParaRPr lang="en-US" sz="660" dirty="0"/>
          </a:p>
        </p:txBody>
      </p:sp>
      <p:sp>
        <p:nvSpPr>
          <p:cNvPr id="41" name="Text 39"/>
          <p:cNvSpPr txBox="1"/>
          <p:nvPr/>
        </p:nvSpPr>
        <p:spPr>
          <a:xfrm>
            <a:off x="609600" y="5524500"/>
            <a:ext cx="4762500" cy="285750"/>
          </a:xfrm>
          <a:prstGeom prst="rect">
            <a:avLst/>
          </a:prstGeom>
          <a:noFill/>
          <a:ln/>
        </p:spPr>
        <p:txBody>
          <a:bodyPr wrap="square" lIns="0" tIns="0" rIns="0" bIns="0" rtlCol="0" anchor="t"/>
          <a:lstStyle/>
          <a:p>
            <a:pPr algn="l" indent="0" marL="0">
              <a:lnSpc>
                <a:spcPct val="106000"/>
              </a:lnSpc>
              <a:buNone/>
            </a:pPr>
            <a:r>
              <a:rPr lang="en-US" sz="740" dirty="0">
                <a:solidFill>
                  <a:srgbClr val="94A3B8"/>
                </a:solidFill>
                <a:latin typeface="Segoe UI" pitchFamily="34" charset="0"/>
                <a:ea typeface="Segoe UI" pitchFamily="34" charset="-122"/>
                <a:cs typeface="Segoe UI" pitchFamily="34" charset="-120"/>
              </a:rPr>
              <a:t>Toàn bộ token nằm trong :root của css/style.css dùng chung — đổi một chỗ là đổi cả 19 màn hình.</a:t>
            </a:r>
            <a:endParaRPr lang="en-US" sz="740" dirty="0"/>
          </a:p>
        </p:txBody>
      </p:sp>
      <p:sp>
        <p:nvSpPr>
          <p:cNvPr id="42" name="Shape 40"/>
          <p:cNvSpPr/>
          <p:nvPr/>
        </p:nvSpPr>
        <p:spPr>
          <a:xfrm>
            <a:off x="5905500" y="1676400"/>
            <a:ext cx="5715000" cy="4476750"/>
          </a:xfrm>
          <a:prstGeom prst="roundRect">
            <a:avLst>
              <a:gd name="adj" fmla="val 1702"/>
            </a:avLst>
          </a:prstGeom>
          <a:solidFill>
            <a:srgbClr val="FFFFFF"/>
          </a:solidFill>
          <a:ln w="9525">
            <a:solidFill>
              <a:srgbClr val="E2E8F0"/>
            </a:solidFill>
            <a:prstDash val="solid"/>
          </a:ln>
        </p:spPr>
      </p:sp>
      <p:sp>
        <p:nvSpPr>
          <p:cNvPr id="43" name="Text 41"/>
          <p:cNvSpPr txBox="1"/>
          <p:nvPr/>
        </p:nvSpPr>
        <p:spPr>
          <a:xfrm>
            <a:off x="6134100" y="1847850"/>
            <a:ext cx="38100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94A3B8"/>
                </a:solidFill>
                <a:latin typeface="Segoe UI" pitchFamily="34" charset="0"/>
                <a:ea typeface="Segoe UI" pitchFamily="34" charset="-122"/>
                <a:cs typeface="Segoe UI" pitchFamily="34" charset="-120"/>
              </a:rPr>
              <a:t>THÀNH PHẦN</a:t>
            </a:r>
            <a:endParaRPr lang="en-US" sz="740" dirty="0"/>
          </a:p>
        </p:txBody>
      </p:sp>
      <p:sp>
        <p:nvSpPr>
          <p:cNvPr id="44" name="Text 42"/>
          <p:cNvSpPr txBox="1"/>
          <p:nvPr/>
        </p:nvSpPr>
        <p:spPr>
          <a:xfrm>
            <a:off x="6134100" y="2114550"/>
            <a:ext cx="800100" cy="152400"/>
          </a:xfrm>
          <a:prstGeom prst="rect">
            <a:avLst/>
          </a:prstGeom>
          <a:noFill/>
          <a:ln/>
        </p:spPr>
        <p:txBody>
          <a:bodyPr wrap="square" lIns="0" tIns="0" rIns="0" bIns="0" rtlCol="0" anchor="t"/>
          <a:lstStyle/>
          <a:p>
            <a:pPr algn="l" indent="0" marL="0">
              <a:lnSpc>
                <a:spcPct val="106000"/>
              </a:lnSpc>
              <a:buNone/>
            </a:pPr>
            <a:r>
              <a:rPr lang="en-US" sz="680" b="1" dirty="0">
                <a:solidFill>
                  <a:srgbClr val="94A3B8"/>
                </a:solidFill>
                <a:latin typeface="Segoe UI" pitchFamily="34" charset="0"/>
                <a:ea typeface="Segoe UI" pitchFamily="34" charset="-122"/>
                <a:cs typeface="Segoe UI" pitchFamily="34" charset="-120"/>
              </a:rPr>
              <a:t>Nút</a:t>
            </a:r>
            <a:endParaRPr lang="en-US" sz="680" dirty="0"/>
          </a:p>
        </p:txBody>
      </p:sp>
      <p:sp>
        <p:nvSpPr>
          <p:cNvPr id="45" name="Shape 43"/>
          <p:cNvSpPr/>
          <p:nvPr/>
        </p:nvSpPr>
        <p:spPr>
          <a:xfrm>
            <a:off x="7086600" y="2038350"/>
            <a:ext cx="876300" cy="266700"/>
          </a:xfrm>
          <a:prstGeom prst="roundRect">
            <a:avLst>
              <a:gd name="adj" fmla="val 21429"/>
            </a:avLst>
          </a:prstGeom>
          <a:solidFill>
            <a:srgbClr val="059669"/>
          </a:solidFill>
          <a:ln/>
        </p:spPr>
      </p:sp>
      <p:sp>
        <p:nvSpPr>
          <p:cNvPr id="46" name="Text 44"/>
          <p:cNvSpPr txBox="1"/>
          <p:nvPr/>
        </p:nvSpPr>
        <p:spPr>
          <a:xfrm>
            <a:off x="7086600" y="2038350"/>
            <a:ext cx="876300" cy="2667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Lưu</a:t>
            </a:r>
            <a:endParaRPr lang="en-US" sz="740" dirty="0"/>
          </a:p>
        </p:txBody>
      </p:sp>
      <p:sp>
        <p:nvSpPr>
          <p:cNvPr id="47" name="Shape 45"/>
          <p:cNvSpPr/>
          <p:nvPr/>
        </p:nvSpPr>
        <p:spPr>
          <a:xfrm>
            <a:off x="8077200" y="2038350"/>
            <a:ext cx="876300" cy="266700"/>
          </a:xfrm>
          <a:prstGeom prst="roundRect">
            <a:avLst>
              <a:gd name="adj" fmla="val 21429"/>
            </a:avLst>
          </a:prstGeom>
          <a:solidFill>
            <a:srgbClr val="FFFFFF"/>
          </a:solidFill>
          <a:ln w="9525">
            <a:solidFill>
              <a:srgbClr val="E2E8F0"/>
            </a:solidFill>
            <a:prstDash val="solid"/>
          </a:ln>
        </p:spPr>
      </p:sp>
      <p:sp>
        <p:nvSpPr>
          <p:cNvPr id="48" name="Text 46"/>
          <p:cNvSpPr txBox="1"/>
          <p:nvPr/>
        </p:nvSpPr>
        <p:spPr>
          <a:xfrm>
            <a:off x="8077200" y="2038350"/>
            <a:ext cx="876300" cy="266700"/>
          </a:xfrm>
          <a:prstGeom prst="rect">
            <a:avLst/>
          </a:prstGeom>
          <a:noFill/>
          <a:ln/>
        </p:spPr>
        <p:txBody>
          <a:bodyPr wrap="square" lIns="0" tIns="0" rIns="0" bIns="0" rtlCol="0" anchor="ctr"/>
          <a:lstStyle/>
          <a:p>
            <a:pPr algn="ctr" indent="0" marL="0">
              <a:lnSpc>
                <a:spcPct val="106000"/>
              </a:lnSpc>
              <a:buNone/>
            </a:pPr>
            <a:r>
              <a:rPr lang="en-US" sz="740" b="1" dirty="0">
                <a:solidFill>
                  <a:srgbClr val="475569"/>
                </a:solidFill>
                <a:latin typeface="Segoe UI" pitchFamily="34" charset="0"/>
                <a:ea typeface="Segoe UI" pitchFamily="34" charset="-122"/>
                <a:cs typeface="Segoe UI" pitchFamily="34" charset="-120"/>
              </a:rPr>
              <a:t>Huỷ</a:t>
            </a:r>
            <a:endParaRPr lang="en-US" sz="740" dirty="0"/>
          </a:p>
        </p:txBody>
      </p:sp>
      <p:sp>
        <p:nvSpPr>
          <p:cNvPr id="49" name="Shape 47"/>
          <p:cNvSpPr/>
          <p:nvPr/>
        </p:nvSpPr>
        <p:spPr>
          <a:xfrm>
            <a:off x="9067800" y="2038350"/>
            <a:ext cx="876300" cy="266700"/>
          </a:xfrm>
          <a:prstGeom prst="roundRect">
            <a:avLst>
              <a:gd name="adj" fmla="val 21429"/>
            </a:avLst>
          </a:prstGeom>
          <a:solidFill>
            <a:srgbClr val="DC2626"/>
          </a:solidFill>
          <a:ln/>
        </p:spPr>
      </p:sp>
      <p:sp>
        <p:nvSpPr>
          <p:cNvPr id="50" name="Text 48"/>
          <p:cNvSpPr txBox="1"/>
          <p:nvPr/>
        </p:nvSpPr>
        <p:spPr>
          <a:xfrm>
            <a:off x="9067800" y="2038350"/>
            <a:ext cx="876300" cy="2667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Xoá</a:t>
            </a:r>
            <a:endParaRPr lang="en-US" sz="740" dirty="0"/>
          </a:p>
        </p:txBody>
      </p:sp>
      <p:sp>
        <p:nvSpPr>
          <p:cNvPr id="51" name="Shape 49"/>
          <p:cNvSpPr/>
          <p:nvPr/>
        </p:nvSpPr>
        <p:spPr>
          <a:xfrm>
            <a:off x="10058400" y="2038350"/>
            <a:ext cx="876300" cy="266700"/>
          </a:xfrm>
          <a:prstGeom prst="roundRect">
            <a:avLst>
              <a:gd name="adj" fmla="val 21429"/>
            </a:avLst>
          </a:prstGeom>
          <a:solidFill>
            <a:srgbClr val="FFFFFF"/>
          </a:solidFill>
          <a:ln w="9525">
            <a:solidFill>
              <a:srgbClr val="E2E8F0"/>
            </a:solidFill>
            <a:prstDash val="solid"/>
          </a:ln>
        </p:spPr>
      </p:sp>
      <p:sp>
        <p:nvSpPr>
          <p:cNvPr id="52" name="Text 50"/>
          <p:cNvSpPr txBox="1"/>
          <p:nvPr/>
        </p:nvSpPr>
        <p:spPr>
          <a:xfrm>
            <a:off x="10058400" y="2038350"/>
            <a:ext cx="876300" cy="266700"/>
          </a:xfrm>
          <a:prstGeom prst="rect">
            <a:avLst/>
          </a:prstGeom>
          <a:noFill/>
          <a:ln/>
        </p:spPr>
        <p:txBody>
          <a:bodyPr wrap="square" lIns="0" tIns="0" rIns="0" bIns="0" rtlCol="0" anchor="ctr"/>
          <a:lstStyle/>
          <a:p>
            <a:pPr algn="ctr" indent="0" marL="0">
              <a:lnSpc>
                <a:spcPct val="106000"/>
              </a:lnSpc>
              <a:buNone/>
            </a:pPr>
            <a:r>
              <a:rPr lang="en-US" sz="740" b="1" dirty="0">
                <a:solidFill>
                  <a:srgbClr val="047857"/>
                </a:solidFill>
                <a:latin typeface="Segoe UI" pitchFamily="34" charset="0"/>
                <a:ea typeface="Segoe UI" pitchFamily="34" charset="-122"/>
                <a:cs typeface="Segoe UI" pitchFamily="34" charset="-120"/>
              </a:rPr>
              <a:t>Xem</a:t>
            </a:r>
            <a:endParaRPr lang="en-US" sz="740" dirty="0"/>
          </a:p>
        </p:txBody>
      </p:sp>
      <p:sp>
        <p:nvSpPr>
          <p:cNvPr id="53" name="Text 51"/>
          <p:cNvSpPr txBox="1"/>
          <p:nvPr/>
        </p:nvSpPr>
        <p:spPr>
          <a:xfrm>
            <a:off x="6134100" y="2514600"/>
            <a:ext cx="800100" cy="152400"/>
          </a:xfrm>
          <a:prstGeom prst="rect">
            <a:avLst/>
          </a:prstGeom>
          <a:noFill/>
          <a:ln/>
        </p:spPr>
        <p:txBody>
          <a:bodyPr wrap="square" lIns="0" tIns="0" rIns="0" bIns="0" rtlCol="0" anchor="t"/>
          <a:lstStyle/>
          <a:p>
            <a:pPr algn="l" indent="0" marL="0">
              <a:lnSpc>
                <a:spcPct val="106000"/>
              </a:lnSpc>
              <a:buNone/>
            </a:pPr>
            <a:r>
              <a:rPr lang="en-US" sz="680" b="1" dirty="0">
                <a:solidFill>
                  <a:srgbClr val="94A3B8"/>
                </a:solidFill>
                <a:latin typeface="Segoe UI" pitchFamily="34" charset="0"/>
                <a:ea typeface="Segoe UI" pitchFamily="34" charset="-122"/>
                <a:cs typeface="Segoe UI" pitchFamily="34" charset="-120"/>
              </a:rPr>
              <a:t>Badge</a:t>
            </a:r>
            <a:endParaRPr lang="en-US" sz="680" dirty="0"/>
          </a:p>
        </p:txBody>
      </p:sp>
      <p:sp>
        <p:nvSpPr>
          <p:cNvPr id="54" name="Shape 52"/>
          <p:cNvSpPr/>
          <p:nvPr/>
        </p:nvSpPr>
        <p:spPr>
          <a:xfrm>
            <a:off x="7086600" y="2457450"/>
            <a:ext cx="800100" cy="171450"/>
          </a:xfrm>
          <a:prstGeom prst="roundRect">
            <a:avLst>
              <a:gd name="adj" fmla="val 50000"/>
            </a:avLst>
          </a:prstGeom>
          <a:solidFill>
            <a:srgbClr val="ECFDF5"/>
          </a:solidFill>
          <a:ln/>
        </p:spPr>
      </p:sp>
      <p:sp>
        <p:nvSpPr>
          <p:cNvPr id="55" name="Text 53"/>
          <p:cNvSpPr txBox="1"/>
          <p:nvPr/>
        </p:nvSpPr>
        <p:spPr>
          <a:xfrm>
            <a:off x="7115175" y="2457450"/>
            <a:ext cx="7429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Hoạt động</a:t>
            </a:r>
            <a:endParaRPr lang="en-US" sz="640" dirty="0"/>
          </a:p>
        </p:txBody>
      </p:sp>
      <p:sp>
        <p:nvSpPr>
          <p:cNvPr id="56" name="Shape 54"/>
          <p:cNvSpPr/>
          <p:nvPr/>
        </p:nvSpPr>
        <p:spPr>
          <a:xfrm>
            <a:off x="8001000" y="2457450"/>
            <a:ext cx="800100" cy="171450"/>
          </a:xfrm>
          <a:prstGeom prst="roundRect">
            <a:avLst>
              <a:gd name="adj" fmla="val 50000"/>
            </a:avLst>
          </a:prstGeom>
          <a:solidFill>
            <a:srgbClr val="FFFBEB"/>
          </a:solidFill>
          <a:ln/>
        </p:spPr>
      </p:sp>
      <p:sp>
        <p:nvSpPr>
          <p:cNvPr id="57" name="Text 55"/>
          <p:cNvSpPr txBox="1"/>
          <p:nvPr/>
        </p:nvSpPr>
        <p:spPr>
          <a:xfrm>
            <a:off x="8029575" y="2457450"/>
            <a:ext cx="7429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B45309"/>
                </a:solidFill>
                <a:latin typeface="Segoe UI" pitchFamily="34" charset="0"/>
                <a:ea typeface="Segoe UI" pitchFamily="34" charset="-122"/>
                <a:cs typeface="Segoe UI" pitchFamily="34" charset="-120"/>
              </a:rPr>
              <a:t>Chờ duyệt</a:t>
            </a:r>
            <a:endParaRPr lang="en-US" sz="640" dirty="0"/>
          </a:p>
        </p:txBody>
      </p:sp>
      <p:sp>
        <p:nvSpPr>
          <p:cNvPr id="58" name="Shape 56"/>
          <p:cNvSpPr/>
          <p:nvPr/>
        </p:nvSpPr>
        <p:spPr>
          <a:xfrm>
            <a:off x="8915400" y="2457450"/>
            <a:ext cx="800100" cy="171450"/>
          </a:xfrm>
          <a:prstGeom prst="roundRect">
            <a:avLst>
              <a:gd name="adj" fmla="val 50000"/>
            </a:avLst>
          </a:prstGeom>
          <a:solidFill>
            <a:srgbClr val="FEF2F2"/>
          </a:solidFill>
          <a:ln/>
        </p:spPr>
      </p:sp>
      <p:sp>
        <p:nvSpPr>
          <p:cNvPr id="59" name="Text 57"/>
          <p:cNvSpPr txBox="1"/>
          <p:nvPr/>
        </p:nvSpPr>
        <p:spPr>
          <a:xfrm>
            <a:off x="8943975" y="2457450"/>
            <a:ext cx="7429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DC2626"/>
                </a:solidFill>
                <a:latin typeface="Segoe UI" pitchFamily="34" charset="0"/>
                <a:ea typeface="Segoe UI" pitchFamily="34" charset="-122"/>
                <a:cs typeface="Segoe UI" pitchFamily="34" charset="-120"/>
              </a:rPr>
              <a:t>Từ chối</a:t>
            </a:r>
            <a:endParaRPr lang="en-US" sz="640" dirty="0"/>
          </a:p>
        </p:txBody>
      </p:sp>
      <p:sp>
        <p:nvSpPr>
          <p:cNvPr id="60" name="Shape 58"/>
          <p:cNvSpPr/>
          <p:nvPr/>
        </p:nvSpPr>
        <p:spPr>
          <a:xfrm>
            <a:off x="9829800" y="2457450"/>
            <a:ext cx="800100" cy="171450"/>
          </a:xfrm>
          <a:prstGeom prst="roundRect">
            <a:avLst>
              <a:gd name="adj" fmla="val 50000"/>
            </a:avLst>
          </a:prstGeom>
          <a:solidFill>
            <a:srgbClr val="F1F5F9"/>
          </a:solidFill>
          <a:ln/>
        </p:spPr>
      </p:sp>
      <p:sp>
        <p:nvSpPr>
          <p:cNvPr id="61" name="Text 59"/>
          <p:cNvSpPr txBox="1"/>
          <p:nvPr/>
        </p:nvSpPr>
        <p:spPr>
          <a:xfrm>
            <a:off x="9858375" y="2457450"/>
            <a:ext cx="7429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64748B"/>
                </a:solidFill>
                <a:latin typeface="Segoe UI" pitchFamily="34" charset="0"/>
                <a:ea typeface="Segoe UI" pitchFamily="34" charset="-122"/>
                <a:cs typeface="Segoe UI" pitchFamily="34" charset="-120"/>
              </a:rPr>
              <a:t>Lưu trữ</a:t>
            </a:r>
            <a:endParaRPr lang="en-US" sz="640" dirty="0"/>
          </a:p>
        </p:txBody>
      </p:sp>
      <p:sp>
        <p:nvSpPr>
          <p:cNvPr id="62" name="Text 60"/>
          <p:cNvSpPr txBox="1"/>
          <p:nvPr/>
        </p:nvSpPr>
        <p:spPr>
          <a:xfrm>
            <a:off x="6134100" y="2895600"/>
            <a:ext cx="800100" cy="152400"/>
          </a:xfrm>
          <a:prstGeom prst="rect">
            <a:avLst/>
          </a:prstGeom>
          <a:noFill/>
          <a:ln/>
        </p:spPr>
        <p:txBody>
          <a:bodyPr wrap="square" lIns="0" tIns="0" rIns="0" bIns="0" rtlCol="0" anchor="t"/>
          <a:lstStyle/>
          <a:p>
            <a:pPr algn="l" indent="0" marL="0">
              <a:lnSpc>
                <a:spcPct val="106000"/>
              </a:lnSpc>
              <a:buNone/>
            </a:pPr>
            <a:r>
              <a:rPr lang="en-US" sz="680" b="1" dirty="0">
                <a:solidFill>
                  <a:srgbClr val="94A3B8"/>
                </a:solidFill>
                <a:latin typeface="Segoe UI" pitchFamily="34" charset="0"/>
                <a:ea typeface="Segoe UI" pitchFamily="34" charset="-122"/>
                <a:cs typeface="Segoe UI" pitchFamily="34" charset="-120"/>
              </a:rPr>
              <a:t>Biểu mẫu</a:t>
            </a:r>
            <a:endParaRPr lang="en-US" sz="680" dirty="0"/>
          </a:p>
        </p:txBody>
      </p:sp>
      <p:sp>
        <p:nvSpPr>
          <p:cNvPr id="63" name="Text 61"/>
          <p:cNvSpPr txBox="1"/>
          <p:nvPr/>
        </p:nvSpPr>
        <p:spPr>
          <a:xfrm>
            <a:off x="7086600" y="2857500"/>
            <a:ext cx="1905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Email</a:t>
            </a:r>
            <a:endParaRPr lang="en-US" sz="620" dirty="0"/>
          </a:p>
        </p:txBody>
      </p:sp>
      <p:sp>
        <p:nvSpPr>
          <p:cNvPr id="64" name="Shape 62"/>
          <p:cNvSpPr/>
          <p:nvPr/>
        </p:nvSpPr>
        <p:spPr>
          <a:xfrm>
            <a:off x="7086600" y="2990850"/>
            <a:ext cx="2000250" cy="266700"/>
          </a:xfrm>
          <a:prstGeom prst="roundRect">
            <a:avLst>
              <a:gd name="adj" fmla="val 21429"/>
            </a:avLst>
          </a:prstGeom>
          <a:solidFill>
            <a:srgbClr val="FFFFFF"/>
          </a:solidFill>
          <a:ln w="9525">
            <a:solidFill>
              <a:srgbClr val="E2E8F0"/>
            </a:solidFill>
            <a:prstDash val="solid"/>
          </a:ln>
        </p:spPr>
      </p:sp>
      <p:sp>
        <p:nvSpPr>
          <p:cNvPr id="65" name="Text 63"/>
          <p:cNvSpPr txBox="1"/>
          <p:nvPr/>
        </p:nvSpPr>
        <p:spPr>
          <a:xfrm>
            <a:off x="7162800" y="3048000"/>
            <a:ext cx="184785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minh@student.edu.vn</a:t>
            </a:r>
            <a:endParaRPr lang="en-US" sz="660" dirty="0"/>
          </a:p>
        </p:txBody>
      </p:sp>
      <p:sp>
        <p:nvSpPr>
          <p:cNvPr id="66" name="Text 64"/>
          <p:cNvSpPr txBox="1"/>
          <p:nvPr/>
        </p:nvSpPr>
        <p:spPr>
          <a:xfrm>
            <a:off x="9220200" y="2857500"/>
            <a:ext cx="1905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Danh mục</a:t>
            </a:r>
            <a:endParaRPr lang="en-US" sz="620" dirty="0"/>
          </a:p>
        </p:txBody>
      </p:sp>
      <p:sp>
        <p:nvSpPr>
          <p:cNvPr id="67" name="Shape 65"/>
          <p:cNvSpPr/>
          <p:nvPr/>
        </p:nvSpPr>
        <p:spPr>
          <a:xfrm>
            <a:off x="9220200" y="2990850"/>
            <a:ext cx="2000250" cy="266700"/>
          </a:xfrm>
          <a:prstGeom prst="roundRect">
            <a:avLst>
              <a:gd name="adj" fmla="val 21429"/>
            </a:avLst>
          </a:prstGeom>
          <a:solidFill>
            <a:srgbClr val="FFFFFF"/>
          </a:solidFill>
          <a:ln w="9525">
            <a:solidFill>
              <a:srgbClr val="DC2626"/>
            </a:solidFill>
            <a:prstDash val="solid"/>
          </a:ln>
        </p:spPr>
      </p:sp>
      <p:sp>
        <p:nvSpPr>
          <p:cNvPr id="68" name="Text 66"/>
          <p:cNvSpPr txBox="1"/>
          <p:nvPr/>
        </p:nvSpPr>
        <p:spPr>
          <a:xfrm>
            <a:off x="9296400" y="3048000"/>
            <a:ext cx="1847850" cy="133350"/>
          </a:xfrm>
          <a:prstGeom prst="rect">
            <a:avLst/>
          </a:prstGeom>
          <a:noFill/>
          <a:ln/>
        </p:spPr>
        <p:txBody>
          <a:bodyPr wrap="square" lIns="0" tIns="0" rIns="0" bIns="0" rtlCol="0" anchor="t"/>
          <a:lstStyle/>
          <a:p>
            <a:pPr algn="l" indent="0" marL="0">
              <a:lnSpc>
                <a:spcPct val="106000"/>
              </a:lnSpc>
              <a:buNone/>
            </a:pPr>
            <a:endParaRPr lang="en-US" sz="660" dirty="0"/>
          </a:p>
        </p:txBody>
      </p:sp>
      <p:sp>
        <p:nvSpPr>
          <p:cNvPr id="69" name="Text 67"/>
          <p:cNvSpPr txBox="1"/>
          <p:nvPr/>
        </p:nvSpPr>
        <p:spPr>
          <a:xfrm>
            <a:off x="9220200" y="3295650"/>
            <a:ext cx="2000250" cy="114300"/>
          </a:xfrm>
          <a:prstGeom prst="rect">
            <a:avLst/>
          </a:prstGeom>
          <a:noFill/>
          <a:ln/>
        </p:spPr>
        <p:txBody>
          <a:bodyPr wrap="square" lIns="0" tIns="0" rIns="0" bIns="0" rtlCol="0" anchor="t"/>
          <a:lstStyle/>
          <a:p>
            <a:pPr algn="l" indent="0" marL="0">
              <a:lnSpc>
                <a:spcPct val="106000"/>
              </a:lnSpc>
              <a:buNone/>
            </a:pPr>
            <a:r>
              <a:rPr lang="en-US" sz="620" dirty="0">
                <a:solidFill>
                  <a:srgbClr val="DC2626"/>
                </a:solidFill>
                <a:latin typeface="Segoe UI" pitchFamily="34" charset="0"/>
                <a:ea typeface="Segoe UI" pitchFamily="34" charset="-122"/>
                <a:cs typeface="Segoe UI" pitchFamily="34" charset="-120"/>
              </a:rPr>
              <a:t>Email không hợp lệ</a:t>
            </a:r>
            <a:endParaRPr lang="en-US" sz="620" dirty="0"/>
          </a:p>
        </p:txBody>
      </p:sp>
      <p:sp>
        <p:nvSpPr>
          <p:cNvPr id="70" name="Text 68"/>
          <p:cNvSpPr txBox="1"/>
          <p:nvPr/>
        </p:nvSpPr>
        <p:spPr>
          <a:xfrm>
            <a:off x="6134100" y="3619500"/>
            <a:ext cx="800100" cy="152400"/>
          </a:xfrm>
          <a:prstGeom prst="rect">
            <a:avLst/>
          </a:prstGeom>
          <a:noFill/>
          <a:ln/>
        </p:spPr>
        <p:txBody>
          <a:bodyPr wrap="square" lIns="0" tIns="0" rIns="0" bIns="0" rtlCol="0" anchor="t"/>
          <a:lstStyle/>
          <a:p>
            <a:pPr algn="l" indent="0" marL="0">
              <a:lnSpc>
                <a:spcPct val="106000"/>
              </a:lnSpc>
              <a:buNone/>
            </a:pPr>
            <a:r>
              <a:rPr lang="en-US" sz="680" b="1" dirty="0">
                <a:solidFill>
                  <a:srgbClr val="94A3B8"/>
                </a:solidFill>
                <a:latin typeface="Segoe UI" pitchFamily="34" charset="0"/>
                <a:ea typeface="Segoe UI" pitchFamily="34" charset="-122"/>
                <a:cs typeface="Segoe UI" pitchFamily="34" charset="-120"/>
              </a:rPr>
              <a:t>Thẻ dữ liệu</a:t>
            </a:r>
            <a:endParaRPr lang="en-US" sz="680" dirty="0"/>
          </a:p>
        </p:txBody>
      </p:sp>
      <p:sp>
        <p:nvSpPr>
          <p:cNvPr id="71" name="Shape 69"/>
          <p:cNvSpPr/>
          <p:nvPr/>
        </p:nvSpPr>
        <p:spPr>
          <a:xfrm>
            <a:off x="7086600" y="3543300"/>
            <a:ext cx="2857500" cy="876300"/>
          </a:xfrm>
          <a:prstGeom prst="roundRect">
            <a:avLst>
              <a:gd name="adj" fmla="val 8696"/>
            </a:avLst>
          </a:prstGeom>
          <a:solidFill>
            <a:srgbClr val="FFFFFF"/>
          </a:solidFill>
          <a:ln w="9525">
            <a:solidFill>
              <a:srgbClr val="E2E8F0"/>
            </a:solidFill>
            <a:prstDash val="solid"/>
          </a:ln>
        </p:spPr>
      </p:sp>
      <p:sp>
        <p:nvSpPr>
          <p:cNvPr id="72" name="Text 70"/>
          <p:cNvSpPr txBox="1"/>
          <p:nvPr/>
        </p:nvSpPr>
        <p:spPr>
          <a:xfrm>
            <a:off x="7200900" y="3638550"/>
            <a:ext cx="1714500" cy="133350"/>
          </a:xfrm>
          <a:prstGeom prst="rect">
            <a:avLst/>
          </a:prstGeom>
          <a:noFill/>
          <a:ln/>
        </p:spPr>
        <p:txBody>
          <a:bodyPr wrap="square" lIns="0" tIns="0" rIns="0" bIns="0" rtlCol="0" anchor="t"/>
          <a:lstStyle/>
          <a:p>
            <a:pPr algn="l" indent="0" marL="0">
              <a:lnSpc>
                <a:spcPct val="106000"/>
              </a:lnSpc>
              <a:buNone/>
            </a:pPr>
            <a:r>
              <a:rPr lang="en-US" sz="760" b="1" dirty="0">
                <a:solidFill>
                  <a:srgbClr val="0F172A"/>
                </a:solidFill>
                <a:latin typeface="Segoe UI" pitchFamily="34" charset="0"/>
                <a:ea typeface="Segoe UI" pitchFamily="34" charset="-122"/>
                <a:cs typeface="Segoe UI" pitchFamily="34" charset="-120"/>
              </a:rPr>
              <a:t>Ngân sách ăn uống</a:t>
            </a:r>
            <a:endParaRPr lang="en-US" sz="760" dirty="0"/>
          </a:p>
        </p:txBody>
      </p:sp>
      <p:sp>
        <p:nvSpPr>
          <p:cNvPr id="73" name="Shape 71"/>
          <p:cNvSpPr/>
          <p:nvPr/>
        </p:nvSpPr>
        <p:spPr>
          <a:xfrm>
            <a:off x="9105900" y="3619500"/>
            <a:ext cx="723900" cy="152400"/>
          </a:xfrm>
          <a:prstGeom prst="roundRect">
            <a:avLst>
              <a:gd name="adj" fmla="val 50000"/>
            </a:avLst>
          </a:prstGeom>
          <a:solidFill>
            <a:srgbClr val="FFFBEB"/>
          </a:solidFill>
          <a:ln/>
        </p:spPr>
      </p:sp>
      <p:sp>
        <p:nvSpPr>
          <p:cNvPr id="74" name="Text 72"/>
          <p:cNvSpPr txBox="1"/>
          <p:nvPr/>
        </p:nvSpPr>
        <p:spPr>
          <a:xfrm>
            <a:off x="9134475" y="3619500"/>
            <a:ext cx="666750" cy="152400"/>
          </a:xfrm>
          <a:prstGeom prst="rect">
            <a:avLst/>
          </a:prstGeom>
          <a:noFill/>
          <a:ln/>
        </p:spPr>
        <p:txBody>
          <a:bodyPr wrap="square" lIns="0" tIns="0" rIns="0" bIns="0" rtlCol="0" anchor="ctr"/>
          <a:lstStyle/>
          <a:p>
            <a:pPr algn="ctr" indent="0" marL="0">
              <a:lnSpc>
                <a:spcPct val="106000"/>
              </a:lnSpc>
              <a:buNone/>
            </a:pPr>
            <a:r>
              <a:rPr lang="en-US" sz="600" b="1" dirty="0">
                <a:solidFill>
                  <a:srgbClr val="B45309"/>
                </a:solidFill>
                <a:latin typeface="Segoe UI" pitchFamily="34" charset="0"/>
                <a:ea typeface="Segoe UI" pitchFamily="34" charset="-122"/>
                <a:cs typeface="Segoe UI" pitchFamily="34" charset="-120"/>
              </a:rPr>
              <a:t>Chờ duyệt</a:t>
            </a:r>
            <a:endParaRPr lang="en-US" sz="600" dirty="0"/>
          </a:p>
        </p:txBody>
      </p:sp>
      <p:sp>
        <p:nvSpPr>
          <p:cNvPr id="75" name="Text 73"/>
          <p:cNvSpPr txBox="1"/>
          <p:nvPr/>
        </p:nvSpPr>
        <p:spPr>
          <a:xfrm>
            <a:off x="7200900" y="3829050"/>
            <a:ext cx="1905000" cy="13335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340.000 / 2.000.000 ₫</a:t>
            </a:r>
            <a:endParaRPr lang="en-US" sz="700" dirty="0"/>
          </a:p>
        </p:txBody>
      </p:sp>
      <p:sp>
        <p:nvSpPr>
          <p:cNvPr id="76" name="Shape 74"/>
          <p:cNvSpPr/>
          <p:nvPr/>
        </p:nvSpPr>
        <p:spPr>
          <a:xfrm>
            <a:off x="7200900" y="4038600"/>
            <a:ext cx="2571750" cy="57150"/>
          </a:xfrm>
          <a:prstGeom prst="roundRect">
            <a:avLst>
              <a:gd name="adj" fmla="val 50000"/>
            </a:avLst>
          </a:prstGeom>
          <a:solidFill>
            <a:srgbClr val="F1F5F9"/>
          </a:solidFill>
          <a:ln/>
        </p:spPr>
      </p:sp>
      <p:sp>
        <p:nvSpPr>
          <p:cNvPr id="77" name="Shape 75"/>
          <p:cNvSpPr/>
          <p:nvPr/>
        </p:nvSpPr>
        <p:spPr>
          <a:xfrm>
            <a:off x="7200900" y="4038600"/>
            <a:ext cx="437197" cy="57150"/>
          </a:xfrm>
          <a:prstGeom prst="roundRect">
            <a:avLst>
              <a:gd name="adj" fmla="val 50000"/>
            </a:avLst>
          </a:prstGeom>
          <a:solidFill>
            <a:srgbClr val="059669"/>
          </a:solidFill>
          <a:ln/>
        </p:spPr>
      </p:sp>
      <p:sp>
        <p:nvSpPr>
          <p:cNvPr id="78" name="Text 76"/>
          <p:cNvSpPr txBox="1"/>
          <p:nvPr/>
        </p:nvSpPr>
        <p:spPr>
          <a:xfrm>
            <a:off x="9810750" y="4000500"/>
            <a:ext cx="190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17%</a:t>
            </a:r>
            <a:endParaRPr lang="en-US" sz="620" dirty="0"/>
          </a:p>
        </p:txBody>
      </p:sp>
      <p:sp>
        <p:nvSpPr>
          <p:cNvPr id="79" name="Text 77"/>
          <p:cNvSpPr txBox="1"/>
          <p:nvPr/>
        </p:nvSpPr>
        <p:spPr>
          <a:xfrm>
            <a:off x="10058400" y="3771900"/>
            <a:ext cx="1333500" cy="28575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Card: radius 12, border #E2E8F0</a:t>
            </a:r>
            <a:endParaRPr lang="en-US" sz="640" dirty="0"/>
          </a:p>
        </p:txBody>
      </p:sp>
      <p:sp>
        <p:nvSpPr>
          <p:cNvPr id="80" name="Text 78"/>
          <p:cNvSpPr txBox="1"/>
          <p:nvPr/>
        </p:nvSpPr>
        <p:spPr>
          <a:xfrm>
            <a:off x="6134100" y="4629150"/>
            <a:ext cx="800100" cy="152400"/>
          </a:xfrm>
          <a:prstGeom prst="rect">
            <a:avLst/>
          </a:prstGeom>
          <a:noFill/>
          <a:ln/>
        </p:spPr>
        <p:txBody>
          <a:bodyPr wrap="square" lIns="0" tIns="0" rIns="0" bIns="0" rtlCol="0" anchor="t"/>
          <a:lstStyle/>
          <a:p>
            <a:pPr algn="l" indent="0" marL="0">
              <a:lnSpc>
                <a:spcPct val="106000"/>
              </a:lnSpc>
              <a:buNone/>
            </a:pPr>
            <a:r>
              <a:rPr lang="en-US" sz="680" b="1" dirty="0">
                <a:solidFill>
                  <a:srgbClr val="94A3B8"/>
                </a:solidFill>
                <a:latin typeface="Segoe UI" pitchFamily="34" charset="0"/>
                <a:ea typeface="Segoe UI" pitchFamily="34" charset="-122"/>
                <a:cs typeface="Segoe UI" pitchFamily="34" charset="-120"/>
              </a:rPr>
              <a:t>Hộp thoại</a:t>
            </a:r>
            <a:endParaRPr lang="en-US" sz="680" dirty="0"/>
          </a:p>
        </p:txBody>
      </p:sp>
      <p:sp>
        <p:nvSpPr>
          <p:cNvPr id="81" name="Shape 79"/>
          <p:cNvSpPr/>
          <p:nvPr/>
        </p:nvSpPr>
        <p:spPr>
          <a:xfrm>
            <a:off x="7086600" y="4552950"/>
            <a:ext cx="2857500" cy="1104900"/>
          </a:xfrm>
          <a:prstGeom prst="roundRect">
            <a:avLst>
              <a:gd name="adj" fmla="val 8621"/>
            </a:avLst>
          </a:prstGeom>
          <a:solidFill>
            <a:srgbClr val="FFFFFF"/>
          </a:solidFill>
          <a:ln w="9525">
            <a:solidFill>
              <a:srgbClr val="E2E8F0"/>
            </a:solidFill>
            <a:prstDash val="solid"/>
          </a:ln>
        </p:spPr>
      </p:sp>
      <p:sp>
        <p:nvSpPr>
          <p:cNvPr id="82" name="Text 80"/>
          <p:cNvSpPr txBox="1"/>
          <p:nvPr/>
        </p:nvSpPr>
        <p:spPr>
          <a:xfrm>
            <a:off x="7219950" y="4667250"/>
            <a:ext cx="2476500" cy="152400"/>
          </a:xfrm>
          <a:prstGeom prst="rect">
            <a:avLst/>
          </a:prstGeom>
          <a:noFill/>
          <a:ln/>
        </p:spPr>
        <p:txBody>
          <a:bodyPr wrap="square" lIns="0" tIns="0" rIns="0" bIns="0" rtlCol="0" anchor="t"/>
          <a:lstStyle/>
          <a:p>
            <a:pPr algn="l" indent="0" marL="0">
              <a:lnSpc>
                <a:spcPct val="106000"/>
              </a:lnSpc>
              <a:buNone/>
            </a:pPr>
            <a:r>
              <a:rPr lang="en-US" sz="800" b="1" dirty="0">
                <a:solidFill>
                  <a:srgbClr val="0F172A"/>
                </a:solidFill>
                <a:latin typeface="Segoe UI" pitchFamily="34" charset="0"/>
                <a:ea typeface="Segoe UI" pitchFamily="34" charset="-122"/>
                <a:cs typeface="Segoe UI" pitchFamily="34" charset="-120"/>
              </a:rPr>
              <a:t>Lưu trữ giao dịch?</a:t>
            </a:r>
            <a:endParaRPr lang="en-US" sz="800" dirty="0"/>
          </a:p>
        </p:txBody>
      </p:sp>
      <p:sp>
        <p:nvSpPr>
          <p:cNvPr id="83" name="Text 81"/>
          <p:cNvSpPr txBox="1"/>
          <p:nvPr/>
        </p:nvSpPr>
        <p:spPr>
          <a:xfrm>
            <a:off x="7219950" y="4857750"/>
            <a:ext cx="2571750" cy="26670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Giao dịch sẽ ẩn khỏi báo cáo nhưng vẫn giữ trong dữ liệu.</a:t>
            </a:r>
            <a:endParaRPr lang="en-US" sz="660" dirty="0"/>
          </a:p>
        </p:txBody>
      </p:sp>
      <p:sp>
        <p:nvSpPr>
          <p:cNvPr id="84" name="Shape 82"/>
          <p:cNvSpPr/>
          <p:nvPr/>
        </p:nvSpPr>
        <p:spPr>
          <a:xfrm>
            <a:off x="8153400" y="5219700"/>
            <a:ext cx="800100" cy="228600"/>
          </a:xfrm>
          <a:prstGeom prst="roundRect">
            <a:avLst>
              <a:gd name="adj" fmla="val 20833"/>
            </a:avLst>
          </a:prstGeom>
          <a:solidFill>
            <a:srgbClr val="FFFFFF"/>
          </a:solidFill>
          <a:ln w="9525">
            <a:solidFill>
              <a:srgbClr val="E2E8F0"/>
            </a:solidFill>
            <a:prstDash val="solid"/>
          </a:ln>
        </p:spPr>
      </p:sp>
      <p:sp>
        <p:nvSpPr>
          <p:cNvPr id="85" name="Text 83"/>
          <p:cNvSpPr txBox="1"/>
          <p:nvPr/>
        </p:nvSpPr>
        <p:spPr>
          <a:xfrm>
            <a:off x="8153400" y="5219700"/>
            <a:ext cx="800100" cy="228600"/>
          </a:xfrm>
          <a:prstGeom prst="rect">
            <a:avLst/>
          </a:prstGeom>
          <a:noFill/>
          <a:ln/>
        </p:spPr>
        <p:txBody>
          <a:bodyPr wrap="square" lIns="0" tIns="0" rIns="0" bIns="0" rtlCol="0" anchor="ctr"/>
          <a:lstStyle/>
          <a:p>
            <a:pPr algn="ctr" indent="0" marL="0">
              <a:lnSpc>
                <a:spcPct val="106000"/>
              </a:lnSpc>
              <a:buNone/>
            </a:pPr>
            <a:r>
              <a:rPr lang="en-US" sz="660" dirty="0">
                <a:solidFill>
                  <a:srgbClr val="475569"/>
                </a:solidFill>
                <a:latin typeface="Segoe UI" pitchFamily="34" charset="0"/>
                <a:ea typeface="Segoe UI" pitchFamily="34" charset="-122"/>
                <a:cs typeface="Segoe UI" pitchFamily="34" charset="-120"/>
              </a:rPr>
              <a:t>Huỷ</a:t>
            </a:r>
            <a:endParaRPr lang="en-US" sz="660" dirty="0"/>
          </a:p>
        </p:txBody>
      </p:sp>
      <p:sp>
        <p:nvSpPr>
          <p:cNvPr id="86" name="Shape 84"/>
          <p:cNvSpPr/>
          <p:nvPr/>
        </p:nvSpPr>
        <p:spPr>
          <a:xfrm>
            <a:off x="9029700" y="5219700"/>
            <a:ext cx="800100" cy="228600"/>
          </a:xfrm>
          <a:prstGeom prst="roundRect">
            <a:avLst>
              <a:gd name="adj" fmla="val 20833"/>
            </a:avLst>
          </a:prstGeom>
          <a:solidFill>
            <a:srgbClr val="059669"/>
          </a:solidFill>
          <a:ln/>
        </p:spPr>
      </p:sp>
      <p:sp>
        <p:nvSpPr>
          <p:cNvPr id="87" name="Text 85"/>
          <p:cNvSpPr txBox="1"/>
          <p:nvPr/>
        </p:nvSpPr>
        <p:spPr>
          <a:xfrm>
            <a:off x="9029700" y="5219700"/>
            <a:ext cx="800100" cy="228600"/>
          </a:xfrm>
          <a:prstGeom prst="rect">
            <a:avLst/>
          </a:prstGeom>
          <a:noFill/>
          <a:ln/>
        </p:spPr>
        <p:txBody>
          <a:bodyPr wrap="square" lIns="0" tIns="0" rIns="0" bIns="0" rtlCol="0" anchor="ctr"/>
          <a:lstStyle/>
          <a:p>
            <a:pPr algn="ctr" indent="0" marL="0">
              <a:lnSpc>
                <a:spcPct val="106000"/>
              </a:lnSpc>
              <a:buNone/>
            </a:pPr>
            <a:r>
              <a:rPr lang="en-US" sz="660" b="1" dirty="0">
                <a:solidFill>
                  <a:srgbClr val="FFFFFF"/>
                </a:solidFill>
                <a:latin typeface="Segoe UI" pitchFamily="34" charset="0"/>
                <a:ea typeface="Segoe UI" pitchFamily="34" charset="-122"/>
                <a:cs typeface="Segoe UI" pitchFamily="34" charset="-120"/>
              </a:rPr>
              <a:t>Xác nhận</a:t>
            </a:r>
            <a:endParaRPr lang="en-US" sz="660" dirty="0"/>
          </a:p>
        </p:txBody>
      </p:sp>
      <p:sp>
        <p:nvSpPr>
          <p:cNvPr id="88" name="Text 86"/>
          <p:cNvSpPr txBox="1"/>
          <p:nvPr/>
        </p:nvSpPr>
        <p:spPr>
          <a:xfrm>
            <a:off x="6134100" y="5810250"/>
            <a:ext cx="5257800" cy="266700"/>
          </a:xfrm>
          <a:prstGeom prst="rect">
            <a:avLst/>
          </a:prstGeom>
          <a:noFill/>
          <a:ln/>
        </p:spPr>
        <p:txBody>
          <a:bodyPr wrap="square" lIns="0" tIns="0" rIns="0" bIns="0" rtlCol="0" anchor="t"/>
          <a:lstStyle/>
          <a:p>
            <a:pPr algn="l" indent="0" marL="0">
              <a:lnSpc>
                <a:spcPct val="106000"/>
              </a:lnSpc>
              <a:buNone/>
            </a:pPr>
            <a:r>
              <a:rPr lang="en-US" sz="760" dirty="0">
                <a:solidFill>
                  <a:srgbClr val="475569"/>
                </a:solidFill>
                <a:latin typeface="Segoe UI" pitchFamily="34" charset="0"/>
                <a:ea typeface="Segoe UI" pitchFamily="34" charset="-122"/>
                <a:cs typeface="Segoe UI" pitchFamily="34" charset="-120"/>
              </a:rPr>
              <a:t>Responsive: 960 px → sidebar xếp dọc; 640 px → bảng chuyển thành card, nav thu gọn.</a:t>
            </a:r>
            <a:endParaRPr lang="en-US" sz="7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3810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05 · HÀNH TRÌNH &amp; LUỒNG</a:t>
            </a:r>
            <a:endParaRPr lang="en-US" sz="950" dirty="0"/>
          </a:p>
        </p:txBody>
      </p:sp>
      <p:sp>
        <p:nvSpPr>
          <p:cNvPr id="3" name="Text 1"/>
          <p:cNvSpPr txBox="1"/>
          <p:nvPr/>
        </p:nvSpPr>
        <p:spPr>
          <a:xfrm>
            <a:off x="381000" y="685800"/>
            <a:ext cx="95250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Một hành trình, bốn điểm kiểm soát</a:t>
            </a:r>
            <a:endParaRPr lang="en-US" sz="2900" dirty="0"/>
          </a:p>
        </p:txBody>
      </p:sp>
      <p:sp>
        <p:nvSpPr>
          <p:cNvPr id="4" name="Text 2"/>
          <p:cNvSpPr txBox="1"/>
          <p:nvPr/>
        </p:nvSpPr>
        <p:spPr>
          <a:xfrm>
            <a:off x="381000" y="1257300"/>
            <a:ext cx="1028700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Mỗi luồng đều đi qua trạng thái, AI hỗ trợ và một quyết định của con người trước khi lưu.</a:t>
            </a:r>
            <a:endParaRPr lang="en-US" sz="1200" dirty="0"/>
          </a:p>
        </p:txBody>
      </p:sp>
      <p:sp>
        <p:nvSpPr>
          <p:cNvPr id="5" name="Shape 3"/>
          <p:cNvSpPr/>
          <p:nvPr/>
        </p:nvSpPr>
        <p:spPr>
          <a:xfrm>
            <a:off x="476250" y="1733550"/>
            <a:ext cx="1428750" cy="571500"/>
          </a:xfrm>
          <a:prstGeom prst="chevron">
            <a:avLst/>
          </a:prstGeom>
          <a:solidFill>
            <a:srgbClr val="059669"/>
          </a:solidFill>
          <a:ln/>
        </p:spPr>
      </p:sp>
      <p:sp>
        <p:nvSpPr>
          <p:cNvPr id="6" name="Text 4"/>
          <p:cNvSpPr txBox="1"/>
          <p:nvPr/>
        </p:nvSpPr>
        <p:spPr>
          <a:xfrm>
            <a:off x="647700"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Khám phá</a:t>
            </a:r>
            <a:endParaRPr lang="en-US" sz="780" dirty="0"/>
          </a:p>
        </p:txBody>
      </p:sp>
      <p:sp>
        <p:nvSpPr>
          <p:cNvPr id="7" name="Shape 5"/>
          <p:cNvSpPr/>
          <p:nvPr/>
        </p:nvSpPr>
        <p:spPr>
          <a:xfrm>
            <a:off x="1838325" y="1733550"/>
            <a:ext cx="1428750" cy="571500"/>
          </a:xfrm>
          <a:prstGeom prst="chevron">
            <a:avLst/>
          </a:prstGeom>
          <a:solidFill>
            <a:srgbClr val="059669"/>
          </a:solidFill>
          <a:ln/>
        </p:spPr>
      </p:sp>
      <p:sp>
        <p:nvSpPr>
          <p:cNvPr id="8" name="Text 6"/>
          <p:cNvSpPr txBox="1"/>
          <p:nvPr/>
        </p:nvSpPr>
        <p:spPr>
          <a:xfrm>
            <a:off x="2009775"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Đăng nhập</a:t>
            </a:r>
            <a:endParaRPr lang="en-US" sz="780" dirty="0"/>
          </a:p>
        </p:txBody>
      </p:sp>
      <p:sp>
        <p:nvSpPr>
          <p:cNvPr id="9" name="Shape 7"/>
          <p:cNvSpPr/>
          <p:nvPr/>
        </p:nvSpPr>
        <p:spPr>
          <a:xfrm>
            <a:off x="3200400" y="1733550"/>
            <a:ext cx="1428750" cy="571500"/>
          </a:xfrm>
          <a:prstGeom prst="chevron">
            <a:avLst/>
          </a:prstGeom>
          <a:solidFill>
            <a:srgbClr val="059669"/>
          </a:solidFill>
          <a:ln/>
        </p:spPr>
      </p:sp>
      <p:sp>
        <p:nvSpPr>
          <p:cNvPr id="10" name="Text 8"/>
          <p:cNvSpPr txBox="1"/>
          <p:nvPr/>
        </p:nvSpPr>
        <p:spPr>
          <a:xfrm>
            <a:off x="3371850"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Nghiệp vụ chính</a:t>
            </a:r>
            <a:endParaRPr lang="en-US" sz="780" dirty="0"/>
          </a:p>
        </p:txBody>
      </p:sp>
      <p:sp>
        <p:nvSpPr>
          <p:cNvPr id="11" name="Shape 9"/>
          <p:cNvSpPr/>
          <p:nvPr/>
        </p:nvSpPr>
        <p:spPr>
          <a:xfrm>
            <a:off x="4562475" y="1733550"/>
            <a:ext cx="1428750" cy="571500"/>
          </a:xfrm>
          <a:prstGeom prst="chevron">
            <a:avLst/>
          </a:prstGeom>
          <a:solidFill>
            <a:srgbClr val="059669"/>
          </a:solidFill>
          <a:ln/>
        </p:spPr>
      </p:sp>
      <p:sp>
        <p:nvSpPr>
          <p:cNvPr id="12" name="Text 10"/>
          <p:cNvSpPr txBox="1"/>
          <p:nvPr/>
        </p:nvSpPr>
        <p:spPr>
          <a:xfrm>
            <a:off x="4733925"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Trạng thái</a:t>
            </a:r>
            <a:endParaRPr lang="en-US" sz="780" dirty="0"/>
          </a:p>
        </p:txBody>
      </p:sp>
      <p:sp>
        <p:nvSpPr>
          <p:cNvPr id="13" name="Shape 11"/>
          <p:cNvSpPr/>
          <p:nvPr/>
        </p:nvSpPr>
        <p:spPr>
          <a:xfrm>
            <a:off x="5924550" y="1733550"/>
            <a:ext cx="1428750" cy="571500"/>
          </a:xfrm>
          <a:prstGeom prst="chevron">
            <a:avLst/>
          </a:prstGeom>
          <a:solidFill>
            <a:srgbClr val="059669"/>
          </a:solidFill>
          <a:ln/>
        </p:spPr>
      </p:sp>
      <p:sp>
        <p:nvSpPr>
          <p:cNvPr id="14" name="Text 12"/>
          <p:cNvSpPr txBox="1"/>
          <p:nvPr/>
        </p:nvSpPr>
        <p:spPr>
          <a:xfrm>
            <a:off x="6096000"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AI hỗ trợ</a:t>
            </a:r>
            <a:endParaRPr lang="en-US" sz="780" dirty="0"/>
          </a:p>
        </p:txBody>
      </p:sp>
      <p:sp>
        <p:nvSpPr>
          <p:cNvPr id="15" name="Shape 13"/>
          <p:cNvSpPr/>
          <p:nvPr/>
        </p:nvSpPr>
        <p:spPr>
          <a:xfrm>
            <a:off x="7286625" y="1733550"/>
            <a:ext cx="1428750" cy="571500"/>
          </a:xfrm>
          <a:prstGeom prst="chevron">
            <a:avLst/>
          </a:prstGeom>
          <a:solidFill>
            <a:srgbClr val="059669"/>
          </a:solidFill>
          <a:ln/>
        </p:spPr>
      </p:sp>
      <p:sp>
        <p:nvSpPr>
          <p:cNvPr id="16" name="Text 14"/>
          <p:cNvSpPr txBox="1"/>
          <p:nvPr/>
        </p:nvSpPr>
        <p:spPr>
          <a:xfrm>
            <a:off x="7458075"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Chấp nhận / Sửa</a:t>
            </a:r>
            <a:endParaRPr lang="en-US" sz="780" dirty="0"/>
          </a:p>
        </p:txBody>
      </p:sp>
      <p:sp>
        <p:nvSpPr>
          <p:cNvPr id="17" name="Shape 15"/>
          <p:cNvSpPr/>
          <p:nvPr/>
        </p:nvSpPr>
        <p:spPr>
          <a:xfrm>
            <a:off x="8648700" y="1733550"/>
            <a:ext cx="1428750" cy="571500"/>
          </a:xfrm>
          <a:prstGeom prst="chevron">
            <a:avLst/>
          </a:prstGeom>
          <a:solidFill>
            <a:srgbClr val="F59E0B"/>
          </a:solidFill>
          <a:ln/>
        </p:spPr>
      </p:sp>
      <p:sp>
        <p:nvSpPr>
          <p:cNvPr id="18" name="Text 16"/>
          <p:cNvSpPr txBox="1"/>
          <p:nvPr/>
        </p:nvSpPr>
        <p:spPr>
          <a:xfrm>
            <a:off x="8820150"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Duyệt</a:t>
            </a:r>
            <a:endParaRPr lang="en-US" sz="780" dirty="0"/>
          </a:p>
        </p:txBody>
      </p:sp>
      <p:sp>
        <p:nvSpPr>
          <p:cNvPr id="19" name="Shape 17"/>
          <p:cNvSpPr/>
          <p:nvPr/>
        </p:nvSpPr>
        <p:spPr>
          <a:xfrm>
            <a:off x="10010775" y="1733550"/>
            <a:ext cx="1428750" cy="571500"/>
          </a:xfrm>
          <a:prstGeom prst="chevron">
            <a:avLst/>
          </a:prstGeom>
          <a:solidFill>
            <a:srgbClr val="052E22"/>
          </a:solidFill>
          <a:ln/>
        </p:spPr>
      </p:sp>
      <p:sp>
        <p:nvSpPr>
          <p:cNvPr id="20" name="Text 18"/>
          <p:cNvSpPr txBox="1"/>
          <p:nvPr/>
        </p:nvSpPr>
        <p:spPr>
          <a:xfrm>
            <a:off x="10182225" y="1733550"/>
            <a:ext cx="1066800" cy="571500"/>
          </a:xfrm>
          <a:prstGeom prst="rect">
            <a:avLst/>
          </a:prstGeom>
          <a:noFill/>
          <a:ln/>
        </p:spPr>
        <p:txBody>
          <a:bodyPr wrap="square" lIns="0" tIns="0" rIns="0" bIns="0" rtlCol="0" anchor="ctr"/>
          <a:lstStyle/>
          <a:p>
            <a:pPr algn="ctr" indent="0" marL="0">
              <a:lnSpc>
                <a:spcPct val="106000"/>
              </a:lnSpc>
              <a:buNone/>
            </a:pPr>
            <a:r>
              <a:rPr lang="en-US" sz="780" b="1" dirty="0">
                <a:solidFill>
                  <a:srgbClr val="FFFFFF"/>
                </a:solidFill>
                <a:latin typeface="Segoe UI" pitchFamily="34" charset="0"/>
                <a:ea typeface="Segoe UI" pitchFamily="34" charset="-122"/>
                <a:cs typeface="Segoe UI" pitchFamily="34" charset="-120"/>
              </a:rPr>
              <a:t>Báo cáo</a:t>
            </a:r>
            <a:endParaRPr lang="en-US" sz="780" dirty="0"/>
          </a:p>
        </p:txBody>
      </p:sp>
      <p:sp>
        <p:nvSpPr>
          <p:cNvPr id="21" name="Shape 19"/>
          <p:cNvSpPr/>
          <p:nvPr/>
        </p:nvSpPr>
        <p:spPr>
          <a:xfrm>
            <a:off x="381000" y="2667000"/>
            <a:ext cx="3619500" cy="3143250"/>
          </a:xfrm>
          <a:prstGeom prst="roundRect">
            <a:avLst>
              <a:gd name="adj" fmla="val 2424"/>
            </a:avLst>
          </a:prstGeom>
          <a:solidFill>
            <a:srgbClr val="FFFFFF"/>
          </a:solidFill>
          <a:ln w="9525">
            <a:solidFill>
              <a:srgbClr val="E2E8F0"/>
            </a:solidFill>
            <a:prstDash val="solid"/>
          </a:ln>
        </p:spPr>
      </p:sp>
      <p:sp>
        <p:nvSpPr>
          <p:cNvPr id="22" name="Shape 20"/>
          <p:cNvSpPr/>
          <p:nvPr/>
        </p:nvSpPr>
        <p:spPr>
          <a:xfrm>
            <a:off x="381000" y="2667000"/>
            <a:ext cx="3619500" cy="361950"/>
          </a:xfrm>
          <a:prstGeom prst="roundRect">
            <a:avLst>
              <a:gd name="adj" fmla="val 21053"/>
            </a:avLst>
          </a:prstGeom>
          <a:solidFill>
            <a:srgbClr val="ECFDF5"/>
          </a:solidFill>
          <a:ln/>
        </p:spPr>
      </p:sp>
      <p:sp>
        <p:nvSpPr>
          <p:cNvPr id="23" name="Text 21"/>
          <p:cNvSpPr txBox="1"/>
          <p:nvPr/>
        </p:nvSpPr>
        <p:spPr>
          <a:xfrm>
            <a:off x="533400" y="2781300"/>
            <a:ext cx="3314700" cy="152400"/>
          </a:xfrm>
          <a:prstGeom prst="rect">
            <a:avLst/>
          </a:prstGeom>
          <a:noFill/>
          <a:ln/>
        </p:spPr>
        <p:txBody>
          <a:bodyPr wrap="square" lIns="0" tIns="0" rIns="0" bIns="0" rtlCol="0" anchor="t"/>
          <a:lstStyle/>
          <a:p>
            <a:pPr algn="l" indent="0" marL="0">
              <a:lnSpc>
                <a:spcPct val="106000"/>
              </a:lnSpc>
              <a:buNone/>
            </a:pPr>
            <a:r>
              <a:rPr lang="en-US" sz="820" b="1" spc="50" kern="0" dirty="0">
                <a:solidFill>
                  <a:srgbClr val="047857"/>
                </a:solidFill>
                <a:latin typeface="Segoe UI" pitchFamily="34" charset="0"/>
                <a:ea typeface="Segoe UI" pitchFamily="34" charset="-122"/>
                <a:cs typeface="Segoe UI" pitchFamily="34" charset="-120"/>
              </a:rPr>
              <a:t>NGƯỜI DÙNG</a:t>
            </a:r>
            <a:endParaRPr lang="en-US" sz="820" dirty="0"/>
          </a:p>
        </p:txBody>
      </p:sp>
      <p:sp>
        <p:nvSpPr>
          <p:cNvPr id="24" name="Shape 22"/>
          <p:cNvSpPr/>
          <p:nvPr/>
        </p:nvSpPr>
        <p:spPr>
          <a:xfrm>
            <a:off x="552450" y="3209925"/>
            <a:ext cx="171450" cy="171450"/>
          </a:xfrm>
          <a:prstGeom prst="ellipse">
            <a:avLst/>
          </a:prstGeom>
          <a:solidFill>
            <a:srgbClr val="ECFDF5"/>
          </a:solidFill>
          <a:ln/>
        </p:spPr>
      </p:sp>
      <p:sp>
        <p:nvSpPr>
          <p:cNvPr id="25" name="Text 23"/>
          <p:cNvSpPr txBox="1"/>
          <p:nvPr/>
        </p:nvSpPr>
        <p:spPr>
          <a:xfrm>
            <a:off x="552450" y="320992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1</a:t>
            </a:r>
            <a:endParaRPr lang="en-US" sz="660" dirty="0"/>
          </a:p>
        </p:txBody>
      </p:sp>
      <p:sp>
        <p:nvSpPr>
          <p:cNvPr id="26" name="Text 24"/>
          <p:cNvSpPr txBox="1"/>
          <p:nvPr/>
        </p:nvSpPr>
        <p:spPr>
          <a:xfrm>
            <a:off x="800100" y="318135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Đăng nhập</a:t>
            </a:r>
            <a:endParaRPr lang="en-US" sz="880" dirty="0"/>
          </a:p>
        </p:txBody>
      </p:sp>
      <p:sp>
        <p:nvSpPr>
          <p:cNvPr id="27" name="Text 25"/>
          <p:cNvSpPr txBox="1"/>
          <p:nvPr/>
        </p:nvSpPr>
        <p:spPr>
          <a:xfrm>
            <a:off x="800100" y="333375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Chọn vai trò demo, sessionStorage giữ phiên</a:t>
            </a:r>
            <a:endParaRPr lang="en-US" sz="690" dirty="0"/>
          </a:p>
        </p:txBody>
      </p:sp>
      <p:sp>
        <p:nvSpPr>
          <p:cNvPr id="28" name="Shape 26"/>
          <p:cNvSpPr/>
          <p:nvPr/>
        </p:nvSpPr>
        <p:spPr>
          <a:xfrm>
            <a:off x="552450" y="3752850"/>
            <a:ext cx="171450" cy="171450"/>
          </a:xfrm>
          <a:prstGeom prst="ellipse">
            <a:avLst/>
          </a:prstGeom>
          <a:solidFill>
            <a:srgbClr val="ECFDF5"/>
          </a:solidFill>
          <a:ln/>
        </p:spPr>
      </p:sp>
      <p:sp>
        <p:nvSpPr>
          <p:cNvPr id="29" name="Text 27"/>
          <p:cNvSpPr txBox="1"/>
          <p:nvPr/>
        </p:nvSpPr>
        <p:spPr>
          <a:xfrm>
            <a:off x="552450" y="3752850"/>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2</a:t>
            </a:r>
            <a:endParaRPr lang="en-US" sz="660" dirty="0"/>
          </a:p>
        </p:txBody>
      </p:sp>
      <p:sp>
        <p:nvSpPr>
          <p:cNvPr id="30" name="Text 28"/>
          <p:cNvSpPr txBox="1"/>
          <p:nvPr/>
        </p:nvSpPr>
        <p:spPr>
          <a:xfrm>
            <a:off x="800100" y="3724275"/>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Ghi giao dịch</a:t>
            </a:r>
            <a:endParaRPr lang="en-US" sz="880" dirty="0"/>
          </a:p>
        </p:txBody>
      </p:sp>
      <p:sp>
        <p:nvSpPr>
          <p:cNvPr id="31" name="Text 29"/>
          <p:cNvSpPr txBox="1"/>
          <p:nvPr/>
        </p:nvSpPr>
        <p:spPr>
          <a:xfrm>
            <a:off x="800100" y="3876675"/>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AI-1 gợi ý danh mục kèm độ tin cậy</a:t>
            </a:r>
            <a:endParaRPr lang="en-US" sz="690" dirty="0"/>
          </a:p>
        </p:txBody>
      </p:sp>
      <p:sp>
        <p:nvSpPr>
          <p:cNvPr id="32" name="Shape 30"/>
          <p:cNvSpPr/>
          <p:nvPr/>
        </p:nvSpPr>
        <p:spPr>
          <a:xfrm>
            <a:off x="552450" y="4295775"/>
            <a:ext cx="171450" cy="171450"/>
          </a:xfrm>
          <a:prstGeom prst="ellipse">
            <a:avLst/>
          </a:prstGeom>
          <a:solidFill>
            <a:srgbClr val="ECFDF5"/>
          </a:solidFill>
          <a:ln/>
        </p:spPr>
      </p:sp>
      <p:sp>
        <p:nvSpPr>
          <p:cNvPr id="33" name="Text 31"/>
          <p:cNvSpPr txBox="1"/>
          <p:nvPr/>
        </p:nvSpPr>
        <p:spPr>
          <a:xfrm>
            <a:off x="552450" y="429577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3</a:t>
            </a:r>
            <a:endParaRPr lang="en-US" sz="660" dirty="0"/>
          </a:p>
        </p:txBody>
      </p:sp>
      <p:sp>
        <p:nvSpPr>
          <p:cNvPr id="34" name="Text 32"/>
          <p:cNvSpPr txBox="1"/>
          <p:nvPr/>
        </p:nvSpPr>
        <p:spPr>
          <a:xfrm>
            <a:off x="800100" y="426720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Đặt ngân sách</a:t>
            </a:r>
            <a:endParaRPr lang="en-US" sz="880" dirty="0"/>
          </a:p>
        </p:txBody>
      </p:sp>
      <p:sp>
        <p:nvSpPr>
          <p:cNvPr id="35" name="Text 33"/>
          <p:cNvSpPr txBox="1"/>
          <p:nvPr/>
        </p:nvSpPr>
        <p:spPr>
          <a:xfrm>
            <a:off x="800100" y="441960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Theo danh mục và tháng, chờ coach duyệt</a:t>
            </a:r>
            <a:endParaRPr lang="en-US" sz="690" dirty="0"/>
          </a:p>
        </p:txBody>
      </p:sp>
      <p:sp>
        <p:nvSpPr>
          <p:cNvPr id="36" name="Shape 34"/>
          <p:cNvSpPr/>
          <p:nvPr/>
        </p:nvSpPr>
        <p:spPr>
          <a:xfrm>
            <a:off x="552450" y="4838700"/>
            <a:ext cx="171450" cy="171450"/>
          </a:xfrm>
          <a:prstGeom prst="ellipse">
            <a:avLst/>
          </a:prstGeom>
          <a:solidFill>
            <a:srgbClr val="ECFDF5"/>
          </a:solidFill>
          <a:ln/>
        </p:spPr>
      </p:sp>
      <p:sp>
        <p:nvSpPr>
          <p:cNvPr id="37" name="Text 35"/>
          <p:cNvSpPr txBox="1"/>
          <p:nvPr/>
        </p:nvSpPr>
        <p:spPr>
          <a:xfrm>
            <a:off x="552450" y="4838700"/>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4</a:t>
            </a:r>
            <a:endParaRPr lang="en-US" sz="660" dirty="0"/>
          </a:p>
        </p:txBody>
      </p:sp>
      <p:sp>
        <p:nvSpPr>
          <p:cNvPr id="38" name="Text 36"/>
          <p:cNvSpPr txBox="1"/>
          <p:nvPr/>
        </p:nvSpPr>
        <p:spPr>
          <a:xfrm>
            <a:off x="800100" y="4810125"/>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Theo dõi mục tiêu</a:t>
            </a:r>
            <a:endParaRPr lang="en-US" sz="880" dirty="0"/>
          </a:p>
        </p:txBody>
      </p:sp>
      <p:sp>
        <p:nvSpPr>
          <p:cNvPr id="39" name="Text 37"/>
          <p:cNvSpPr txBox="1"/>
          <p:nvPr/>
        </p:nvSpPr>
        <p:spPr>
          <a:xfrm>
            <a:off x="800100" y="4962525"/>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AI-3 lập kế hoạch tiết kiệm theo tuần</a:t>
            </a:r>
            <a:endParaRPr lang="en-US" sz="690" dirty="0"/>
          </a:p>
        </p:txBody>
      </p:sp>
      <p:sp>
        <p:nvSpPr>
          <p:cNvPr id="40" name="Shape 38"/>
          <p:cNvSpPr/>
          <p:nvPr/>
        </p:nvSpPr>
        <p:spPr>
          <a:xfrm>
            <a:off x="552450" y="5381625"/>
            <a:ext cx="171450" cy="171450"/>
          </a:xfrm>
          <a:prstGeom prst="ellipse">
            <a:avLst/>
          </a:prstGeom>
          <a:solidFill>
            <a:srgbClr val="ECFDF5"/>
          </a:solidFill>
          <a:ln/>
        </p:spPr>
      </p:sp>
      <p:sp>
        <p:nvSpPr>
          <p:cNvPr id="41" name="Text 39"/>
          <p:cNvSpPr txBox="1"/>
          <p:nvPr/>
        </p:nvSpPr>
        <p:spPr>
          <a:xfrm>
            <a:off x="552450" y="538162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5</a:t>
            </a:r>
            <a:endParaRPr lang="en-US" sz="660" dirty="0"/>
          </a:p>
        </p:txBody>
      </p:sp>
      <p:sp>
        <p:nvSpPr>
          <p:cNvPr id="42" name="Text 40"/>
          <p:cNvSpPr txBox="1"/>
          <p:nvPr/>
        </p:nvSpPr>
        <p:spPr>
          <a:xfrm>
            <a:off x="800100" y="535305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Xem pattern</a:t>
            </a:r>
            <a:endParaRPr lang="en-US" sz="880" dirty="0"/>
          </a:p>
        </p:txBody>
      </p:sp>
      <p:sp>
        <p:nvSpPr>
          <p:cNvPr id="43" name="Text 41"/>
          <p:cNvSpPr txBox="1"/>
          <p:nvPr/>
        </p:nvSpPr>
        <p:spPr>
          <a:xfrm>
            <a:off x="800100" y="550545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AI-2 so sánh tháng này với tháng trước</a:t>
            </a:r>
            <a:endParaRPr lang="en-US" sz="690" dirty="0"/>
          </a:p>
        </p:txBody>
      </p:sp>
      <p:sp>
        <p:nvSpPr>
          <p:cNvPr id="44" name="Shape 42"/>
          <p:cNvSpPr/>
          <p:nvPr/>
        </p:nvSpPr>
        <p:spPr>
          <a:xfrm>
            <a:off x="4191000" y="2667000"/>
            <a:ext cx="3619500" cy="3143250"/>
          </a:xfrm>
          <a:prstGeom prst="roundRect">
            <a:avLst>
              <a:gd name="adj" fmla="val 2424"/>
            </a:avLst>
          </a:prstGeom>
          <a:solidFill>
            <a:srgbClr val="FFFFFF"/>
          </a:solidFill>
          <a:ln w="9525">
            <a:solidFill>
              <a:srgbClr val="E2E8F0"/>
            </a:solidFill>
            <a:prstDash val="solid"/>
          </a:ln>
        </p:spPr>
      </p:sp>
      <p:sp>
        <p:nvSpPr>
          <p:cNvPr id="45" name="Shape 43"/>
          <p:cNvSpPr/>
          <p:nvPr/>
        </p:nvSpPr>
        <p:spPr>
          <a:xfrm>
            <a:off x="4191000" y="2667000"/>
            <a:ext cx="3619500" cy="361950"/>
          </a:xfrm>
          <a:prstGeom prst="roundRect">
            <a:avLst>
              <a:gd name="adj" fmla="val 21053"/>
            </a:avLst>
          </a:prstGeom>
          <a:solidFill>
            <a:srgbClr val="ECFDF5"/>
          </a:solidFill>
          <a:ln/>
        </p:spPr>
      </p:sp>
      <p:sp>
        <p:nvSpPr>
          <p:cNvPr id="46" name="Text 44"/>
          <p:cNvSpPr txBox="1"/>
          <p:nvPr/>
        </p:nvSpPr>
        <p:spPr>
          <a:xfrm>
            <a:off x="4343400" y="2781300"/>
            <a:ext cx="3314700" cy="152400"/>
          </a:xfrm>
          <a:prstGeom prst="rect">
            <a:avLst/>
          </a:prstGeom>
          <a:noFill/>
          <a:ln/>
        </p:spPr>
        <p:txBody>
          <a:bodyPr wrap="square" lIns="0" tIns="0" rIns="0" bIns="0" rtlCol="0" anchor="t"/>
          <a:lstStyle/>
          <a:p>
            <a:pPr algn="l" indent="0" marL="0">
              <a:lnSpc>
                <a:spcPct val="106000"/>
              </a:lnSpc>
              <a:buNone/>
            </a:pPr>
            <a:r>
              <a:rPr lang="en-US" sz="820" b="1" spc="50" kern="0" dirty="0">
                <a:solidFill>
                  <a:srgbClr val="047857"/>
                </a:solidFill>
                <a:latin typeface="Segoe UI" pitchFamily="34" charset="0"/>
                <a:ea typeface="Segoe UI" pitchFamily="34" charset="-122"/>
                <a:cs typeface="Segoe UI" pitchFamily="34" charset="-120"/>
              </a:rPr>
              <a:t>HUẤN LUYỆN VIÊN</a:t>
            </a:r>
            <a:endParaRPr lang="en-US" sz="820" dirty="0"/>
          </a:p>
        </p:txBody>
      </p:sp>
      <p:sp>
        <p:nvSpPr>
          <p:cNvPr id="47" name="Shape 45"/>
          <p:cNvSpPr/>
          <p:nvPr/>
        </p:nvSpPr>
        <p:spPr>
          <a:xfrm>
            <a:off x="4362450" y="3209925"/>
            <a:ext cx="171450" cy="171450"/>
          </a:xfrm>
          <a:prstGeom prst="ellipse">
            <a:avLst/>
          </a:prstGeom>
          <a:solidFill>
            <a:srgbClr val="ECFDF5"/>
          </a:solidFill>
          <a:ln/>
        </p:spPr>
      </p:sp>
      <p:sp>
        <p:nvSpPr>
          <p:cNvPr id="48" name="Text 46"/>
          <p:cNvSpPr txBox="1"/>
          <p:nvPr/>
        </p:nvSpPr>
        <p:spPr>
          <a:xfrm>
            <a:off x="4362450" y="320992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1</a:t>
            </a:r>
            <a:endParaRPr lang="en-US" sz="660" dirty="0"/>
          </a:p>
        </p:txBody>
      </p:sp>
      <p:sp>
        <p:nvSpPr>
          <p:cNvPr id="49" name="Text 47"/>
          <p:cNvSpPr txBox="1"/>
          <p:nvPr/>
        </p:nvSpPr>
        <p:spPr>
          <a:xfrm>
            <a:off x="4610100" y="318135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Mở danh sách</a:t>
            </a:r>
            <a:endParaRPr lang="en-US" sz="880" dirty="0"/>
          </a:p>
        </p:txBody>
      </p:sp>
      <p:sp>
        <p:nvSpPr>
          <p:cNvPr id="50" name="Text 48"/>
          <p:cNvSpPr txBox="1"/>
          <p:nvPr/>
        </p:nvSpPr>
        <p:spPr>
          <a:xfrm>
            <a:off x="4610100" y="333375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Tìm học viên, xem tín hiệu cần chú ý</a:t>
            </a:r>
            <a:endParaRPr lang="en-US" sz="690" dirty="0"/>
          </a:p>
        </p:txBody>
      </p:sp>
      <p:sp>
        <p:nvSpPr>
          <p:cNvPr id="51" name="Shape 49"/>
          <p:cNvSpPr/>
          <p:nvPr/>
        </p:nvSpPr>
        <p:spPr>
          <a:xfrm>
            <a:off x="4362450" y="3752850"/>
            <a:ext cx="171450" cy="171450"/>
          </a:xfrm>
          <a:prstGeom prst="ellipse">
            <a:avLst/>
          </a:prstGeom>
          <a:solidFill>
            <a:srgbClr val="ECFDF5"/>
          </a:solidFill>
          <a:ln/>
        </p:spPr>
      </p:sp>
      <p:sp>
        <p:nvSpPr>
          <p:cNvPr id="52" name="Text 50"/>
          <p:cNvSpPr txBox="1"/>
          <p:nvPr/>
        </p:nvSpPr>
        <p:spPr>
          <a:xfrm>
            <a:off x="4362450" y="3752850"/>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2</a:t>
            </a:r>
            <a:endParaRPr lang="en-US" sz="660" dirty="0"/>
          </a:p>
        </p:txBody>
      </p:sp>
      <p:sp>
        <p:nvSpPr>
          <p:cNvPr id="53" name="Text 51"/>
          <p:cNvSpPr txBox="1"/>
          <p:nvPr/>
        </p:nvSpPr>
        <p:spPr>
          <a:xfrm>
            <a:off x="4610100" y="3724275"/>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Xem hồ sơ</a:t>
            </a:r>
            <a:endParaRPr lang="en-US" sz="880" dirty="0"/>
          </a:p>
        </p:txBody>
      </p:sp>
      <p:sp>
        <p:nvSpPr>
          <p:cNvPr id="54" name="Text 52"/>
          <p:cNvSpPr txBox="1"/>
          <p:nvPr/>
        </p:nvSpPr>
        <p:spPr>
          <a:xfrm>
            <a:off x="4610100" y="3876675"/>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Thu nhập, chi tiêu, mục tiêu, ngân sách</a:t>
            </a:r>
            <a:endParaRPr lang="en-US" sz="690" dirty="0"/>
          </a:p>
        </p:txBody>
      </p:sp>
      <p:sp>
        <p:nvSpPr>
          <p:cNvPr id="55" name="Shape 53"/>
          <p:cNvSpPr/>
          <p:nvPr/>
        </p:nvSpPr>
        <p:spPr>
          <a:xfrm>
            <a:off x="4362450" y="4295775"/>
            <a:ext cx="171450" cy="171450"/>
          </a:xfrm>
          <a:prstGeom prst="ellipse">
            <a:avLst/>
          </a:prstGeom>
          <a:solidFill>
            <a:srgbClr val="ECFDF5"/>
          </a:solidFill>
          <a:ln/>
        </p:spPr>
      </p:sp>
      <p:sp>
        <p:nvSpPr>
          <p:cNvPr id="56" name="Text 54"/>
          <p:cNvSpPr txBox="1"/>
          <p:nvPr/>
        </p:nvSpPr>
        <p:spPr>
          <a:xfrm>
            <a:off x="4362450" y="429577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3</a:t>
            </a:r>
            <a:endParaRPr lang="en-US" sz="660" dirty="0"/>
          </a:p>
        </p:txBody>
      </p:sp>
      <p:sp>
        <p:nvSpPr>
          <p:cNvPr id="57" name="Text 55"/>
          <p:cNvSpPr txBox="1"/>
          <p:nvPr/>
        </p:nvSpPr>
        <p:spPr>
          <a:xfrm>
            <a:off x="4610100" y="426720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Duyệt ngân sách</a:t>
            </a:r>
            <a:endParaRPr lang="en-US" sz="880" dirty="0"/>
          </a:p>
        </p:txBody>
      </p:sp>
      <p:sp>
        <p:nvSpPr>
          <p:cNvPr id="58" name="Text 56"/>
          <p:cNvSpPr txBox="1"/>
          <p:nvPr/>
        </p:nvSpPr>
        <p:spPr>
          <a:xfrm>
            <a:off x="4610100" y="441960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Duyệt hoặc yêu cầu chỉnh sửa kèm ghi chú</a:t>
            </a:r>
            <a:endParaRPr lang="en-US" sz="690" dirty="0"/>
          </a:p>
        </p:txBody>
      </p:sp>
      <p:sp>
        <p:nvSpPr>
          <p:cNvPr id="59" name="Shape 57"/>
          <p:cNvSpPr/>
          <p:nvPr/>
        </p:nvSpPr>
        <p:spPr>
          <a:xfrm>
            <a:off x="4362450" y="4838700"/>
            <a:ext cx="171450" cy="171450"/>
          </a:xfrm>
          <a:prstGeom prst="ellipse">
            <a:avLst/>
          </a:prstGeom>
          <a:solidFill>
            <a:srgbClr val="ECFDF5"/>
          </a:solidFill>
          <a:ln/>
        </p:spPr>
      </p:sp>
      <p:sp>
        <p:nvSpPr>
          <p:cNvPr id="60" name="Text 58"/>
          <p:cNvSpPr txBox="1"/>
          <p:nvPr/>
        </p:nvSpPr>
        <p:spPr>
          <a:xfrm>
            <a:off x="4362450" y="4838700"/>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4</a:t>
            </a:r>
            <a:endParaRPr lang="en-US" sz="660" dirty="0"/>
          </a:p>
        </p:txBody>
      </p:sp>
      <p:sp>
        <p:nvSpPr>
          <p:cNvPr id="61" name="Text 59"/>
          <p:cNvSpPr txBox="1"/>
          <p:nvPr/>
        </p:nvSpPr>
        <p:spPr>
          <a:xfrm>
            <a:off x="4610100" y="4810125"/>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Tạo tài nguyên</a:t>
            </a:r>
            <a:endParaRPr lang="en-US" sz="880" dirty="0"/>
          </a:p>
        </p:txBody>
      </p:sp>
      <p:sp>
        <p:nvSpPr>
          <p:cNvPr id="62" name="Text 60"/>
          <p:cNvSpPr txBox="1"/>
          <p:nvPr/>
        </p:nvSpPr>
        <p:spPr>
          <a:xfrm>
            <a:off x="4610100" y="4962525"/>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Gửi kiểm duyệt trước khi xuất bản</a:t>
            </a:r>
            <a:endParaRPr lang="en-US" sz="690" dirty="0"/>
          </a:p>
        </p:txBody>
      </p:sp>
      <p:sp>
        <p:nvSpPr>
          <p:cNvPr id="63" name="Shape 61"/>
          <p:cNvSpPr/>
          <p:nvPr/>
        </p:nvSpPr>
        <p:spPr>
          <a:xfrm>
            <a:off x="8001000" y="2667000"/>
            <a:ext cx="3619500" cy="3143250"/>
          </a:xfrm>
          <a:prstGeom prst="roundRect">
            <a:avLst>
              <a:gd name="adj" fmla="val 2424"/>
            </a:avLst>
          </a:prstGeom>
          <a:solidFill>
            <a:srgbClr val="FFFFFF"/>
          </a:solidFill>
          <a:ln w="9525">
            <a:solidFill>
              <a:srgbClr val="E2E8F0"/>
            </a:solidFill>
            <a:prstDash val="solid"/>
          </a:ln>
        </p:spPr>
      </p:sp>
      <p:sp>
        <p:nvSpPr>
          <p:cNvPr id="64" name="Shape 62"/>
          <p:cNvSpPr/>
          <p:nvPr/>
        </p:nvSpPr>
        <p:spPr>
          <a:xfrm>
            <a:off x="8001000" y="2667000"/>
            <a:ext cx="3619500" cy="361950"/>
          </a:xfrm>
          <a:prstGeom prst="roundRect">
            <a:avLst>
              <a:gd name="adj" fmla="val 21053"/>
            </a:avLst>
          </a:prstGeom>
          <a:solidFill>
            <a:srgbClr val="FFFBEB"/>
          </a:solidFill>
          <a:ln/>
        </p:spPr>
      </p:sp>
      <p:sp>
        <p:nvSpPr>
          <p:cNvPr id="65" name="Text 63"/>
          <p:cNvSpPr txBox="1"/>
          <p:nvPr/>
        </p:nvSpPr>
        <p:spPr>
          <a:xfrm>
            <a:off x="8153400" y="2781300"/>
            <a:ext cx="3314700" cy="152400"/>
          </a:xfrm>
          <a:prstGeom prst="rect">
            <a:avLst/>
          </a:prstGeom>
          <a:noFill/>
          <a:ln/>
        </p:spPr>
        <p:txBody>
          <a:bodyPr wrap="square" lIns="0" tIns="0" rIns="0" bIns="0" rtlCol="0" anchor="t"/>
          <a:lstStyle/>
          <a:p>
            <a:pPr algn="l" indent="0" marL="0">
              <a:lnSpc>
                <a:spcPct val="106000"/>
              </a:lnSpc>
              <a:buNone/>
            </a:pPr>
            <a:r>
              <a:rPr lang="en-US" sz="820" b="1" spc="50" kern="0" dirty="0">
                <a:solidFill>
                  <a:srgbClr val="B45309"/>
                </a:solidFill>
                <a:latin typeface="Segoe UI" pitchFamily="34" charset="0"/>
                <a:ea typeface="Segoe UI" pitchFamily="34" charset="-122"/>
                <a:cs typeface="Segoe UI" pitchFamily="34" charset="-120"/>
              </a:rPr>
              <a:t>KIỂM DUYỆT / QUẢN TRỊ</a:t>
            </a:r>
            <a:endParaRPr lang="en-US" sz="820" dirty="0"/>
          </a:p>
        </p:txBody>
      </p:sp>
      <p:sp>
        <p:nvSpPr>
          <p:cNvPr id="66" name="Shape 64"/>
          <p:cNvSpPr/>
          <p:nvPr/>
        </p:nvSpPr>
        <p:spPr>
          <a:xfrm>
            <a:off x="8172450" y="3209925"/>
            <a:ext cx="171450" cy="171450"/>
          </a:xfrm>
          <a:prstGeom prst="ellipse">
            <a:avLst/>
          </a:prstGeom>
          <a:solidFill>
            <a:srgbClr val="FFFBEB"/>
          </a:solidFill>
          <a:ln/>
        </p:spPr>
      </p:sp>
      <p:sp>
        <p:nvSpPr>
          <p:cNvPr id="67" name="Text 65"/>
          <p:cNvSpPr txBox="1"/>
          <p:nvPr/>
        </p:nvSpPr>
        <p:spPr>
          <a:xfrm>
            <a:off x="8172450" y="320992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B45309"/>
                </a:solidFill>
                <a:latin typeface="Segoe UI" pitchFamily="34" charset="0"/>
                <a:ea typeface="Segoe UI" pitchFamily="34" charset="-122"/>
                <a:cs typeface="Segoe UI" pitchFamily="34" charset="-120"/>
              </a:rPr>
              <a:t>1</a:t>
            </a:r>
            <a:endParaRPr lang="en-US" sz="660" dirty="0"/>
          </a:p>
        </p:txBody>
      </p:sp>
      <p:sp>
        <p:nvSpPr>
          <p:cNvPr id="68" name="Text 66"/>
          <p:cNvSpPr txBox="1"/>
          <p:nvPr/>
        </p:nvSpPr>
        <p:spPr>
          <a:xfrm>
            <a:off x="8420100" y="318135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Hàng chờ</a:t>
            </a:r>
            <a:endParaRPr lang="en-US" sz="880" dirty="0"/>
          </a:p>
        </p:txBody>
      </p:sp>
      <p:sp>
        <p:nvSpPr>
          <p:cNvPr id="69" name="Text 67"/>
          <p:cNvSpPr txBox="1"/>
          <p:nvPr/>
        </p:nvSpPr>
        <p:spPr>
          <a:xfrm>
            <a:off x="8420100" y="333375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Tài nguyên, mẫu AI, phản hồi</a:t>
            </a:r>
            <a:endParaRPr lang="en-US" sz="690" dirty="0"/>
          </a:p>
        </p:txBody>
      </p:sp>
      <p:sp>
        <p:nvSpPr>
          <p:cNvPr id="70" name="Shape 68"/>
          <p:cNvSpPr/>
          <p:nvPr/>
        </p:nvSpPr>
        <p:spPr>
          <a:xfrm>
            <a:off x="8172450" y="3752850"/>
            <a:ext cx="171450" cy="171450"/>
          </a:xfrm>
          <a:prstGeom prst="ellipse">
            <a:avLst/>
          </a:prstGeom>
          <a:solidFill>
            <a:srgbClr val="FFFBEB"/>
          </a:solidFill>
          <a:ln/>
        </p:spPr>
      </p:sp>
      <p:sp>
        <p:nvSpPr>
          <p:cNvPr id="71" name="Text 69"/>
          <p:cNvSpPr txBox="1"/>
          <p:nvPr/>
        </p:nvSpPr>
        <p:spPr>
          <a:xfrm>
            <a:off x="8172450" y="3752850"/>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B45309"/>
                </a:solidFill>
                <a:latin typeface="Segoe UI" pitchFamily="34" charset="0"/>
                <a:ea typeface="Segoe UI" pitchFamily="34" charset="-122"/>
                <a:cs typeface="Segoe UI" pitchFamily="34" charset="-120"/>
              </a:rPr>
              <a:t>2</a:t>
            </a:r>
            <a:endParaRPr lang="en-US" sz="660" dirty="0"/>
          </a:p>
        </p:txBody>
      </p:sp>
      <p:sp>
        <p:nvSpPr>
          <p:cNvPr id="72" name="Text 70"/>
          <p:cNvSpPr txBox="1"/>
          <p:nvPr/>
        </p:nvSpPr>
        <p:spPr>
          <a:xfrm>
            <a:off x="8420100" y="3724275"/>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Ra quyết định</a:t>
            </a:r>
            <a:endParaRPr lang="en-US" sz="880" dirty="0"/>
          </a:p>
        </p:txBody>
      </p:sp>
      <p:sp>
        <p:nvSpPr>
          <p:cNvPr id="73" name="Text 71"/>
          <p:cNvSpPr txBox="1"/>
          <p:nvPr/>
        </p:nvSpPr>
        <p:spPr>
          <a:xfrm>
            <a:off x="8420100" y="3876675"/>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Duyệt hoặc từ chối kèm lý do bắt buộc</a:t>
            </a:r>
            <a:endParaRPr lang="en-US" sz="690" dirty="0"/>
          </a:p>
        </p:txBody>
      </p:sp>
      <p:sp>
        <p:nvSpPr>
          <p:cNvPr id="74" name="Shape 72"/>
          <p:cNvSpPr/>
          <p:nvPr/>
        </p:nvSpPr>
        <p:spPr>
          <a:xfrm>
            <a:off x="8172450" y="4295775"/>
            <a:ext cx="171450" cy="171450"/>
          </a:xfrm>
          <a:prstGeom prst="ellipse">
            <a:avLst/>
          </a:prstGeom>
          <a:solidFill>
            <a:srgbClr val="FFFBEB"/>
          </a:solidFill>
          <a:ln/>
        </p:spPr>
      </p:sp>
      <p:sp>
        <p:nvSpPr>
          <p:cNvPr id="75" name="Text 73"/>
          <p:cNvSpPr txBox="1"/>
          <p:nvPr/>
        </p:nvSpPr>
        <p:spPr>
          <a:xfrm>
            <a:off x="8172450" y="4295775"/>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B45309"/>
                </a:solidFill>
                <a:latin typeface="Segoe UI" pitchFamily="34" charset="0"/>
                <a:ea typeface="Segoe UI" pitchFamily="34" charset="-122"/>
                <a:cs typeface="Segoe UI" pitchFamily="34" charset="-120"/>
              </a:rPr>
              <a:t>3</a:t>
            </a:r>
            <a:endParaRPr lang="en-US" sz="660" dirty="0"/>
          </a:p>
        </p:txBody>
      </p:sp>
      <p:sp>
        <p:nvSpPr>
          <p:cNvPr id="76" name="Text 74"/>
          <p:cNvSpPr txBox="1"/>
          <p:nvPr/>
        </p:nvSpPr>
        <p:spPr>
          <a:xfrm>
            <a:off x="8420100" y="4267200"/>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Xử lý phản hồi</a:t>
            </a:r>
            <a:endParaRPr lang="en-US" sz="880" dirty="0"/>
          </a:p>
        </p:txBody>
      </p:sp>
      <p:sp>
        <p:nvSpPr>
          <p:cNvPr id="77" name="Text 75"/>
          <p:cNvSpPr txBox="1"/>
          <p:nvPr/>
        </p:nvSpPr>
        <p:spPr>
          <a:xfrm>
            <a:off x="8420100" y="4419600"/>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Mới → đang xử lý → đã xử lý</a:t>
            </a:r>
            <a:endParaRPr lang="en-US" sz="690" dirty="0"/>
          </a:p>
        </p:txBody>
      </p:sp>
      <p:sp>
        <p:nvSpPr>
          <p:cNvPr id="78" name="Shape 76"/>
          <p:cNvSpPr/>
          <p:nvPr/>
        </p:nvSpPr>
        <p:spPr>
          <a:xfrm>
            <a:off x="8172450" y="4838700"/>
            <a:ext cx="171450" cy="171450"/>
          </a:xfrm>
          <a:prstGeom prst="ellipse">
            <a:avLst/>
          </a:prstGeom>
          <a:solidFill>
            <a:srgbClr val="FFFBEB"/>
          </a:solidFill>
          <a:ln/>
        </p:spPr>
      </p:sp>
      <p:sp>
        <p:nvSpPr>
          <p:cNvPr id="79" name="Text 77"/>
          <p:cNvSpPr txBox="1"/>
          <p:nvPr/>
        </p:nvSpPr>
        <p:spPr>
          <a:xfrm>
            <a:off x="8172450" y="4838700"/>
            <a:ext cx="171450" cy="171450"/>
          </a:xfrm>
          <a:prstGeom prst="rect">
            <a:avLst/>
          </a:prstGeom>
          <a:noFill/>
          <a:ln/>
        </p:spPr>
        <p:txBody>
          <a:bodyPr wrap="square" lIns="0" tIns="0" rIns="0" bIns="0" rtlCol="0" anchor="ctr"/>
          <a:lstStyle/>
          <a:p>
            <a:pPr algn="ctr" indent="0" marL="0">
              <a:lnSpc>
                <a:spcPct val="106000"/>
              </a:lnSpc>
              <a:buNone/>
            </a:pPr>
            <a:r>
              <a:rPr lang="en-US" sz="660" b="1" dirty="0">
                <a:solidFill>
                  <a:srgbClr val="B45309"/>
                </a:solidFill>
                <a:latin typeface="Segoe UI" pitchFamily="34" charset="0"/>
                <a:ea typeface="Segoe UI" pitchFamily="34" charset="-122"/>
                <a:cs typeface="Segoe UI" pitchFamily="34" charset="-120"/>
              </a:rPr>
              <a:t>4</a:t>
            </a:r>
            <a:endParaRPr lang="en-US" sz="660" dirty="0"/>
          </a:p>
        </p:txBody>
      </p:sp>
      <p:sp>
        <p:nvSpPr>
          <p:cNvPr id="80" name="Text 78"/>
          <p:cNvSpPr txBox="1"/>
          <p:nvPr/>
        </p:nvSpPr>
        <p:spPr>
          <a:xfrm>
            <a:off x="8420100" y="4810125"/>
            <a:ext cx="304800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Quản trị</a:t>
            </a:r>
            <a:endParaRPr lang="en-US" sz="880" dirty="0"/>
          </a:p>
        </p:txBody>
      </p:sp>
      <p:sp>
        <p:nvSpPr>
          <p:cNvPr id="81" name="Text 79"/>
          <p:cNvSpPr txBox="1"/>
          <p:nvPr/>
        </p:nvSpPr>
        <p:spPr>
          <a:xfrm>
            <a:off x="8420100" y="4962525"/>
            <a:ext cx="3048000" cy="266700"/>
          </a:xfrm>
          <a:prstGeom prst="rect">
            <a:avLst/>
          </a:prstGeom>
          <a:noFill/>
          <a:ln/>
        </p:spPr>
        <p:txBody>
          <a:bodyPr wrap="square" lIns="0" tIns="0" rIns="0" bIns="0" rtlCol="0" anchor="t"/>
          <a:lstStyle/>
          <a:p>
            <a:pPr algn="l" indent="0" marL="0">
              <a:lnSpc>
                <a:spcPct val="106000"/>
              </a:lnSpc>
              <a:buNone/>
            </a:pPr>
            <a:r>
              <a:rPr lang="en-US" sz="690" dirty="0">
                <a:solidFill>
                  <a:srgbClr val="475569"/>
                </a:solidFill>
                <a:latin typeface="Segoe UI" pitchFamily="34" charset="0"/>
                <a:ea typeface="Segoe UI" pitchFamily="34" charset="-122"/>
                <a:cs typeface="Segoe UI" pitchFamily="34" charset="-120"/>
              </a:rPr>
              <a:t>Khoá tài khoản, danh mục, thông báo</a:t>
            </a:r>
            <a:endParaRPr lang="en-US" sz="690" dirty="0"/>
          </a:p>
        </p:txBody>
      </p:sp>
      <p:sp>
        <p:nvSpPr>
          <p:cNvPr id="82" name="Text 80"/>
          <p:cNvSpPr txBox="1"/>
          <p:nvPr/>
        </p:nvSpPr>
        <p:spPr>
          <a:xfrm>
            <a:off x="381000" y="6076950"/>
            <a:ext cx="10668000" cy="20955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Điểm kiểm soát: mỗi bước có trạng thái chờ / lỗi; AI luôn dừng ở bước người dùng quyết định trước khi ghi dữ liệu.</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3810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06 · TRẠNG THÁI &amp; AI</a:t>
            </a:r>
            <a:endParaRPr lang="en-US" sz="950" dirty="0"/>
          </a:p>
        </p:txBody>
      </p:sp>
      <p:sp>
        <p:nvSpPr>
          <p:cNvPr id="3" name="Text 1"/>
          <p:cNvSpPr txBox="1"/>
          <p:nvPr/>
        </p:nvSpPr>
        <p:spPr>
          <a:xfrm>
            <a:off x="381000" y="685800"/>
            <a:ext cx="95250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Không chỉ có trạng thái bình thường</a:t>
            </a:r>
            <a:endParaRPr lang="en-US" sz="2900" dirty="0"/>
          </a:p>
        </p:txBody>
      </p:sp>
      <p:sp>
        <p:nvSpPr>
          <p:cNvPr id="4" name="Text 2"/>
          <p:cNvSpPr txBox="1"/>
          <p:nvPr/>
        </p:nvSpPr>
        <p:spPr>
          <a:xfrm>
            <a:off x="381000" y="1257300"/>
            <a:ext cx="1028700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Mỗi chức năng quan trọng phải được thiết kế cho ít nhất các trạng thái phù hợp với nghiệp vụ của nó.</a:t>
            </a:r>
            <a:endParaRPr lang="en-US" sz="1200" dirty="0"/>
          </a:p>
        </p:txBody>
      </p:sp>
      <p:sp>
        <p:nvSpPr>
          <p:cNvPr id="5" name="Shape 3"/>
          <p:cNvSpPr/>
          <p:nvPr/>
        </p:nvSpPr>
        <p:spPr>
          <a:xfrm>
            <a:off x="381000" y="1676400"/>
            <a:ext cx="5429250" cy="4514850"/>
          </a:xfrm>
          <a:prstGeom prst="roundRect">
            <a:avLst>
              <a:gd name="adj" fmla="val 1688"/>
            </a:avLst>
          </a:prstGeom>
          <a:solidFill>
            <a:srgbClr val="FFFFFF"/>
          </a:solidFill>
          <a:ln w="9525">
            <a:solidFill>
              <a:srgbClr val="E2E8F0"/>
            </a:solidFill>
            <a:prstDash val="solid"/>
          </a:ln>
        </p:spPr>
      </p:sp>
      <p:sp>
        <p:nvSpPr>
          <p:cNvPr id="6" name="Shape 4"/>
          <p:cNvSpPr/>
          <p:nvPr/>
        </p:nvSpPr>
        <p:spPr>
          <a:xfrm>
            <a:off x="571500" y="1905000"/>
            <a:ext cx="1581150" cy="1181100"/>
          </a:xfrm>
          <a:prstGeom prst="roundRect">
            <a:avLst>
              <a:gd name="adj" fmla="val 6452"/>
            </a:avLst>
          </a:prstGeom>
          <a:solidFill>
            <a:srgbClr val="FFFFFF"/>
          </a:solidFill>
          <a:ln w="9525">
            <a:solidFill>
              <a:srgbClr val="E2E8F0"/>
            </a:solidFill>
            <a:prstDash val="solid"/>
          </a:ln>
        </p:spPr>
      </p:sp>
      <p:sp>
        <p:nvSpPr>
          <p:cNvPr id="7" name="Text 5"/>
          <p:cNvSpPr txBox="1"/>
          <p:nvPr/>
        </p:nvSpPr>
        <p:spPr>
          <a:xfrm>
            <a:off x="685800" y="201930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Đang tải</a:t>
            </a:r>
            <a:endParaRPr lang="en-US" sz="900" dirty="0"/>
          </a:p>
        </p:txBody>
      </p:sp>
      <p:sp>
        <p:nvSpPr>
          <p:cNvPr id="8" name="Text 6"/>
          <p:cNvSpPr txBox="1"/>
          <p:nvPr/>
        </p:nvSpPr>
        <p:spPr>
          <a:xfrm>
            <a:off x="685800" y="226695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9" name="Text 7"/>
          <p:cNvSpPr txBox="1"/>
          <p:nvPr/>
        </p:nvSpPr>
        <p:spPr>
          <a:xfrm>
            <a:off x="685800" y="240030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Skeleton 4 thẻ KPI; API trễ 400–900 ms</a:t>
            </a:r>
            <a:endParaRPr lang="en-US" sz="720" dirty="0"/>
          </a:p>
        </p:txBody>
      </p:sp>
      <p:sp>
        <p:nvSpPr>
          <p:cNvPr id="10" name="Shape 8"/>
          <p:cNvSpPr/>
          <p:nvPr/>
        </p:nvSpPr>
        <p:spPr>
          <a:xfrm>
            <a:off x="2286000" y="1905000"/>
            <a:ext cx="1581150" cy="1181100"/>
          </a:xfrm>
          <a:prstGeom prst="roundRect">
            <a:avLst>
              <a:gd name="adj" fmla="val 6452"/>
            </a:avLst>
          </a:prstGeom>
          <a:solidFill>
            <a:srgbClr val="FFFFFF"/>
          </a:solidFill>
          <a:ln w="9525">
            <a:solidFill>
              <a:srgbClr val="E2E8F0"/>
            </a:solidFill>
            <a:prstDash val="solid"/>
          </a:ln>
        </p:spPr>
      </p:sp>
      <p:sp>
        <p:nvSpPr>
          <p:cNvPr id="11" name="Text 9"/>
          <p:cNvSpPr txBox="1"/>
          <p:nvPr/>
        </p:nvSpPr>
        <p:spPr>
          <a:xfrm>
            <a:off x="2400300" y="201930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Rỗng</a:t>
            </a:r>
            <a:endParaRPr lang="en-US" sz="900" dirty="0"/>
          </a:p>
        </p:txBody>
      </p:sp>
      <p:sp>
        <p:nvSpPr>
          <p:cNvPr id="12" name="Text 10"/>
          <p:cNvSpPr txBox="1"/>
          <p:nvPr/>
        </p:nvSpPr>
        <p:spPr>
          <a:xfrm>
            <a:off x="2400300" y="226695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13" name="Text 11"/>
          <p:cNvSpPr txBox="1"/>
          <p:nvPr/>
        </p:nvSpPr>
        <p:spPr>
          <a:xfrm>
            <a:off x="2400300" y="240030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Chưa có giao dịch / mục tiêu / log</a:t>
            </a:r>
            <a:endParaRPr lang="en-US" sz="720" dirty="0"/>
          </a:p>
        </p:txBody>
      </p:sp>
      <p:sp>
        <p:nvSpPr>
          <p:cNvPr id="14" name="Shape 12"/>
          <p:cNvSpPr/>
          <p:nvPr/>
        </p:nvSpPr>
        <p:spPr>
          <a:xfrm>
            <a:off x="4000500" y="1905000"/>
            <a:ext cx="1581150" cy="1181100"/>
          </a:xfrm>
          <a:prstGeom prst="roundRect">
            <a:avLst>
              <a:gd name="adj" fmla="val 6452"/>
            </a:avLst>
          </a:prstGeom>
          <a:solidFill>
            <a:srgbClr val="FFFFFF"/>
          </a:solidFill>
          <a:ln w="9525">
            <a:solidFill>
              <a:srgbClr val="E2E8F0"/>
            </a:solidFill>
            <a:prstDash val="solid"/>
          </a:ln>
        </p:spPr>
      </p:sp>
      <p:sp>
        <p:nvSpPr>
          <p:cNvPr id="15" name="Text 13"/>
          <p:cNvSpPr txBox="1"/>
          <p:nvPr/>
        </p:nvSpPr>
        <p:spPr>
          <a:xfrm>
            <a:off x="4114800" y="201930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Thành công</a:t>
            </a:r>
            <a:endParaRPr lang="en-US" sz="900" dirty="0"/>
          </a:p>
        </p:txBody>
      </p:sp>
      <p:sp>
        <p:nvSpPr>
          <p:cNvPr id="16" name="Text 14"/>
          <p:cNvSpPr txBox="1"/>
          <p:nvPr/>
        </p:nvSpPr>
        <p:spPr>
          <a:xfrm>
            <a:off x="4114800" y="226695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17" name="Text 15"/>
          <p:cNvSpPr txBox="1"/>
          <p:nvPr/>
        </p:nvSpPr>
        <p:spPr>
          <a:xfrm>
            <a:off x="4114800" y="240030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Toast xanh sau khi lưu hoặc duyệt</a:t>
            </a:r>
            <a:endParaRPr lang="en-US" sz="720" dirty="0"/>
          </a:p>
        </p:txBody>
      </p:sp>
      <p:sp>
        <p:nvSpPr>
          <p:cNvPr id="18" name="Shape 16"/>
          <p:cNvSpPr/>
          <p:nvPr/>
        </p:nvSpPr>
        <p:spPr>
          <a:xfrm>
            <a:off x="571500" y="3219450"/>
            <a:ext cx="1581150" cy="1181100"/>
          </a:xfrm>
          <a:prstGeom prst="roundRect">
            <a:avLst>
              <a:gd name="adj" fmla="val 6452"/>
            </a:avLst>
          </a:prstGeom>
          <a:solidFill>
            <a:srgbClr val="FFFFFF"/>
          </a:solidFill>
          <a:ln w="9525">
            <a:solidFill>
              <a:srgbClr val="E2E8F0"/>
            </a:solidFill>
            <a:prstDash val="solid"/>
          </a:ln>
        </p:spPr>
      </p:sp>
      <p:sp>
        <p:nvSpPr>
          <p:cNvPr id="19" name="Text 17"/>
          <p:cNvSpPr txBox="1"/>
          <p:nvPr/>
        </p:nvSpPr>
        <p:spPr>
          <a:xfrm>
            <a:off x="685800" y="333375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Lỗi</a:t>
            </a:r>
            <a:endParaRPr lang="en-US" sz="900" dirty="0"/>
          </a:p>
        </p:txBody>
      </p:sp>
      <p:sp>
        <p:nvSpPr>
          <p:cNvPr id="20" name="Text 18"/>
          <p:cNvSpPr txBox="1"/>
          <p:nvPr/>
        </p:nvSpPr>
        <p:spPr>
          <a:xfrm>
            <a:off x="685800" y="358140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21" name="Text 19"/>
          <p:cNvSpPr txBox="1"/>
          <p:nvPr/>
        </p:nvSpPr>
        <p:spPr>
          <a:xfrm>
            <a:off x="685800" y="371475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Error box + nút Thử lại; không mất dữ liệu</a:t>
            </a:r>
            <a:endParaRPr lang="en-US" sz="720" dirty="0"/>
          </a:p>
        </p:txBody>
      </p:sp>
      <p:sp>
        <p:nvSpPr>
          <p:cNvPr id="22" name="Shape 20"/>
          <p:cNvSpPr/>
          <p:nvPr/>
        </p:nvSpPr>
        <p:spPr>
          <a:xfrm>
            <a:off x="2286000" y="3219450"/>
            <a:ext cx="1581150" cy="1181100"/>
          </a:xfrm>
          <a:prstGeom prst="roundRect">
            <a:avLst>
              <a:gd name="adj" fmla="val 6452"/>
            </a:avLst>
          </a:prstGeom>
          <a:solidFill>
            <a:srgbClr val="FFFFFF"/>
          </a:solidFill>
          <a:ln w="9525">
            <a:solidFill>
              <a:srgbClr val="E2E8F0"/>
            </a:solidFill>
            <a:prstDash val="solid"/>
          </a:ln>
        </p:spPr>
      </p:sp>
      <p:sp>
        <p:nvSpPr>
          <p:cNvPr id="23" name="Text 21"/>
          <p:cNvSpPr txBox="1"/>
          <p:nvPr/>
        </p:nvSpPr>
        <p:spPr>
          <a:xfrm>
            <a:off x="2400300" y="333375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Vô hiệu hoá</a:t>
            </a:r>
            <a:endParaRPr lang="en-US" sz="900" dirty="0"/>
          </a:p>
        </p:txBody>
      </p:sp>
      <p:sp>
        <p:nvSpPr>
          <p:cNvPr id="24" name="Text 22"/>
          <p:cNvSpPr txBox="1"/>
          <p:nvPr/>
        </p:nvSpPr>
        <p:spPr>
          <a:xfrm>
            <a:off x="2400300" y="358140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25" name="Text 23"/>
          <p:cNvSpPr txBox="1"/>
          <p:nvPr/>
        </p:nvSpPr>
        <p:spPr>
          <a:xfrm>
            <a:off x="2400300" y="371475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Nút bị khoá khi thiếu quyền hoặc form chưa hợp lệ</a:t>
            </a:r>
            <a:endParaRPr lang="en-US" sz="720" dirty="0"/>
          </a:p>
        </p:txBody>
      </p:sp>
      <p:sp>
        <p:nvSpPr>
          <p:cNvPr id="26" name="Shape 24"/>
          <p:cNvSpPr/>
          <p:nvPr/>
        </p:nvSpPr>
        <p:spPr>
          <a:xfrm>
            <a:off x="4000500" y="3219450"/>
            <a:ext cx="1581150" cy="1181100"/>
          </a:xfrm>
          <a:prstGeom prst="roundRect">
            <a:avLst>
              <a:gd name="adj" fmla="val 6452"/>
            </a:avLst>
          </a:prstGeom>
          <a:solidFill>
            <a:srgbClr val="FFFFFF"/>
          </a:solidFill>
          <a:ln w="9525">
            <a:solidFill>
              <a:srgbClr val="E2E8F0"/>
            </a:solidFill>
            <a:prstDash val="solid"/>
          </a:ln>
        </p:spPr>
      </p:sp>
      <p:sp>
        <p:nvSpPr>
          <p:cNvPr id="27" name="Text 25"/>
          <p:cNvSpPr txBox="1"/>
          <p:nvPr/>
        </p:nvSpPr>
        <p:spPr>
          <a:xfrm>
            <a:off x="4114800" y="333375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Đang chờ</a:t>
            </a:r>
            <a:endParaRPr lang="en-US" sz="900" dirty="0"/>
          </a:p>
        </p:txBody>
      </p:sp>
      <p:sp>
        <p:nvSpPr>
          <p:cNvPr id="28" name="Text 26"/>
          <p:cNvSpPr txBox="1"/>
          <p:nvPr/>
        </p:nvSpPr>
        <p:spPr>
          <a:xfrm>
            <a:off x="4114800" y="358140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29" name="Text 27"/>
          <p:cNvSpPr txBox="1"/>
          <p:nvPr/>
        </p:nvSpPr>
        <p:spPr>
          <a:xfrm>
            <a:off x="4114800" y="371475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Ngân sách / tài nguyên chờ duyệt</a:t>
            </a:r>
            <a:endParaRPr lang="en-US" sz="720" dirty="0"/>
          </a:p>
        </p:txBody>
      </p:sp>
      <p:sp>
        <p:nvSpPr>
          <p:cNvPr id="30" name="Shape 28"/>
          <p:cNvSpPr/>
          <p:nvPr/>
        </p:nvSpPr>
        <p:spPr>
          <a:xfrm>
            <a:off x="571500" y="4533900"/>
            <a:ext cx="1581150" cy="1181100"/>
          </a:xfrm>
          <a:prstGeom prst="roundRect">
            <a:avLst>
              <a:gd name="adj" fmla="val 6452"/>
            </a:avLst>
          </a:prstGeom>
          <a:solidFill>
            <a:srgbClr val="FFFFFF"/>
          </a:solidFill>
          <a:ln w="9525">
            <a:solidFill>
              <a:srgbClr val="E2E8F0"/>
            </a:solidFill>
            <a:prstDash val="solid"/>
          </a:ln>
        </p:spPr>
      </p:sp>
      <p:sp>
        <p:nvSpPr>
          <p:cNvPr id="31" name="Text 29"/>
          <p:cNvSpPr txBox="1"/>
          <p:nvPr/>
        </p:nvSpPr>
        <p:spPr>
          <a:xfrm>
            <a:off x="685800" y="464820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Bị từ chối</a:t>
            </a:r>
            <a:endParaRPr lang="en-US" sz="900" dirty="0"/>
          </a:p>
        </p:txBody>
      </p:sp>
      <p:sp>
        <p:nvSpPr>
          <p:cNvPr id="32" name="Text 30"/>
          <p:cNvSpPr txBox="1"/>
          <p:nvPr/>
        </p:nvSpPr>
        <p:spPr>
          <a:xfrm>
            <a:off x="685800" y="489585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33" name="Text 31"/>
          <p:cNvSpPr txBox="1"/>
          <p:nvPr/>
        </p:nvSpPr>
        <p:spPr>
          <a:xfrm>
            <a:off x="685800" y="502920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Badge đỏ + lý do gửi tác giả</a:t>
            </a:r>
            <a:endParaRPr lang="en-US" sz="720" dirty="0"/>
          </a:p>
        </p:txBody>
      </p:sp>
      <p:sp>
        <p:nvSpPr>
          <p:cNvPr id="34" name="Shape 32"/>
          <p:cNvSpPr/>
          <p:nvPr/>
        </p:nvSpPr>
        <p:spPr>
          <a:xfrm>
            <a:off x="2286000" y="4533900"/>
            <a:ext cx="1581150" cy="1181100"/>
          </a:xfrm>
          <a:prstGeom prst="roundRect">
            <a:avLst>
              <a:gd name="adj" fmla="val 6452"/>
            </a:avLst>
          </a:prstGeom>
          <a:solidFill>
            <a:srgbClr val="FFFFFF"/>
          </a:solidFill>
          <a:ln w="9525">
            <a:solidFill>
              <a:srgbClr val="E2E8F0"/>
            </a:solidFill>
            <a:prstDash val="solid"/>
          </a:ln>
        </p:spPr>
      </p:sp>
      <p:sp>
        <p:nvSpPr>
          <p:cNvPr id="35" name="Text 33"/>
          <p:cNvSpPr txBox="1"/>
          <p:nvPr/>
        </p:nvSpPr>
        <p:spPr>
          <a:xfrm>
            <a:off x="2400300" y="464820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Hoàn thành</a:t>
            </a:r>
            <a:endParaRPr lang="en-US" sz="900" dirty="0"/>
          </a:p>
        </p:txBody>
      </p:sp>
      <p:sp>
        <p:nvSpPr>
          <p:cNvPr id="36" name="Text 34"/>
          <p:cNvSpPr txBox="1"/>
          <p:nvPr/>
        </p:nvSpPr>
        <p:spPr>
          <a:xfrm>
            <a:off x="2400300" y="489585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37" name="Text 35"/>
          <p:cNvSpPr txBox="1"/>
          <p:nvPr/>
        </p:nvSpPr>
        <p:spPr>
          <a:xfrm>
            <a:off x="2400300" y="502920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Mục tiêu 100%, feedback đã xử lý</a:t>
            </a:r>
            <a:endParaRPr lang="en-US" sz="720" dirty="0"/>
          </a:p>
        </p:txBody>
      </p:sp>
      <p:sp>
        <p:nvSpPr>
          <p:cNvPr id="38" name="Shape 36"/>
          <p:cNvSpPr/>
          <p:nvPr/>
        </p:nvSpPr>
        <p:spPr>
          <a:xfrm>
            <a:off x="4000500" y="4533900"/>
            <a:ext cx="1581150" cy="1181100"/>
          </a:xfrm>
          <a:prstGeom prst="roundRect">
            <a:avLst>
              <a:gd name="adj" fmla="val 6452"/>
            </a:avLst>
          </a:prstGeom>
          <a:solidFill>
            <a:srgbClr val="FFFFFF"/>
          </a:solidFill>
          <a:ln w="9525">
            <a:solidFill>
              <a:srgbClr val="E2E8F0"/>
            </a:solidFill>
            <a:prstDash val="solid"/>
          </a:ln>
        </p:spPr>
      </p:sp>
      <p:sp>
        <p:nvSpPr>
          <p:cNvPr id="39" name="Text 37"/>
          <p:cNvSpPr txBox="1"/>
          <p:nvPr/>
        </p:nvSpPr>
        <p:spPr>
          <a:xfrm>
            <a:off x="4114800" y="4648200"/>
            <a:ext cx="13525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Lưu trữ</a:t>
            </a:r>
            <a:endParaRPr lang="en-US" sz="900" dirty="0"/>
          </a:p>
        </p:txBody>
      </p:sp>
      <p:sp>
        <p:nvSpPr>
          <p:cNvPr id="40" name="Text 38"/>
          <p:cNvSpPr txBox="1"/>
          <p:nvPr/>
        </p:nvSpPr>
        <p:spPr>
          <a:xfrm>
            <a:off x="4114800" y="4895850"/>
            <a:ext cx="1352550" cy="95250"/>
          </a:xfrm>
          <a:prstGeom prst="rect">
            <a:avLst/>
          </a:prstGeom>
          <a:noFill/>
          <a:ln/>
        </p:spPr>
        <p:txBody>
          <a:bodyPr wrap="square" lIns="0" tIns="0" rIns="0" bIns="0" rtlCol="0" anchor="t"/>
          <a:lstStyle/>
          <a:p>
            <a:pPr algn="l" indent="0" marL="0">
              <a:lnSpc>
                <a:spcPct val="106000"/>
              </a:lnSpc>
              <a:buNone/>
            </a:pPr>
            <a:r>
              <a:rPr lang="en-US" sz="580" b="1" spc="40" kern="0" dirty="0">
                <a:solidFill>
                  <a:srgbClr val="94A3B8"/>
                </a:solidFill>
                <a:latin typeface="Segoe UI" pitchFamily="34" charset="0"/>
                <a:ea typeface="Segoe UI" pitchFamily="34" charset="-122"/>
                <a:cs typeface="Segoe UI" pitchFamily="34" charset="-120"/>
              </a:rPr>
              <a:t>DÙNG Ở</a:t>
            </a:r>
            <a:endParaRPr lang="en-US" sz="580" dirty="0"/>
          </a:p>
        </p:txBody>
      </p:sp>
      <p:sp>
        <p:nvSpPr>
          <p:cNvPr id="41" name="Text 39"/>
          <p:cNvSpPr txBox="1"/>
          <p:nvPr/>
        </p:nvSpPr>
        <p:spPr>
          <a:xfrm>
            <a:off x="4114800" y="5029200"/>
            <a:ext cx="1352550" cy="571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Soft delete; có thể khôi phục</a:t>
            </a:r>
            <a:endParaRPr lang="en-US" sz="720" dirty="0"/>
          </a:p>
        </p:txBody>
      </p:sp>
      <p:sp>
        <p:nvSpPr>
          <p:cNvPr id="42" name="Shape 40"/>
          <p:cNvSpPr/>
          <p:nvPr/>
        </p:nvSpPr>
        <p:spPr>
          <a:xfrm>
            <a:off x="571500" y="5829300"/>
            <a:ext cx="5048250" cy="266700"/>
          </a:xfrm>
          <a:prstGeom prst="roundRect">
            <a:avLst>
              <a:gd name="adj" fmla="val 21429"/>
            </a:avLst>
          </a:prstGeom>
          <a:solidFill>
            <a:srgbClr val="F8FAFC"/>
          </a:solidFill>
          <a:ln/>
        </p:spPr>
      </p:sp>
      <p:sp>
        <p:nvSpPr>
          <p:cNvPr id="43" name="Text 41"/>
          <p:cNvSpPr txBox="1"/>
          <p:nvPr/>
        </p:nvSpPr>
        <p:spPr>
          <a:xfrm>
            <a:off x="685800" y="5886450"/>
            <a:ext cx="4838700" cy="15240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Mỗi trạng thái cần ảnh chụp + thao tác quay OBS tương ứng.</a:t>
            </a:r>
            <a:endParaRPr lang="en-US" sz="740" dirty="0"/>
          </a:p>
        </p:txBody>
      </p:sp>
      <p:sp>
        <p:nvSpPr>
          <p:cNvPr id="44" name="Shape 42"/>
          <p:cNvSpPr/>
          <p:nvPr/>
        </p:nvSpPr>
        <p:spPr>
          <a:xfrm>
            <a:off x="6000750" y="1676400"/>
            <a:ext cx="5619750" cy="4514850"/>
          </a:xfrm>
          <a:prstGeom prst="roundRect">
            <a:avLst>
              <a:gd name="adj" fmla="val 1688"/>
            </a:avLst>
          </a:prstGeom>
          <a:solidFill>
            <a:srgbClr val="FFFFFF"/>
          </a:solidFill>
          <a:ln w="9525">
            <a:solidFill>
              <a:srgbClr val="E2E8F0"/>
            </a:solidFill>
            <a:prstDash val="solid"/>
          </a:ln>
        </p:spPr>
      </p:sp>
      <p:sp>
        <p:nvSpPr>
          <p:cNvPr id="45" name="Text 43"/>
          <p:cNvSpPr txBox="1"/>
          <p:nvPr/>
        </p:nvSpPr>
        <p:spPr>
          <a:xfrm>
            <a:off x="6229350" y="1847850"/>
            <a:ext cx="3810000" cy="114300"/>
          </a:xfrm>
          <a:prstGeom prst="rect">
            <a:avLst/>
          </a:prstGeom>
          <a:noFill/>
          <a:ln/>
        </p:spPr>
        <p:txBody>
          <a:bodyPr wrap="square" lIns="0" tIns="0" rIns="0" bIns="0" rtlCol="0" anchor="t"/>
          <a:lstStyle/>
          <a:p>
            <a:pPr algn="l" indent="0" marL="0">
              <a:lnSpc>
                <a:spcPct val="106000"/>
              </a:lnSpc>
              <a:buNone/>
            </a:pPr>
            <a:r>
              <a:rPr lang="en-US" sz="740" b="1" spc="50" kern="0" dirty="0">
                <a:solidFill>
                  <a:srgbClr val="059669"/>
                </a:solidFill>
                <a:latin typeface="Segoe UI" pitchFamily="34" charset="0"/>
                <a:ea typeface="Segoe UI" pitchFamily="34" charset="-122"/>
                <a:cs typeface="Segoe UI" pitchFamily="34" charset="-120"/>
              </a:rPr>
              <a:t>HỢP ĐỒNG AI</a:t>
            </a:r>
            <a:endParaRPr lang="en-US" sz="740" dirty="0"/>
          </a:p>
        </p:txBody>
      </p:sp>
      <p:sp>
        <p:nvSpPr>
          <p:cNvPr id="46" name="Shape 44"/>
          <p:cNvSpPr/>
          <p:nvPr/>
        </p:nvSpPr>
        <p:spPr>
          <a:xfrm>
            <a:off x="6248400" y="2152650"/>
            <a:ext cx="133350" cy="133350"/>
          </a:xfrm>
          <a:prstGeom prst="ellipse">
            <a:avLst/>
          </a:prstGeom>
          <a:solidFill>
            <a:srgbClr val="059669"/>
          </a:solidFill>
          <a:ln/>
        </p:spPr>
      </p:sp>
      <p:sp>
        <p:nvSpPr>
          <p:cNvPr id="47" name="Text 45"/>
          <p:cNvSpPr txBox="1"/>
          <p:nvPr/>
        </p:nvSpPr>
        <p:spPr>
          <a:xfrm>
            <a:off x="6248400" y="215265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1</a:t>
            </a:r>
            <a:endParaRPr lang="en-US" sz="560" dirty="0"/>
          </a:p>
        </p:txBody>
      </p:sp>
      <p:sp>
        <p:nvSpPr>
          <p:cNvPr id="48" name="Text 46"/>
          <p:cNvSpPr txBox="1"/>
          <p:nvPr/>
        </p:nvSpPr>
        <p:spPr>
          <a:xfrm>
            <a:off x="6477000" y="213360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Nhập dữ liệu</a:t>
            </a:r>
            <a:endParaRPr lang="en-US" sz="860" dirty="0"/>
          </a:p>
        </p:txBody>
      </p:sp>
      <p:sp>
        <p:nvSpPr>
          <p:cNvPr id="49" name="Text 47"/>
          <p:cNvSpPr txBox="1"/>
          <p:nvPr/>
        </p:nvSpPr>
        <p:spPr>
          <a:xfrm>
            <a:off x="6477000" y="225742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Tên giao dịch, mục tiêu, tháng hoặc prompt mẫu</a:t>
            </a:r>
            <a:endParaRPr lang="en-US" sz="680" dirty="0"/>
          </a:p>
        </p:txBody>
      </p:sp>
      <p:sp>
        <p:nvSpPr>
          <p:cNvPr id="50" name="Shape 48"/>
          <p:cNvSpPr/>
          <p:nvPr/>
        </p:nvSpPr>
        <p:spPr>
          <a:xfrm>
            <a:off x="6248400" y="2514600"/>
            <a:ext cx="133350" cy="133350"/>
          </a:xfrm>
          <a:prstGeom prst="ellipse">
            <a:avLst/>
          </a:prstGeom>
          <a:solidFill>
            <a:srgbClr val="059669"/>
          </a:solidFill>
          <a:ln/>
        </p:spPr>
      </p:sp>
      <p:sp>
        <p:nvSpPr>
          <p:cNvPr id="51" name="Text 49"/>
          <p:cNvSpPr txBox="1"/>
          <p:nvPr/>
        </p:nvSpPr>
        <p:spPr>
          <a:xfrm>
            <a:off x="6248400" y="251460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2</a:t>
            </a:r>
            <a:endParaRPr lang="en-US" sz="560" dirty="0"/>
          </a:p>
        </p:txBody>
      </p:sp>
      <p:sp>
        <p:nvSpPr>
          <p:cNvPr id="52" name="Text 50"/>
          <p:cNvSpPr txBox="1"/>
          <p:nvPr/>
        </p:nvSpPr>
        <p:spPr>
          <a:xfrm>
            <a:off x="6477000" y="249555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Kiểm tra hợp lệ</a:t>
            </a:r>
            <a:endParaRPr lang="en-US" sz="860" dirty="0"/>
          </a:p>
        </p:txBody>
      </p:sp>
      <p:sp>
        <p:nvSpPr>
          <p:cNvPr id="53" name="Text 51"/>
          <p:cNvSpPr txBox="1"/>
          <p:nvPr/>
        </p:nvSpPr>
        <p:spPr>
          <a:xfrm>
            <a:off x="6477000" y="261937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Thiếu dữ liệu → báo lỗi tại trường, không gọi AI</a:t>
            </a:r>
            <a:endParaRPr lang="en-US" sz="680" dirty="0"/>
          </a:p>
        </p:txBody>
      </p:sp>
      <p:sp>
        <p:nvSpPr>
          <p:cNvPr id="54" name="Shape 52"/>
          <p:cNvSpPr/>
          <p:nvPr/>
        </p:nvSpPr>
        <p:spPr>
          <a:xfrm>
            <a:off x="6248400" y="2876550"/>
            <a:ext cx="133350" cy="133350"/>
          </a:xfrm>
          <a:prstGeom prst="ellipse">
            <a:avLst/>
          </a:prstGeom>
          <a:solidFill>
            <a:srgbClr val="059669"/>
          </a:solidFill>
          <a:ln/>
        </p:spPr>
      </p:sp>
      <p:sp>
        <p:nvSpPr>
          <p:cNvPr id="55" name="Text 53"/>
          <p:cNvSpPr txBox="1"/>
          <p:nvPr/>
        </p:nvSpPr>
        <p:spPr>
          <a:xfrm>
            <a:off x="6248400" y="287655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3</a:t>
            </a:r>
            <a:endParaRPr lang="en-US" sz="560" dirty="0"/>
          </a:p>
        </p:txBody>
      </p:sp>
      <p:sp>
        <p:nvSpPr>
          <p:cNvPr id="56" name="Text 54"/>
          <p:cNvSpPr txBox="1"/>
          <p:nvPr/>
        </p:nvSpPr>
        <p:spPr>
          <a:xfrm>
            <a:off x="6477000" y="285750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Đang xử lý</a:t>
            </a:r>
            <a:endParaRPr lang="en-US" sz="860" dirty="0"/>
          </a:p>
        </p:txBody>
      </p:sp>
      <p:sp>
        <p:nvSpPr>
          <p:cNvPr id="57" name="Text 55"/>
          <p:cNvSpPr txBox="1"/>
          <p:nvPr/>
        </p:nvSpPr>
        <p:spPr>
          <a:xfrm>
            <a:off x="6477000" y="298132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Skeleton + tiến trình khoảng 2,2 giây</a:t>
            </a:r>
            <a:endParaRPr lang="en-US" sz="680" dirty="0"/>
          </a:p>
        </p:txBody>
      </p:sp>
      <p:sp>
        <p:nvSpPr>
          <p:cNvPr id="58" name="Shape 56"/>
          <p:cNvSpPr/>
          <p:nvPr/>
        </p:nvSpPr>
        <p:spPr>
          <a:xfrm>
            <a:off x="6248400" y="3238500"/>
            <a:ext cx="133350" cy="133350"/>
          </a:xfrm>
          <a:prstGeom prst="ellipse">
            <a:avLst/>
          </a:prstGeom>
          <a:solidFill>
            <a:srgbClr val="059669"/>
          </a:solidFill>
          <a:ln/>
        </p:spPr>
      </p:sp>
      <p:sp>
        <p:nvSpPr>
          <p:cNvPr id="59" name="Text 57"/>
          <p:cNvSpPr txBox="1"/>
          <p:nvPr/>
        </p:nvSpPr>
        <p:spPr>
          <a:xfrm>
            <a:off x="6248400" y="323850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4</a:t>
            </a:r>
            <a:endParaRPr lang="en-US" sz="560" dirty="0"/>
          </a:p>
        </p:txBody>
      </p:sp>
      <p:sp>
        <p:nvSpPr>
          <p:cNvPr id="60" name="Text 58"/>
          <p:cNvSpPr txBox="1"/>
          <p:nvPr/>
        </p:nvSpPr>
        <p:spPr>
          <a:xfrm>
            <a:off x="6477000" y="321945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Kết quả</a:t>
            </a:r>
            <a:endParaRPr lang="en-US" sz="860" dirty="0"/>
          </a:p>
        </p:txBody>
      </p:sp>
      <p:sp>
        <p:nvSpPr>
          <p:cNvPr id="61" name="Text 59"/>
          <p:cNvSpPr txBox="1"/>
          <p:nvPr/>
        </p:nvSpPr>
        <p:spPr>
          <a:xfrm>
            <a:off x="6477000" y="334327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Danh mục / insight / kế hoạch kèm độ tin cậy</a:t>
            </a:r>
            <a:endParaRPr lang="en-US" sz="680" dirty="0"/>
          </a:p>
        </p:txBody>
      </p:sp>
      <p:sp>
        <p:nvSpPr>
          <p:cNvPr id="62" name="Shape 60"/>
          <p:cNvSpPr/>
          <p:nvPr/>
        </p:nvSpPr>
        <p:spPr>
          <a:xfrm>
            <a:off x="6248400" y="3600450"/>
            <a:ext cx="133350" cy="133350"/>
          </a:xfrm>
          <a:prstGeom prst="ellipse">
            <a:avLst/>
          </a:prstGeom>
          <a:solidFill>
            <a:srgbClr val="059669"/>
          </a:solidFill>
          <a:ln/>
        </p:spPr>
      </p:sp>
      <p:sp>
        <p:nvSpPr>
          <p:cNvPr id="63" name="Text 61"/>
          <p:cNvSpPr txBox="1"/>
          <p:nvPr/>
        </p:nvSpPr>
        <p:spPr>
          <a:xfrm>
            <a:off x="6248400" y="360045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5</a:t>
            </a:r>
            <a:endParaRPr lang="en-US" sz="560" dirty="0"/>
          </a:p>
        </p:txBody>
      </p:sp>
      <p:sp>
        <p:nvSpPr>
          <p:cNvPr id="64" name="Text 62"/>
          <p:cNvSpPr txBox="1"/>
          <p:nvPr/>
        </p:nvSpPr>
        <p:spPr>
          <a:xfrm>
            <a:off x="6477000" y="358140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Vì sao?</a:t>
            </a:r>
            <a:endParaRPr lang="en-US" sz="860" dirty="0"/>
          </a:p>
        </p:txBody>
      </p:sp>
      <p:sp>
        <p:nvSpPr>
          <p:cNvPr id="65" name="Text 63"/>
          <p:cNvSpPr txBox="1"/>
          <p:nvPr/>
        </p:nvSpPr>
        <p:spPr>
          <a:xfrm>
            <a:off x="6477000" y="370522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Lý do theo từ khoá, so sánh dữ liệu, giả định</a:t>
            </a:r>
            <a:endParaRPr lang="en-US" sz="680" dirty="0"/>
          </a:p>
        </p:txBody>
      </p:sp>
      <p:sp>
        <p:nvSpPr>
          <p:cNvPr id="66" name="Shape 64"/>
          <p:cNvSpPr/>
          <p:nvPr/>
        </p:nvSpPr>
        <p:spPr>
          <a:xfrm>
            <a:off x="6248400" y="3962400"/>
            <a:ext cx="133350" cy="133350"/>
          </a:xfrm>
          <a:prstGeom prst="ellipse">
            <a:avLst/>
          </a:prstGeom>
          <a:solidFill>
            <a:srgbClr val="F59E0B"/>
          </a:solidFill>
          <a:ln/>
        </p:spPr>
      </p:sp>
      <p:sp>
        <p:nvSpPr>
          <p:cNvPr id="67" name="Text 65"/>
          <p:cNvSpPr txBox="1"/>
          <p:nvPr/>
        </p:nvSpPr>
        <p:spPr>
          <a:xfrm>
            <a:off x="6248400" y="396240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6</a:t>
            </a:r>
            <a:endParaRPr lang="en-US" sz="560" dirty="0"/>
          </a:p>
        </p:txBody>
      </p:sp>
      <p:sp>
        <p:nvSpPr>
          <p:cNvPr id="68" name="Text 66"/>
          <p:cNvSpPr txBox="1"/>
          <p:nvPr/>
        </p:nvSpPr>
        <p:spPr>
          <a:xfrm>
            <a:off x="6477000" y="394335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Chấp nhận / Sửa / Từ chối / Tạo lại</a:t>
            </a:r>
            <a:endParaRPr lang="en-US" sz="860" dirty="0"/>
          </a:p>
        </p:txBody>
      </p:sp>
      <p:sp>
        <p:nvSpPr>
          <p:cNvPr id="69" name="Text 67"/>
          <p:cNvSpPr txBox="1"/>
          <p:nvPr/>
        </p:nvSpPr>
        <p:spPr>
          <a:xfrm>
            <a:off x="6477000" y="406717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Người dùng giữ quyền quyết định</a:t>
            </a:r>
            <a:endParaRPr lang="en-US" sz="680" dirty="0"/>
          </a:p>
        </p:txBody>
      </p:sp>
      <p:sp>
        <p:nvSpPr>
          <p:cNvPr id="70" name="Shape 68"/>
          <p:cNvSpPr/>
          <p:nvPr/>
        </p:nvSpPr>
        <p:spPr>
          <a:xfrm>
            <a:off x="6248400" y="4324350"/>
            <a:ext cx="133350" cy="133350"/>
          </a:xfrm>
          <a:prstGeom prst="ellipse">
            <a:avLst/>
          </a:prstGeom>
          <a:solidFill>
            <a:srgbClr val="059669"/>
          </a:solidFill>
          <a:ln/>
        </p:spPr>
      </p:sp>
      <p:sp>
        <p:nvSpPr>
          <p:cNvPr id="71" name="Text 69"/>
          <p:cNvSpPr txBox="1"/>
          <p:nvPr/>
        </p:nvSpPr>
        <p:spPr>
          <a:xfrm>
            <a:off x="6248400" y="4324350"/>
            <a:ext cx="133350" cy="133350"/>
          </a:xfrm>
          <a:prstGeom prst="rect">
            <a:avLst/>
          </a:prstGeom>
          <a:noFill/>
          <a:ln/>
        </p:spPr>
        <p:txBody>
          <a:bodyPr wrap="square" lIns="0" tIns="0" rIns="0" bIns="0" rtlCol="0" anchor="ctr"/>
          <a:lstStyle/>
          <a:p>
            <a:pPr algn="ctr" indent="0" marL="0">
              <a:lnSpc>
                <a:spcPct val="106000"/>
              </a:lnSpc>
              <a:buNone/>
            </a:pPr>
            <a:r>
              <a:rPr lang="en-US" sz="560" b="1" dirty="0">
                <a:solidFill>
                  <a:srgbClr val="FFFFFF"/>
                </a:solidFill>
                <a:latin typeface="Segoe UI" pitchFamily="34" charset="0"/>
                <a:ea typeface="Segoe UI" pitchFamily="34" charset="-122"/>
                <a:cs typeface="Segoe UI" pitchFamily="34" charset="-120"/>
              </a:rPr>
              <a:t>7</a:t>
            </a:r>
            <a:endParaRPr lang="en-US" sz="560" dirty="0"/>
          </a:p>
        </p:txBody>
      </p:sp>
      <p:sp>
        <p:nvSpPr>
          <p:cNvPr id="72" name="Text 70"/>
          <p:cNvSpPr txBox="1"/>
          <p:nvPr/>
        </p:nvSpPr>
        <p:spPr>
          <a:xfrm>
            <a:off x="6477000" y="4305300"/>
            <a:ext cx="2857500" cy="1333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Lưu vào trạng thái</a:t>
            </a:r>
            <a:endParaRPr lang="en-US" sz="860" dirty="0"/>
          </a:p>
        </p:txBody>
      </p:sp>
      <p:sp>
        <p:nvSpPr>
          <p:cNvPr id="73" name="Text 71"/>
          <p:cNvSpPr txBox="1"/>
          <p:nvPr/>
        </p:nvSpPr>
        <p:spPr>
          <a:xfrm>
            <a:off x="6477000" y="4429125"/>
            <a:ext cx="4857750" cy="1524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Cập nhật giao dịch, mục tiêu, mẫu AI; toast xác nhận</a:t>
            </a:r>
            <a:endParaRPr lang="en-US" sz="680" dirty="0"/>
          </a:p>
        </p:txBody>
      </p:sp>
      <p:sp>
        <p:nvSpPr>
          <p:cNvPr id="74" name="Shape 72"/>
          <p:cNvSpPr/>
          <p:nvPr/>
        </p:nvSpPr>
        <p:spPr>
          <a:xfrm>
            <a:off x="6229350" y="4876800"/>
            <a:ext cx="5162550" cy="1123950"/>
          </a:xfrm>
          <a:prstGeom prst="roundRect">
            <a:avLst>
              <a:gd name="adj" fmla="val 6780"/>
            </a:avLst>
          </a:prstGeom>
          <a:solidFill>
            <a:srgbClr val="FFFBEB"/>
          </a:solidFill>
          <a:ln/>
        </p:spPr>
      </p:sp>
      <p:sp>
        <p:nvSpPr>
          <p:cNvPr id="75" name="Text 73"/>
          <p:cNvSpPr txBox="1"/>
          <p:nvPr/>
        </p:nvSpPr>
        <p:spPr>
          <a:xfrm>
            <a:off x="6362700" y="4972050"/>
            <a:ext cx="4762500" cy="114300"/>
          </a:xfrm>
          <a:prstGeom prst="rect">
            <a:avLst/>
          </a:prstGeom>
          <a:noFill/>
          <a:ln/>
        </p:spPr>
        <p:txBody>
          <a:bodyPr wrap="square" lIns="0" tIns="0" rIns="0" bIns="0" rtlCol="0" anchor="t"/>
          <a:lstStyle/>
          <a:p>
            <a:pPr algn="l" indent="0" marL="0">
              <a:lnSpc>
                <a:spcPct val="106000"/>
              </a:lnSpc>
              <a:buNone/>
            </a:pPr>
            <a:r>
              <a:rPr lang="en-US" sz="680" b="1" spc="40" kern="0" dirty="0">
                <a:solidFill>
                  <a:srgbClr val="B45309"/>
                </a:solidFill>
                <a:latin typeface="Segoe UI" pitchFamily="34" charset="0"/>
                <a:ea typeface="Segoe UI" pitchFamily="34" charset="-122"/>
                <a:cs typeface="Segoe UI" pitchFamily="34" charset="-120"/>
              </a:rPr>
              <a:t>KHI AI THẤT BẠI</a:t>
            </a:r>
            <a:endParaRPr lang="en-US" sz="680" dirty="0"/>
          </a:p>
        </p:txBody>
      </p:sp>
      <p:sp>
        <p:nvSpPr>
          <p:cNvPr id="76" name="Text 74"/>
          <p:cNvSpPr txBox="1"/>
          <p:nvPr/>
        </p:nvSpPr>
        <p:spPr>
          <a:xfrm>
            <a:off x="6362700" y="5124450"/>
            <a:ext cx="4876800" cy="323850"/>
          </a:xfrm>
          <a:prstGeom prst="rect">
            <a:avLst/>
          </a:prstGeom>
          <a:noFill/>
          <a:ln/>
        </p:spPr>
        <p:txBody>
          <a:bodyPr wrap="square" lIns="0" tIns="0" rIns="0" bIns="0" rtlCol="0" anchor="t"/>
          <a:lstStyle/>
          <a:p>
            <a:pPr algn="l" indent="0" marL="0">
              <a:lnSpc>
                <a:spcPct val="106000"/>
              </a:lnSpc>
              <a:buNone/>
            </a:pPr>
            <a:r>
              <a:rPr lang="en-US" sz="700" dirty="0">
                <a:solidFill>
                  <a:srgbClr val="78350F"/>
                </a:solidFill>
                <a:latin typeface="Segoe UI" pitchFamily="34" charset="0"/>
                <a:ea typeface="Segoe UI" pitchFamily="34" charset="-122"/>
                <a:cs typeface="Segoe UI" pitchFamily="34" charset="-120"/>
              </a:rPr>
              <a:t>“Không đủ dữ liệu để đưa ra đề xuất.”  ·  “AI chưa chắc chắn về kết quả này.”  ·  “Không thể xử lý yêu cầu lúc này.”</a:t>
            </a:r>
            <a:endParaRPr lang="en-US" sz="700" dirty="0"/>
          </a:p>
        </p:txBody>
      </p:sp>
      <p:sp>
        <p:nvSpPr>
          <p:cNvPr id="77" name="Text 75"/>
          <p:cNvSpPr txBox="1"/>
          <p:nvPr/>
        </p:nvSpPr>
        <p:spPr>
          <a:xfrm>
            <a:off x="6362700" y="5524500"/>
            <a:ext cx="4876800" cy="190500"/>
          </a:xfrm>
          <a:prstGeom prst="rect">
            <a:avLst/>
          </a:prstGeom>
          <a:noFill/>
          <a:ln/>
        </p:spPr>
        <p:txBody>
          <a:bodyPr wrap="square" lIns="0" tIns="0" rIns="0" bIns="0" rtlCol="0" anchor="t"/>
          <a:lstStyle/>
          <a:p>
            <a:pPr algn="l" indent="0" marL="0">
              <a:lnSpc>
                <a:spcPct val="106000"/>
              </a:lnSpc>
              <a:buNone/>
            </a:pPr>
            <a:r>
              <a:rPr lang="en-US" sz="740" b="1" dirty="0">
                <a:solidFill>
                  <a:srgbClr val="B45309"/>
                </a:solidFill>
                <a:latin typeface="Segoe UI" pitchFamily="34" charset="0"/>
                <a:ea typeface="Segoe UI" pitchFamily="34" charset="-122"/>
                <a:cs typeface="Segoe UI" pitchFamily="34" charset="-120"/>
              </a:rPr>
              <a:t>Thao tác: Thử lại · Sửa dữ liệu · Bỏ qua · Báo cáo · Dùng thủ công</a:t>
            </a:r>
            <a:endParaRPr lang="en-US" sz="740" dirty="0"/>
          </a:p>
        </p:txBody>
      </p:sp>
      <p:sp>
        <p:nvSpPr>
          <p:cNvPr id="78" name="Text 76"/>
          <p:cNvSpPr txBox="1"/>
          <p:nvPr/>
        </p:nvSpPr>
        <p:spPr>
          <a:xfrm>
            <a:off x="6362700" y="5715000"/>
            <a:ext cx="4876800" cy="19050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Nút “Mô phỏng lỗi” có trên mọi trang để kiểm thử trạng thái này.</a:t>
            </a:r>
            <a:endParaRPr lang="en-US" sz="6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1F5F9"/>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64748B"/>
                </a:solidFill>
                <a:latin typeface="Segoe UI" pitchFamily="34" charset="0"/>
                <a:ea typeface="Segoe UI" pitchFamily="34" charset="-122"/>
                <a:cs typeface="Segoe UI" pitchFamily="34" charset="-120"/>
              </a:rPr>
              <a:t>DÙNG CHUNG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08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Trang chủ — chọn vai trò</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index.html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spendwise.app/index.html</a:t>
            </a:r>
            <a:endParaRPr lang="en-US" sz="700" dirty="0"/>
          </a:p>
        </p:txBody>
      </p:sp>
      <p:sp>
        <p:nvSpPr>
          <p:cNvPr id="14" name="Shape 12"/>
          <p:cNvSpPr/>
          <p:nvPr/>
        </p:nvSpPr>
        <p:spPr>
          <a:xfrm>
            <a:off x="390525" y="1419225"/>
            <a:ext cx="7981950" cy="419100"/>
          </a:xfrm>
          <a:prstGeom prst="rect">
            <a:avLst/>
          </a:prstGeom>
          <a:solidFill>
            <a:srgbClr val="FFFFFF"/>
          </a:solidFill>
          <a:ln/>
        </p:spPr>
      </p:sp>
      <p:sp>
        <p:nvSpPr>
          <p:cNvPr id="15" name="Shape 13"/>
          <p:cNvSpPr/>
          <p:nvPr/>
        </p:nvSpPr>
        <p:spPr>
          <a:xfrm>
            <a:off x="390525" y="1838325"/>
            <a:ext cx="7981950" cy="9525"/>
          </a:xfrm>
          <a:prstGeom prst="line">
            <a:avLst/>
          </a:prstGeom>
          <a:solidFill>
            <a:srgbClr val="FFFFFF">
              <a:alpha val="0"/>
            </a:srgbClr>
          </a:solidFill>
          <a:ln w="9525">
            <a:solidFill>
              <a:srgbClr val="E2E8F0"/>
            </a:solidFill>
            <a:prstDash val="solid"/>
          </a:ln>
        </p:spPr>
      </p:sp>
      <p:sp>
        <p:nvSpPr>
          <p:cNvPr id="16" name="Shape 14"/>
          <p:cNvSpPr/>
          <p:nvPr/>
        </p:nvSpPr>
        <p:spPr>
          <a:xfrm>
            <a:off x="571500" y="1552575"/>
            <a:ext cx="152400" cy="152400"/>
          </a:xfrm>
          <a:prstGeom prst="roundRect">
            <a:avLst>
              <a:gd name="adj" fmla="val 25000"/>
            </a:avLst>
          </a:prstGeom>
          <a:solidFill>
            <a:srgbClr val="059669"/>
          </a:solidFill>
          <a:ln/>
        </p:spPr>
      </p:sp>
      <p:sp>
        <p:nvSpPr>
          <p:cNvPr id="17" name="Text 15"/>
          <p:cNvSpPr txBox="1"/>
          <p:nvPr/>
        </p:nvSpPr>
        <p:spPr>
          <a:xfrm>
            <a:off x="5715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81050" y="1524000"/>
            <a:ext cx="1143000" cy="171450"/>
          </a:xfrm>
          <a:prstGeom prst="rect">
            <a:avLst/>
          </a:prstGeom>
          <a:noFill/>
          <a:ln/>
        </p:spPr>
        <p:txBody>
          <a:bodyPr wrap="square" lIns="0" tIns="0" rIns="0" bIns="0" rtlCol="0" anchor="t"/>
          <a:lstStyle/>
          <a:p>
            <a:pPr algn="l" indent="0" marL="0">
              <a:lnSpc>
                <a:spcPct val="106000"/>
              </a:lnSpc>
              <a:buNone/>
            </a:pPr>
            <a:r>
              <a:rPr lang="en-US" sz="1100" b="1" dirty="0">
                <a:solidFill>
                  <a:srgbClr val="0F172A"/>
                </a:solidFill>
                <a:latin typeface="Segoe UI" pitchFamily="34" charset="0"/>
                <a:ea typeface="Segoe UI" pitchFamily="34" charset="-122"/>
                <a:cs typeface="Segoe UI" pitchFamily="34" charset="-120"/>
              </a:rPr>
              <a:t>SpendWise</a:t>
            </a:r>
            <a:endParaRPr lang="en-US" sz="1100" dirty="0"/>
          </a:p>
        </p:txBody>
      </p:sp>
      <p:sp>
        <p:nvSpPr>
          <p:cNvPr id="19" name="Text 17"/>
          <p:cNvSpPr txBox="1"/>
          <p:nvPr/>
        </p:nvSpPr>
        <p:spPr>
          <a:xfrm>
            <a:off x="4953000" y="1581150"/>
            <a:ext cx="66675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Tính năng</a:t>
            </a:r>
            <a:endParaRPr lang="en-US" sz="720" dirty="0"/>
          </a:p>
        </p:txBody>
      </p:sp>
      <p:sp>
        <p:nvSpPr>
          <p:cNvPr id="20" name="Text 18"/>
          <p:cNvSpPr txBox="1"/>
          <p:nvPr/>
        </p:nvSpPr>
        <p:spPr>
          <a:xfrm>
            <a:off x="5638800" y="1581150"/>
            <a:ext cx="47625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Vai trò</a:t>
            </a:r>
            <a:endParaRPr lang="en-US" sz="720" dirty="0"/>
          </a:p>
        </p:txBody>
      </p:sp>
      <p:sp>
        <p:nvSpPr>
          <p:cNvPr id="21" name="Text 19"/>
          <p:cNvSpPr txBox="1"/>
          <p:nvPr/>
        </p:nvSpPr>
        <p:spPr>
          <a:xfrm>
            <a:off x="6191250" y="1581150"/>
            <a:ext cx="66675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Đăng nhập</a:t>
            </a:r>
            <a:endParaRPr lang="en-US" sz="720" dirty="0"/>
          </a:p>
        </p:txBody>
      </p:sp>
      <p:sp>
        <p:nvSpPr>
          <p:cNvPr id="22" name="Shape 20"/>
          <p:cNvSpPr/>
          <p:nvPr/>
        </p:nvSpPr>
        <p:spPr>
          <a:xfrm>
            <a:off x="7410450" y="1524000"/>
            <a:ext cx="800100" cy="209550"/>
          </a:xfrm>
          <a:prstGeom prst="roundRect">
            <a:avLst>
              <a:gd name="adj" fmla="val 27273"/>
            </a:avLst>
          </a:prstGeom>
          <a:solidFill>
            <a:srgbClr val="059669"/>
          </a:solidFill>
          <a:ln/>
        </p:spPr>
      </p:sp>
      <p:sp>
        <p:nvSpPr>
          <p:cNvPr id="23" name="Text 21"/>
          <p:cNvSpPr txBox="1"/>
          <p:nvPr/>
        </p:nvSpPr>
        <p:spPr>
          <a:xfrm>
            <a:off x="7410450" y="1524000"/>
            <a:ext cx="800100" cy="20955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Bắt đầu</a:t>
            </a:r>
            <a:endParaRPr lang="en-US" sz="720" dirty="0"/>
          </a:p>
        </p:txBody>
      </p:sp>
      <p:sp>
        <p:nvSpPr>
          <p:cNvPr id="24" name="Shape 22"/>
          <p:cNvSpPr/>
          <p:nvPr/>
        </p:nvSpPr>
        <p:spPr>
          <a:xfrm>
            <a:off x="390525" y="1838325"/>
            <a:ext cx="7981950" cy="2400300"/>
          </a:xfrm>
          <a:prstGeom prst="rect">
            <a:avLst/>
          </a:prstGeom>
          <a:solidFill>
            <a:srgbClr val="ECFDF5"/>
          </a:solidFill>
          <a:ln/>
        </p:spPr>
      </p:sp>
      <p:sp>
        <p:nvSpPr>
          <p:cNvPr id="25" name="Text 23"/>
          <p:cNvSpPr txBox="1"/>
          <p:nvPr/>
        </p:nvSpPr>
        <p:spPr>
          <a:xfrm>
            <a:off x="666750" y="2038350"/>
            <a:ext cx="4286250" cy="723900"/>
          </a:xfrm>
          <a:prstGeom prst="rect">
            <a:avLst/>
          </a:prstGeom>
          <a:noFill/>
          <a:ln/>
        </p:spPr>
        <p:txBody>
          <a:bodyPr wrap="square" lIns="0" tIns="0" rIns="0" bIns="0" rtlCol="0" anchor="t"/>
          <a:lstStyle/>
          <a:p>
            <a:pPr algn="l" indent="0" marL="0">
              <a:lnSpc>
                <a:spcPct val="108000"/>
              </a:lnSpc>
              <a:buNone/>
            </a:pPr>
            <a:r>
              <a:rPr lang="en-US" sz="1700" b="1" dirty="0">
                <a:solidFill>
                  <a:srgbClr val="0F172A"/>
                </a:solidFill>
                <a:latin typeface="Segoe UI" pitchFamily="34" charset="0"/>
                <a:ea typeface="Segoe UI" pitchFamily="34" charset="-122"/>
                <a:cs typeface="Segoe UI" pitchFamily="34" charset="-120"/>
              </a:rPr>
              <a:t>Hiểu tiền của bạn đi đâu, đặt mục tiêu và để AI đồng hành.</a:t>
            </a:r>
            <a:endParaRPr lang="en-US" sz="1700" dirty="0"/>
          </a:p>
        </p:txBody>
      </p:sp>
      <p:sp>
        <p:nvSpPr>
          <p:cNvPr id="26" name="Text 24"/>
          <p:cNvSpPr txBox="1"/>
          <p:nvPr/>
        </p:nvSpPr>
        <p:spPr>
          <a:xfrm>
            <a:off x="666750" y="2819400"/>
            <a:ext cx="4476750" cy="342900"/>
          </a:xfrm>
          <a:prstGeom prst="rect">
            <a:avLst/>
          </a:prstGeom>
          <a:noFill/>
          <a:ln/>
        </p:spPr>
        <p:txBody>
          <a:bodyPr wrap="square" lIns="0" tIns="0" rIns="0" bIns="0" rtlCol="0" anchor="t"/>
          <a:lstStyle/>
          <a:p>
            <a:pPr algn="l" indent="0" marL="0">
              <a:lnSpc>
                <a:spcPct val="106000"/>
              </a:lnSpc>
              <a:buNone/>
            </a:pPr>
            <a:r>
              <a:rPr lang="en-US" sz="840" dirty="0">
                <a:solidFill>
                  <a:srgbClr val="475569"/>
                </a:solidFill>
                <a:latin typeface="Segoe UI" pitchFamily="34" charset="0"/>
                <a:ea typeface="Segoe UI" pitchFamily="34" charset="-122"/>
                <a:cs typeface="Segoe UI" pitchFamily="34" charset="-120"/>
              </a:rPr>
              <a:t>Ghi giao dịch · Ngân sách theo danh mục · Mục tiêu tiết kiệm · AI phân tích pattern · Coach đồng hành.</a:t>
            </a:r>
            <a:endParaRPr lang="en-US" sz="840" dirty="0"/>
          </a:p>
        </p:txBody>
      </p:sp>
      <p:sp>
        <p:nvSpPr>
          <p:cNvPr id="27" name="Shape 25"/>
          <p:cNvSpPr/>
          <p:nvPr/>
        </p:nvSpPr>
        <p:spPr>
          <a:xfrm>
            <a:off x="666750" y="3257550"/>
            <a:ext cx="952500" cy="247650"/>
          </a:xfrm>
          <a:prstGeom prst="roundRect">
            <a:avLst>
              <a:gd name="adj" fmla="val 23077"/>
            </a:avLst>
          </a:prstGeom>
          <a:solidFill>
            <a:srgbClr val="059669"/>
          </a:solidFill>
          <a:ln/>
        </p:spPr>
      </p:sp>
      <p:sp>
        <p:nvSpPr>
          <p:cNvPr id="28" name="Text 26"/>
          <p:cNvSpPr txBox="1"/>
          <p:nvPr/>
        </p:nvSpPr>
        <p:spPr>
          <a:xfrm>
            <a:off x="666750" y="3257550"/>
            <a:ext cx="952500" cy="24765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Bắt đầu</a:t>
            </a:r>
            <a:endParaRPr lang="en-US" sz="740" dirty="0"/>
          </a:p>
        </p:txBody>
      </p:sp>
      <p:sp>
        <p:nvSpPr>
          <p:cNvPr id="29" name="Shape 27"/>
          <p:cNvSpPr/>
          <p:nvPr/>
        </p:nvSpPr>
        <p:spPr>
          <a:xfrm>
            <a:off x="1714500" y="3257550"/>
            <a:ext cx="990600" cy="247650"/>
          </a:xfrm>
          <a:prstGeom prst="roundRect">
            <a:avLst>
              <a:gd name="adj" fmla="val 23077"/>
            </a:avLst>
          </a:prstGeom>
          <a:solidFill>
            <a:srgbClr val="FFFFFF"/>
          </a:solidFill>
          <a:ln w="9525">
            <a:solidFill>
              <a:srgbClr val="E2E8F0"/>
            </a:solidFill>
            <a:prstDash val="solid"/>
          </a:ln>
        </p:spPr>
      </p:sp>
      <p:sp>
        <p:nvSpPr>
          <p:cNvPr id="30" name="Text 28"/>
          <p:cNvSpPr txBox="1"/>
          <p:nvPr/>
        </p:nvSpPr>
        <p:spPr>
          <a:xfrm>
            <a:off x="1714500" y="3257550"/>
            <a:ext cx="990600" cy="247650"/>
          </a:xfrm>
          <a:prstGeom prst="rect">
            <a:avLst/>
          </a:prstGeom>
          <a:noFill/>
          <a:ln/>
        </p:spPr>
        <p:txBody>
          <a:bodyPr wrap="square" lIns="0" tIns="0" rIns="0" bIns="0" rtlCol="0" anchor="ctr"/>
          <a:lstStyle/>
          <a:p>
            <a:pPr algn="ctr" indent="0" marL="0">
              <a:lnSpc>
                <a:spcPct val="106000"/>
              </a:lnSpc>
              <a:buNone/>
            </a:pPr>
            <a:r>
              <a:rPr lang="en-US" sz="740" b="1" dirty="0">
                <a:solidFill>
                  <a:srgbClr val="047857"/>
                </a:solidFill>
                <a:latin typeface="Segoe UI" pitchFamily="34" charset="0"/>
                <a:ea typeface="Segoe UI" pitchFamily="34" charset="-122"/>
                <a:cs typeface="Segoe UI" pitchFamily="34" charset="-120"/>
              </a:rPr>
              <a:t>Xem 4 vai trò</a:t>
            </a:r>
            <a:endParaRPr lang="en-US" sz="740" dirty="0"/>
          </a:p>
        </p:txBody>
      </p:sp>
      <p:sp>
        <p:nvSpPr>
          <p:cNvPr id="31" name="Shape 29"/>
          <p:cNvSpPr/>
          <p:nvPr/>
        </p:nvSpPr>
        <p:spPr>
          <a:xfrm>
            <a:off x="5619750" y="2095500"/>
            <a:ext cx="1428750" cy="1428750"/>
          </a:xfrm>
          <a:prstGeom prst="donut">
            <a:avLst/>
          </a:prstGeom>
          <a:solidFill>
            <a:srgbClr val="059669"/>
          </a:solidFill>
          <a:ln/>
        </p:spPr>
      </p:sp>
      <p:sp>
        <p:nvSpPr>
          <p:cNvPr id="32" name="Shape 30"/>
          <p:cNvSpPr/>
          <p:nvPr/>
        </p:nvSpPr>
        <p:spPr>
          <a:xfrm>
            <a:off x="5953125" y="2428875"/>
            <a:ext cx="762000" cy="762000"/>
          </a:xfrm>
          <a:prstGeom prst="ellipse">
            <a:avLst/>
          </a:prstGeom>
          <a:solidFill>
            <a:srgbClr val="ECFDF5"/>
          </a:solidFill>
          <a:ln/>
        </p:spPr>
      </p:sp>
      <p:sp>
        <p:nvSpPr>
          <p:cNvPr id="33" name="Text 31"/>
          <p:cNvSpPr txBox="1"/>
          <p:nvPr/>
        </p:nvSpPr>
        <p:spPr>
          <a:xfrm>
            <a:off x="5953125" y="2686050"/>
            <a:ext cx="762000" cy="190500"/>
          </a:xfrm>
          <a:prstGeom prst="rect">
            <a:avLst/>
          </a:prstGeom>
          <a:noFill/>
          <a:ln/>
        </p:spPr>
        <p:txBody>
          <a:bodyPr wrap="square" lIns="0" tIns="0" rIns="0" bIns="0" rtlCol="0" anchor="t"/>
          <a:lstStyle/>
          <a:p>
            <a:pPr algn="ctr" indent="0" marL="0">
              <a:lnSpc>
                <a:spcPct val="106000"/>
              </a:lnSpc>
              <a:buNone/>
            </a:pPr>
            <a:r>
              <a:rPr lang="en-US" sz="1000" b="1" dirty="0">
                <a:solidFill>
                  <a:srgbClr val="047857"/>
                </a:solidFill>
                <a:latin typeface="Segoe UI" pitchFamily="34" charset="0"/>
                <a:ea typeface="Segoe UI" pitchFamily="34" charset="-122"/>
                <a:cs typeface="Segoe UI" pitchFamily="34" charset="-120"/>
              </a:rPr>
              <a:t>3 AI</a:t>
            </a:r>
            <a:endParaRPr lang="en-US" sz="1000" dirty="0"/>
          </a:p>
        </p:txBody>
      </p:sp>
      <p:sp>
        <p:nvSpPr>
          <p:cNvPr id="34" name="Text 32"/>
          <p:cNvSpPr txBox="1"/>
          <p:nvPr/>
        </p:nvSpPr>
        <p:spPr>
          <a:xfrm>
            <a:off x="5524500" y="3638550"/>
            <a:ext cx="1714500" cy="133350"/>
          </a:xfrm>
          <a:prstGeom prst="rect">
            <a:avLst/>
          </a:prstGeom>
          <a:noFill/>
          <a:ln/>
        </p:spPr>
        <p:txBody>
          <a:bodyPr wrap="square" lIns="0" tIns="0" rIns="0" bIns="0" rtlCol="0" anchor="t"/>
          <a:lstStyle/>
          <a:p>
            <a:pPr algn="ctr" indent="0" marL="0">
              <a:lnSpc>
                <a:spcPct val="106000"/>
              </a:lnSpc>
              <a:buNone/>
            </a:pPr>
            <a:r>
              <a:rPr lang="en-US" sz="680" dirty="0">
                <a:solidFill>
                  <a:srgbClr val="047857"/>
                </a:solidFill>
                <a:latin typeface="Segoe UI" pitchFamily="34" charset="0"/>
                <a:ea typeface="Segoe UI" pitchFamily="34" charset="-122"/>
                <a:cs typeface="Segoe UI" pitchFamily="34" charset="-120"/>
              </a:rPr>
              <a:t>AI-1 · AI-2 · AI-3</a:t>
            </a:r>
            <a:endParaRPr lang="en-US" sz="680" dirty="0"/>
          </a:p>
        </p:txBody>
      </p:sp>
      <p:sp>
        <p:nvSpPr>
          <p:cNvPr id="35" name="Text 33"/>
          <p:cNvSpPr txBox="1"/>
          <p:nvPr/>
        </p:nvSpPr>
        <p:spPr>
          <a:xfrm>
            <a:off x="571500" y="4400550"/>
            <a:ext cx="3810000" cy="152400"/>
          </a:xfrm>
          <a:prstGeom prst="rect">
            <a:avLst/>
          </a:prstGeom>
          <a:noFill/>
          <a:ln/>
        </p:spPr>
        <p:txBody>
          <a:bodyPr wrap="square" lIns="0" tIns="0" rIns="0" bIns="0" rtlCol="0" anchor="t"/>
          <a:lstStyle/>
          <a:p>
            <a:pPr algn="l" indent="0" marL="0">
              <a:lnSpc>
                <a:spcPct val="106000"/>
              </a:lnSpc>
              <a:buNone/>
            </a:pPr>
            <a:r>
              <a:rPr lang="en-US" sz="1000" b="1" dirty="0">
                <a:solidFill>
                  <a:srgbClr val="0F172A"/>
                </a:solidFill>
                <a:latin typeface="Segoe UI" pitchFamily="34" charset="0"/>
                <a:ea typeface="Segoe UI" pitchFamily="34" charset="-122"/>
                <a:cs typeface="Segoe UI" pitchFamily="34" charset="-120"/>
              </a:rPr>
              <a:t>Chọn vai trò để khám phá luồng nghiệp vụ</a:t>
            </a:r>
            <a:endParaRPr lang="en-US" sz="1000" dirty="0"/>
          </a:p>
        </p:txBody>
      </p:sp>
      <p:sp>
        <p:nvSpPr>
          <p:cNvPr id="36" name="Shape 34"/>
          <p:cNvSpPr/>
          <p:nvPr/>
        </p:nvSpPr>
        <p:spPr>
          <a:xfrm>
            <a:off x="571500" y="4629150"/>
            <a:ext cx="1809750" cy="952500"/>
          </a:xfrm>
          <a:prstGeom prst="roundRect">
            <a:avLst>
              <a:gd name="adj" fmla="val 8000"/>
            </a:avLst>
          </a:prstGeom>
          <a:solidFill>
            <a:srgbClr val="FFFFFF"/>
          </a:solidFill>
          <a:ln w="9525">
            <a:solidFill>
              <a:srgbClr val="E2E8F0"/>
            </a:solidFill>
            <a:prstDash val="solid"/>
          </a:ln>
        </p:spPr>
      </p:sp>
      <p:sp>
        <p:nvSpPr>
          <p:cNvPr id="37" name="Shape 35"/>
          <p:cNvSpPr/>
          <p:nvPr/>
        </p:nvSpPr>
        <p:spPr>
          <a:xfrm>
            <a:off x="685800" y="4743450"/>
            <a:ext cx="171450" cy="171450"/>
          </a:xfrm>
          <a:prstGeom prst="roundRect">
            <a:avLst>
              <a:gd name="adj" fmla="val 27778"/>
            </a:avLst>
          </a:prstGeom>
          <a:solidFill>
            <a:srgbClr val="ECFDF5"/>
          </a:solidFill>
          <a:ln/>
        </p:spPr>
      </p:sp>
      <p:sp>
        <p:nvSpPr>
          <p:cNvPr id="38" name="Text 36"/>
          <p:cNvSpPr txBox="1"/>
          <p:nvPr/>
        </p:nvSpPr>
        <p:spPr>
          <a:xfrm>
            <a:off x="685800" y="4743450"/>
            <a:ext cx="171450" cy="17145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N</a:t>
            </a:r>
            <a:endParaRPr lang="en-US" sz="700" dirty="0"/>
          </a:p>
        </p:txBody>
      </p:sp>
      <p:sp>
        <p:nvSpPr>
          <p:cNvPr id="39" name="Text 37"/>
          <p:cNvSpPr txBox="1"/>
          <p:nvPr/>
        </p:nvSpPr>
        <p:spPr>
          <a:xfrm>
            <a:off x="914400" y="4733925"/>
            <a:ext cx="135255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Người dùng</a:t>
            </a:r>
            <a:endParaRPr lang="en-US" sz="920" dirty="0"/>
          </a:p>
        </p:txBody>
      </p:sp>
      <p:sp>
        <p:nvSpPr>
          <p:cNvPr id="40" name="Text 38"/>
          <p:cNvSpPr txBox="1"/>
          <p:nvPr/>
        </p:nvSpPr>
        <p:spPr>
          <a:xfrm>
            <a:off x="685800" y="4972050"/>
            <a:ext cx="1581150" cy="3810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Ghi giao dịch, ngân sách, mục tiêu tiết kiệm.</a:t>
            </a:r>
            <a:endParaRPr lang="en-US" sz="700" dirty="0"/>
          </a:p>
        </p:txBody>
      </p:sp>
      <p:sp>
        <p:nvSpPr>
          <p:cNvPr id="41" name="Text 39"/>
          <p:cNvSpPr txBox="1"/>
          <p:nvPr/>
        </p:nvSpPr>
        <p:spPr>
          <a:xfrm>
            <a:off x="685800" y="5391150"/>
            <a:ext cx="1581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4 màn hình</a:t>
            </a:r>
            <a:endParaRPr lang="en-US" sz="620" dirty="0"/>
          </a:p>
        </p:txBody>
      </p:sp>
      <p:sp>
        <p:nvSpPr>
          <p:cNvPr id="42" name="Shape 40"/>
          <p:cNvSpPr/>
          <p:nvPr/>
        </p:nvSpPr>
        <p:spPr>
          <a:xfrm>
            <a:off x="2495550" y="4629150"/>
            <a:ext cx="1809750" cy="952500"/>
          </a:xfrm>
          <a:prstGeom prst="roundRect">
            <a:avLst>
              <a:gd name="adj" fmla="val 8000"/>
            </a:avLst>
          </a:prstGeom>
          <a:solidFill>
            <a:srgbClr val="FFFFFF"/>
          </a:solidFill>
          <a:ln w="9525">
            <a:solidFill>
              <a:srgbClr val="E2E8F0"/>
            </a:solidFill>
            <a:prstDash val="solid"/>
          </a:ln>
        </p:spPr>
      </p:sp>
      <p:sp>
        <p:nvSpPr>
          <p:cNvPr id="43" name="Shape 41"/>
          <p:cNvSpPr/>
          <p:nvPr/>
        </p:nvSpPr>
        <p:spPr>
          <a:xfrm>
            <a:off x="2609850" y="4743450"/>
            <a:ext cx="171450" cy="171450"/>
          </a:xfrm>
          <a:prstGeom prst="roundRect">
            <a:avLst>
              <a:gd name="adj" fmla="val 27778"/>
            </a:avLst>
          </a:prstGeom>
          <a:solidFill>
            <a:srgbClr val="EFF6FF"/>
          </a:solidFill>
          <a:ln/>
        </p:spPr>
      </p:sp>
      <p:sp>
        <p:nvSpPr>
          <p:cNvPr id="44" name="Text 42"/>
          <p:cNvSpPr txBox="1"/>
          <p:nvPr/>
        </p:nvSpPr>
        <p:spPr>
          <a:xfrm>
            <a:off x="2609850" y="4743450"/>
            <a:ext cx="171450" cy="171450"/>
          </a:xfrm>
          <a:prstGeom prst="rect">
            <a:avLst/>
          </a:prstGeom>
          <a:noFill/>
          <a:ln/>
        </p:spPr>
        <p:txBody>
          <a:bodyPr wrap="square" lIns="0" tIns="0" rIns="0" bIns="0" rtlCol="0" anchor="ctr"/>
          <a:lstStyle/>
          <a:p>
            <a:pPr algn="ctr" indent="0" marL="0">
              <a:lnSpc>
                <a:spcPct val="106000"/>
              </a:lnSpc>
              <a:buNone/>
            </a:pPr>
            <a:r>
              <a:rPr lang="en-US" sz="700" b="1" dirty="0">
                <a:solidFill>
                  <a:srgbClr val="2563EB"/>
                </a:solidFill>
                <a:latin typeface="Segoe UI" pitchFamily="34" charset="0"/>
                <a:ea typeface="Segoe UI" pitchFamily="34" charset="-122"/>
                <a:cs typeface="Segoe UI" pitchFamily="34" charset="-120"/>
              </a:rPr>
              <a:t>C</a:t>
            </a:r>
            <a:endParaRPr lang="en-US" sz="700" dirty="0"/>
          </a:p>
        </p:txBody>
      </p:sp>
      <p:sp>
        <p:nvSpPr>
          <p:cNvPr id="45" name="Text 43"/>
          <p:cNvSpPr txBox="1"/>
          <p:nvPr/>
        </p:nvSpPr>
        <p:spPr>
          <a:xfrm>
            <a:off x="2838450" y="4733925"/>
            <a:ext cx="135255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Huấn luyện viên</a:t>
            </a:r>
            <a:endParaRPr lang="en-US" sz="920" dirty="0"/>
          </a:p>
        </p:txBody>
      </p:sp>
      <p:sp>
        <p:nvSpPr>
          <p:cNvPr id="46" name="Text 44"/>
          <p:cNvSpPr txBox="1"/>
          <p:nvPr/>
        </p:nvSpPr>
        <p:spPr>
          <a:xfrm>
            <a:off x="2609850" y="4972050"/>
            <a:ext cx="1581150" cy="3810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Duyệt ngân sách, tư vấn, tạo tài nguyên.</a:t>
            </a:r>
            <a:endParaRPr lang="en-US" sz="700" dirty="0"/>
          </a:p>
        </p:txBody>
      </p:sp>
      <p:sp>
        <p:nvSpPr>
          <p:cNvPr id="47" name="Text 45"/>
          <p:cNvSpPr txBox="1"/>
          <p:nvPr/>
        </p:nvSpPr>
        <p:spPr>
          <a:xfrm>
            <a:off x="2609850" y="5391150"/>
            <a:ext cx="1581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3 màn hình</a:t>
            </a:r>
            <a:endParaRPr lang="en-US" sz="620" dirty="0"/>
          </a:p>
        </p:txBody>
      </p:sp>
      <p:sp>
        <p:nvSpPr>
          <p:cNvPr id="48" name="Shape 46"/>
          <p:cNvSpPr/>
          <p:nvPr/>
        </p:nvSpPr>
        <p:spPr>
          <a:xfrm>
            <a:off x="4419600" y="4629150"/>
            <a:ext cx="1809750" cy="952500"/>
          </a:xfrm>
          <a:prstGeom prst="roundRect">
            <a:avLst>
              <a:gd name="adj" fmla="val 8000"/>
            </a:avLst>
          </a:prstGeom>
          <a:solidFill>
            <a:srgbClr val="FFFFFF"/>
          </a:solidFill>
          <a:ln w="9525">
            <a:solidFill>
              <a:srgbClr val="E2E8F0"/>
            </a:solidFill>
            <a:prstDash val="solid"/>
          </a:ln>
        </p:spPr>
      </p:sp>
      <p:sp>
        <p:nvSpPr>
          <p:cNvPr id="49" name="Shape 47"/>
          <p:cNvSpPr/>
          <p:nvPr/>
        </p:nvSpPr>
        <p:spPr>
          <a:xfrm>
            <a:off x="4533900" y="4743450"/>
            <a:ext cx="171450" cy="171450"/>
          </a:xfrm>
          <a:prstGeom prst="roundRect">
            <a:avLst>
              <a:gd name="adj" fmla="val 27778"/>
            </a:avLst>
          </a:prstGeom>
          <a:solidFill>
            <a:srgbClr val="F5F3FF"/>
          </a:solidFill>
          <a:ln/>
        </p:spPr>
      </p:sp>
      <p:sp>
        <p:nvSpPr>
          <p:cNvPr id="50" name="Text 48"/>
          <p:cNvSpPr txBox="1"/>
          <p:nvPr/>
        </p:nvSpPr>
        <p:spPr>
          <a:xfrm>
            <a:off x="4533900" y="4743450"/>
            <a:ext cx="171450" cy="171450"/>
          </a:xfrm>
          <a:prstGeom prst="rect">
            <a:avLst/>
          </a:prstGeom>
          <a:noFill/>
          <a:ln/>
        </p:spPr>
        <p:txBody>
          <a:bodyPr wrap="square" lIns="0" tIns="0" rIns="0" bIns="0" rtlCol="0" anchor="ctr"/>
          <a:lstStyle/>
          <a:p>
            <a:pPr algn="ctr" indent="0" marL="0">
              <a:lnSpc>
                <a:spcPct val="106000"/>
              </a:lnSpc>
              <a:buNone/>
            </a:pPr>
            <a:r>
              <a:rPr lang="en-US" sz="700" b="1" dirty="0">
                <a:solidFill>
                  <a:srgbClr val="7C3AED"/>
                </a:solidFill>
                <a:latin typeface="Segoe UI" pitchFamily="34" charset="0"/>
                <a:ea typeface="Segoe UI" pitchFamily="34" charset="-122"/>
                <a:cs typeface="Segoe UI" pitchFamily="34" charset="-120"/>
              </a:rPr>
              <a:t>K</a:t>
            </a:r>
            <a:endParaRPr lang="en-US" sz="700" dirty="0"/>
          </a:p>
        </p:txBody>
      </p:sp>
      <p:sp>
        <p:nvSpPr>
          <p:cNvPr id="51" name="Text 49"/>
          <p:cNvSpPr txBox="1"/>
          <p:nvPr/>
        </p:nvSpPr>
        <p:spPr>
          <a:xfrm>
            <a:off x="4762500" y="4733925"/>
            <a:ext cx="135255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Kiểm duyệt viên</a:t>
            </a:r>
            <a:endParaRPr lang="en-US" sz="920" dirty="0"/>
          </a:p>
        </p:txBody>
      </p:sp>
      <p:sp>
        <p:nvSpPr>
          <p:cNvPr id="52" name="Text 50"/>
          <p:cNvSpPr txBox="1"/>
          <p:nvPr/>
        </p:nvSpPr>
        <p:spPr>
          <a:xfrm>
            <a:off x="4533900" y="4972050"/>
            <a:ext cx="1581150" cy="3810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Duyệt nội dung, mẫu AI, xử lý phản hồi.</a:t>
            </a:r>
            <a:endParaRPr lang="en-US" sz="700" dirty="0"/>
          </a:p>
        </p:txBody>
      </p:sp>
      <p:sp>
        <p:nvSpPr>
          <p:cNvPr id="53" name="Text 51"/>
          <p:cNvSpPr txBox="1"/>
          <p:nvPr/>
        </p:nvSpPr>
        <p:spPr>
          <a:xfrm>
            <a:off x="4533900" y="5391150"/>
            <a:ext cx="1581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3 màn hình</a:t>
            </a:r>
            <a:endParaRPr lang="en-US" sz="620" dirty="0"/>
          </a:p>
        </p:txBody>
      </p:sp>
      <p:sp>
        <p:nvSpPr>
          <p:cNvPr id="54" name="Shape 52"/>
          <p:cNvSpPr/>
          <p:nvPr/>
        </p:nvSpPr>
        <p:spPr>
          <a:xfrm>
            <a:off x="6343650" y="4629150"/>
            <a:ext cx="1809750" cy="952500"/>
          </a:xfrm>
          <a:prstGeom prst="roundRect">
            <a:avLst>
              <a:gd name="adj" fmla="val 8000"/>
            </a:avLst>
          </a:prstGeom>
          <a:solidFill>
            <a:srgbClr val="FFFFFF"/>
          </a:solidFill>
          <a:ln w="9525">
            <a:solidFill>
              <a:srgbClr val="E2E8F0"/>
            </a:solidFill>
            <a:prstDash val="solid"/>
          </a:ln>
        </p:spPr>
      </p:sp>
      <p:sp>
        <p:nvSpPr>
          <p:cNvPr id="55" name="Shape 53"/>
          <p:cNvSpPr/>
          <p:nvPr/>
        </p:nvSpPr>
        <p:spPr>
          <a:xfrm>
            <a:off x="6457950" y="4743450"/>
            <a:ext cx="171450" cy="171450"/>
          </a:xfrm>
          <a:prstGeom prst="roundRect">
            <a:avLst>
              <a:gd name="adj" fmla="val 27778"/>
            </a:avLst>
          </a:prstGeom>
          <a:solidFill>
            <a:srgbClr val="FFF7ED"/>
          </a:solidFill>
          <a:ln/>
        </p:spPr>
      </p:sp>
      <p:sp>
        <p:nvSpPr>
          <p:cNvPr id="56" name="Text 54"/>
          <p:cNvSpPr txBox="1"/>
          <p:nvPr/>
        </p:nvSpPr>
        <p:spPr>
          <a:xfrm>
            <a:off x="6457950" y="4743450"/>
            <a:ext cx="171450" cy="171450"/>
          </a:xfrm>
          <a:prstGeom prst="rect">
            <a:avLst/>
          </a:prstGeom>
          <a:noFill/>
          <a:ln/>
        </p:spPr>
        <p:txBody>
          <a:bodyPr wrap="square" lIns="0" tIns="0" rIns="0" bIns="0" rtlCol="0" anchor="ctr"/>
          <a:lstStyle/>
          <a:p>
            <a:pPr algn="ctr" indent="0" marL="0">
              <a:lnSpc>
                <a:spcPct val="106000"/>
              </a:lnSpc>
              <a:buNone/>
            </a:pPr>
            <a:r>
              <a:rPr lang="en-US" sz="700" b="1" dirty="0">
                <a:solidFill>
                  <a:srgbClr val="EA580C"/>
                </a:solidFill>
                <a:latin typeface="Segoe UI" pitchFamily="34" charset="0"/>
                <a:ea typeface="Segoe UI" pitchFamily="34" charset="-122"/>
                <a:cs typeface="Segoe UI" pitchFamily="34" charset="-120"/>
              </a:rPr>
              <a:t>Q</a:t>
            </a:r>
            <a:endParaRPr lang="en-US" sz="700" dirty="0"/>
          </a:p>
        </p:txBody>
      </p:sp>
      <p:sp>
        <p:nvSpPr>
          <p:cNvPr id="57" name="Text 55"/>
          <p:cNvSpPr txBox="1"/>
          <p:nvPr/>
        </p:nvSpPr>
        <p:spPr>
          <a:xfrm>
            <a:off x="6686550" y="4733925"/>
            <a:ext cx="135255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Quản trị viên</a:t>
            </a:r>
            <a:endParaRPr lang="en-US" sz="920" dirty="0"/>
          </a:p>
        </p:txBody>
      </p:sp>
      <p:sp>
        <p:nvSpPr>
          <p:cNvPr id="58" name="Text 56"/>
          <p:cNvSpPr txBox="1"/>
          <p:nvPr/>
        </p:nvSpPr>
        <p:spPr>
          <a:xfrm>
            <a:off x="6457950" y="4972050"/>
            <a:ext cx="1581150" cy="3810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Danh mục, tài khoản, sức khoẻ hệ thống.</a:t>
            </a:r>
            <a:endParaRPr lang="en-US" sz="700" dirty="0"/>
          </a:p>
        </p:txBody>
      </p:sp>
      <p:sp>
        <p:nvSpPr>
          <p:cNvPr id="59" name="Text 57"/>
          <p:cNvSpPr txBox="1"/>
          <p:nvPr/>
        </p:nvSpPr>
        <p:spPr>
          <a:xfrm>
            <a:off x="6457950" y="5391150"/>
            <a:ext cx="1581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3 màn hình</a:t>
            </a:r>
            <a:endParaRPr lang="en-US" sz="620" dirty="0"/>
          </a:p>
        </p:txBody>
      </p:sp>
      <p:sp>
        <p:nvSpPr>
          <p:cNvPr id="60" name="Shape 58"/>
          <p:cNvSpPr/>
          <p:nvPr/>
        </p:nvSpPr>
        <p:spPr>
          <a:xfrm>
            <a:off x="571500" y="5695950"/>
            <a:ext cx="7239000" cy="704850"/>
          </a:xfrm>
          <a:prstGeom prst="roundRect">
            <a:avLst>
              <a:gd name="adj" fmla="val 10811"/>
            </a:avLst>
          </a:prstGeom>
          <a:solidFill>
            <a:srgbClr val="FFFFFF"/>
          </a:solidFill>
          <a:ln w="9525">
            <a:solidFill>
              <a:srgbClr val="E2E8F0"/>
            </a:solidFill>
            <a:prstDash val="solid"/>
          </a:ln>
        </p:spPr>
      </p:sp>
      <p:sp>
        <p:nvSpPr>
          <p:cNvPr id="61" name="Text 59"/>
          <p:cNvSpPr txBox="1"/>
          <p:nvPr/>
        </p:nvSpPr>
        <p:spPr>
          <a:xfrm>
            <a:off x="685800" y="5772150"/>
            <a:ext cx="3810000" cy="133350"/>
          </a:xfrm>
          <a:prstGeom prst="rect">
            <a:avLst/>
          </a:prstGeom>
          <a:noFill/>
          <a:ln/>
        </p:spPr>
        <p:txBody>
          <a:bodyPr wrap="square" lIns="0" tIns="0" rIns="0" bIns="0" rtlCol="0" anchor="t"/>
          <a:lstStyle/>
          <a:p>
            <a:pPr algn="l" indent="0" marL="0">
              <a:lnSpc>
                <a:spcPct val="106000"/>
              </a:lnSpc>
              <a:buNone/>
            </a:pPr>
            <a:r>
              <a:rPr lang="en-US" sz="840" b="1" dirty="0">
                <a:solidFill>
                  <a:srgbClr val="0F172A"/>
                </a:solidFill>
                <a:latin typeface="Segoe UI" pitchFamily="34" charset="0"/>
                <a:ea typeface="Segoe UI" pitchFamily="34" charset="-122"/>
                <a:cs typeface="Segoe UI" pitchFamily="34" charset="-120"/>
              </a:rPr>
              <a:t>Ba tính năng AI có kiểm soát</a:t>
            </a:r>
            <a:endParaRPr lang="en-US" sz="840" dirty="0"/>
          </a:p>
        </p:txBody>
      </p:sp>
      <p:sp>
        <p:nvSpPr>
          <p:cNvPr id="62" name="Text 60"/>
          <p:cNvSpPr txBox="1"/>
          <p:nvPr/>
        </p:nvSpPr>
        <p:spPr>
          <a:xfrm>
            <a:off x="685800" y="5943600"/>
            <a:ext cx="285750" cy="133350"/>
          </a:xfrm>
          <a:prstGeom prst="rect">
            <a:avLst/>
          </a:prstGeom>
          <a:noFill/>
          <a:ln/>
        </p:spPr>
        <p:txBody>
          <a:bodyPr wrap="square" lIns="0" tIns="0" rIns="0" bIns="0" rtlCol="0" anchor="t"/>
          <a:lstStyle/>
          <a:p>
            <a:pPr algn="l"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AI-1</a:t>
            </a:r>
            <a:endParaRPr lang="en-US" sz="700" dirty="0"/>
          </a:p>
        </p:txBody>
      </p:sp>
      <p:sp>
        <p:nvSpPr>
          <p:cNvPr id="63" name="Text 61"/>
          <p:cNvSpPr txBox="1"/>
          <p:nvPr/>
        </p:nvSpPr>
        <p:spPr>
          <a:xfrm>
            <a:off x="990600" y="5924550"/>
            <a:ext cx="19050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Gợi ý danh mục</a:t>
            </a:r>
            <a:endParaRPr lang="en-US" sz="720" dirty="0"/>
          </a:p>
        </p:txBody>
      </p:sp>
      <p:sp>
        <p:nvSpPr>
          <p:cNvPr id="64" name="Text 62"/>
          <p:cNvSpPr txBox="1"/>
          <p:nvPr/>
        </p:nvSpPr>
        <p:spPr>
          <a:xfrm>
            <a:off x="990600" y="6076950"/>
            <a:ext cx="1962150" cy="2286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kèm độ tin cậy + lý do</a:t>
            </a:r>
            <a:endParaRPr lang="en-US" sz="620" dirty="0"/>
          </a:p>
        </p:txBody>
      </p:sp>
      <p:sp>
        <p:nvSpPr>
          <p:cNvPr id="65" name="Text 63"/>
          <p:cNvSpPr txBox="1"/>
          <p:nvPr/>
        </p:nvSpPr>
        <p:spPr>
          <a:xfrm>
            <a:off x="3067050" y="5943600"/>
            <a:ext cx="285750" cy="133350"/>
          </a:xfrm>
          <a:prstGeom prst="rect">
            <a:avLst/>
          </a:prstGeom>
          <a:noFill/>
          <a:ln/>
        </p:spPr>
        <p:txBody>
          <a:bodyPr wrap="square" lIns="0" tIns="0" rIns="0" bIns="0" rtlCol="0" anchor="t"/>
          <a:lstStyle/>
          <a:p>
            <a:pPr algn="l"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AI-2</a:t>
            </a:r>
            <a:endParaRPr lang="en-US" sz="700" dirty="0"/>
          </a:p>
        </p:txBody>
      </p:sp>
      <p:sp>
        <p:nvSpPr>
          <p:cNvPr id="66" name="Text 64"/>
          <p:cNvSpPr txBox="1"/>
          <p:nvPr/>
        </p:nvSpPr>
        <p:spPr>
          <a:xfrm>
            <a:off x="3371850" y="5924550"/>
            <a:ext cx="19050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Pattern chi tiêu</a:t>
            </a:r>
            <a:endParaRPr lang="en-US" sz="720" dirty="0"/>
          </a:p>
        </p:txBody>
      </p:sp>
      <p:sp>
        <p:nvSpPr>
          <p:cNvPr id="67" name="Text 65"/>
          <p:cNvSpPr txBox="1"/>
          <p:nvPr/>
        </p:nvSpPr>
        <p:spPr>
          <a:xfrm>
            <a:off x="3371850" y="6076950"/>
            <a:ext cx="1962150" cy="2286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3 insight + hành động</a:t>
            </a:r>
            <a:endParaRPr lang="en-US" sz="620" dirty="0"/>
          </a:p>
        </p:txBody>
      </p:sp>
      <p:sp>
        <p:nvSpPr>
          <p:cNvPr id="68" name="Text 66"/>
          <p:cNvSpPr txBox="1"/>
          <p:nvPr/>
        </p:nvSpPr>
        <p:spPr>
          <a:xfrm>
            <a:off x="5448300" y="5943600"/>
            <a:ext cx="285750" cy="133350"/>
          </a:xfrm>
          <a:prstGeom prst="rect">
            <a:avLst/>
          </a:prstGeom>
          <a:noFill/>
          <a:ln/>
        </p:spPr>
        <p:txBody>
          <a:bodyPr wrap="square" lIns="0" tIns="0" rIns="0" bIns="0" rtlCol="0" anchor="t"/>
          <a:lstStyle/>
          <a:p>
            <a:pPr algn="l"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AI-3</a:t>
            </a:r>
            <a:endParaRPr lang="en-US" sz="700" dirty="0"/>
          </a:p>
        </p:txBody>
      </p:sp>
      <p:sp>
        <p:nvSpPr>
          <p:cNvPr id="69" name="Text 67"/>
          <p:cNvSpPr txBox="1"/>
          <p:nvPr/>
        </p:nvSpPr>
        <p:spPr>
          <a:xfrm>
            <a:off x="5753100" y="5924550"/>
            <a:ext cx="19050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Goal Coach</a:t>
            </a:r>
            <a:endParaRPr lang="en-US" sz="720" dirty="0"/>
          </a:p>
        </p:txBody>
      </p:sp>
      <p:sp>
        <p:nvSpPr>
          <p:cNvPr id="70" name="Text 68"/>
          <p:cNvSpPr txBox="1"/>
          <p:nvPr/>
        </p:nvSpPr>
        <p:spPr>
          <a:xfrm>
            <a:off x="5753100" y="6076950"/>
            <a:ext cx="1962150" cy="2286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kế hoạch tuần khả thi</a:t>
            </a:r>
            <a:endParaRPr lang="en-US" sz="620" dirty="0"/>
          </a:p>
        </p:txBody>
      </p:sp>
      <p:sp>
        <p:nvSpPr>
          <p:cNvPr id="71" name="Shape 69"/>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72" name="Text 70"/>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08 / 27</a:t>
            </a:r>
            <a:endParaRPr lang="en-US" sz="740" dirty="0"/>
          </a:p>
        </p:txBody>
      </p:sp>
      <p:sp>
        <p:nvSpPr>
          <p:cNvPr id="73" name="Text 71"/>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Trang chủ — chọn vai trò</a:t>
            </a:r>
            <a:endParaRPr lang="en-US" sz="1700" dirty="0"/>
          </a:p>
        </p:txBody>
      </p:sp>
      <p:sp>
        <p:nvSpPr>
          <p:cNvPr id="74" name="Text 72"/>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index.html</a:t>
            </a:r>
            <a:endParaRPr lang="en-US" sz="720" dirty="0"/>
          </a:p>
        </p:txBody>
      </p:sp>
      <p:sp>
        <p:nvSpPr>
          <p:cNvPr id="75" name="Shape 73"/>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76" name="Text 74"/>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77" name="Text 75"/>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Giới thiệu sản phẩm, bốn vai trò và ba tính năng AI; dẫn người dùng vào đăng nhập hoặc luồng vai trò.</a:t>
            </a:r>
            <a:endParaRPr lang="en-US" sz="920" dirty="0"/>
          </a:p>
        </p:txBody>
      </p:sp>
      <p:sp>
        <p:nvSpPr>
          <p:cNvPr id="78" name="Text 76"/>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79" name="Shape 77"/>
          <p:cNvSpPr/>
          <p:nvPr/>
        </p:nvSpPr>
        <p:spPr>
          <a:xfrm>
            <a:off x="8839200" y="3238500"/>
            <a:ext cx="209550" cy="190500"/>
          </a:xfrm>
          <a:prstGeom prst="roundRect">
            <a:avLst>
              <a:gd name="adj" fmla="val 25000"/>
            </a:avLst>
          </a:prstGeom>
          <a:solidFill>
            <a:srgbClr val="F1F5F9"/>
          </a:solidFill>
          <a:ln/>
        </p:spPr>
      </p:sp>
      <p:sp>
        <p:nvSpPr>
          <p:cNvPr id="80" name="Text 78"/>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81" name="Shape 79"/>
          <p:cNvSpPr/>
          <p:nvPr/>
        </p:nvSpPr>
        <p:spPr>
          <a:xfrm>
            <a:off x="9086850" y="3238500"/>
            <a:ext cx="209550" cy="190500"/>
          </a:xfrm>
          <a:prstGeom prst="roundRect">
            <a:avLst>
              <a:gd name="adj" fmla="val 25000"/>
            </a:avLst>
          </a:prstGeom>
          <a:solidFill>
            <a:srgbClr val="059669"/>
          </a:solidFill>
          <a:ln/>
        </p:spPr>
      </p:sp>
      <p:sp>
        <p:nvSpPr>
          <p:cNvPr id="82" name="Text 80"/>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83" name="Shape 81"/>
          <p:cNvSpPr/>
          <p:nvPr/>
        </p:nvSpPr>
        <p:spPr>
          <a:xfrm>
            <a:off x="9334500" y="3238500"/>
            <a:ext cx="209550" cy="190500"/>
          </a:xfrm>
          <a:prstGeom prst="roundRect">
            <a:avLst>
              <a:gd name="adj" fmla="val 25000"/>
            </a:avLst>
          </a:prstGeom>
          <a:solidFill>
            <a:srgbClr val="F1F5F9"/>
          </a:solidFill>
          <a:ln/>
        </p:spPr>
      </p:sp>
      <p:sp>
        <p:nvSpPr>
          <p:cNvPr id="84" name="Text 82"/>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85" name="Shape 83"/>
          <p:cNvSpPr/>
          <p:nvPr/>
        </p:nvSpPr>
        <p:spPr>
          <a:xfrm>
            <a:off x="9582150" y="3238500"/>
            <a:ext cx="209550" cy="190500"/>
          </a:xfrm>
          <a:prstGeom prst="roundRect">
            <a:avLst>
              <a:gd name="adj" fmla="val 25000"/>
            </a:avLst>
          </a:prstGeom>
          <a:solidFill>
            <a:srgbClr val="F1F5F9"/>
          </a:solidFill>
          <a:ln/>
        </p:spPr>
      </p:sp>
      <p:sp>
        <p:nvSpPr>
          <p:cNvPr id="86" name="Text 84"/>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87" name="Text 85"/>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Trang tĩnh · hover/focus · responsive 960/640 · không cần loading.</a:t>
            </a:r>
            <a:endParaRPr lang="en-US" sz="900" dirty="0"/>
          </a:p>
        </p:txBody>
      </p:sp>
      <p:sp>
        <p:nvSpPr>
          <p:cNvPr id="88" name="Text 86"/>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89" name="Text 87"/>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Neo #roles cuộn mượt; thẻ vai trò là liên kết; CTA đăng nhập; menu thu gọn trên mobile.</a:t>
            </a:r>
            <a:endParaRPr lang="en-US" sz="900" dirty="0"/>
          </a:p>
        </p:txBody>
      </p:sp>
      <p:sp>
        <p:nvSpPr>
          <p:cNvPr id="90" name="Text 88"/>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91" name="Text 89"/>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Giới thiệu AI-1/2/3 và trạng thái thất bại; trang không gọi API.</a:t>
            </a:r>
            <a:endParaRPr lang="en-US" sz="900" dirty="0"/>
          </a:p>
        </p:txBody>
      </p:sp>
      <p:sp>
        <p:nvSpPr>
          <p:cNvPr id="92" name="Shape 90"/>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93" name="Text 91"/>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SV1-01-index</a:t>
            </a:r>
            <a:endParaRPr lang="en-US" sz="840" dirty="0"/>
          </a:p>
        </p:txBody>
      </p:sp>
      <p:sp>
        <p:nvSpPr>
          <p:cNvPr id="94" name="Text 92"/>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1F5F9"/>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64748B"/>
                </a:solidFill>
                <a:latin typeface="Segoe UI" pitchFamily="34" charset="0"/>
                <a:ea typeface="Segoe UI" pitchFamily="34" charset="-122"/>
                <a:cs typeface="Segoe UI" pitchFamily="34" charset="-120"/>
              </a:rPr>
              <a:t>DÙNG CHUNG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09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Đăng nhập theo vai trò</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pages/login.html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spendwise.app/pages/login.html</a:t>
            </a:r>
            <a:endParaRPr lang="en-US" sz="700" dirty="0"/>
          </a:p>
        </p:txBody>
      </p:sp>
      <p:sp>
        <p:nvSpPr>
          <p:cNvPr id="14" name="Shape 12"/>
          <p:cNvSpPr/>
          <p:nvPr/>
        </p:nvSpPr>
        <p:spPr>
          <a:xfrm>
            <a:off x="390525" y="1419225"/>
            <a:ext cx="3143250" cy="5172075"/>
          </a:xfrm>
          <a:prstGeom prst="rect">
            <a:avLst/>
          </a:prstGeom>
          <a:solidFill>
            <a:srgbClr val="052E22"/>
          </a:solidFill>
          <a:ln/>
        </p:spPr>
      </p:sp>
      <p:sp>
        <p:nvSpPr>
          <p:cNvPr id="15" name="Shape 13"/>
          <p:cNvSpPr/>
          <p:nvPr/>
        </p:nvSpPr>
        <p:spPr>
          <a:xfrm>
            <a:off x="619125" y="1695450"/>
            <a:ext cx="190500" cy="190500"/>
          </a:xfrm>
          <a:prstGeom prst="roundRect">
            <a:avLst>
              <a:gd name="adj" fmla="val 25000"/>
            </a:avLst>
          </a:prstGeom>
          <a:solidFill>
            <a:srgbClr val="059669"/>
          </a:solidFill>
          <a:ln/>
        </p:spPr>
      </p:sp>
      <p:sp>
        <p:nvSpPr>
          <p:cNvPr id="16" name="Text 14"/>
          <p:cNvSpPr txBox="1"/>
          <p:nvPr/>
        </p:nvSpPr>
        <p:spPr>
          <a:xfrm>
            <a:off x="619125" y="1695450"/>
            <a:ext cx="190500" cy="190500"/>
          </a:xfrm>
          <a:prstGeom prst="rect">
            <a:avLst/>
          </a:prstGeom>
          <a:noFill/>
          <a:ln/>
        </p:spPr>
        <p:txBody>
          <a:bodyPr wrap="square" lIns="0" tIns="0" rIns="0" bIns="0" rtlCol="0" anchor="ctr"/>
          <a:lstStyle/>
          <a:p>
            <a:pPr algn="ctr" indent="0" marL="0">
              <a:lnSpc>
                <a:spcPct val="106000"/>
              </a:lnSpc>
              <a:buNone/>
            </a:pPr>
            <a:r>
              <a:rPr lang="en-US" sz="900" b="1" dirty="0">
                <a:solidFill>
                  <a:srgbClr val="FFFFFF"/>
                </a:solidFill>
                <a:latin typeface="Segoe UI" pitchFamily="34" charset="0"/>
                <a:ea typeface="Segoe UI" pitchFamily="34" charset="-122"/>
                <a:cs typeface="Segoe UI" pitchFamily="34" charset="-120"/>
              </a:rPr>
              <a:t>S</a:t>
            </a:r>
            <a:endParaRPr lang="en-US" sz="900" dirty="0"/>
          </a:p>
        </p:txBody>
      </p:sp>
      <p:sp>
        <p:nvSpPr>
          <p:cNvPr id="17" name="Text 15"/>
          <p:cNvSpPr txBox="1"/>
          <p:nvPr/>
        </p:nvSpPr>
        <p:spPr>
          <a:xfrm>
            <a:off x="876300" y="1676400"/>
            <a:ext cx="1905000" cy="209550"/>
          </a:xfrm>
          <a:prstGeom prst="rect">
            <a:avLst/>
          </a:prstGeom>
          <a:noFill/>
          <a:ln/>
        </p:spPr>
        <p:txBody>
          <a:bodyPr wrap="square" lIns="0" tIns="0" rIns="0" bIns="0" rtlCol="0" anchor="t"/>
          <a:lstStyle/>
          <a:p>
            <a:pPr algn="l" indent="0" marL="0">
              <a:lnSpc>
                <a:spcPct val="106000"/>
              </a:lnSpc>
              <a:buNone/>
            </a:pPr>
            <a:r>
              <a:rPr lang="en-US" sz="1400" b="1" dirty="0">
                <a:solidFill>
                  <a:srgbClr val="FFFFFF"/>
                </a:solidFill>
                <a:latin typeface="Segoe UI" pitchFamily="34" charset="0"/>
                <a:ea typeface="Segoe UI" pitchFamily="34" charset="-122"/>
                <a:cs typeface="Segoe UI" pitchFamily="34" charset="-120"/>
              </a:rPr>
              <a:t>SpendWise</a:t>
            </a:r>
            <a:endParaRPr lang="en-US" sz="1400" dirty="0"/>
          </a:p>
        </p:txBody>
      </p:sp>
      <p:sp>
        <p:nvSpPr>
          <p:cNvPr id="18" name="Text 16"/>
          <p:cNvSpPr txBox="1"/>
          <p:nvPr/>
        </p:nvSpPr>
        <p:spPr>
          <a:xfrm>
            <a:off x="619125" y="2286000"/>
            <a:ext cx="2571750" cy="62865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Segoe UI" pitchFamily="34" charset="0"/>
                <a:ea typeface="Segoe UI" pitchFamily="34" charset="-122"/>
                <a:cs typeface="Segoe UI" pitchFamily="34" charset="-120"/>
              </a:rPr>
              <a:t>Hiểu tiền của bạn đi đâu.</a:t>
            </a:r>
            <a:endParaRPr lang="en-US" sz="1700" dirty="0"/>
          </a:p>
        </p:txBody>
      </p:sp>
      <p:sp>
        <p:nvSpPr>
          <p:cNvPr id="19" name="Text 17"/>
          <p:cNvSpPr txBox="1"/>
          <p:nvPr/>
        </p:nvSpPr>
        <p:spPr>
          <a:xfrm>
            <a:off x="619125" y="3028950"/>
            <a:ext cx="2571750" cy="533400"/>
          </a:xfrm>
          <a:prstGeom prst="rect">
            <a:avLst/>
          </a:prstGeom>
          <a:noFill/>
          <a:ln/>
        </p:spPr>
        <p:txBody>
          <a:bodyPr wrap="square" lIns="0" tIns="0" rIns="0" bIns="0" rtlCol="0" anchor="t"/>
          <a:lstStyle/>
          <a:p>
            <a:pPr algn="l" indent="0" marL="0">
              <a:lnSpc>
                <a:spcPct val="106000"/>
              </a:lnSpc>
              <a:buNone/>
            </a:pPr>
            <a:r>
              <a:rPr lang="en-US" sz="840" dirty="0">
                <a:solidFill>
                  <a:srgbClr val="A7F3D0"/>
                </a:solidFill>
                <a:latin typeface="Segoe UI" pitchFamily="34" charset="0"/>
                <a:ea typeface="Segoe UI" pitchFamily="34" charset="-122"/>
                <a:cs typeface="Segoe UI" pitchFamily="34" charset="-120"/>
              </a:rPr>
              <a:t>Ghi chép, đặt ngân sách và biến dữ liệu thành hành động mỗi tuần.</a:t>
            </a:r>
            <a:endParaRPr lang="en-US" sz="840" dirty="0"/>
          </a:p>
        </p:txBody>
      </p:sp>
      <p:sp>
        <p:nvSpPr>
          <p:cNvPr id="20" name="Text 18"/>
          <p:cNvSpPr txBox="1"/>
          <p:nvPr/>
        </p:nvSpPr>
        <p:spPr>
          <a:xfrm>
            <a:off x="619125" y="381000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Giao dịch &amp; ngân sách</a:t>
            </a:r>
            <a:endParaRPr lang="en-US" sz="820" dirty="0"/>
          </a:p>
        </p:txBody>
      </p:sp>
      <p:sp>
        <p:nvSpPr>
          <p:cNvPr id="21" name="Text 19"/>
          <p:cNvSpPr txBox="1"/>
          <p:nvPr/>
        </p:nvSpPr>
        <p:spPr>
          <a:xfrm>
            <a:off x="619125" y="405765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3 tính năng AI có kiểm soát</a:t>
            </a:r>
            <a:endParaRPr lang="en-US" sz="820" dirty="0"/>
          </a:p>
        </p:txBody>
      </p:sp>
      <p:sp>
        <p:nvSpPr>
          <p:cNvPr id="22" name="Text 20"/>
          <p:cNvSpPr txBox="1"/>
          <p:nvPr/>
        </p:nvSpPr>
        <p:spPr>
          <a:xfrm>
            <a:off x="619125" y="430530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Coach đồng hành</a:t>
            </a:r>
            <a:endParaRPr lang="en-US" sz="820" dirty="0"/>
          </a:p>
        </p:txBody>
      </p:sp>
      <p:sp>
        <p:nvSpPr>
          <p:cNvPr id="23" name="Shape 21"/>
          <p:cNvSpPr/>
          <p:nvPr/>
        </p:nvSpPr>
        <p:spPr>
          <a:xfrm>
            <a:off x="619125" y="5524500"/>
            <a:ext cx="2571750" cy="9525"/>
          </a:xfrm>
          <a:prstGeom prst="line">
            <a:avLst/>
          </a:prstGeom>
          <a:solidFill>
            <a:srgbClr val="FFFFFF">
              <a:alpha val="0"/>
            </a:srgbClr>
          </a:solidFill>
          <a:ln w="9525">
            <a:solidFill>
              <a:srgbClr val="14513C"/>
            </a:solidFill>
            <a:prstDash val="solid"/>
          </a:ln>
        </p:spPr>
      </p:sp>
      <p:sp>
        <p:nvSpPr>
          <p:cNvPr id="24" name="Text 22"/>
          <p:cNvSpPr txBox="1"/>
          <p:nvPr/>
        </p:nvSpPr>
        <p:spPr>
          <a:xfrm>
            <a:off x="619125" y="5657850"/>
            <a:ext cx="2286000" cy="114300"/>
          </a:xfrm>
          <a:prstGeom prst="rect">
            <a:avLst/>
          </a:prstGeom>
          <a:noFill/>
          <a:ln/>
        </p:spPr>
        <p:txBody>
          <a:bodyPr wrap="square" lIns="0" tIns="0" rIns="0" bIns="0" rtlCol="0" anchor="t"/>
          <a:lstStyle/>
          <a:p>
            <a:pPr algn="l" indent="0" marL="0">
              <a:lnSpc>
                <a:spcPct val="106000"/>
              </a:lnSpc>
              <a:buNone/>
            </a:pPr>
            <a:r>
              <a:rPr lang="en-US" sz="640" b="1" spc="50" kern="0" dirty="0">
                <a:solidFill>
                  <a:srgbClr val="6EE7B7"/>
                </a:solidFill>
                <a:latin typeface="Segoe UI" pitchFamily="34" charset="0"/>
                <a:ea typeface="Segoe UI" pitchFamily="34" charset="-122"/>
                <a:cs typeface="Segoe UI" pitchFamily="34" charset="-120"/>
              </a:rPr>
              <a:t>TÀI KHOẢN DEMO</a:t>
            </a:r>
            <a:endParaRPr lang="en-US" sz="640" dirty="0"/>
          </a:p>
        </p:txBody>
      </p:sp>
      <p:sp>
        <p:nvSpPr>
          <p:cNvPr id="25" name="Text 23"/>
          <p:cNvSpPr txBox="1"/>
          <p:nvPr/>
        </p:nvSpPr>
        <p:spPr>
          <a:xfrm>
            <a:off x="619125" y="5810250"/>
            <a:ext cx="2571750" cy="133350"/>
          </a:xfrm>
          <a:prstGeom prst="rect">
            <a:avLst/>
          </a:prstGeom>
          <a:noFill/>
          <a:ln/>
        </p:spPr>
        <p:txBody>
          <a:bodyPr wrap="square" lIns="0" tIns="0" rIns="0" bIns="0" rtlCol="0" anchor="t"/>
          <a:lstStyle/>
          <a:p>
            <a:pPr algn="l" indent="0" marL="0">
              <a:lnSpc>
                <a:spcPct val="106000"/>
              </a:lnSpc>
              <a:buNone/>
            </a:pPr>
            <a:r>
              <a:rPr lang="en-US" sz="700" dirty="0">
                <a:solidFill>
                  <a:srgbClr val="6EE7B7"/>
                </a:solidFill>
                <a:latin typeface="Segoe UI" pitchFamily="34" charset="0"/>
                <a:ea typeface="Segoe UI" pitchFamily="34" charset="-122"/>
                <a:cs typeface="Segoe UI" pitchFamily="34" charset="-120"/>
              </a:rPr>
              <a:t>minh@student.edu.vn · 123456</a:t>
            </a:r>
            <a:endParaRPr lang="en-US" sz="700" dirty="0"/>
          </a:p>
        </p:txBody>
      </p:sp>
      <p:sp>
        <p:nvSpPr>
          <p:cNvPr id="26" name="Shape 24"/>
          <p:cNvSpPr/>
          <p:nvPr/>
        </p:nvSpPr>
        <p:spPr>
          <a:xfrm>
            <a:off x="3533775" y="1419225"/>
            <a:ext cx="4838700" cy="5172075"/>
          </a:xfrm>
          <a:prstGeom prst="rect">
            <a:avLst/>
          </a:prstGeom>
          <a:solidFill>
            <a:srgbClr val="FFFFFF"/>
          </a:solidFill>
          <a:ln/>
        </p:spPr>
      </p:sp>
      <p:sp>
        <p:nvSpPr>
          <p:cNvPr id="27" name="Text 25"/>
          <p:cNvSpPr txBox="1"/>
          <p:nvPr/>
        </p:nvSpPr>
        <p:spPr>
          <a:xfrm>
            <a:off x="4000500" y="1790700"/>
            <a:ext cx="3810000" cy="228600"/>
          </a:xfrm>
          <a:prstGeom prst="rect">
            <a:avLst/>
          </a:prstGeom>
          <a:noFill/>
          <a:ln/>
        </p:spPr>
        <p:txBody>
          <a:bodyPr wrap="square" lIns="0" tIns="0" rIns="0" bIns="0" rtlCol="0" anchor="t"/>
          <a:lstStyle/>
          <a:p>
            <a:pPr algn="l" indent="0" marL="0">
              <a:lnSpc>
                <a:spcPct val="106000"/>
              </a:lnSpc>
              <a:buNone/>
            </a:pPr>
            <a:r>
              <a:rPr lang="en-US" sz="1600" b="1" dirty="0">
                <a:solidFill>
                  <a:srgbClr val="0F172A"/>
                </a:solidFill>
                <a:latin typeface="Segoe UI" pitchFamily="34" charset="0"/>
                <a:ea typeface="Segoe UI" pitchFamily="34" charset="-122"/>
                <a:cs typeface="Segoe UI" pitchFamily="34" charset="-120"/>
              </a:rPr>
              <a:t>Đăng nhập SpendWise</a:t>
            </a:r>
            <a:endParaRPr lang="en-US" sz="1600" dirty="0"/>
          </a:p>
        </p:txBody>
      </p:sp>
      <p:sp>
        <p:nvSpPr>
          <p:cNvPr id="28" name="Text 26"/>
          <p:cNvSpPr txBox="1"/>
          <p:nvPr/>
        </p:nvSpPr>
        <p:spPr>
          <a:xfrm>
            <a:off x="4000500" y="2076450"/>
            <a:ext cx="3810000" cy="15240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Chọn vai trò để bước vào đúng không gian làm việc.</a:t>
            </a:r>
            <a:endParaRPr lang="en-US" sz="740" dirty="0"/>
          </a:p>
        </p:txBody>
      </p:sp>
      <p:sp>
        <p:nvSpPr>
          <p:cNvPr id="29" name="Text 27"/>
          <p:cNvSpPr txBox="1"/>
          <p:nvPr/>
        </p:nvSpPr>
        <p:spPr>
          <a:xfrm>
            <a:off x="4000500" y="238125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Email</a:t>
            </a:r>
            <a:endParaRPr lang="en-US" sz="660" dirty="0"/>
          </a:p>
        </p:txBody>
      </p:sp>
      <p:sp>
        <p:nvSpPr>
          <p:cNvPr id="30" name="Shape 28"/>
          <p:cNvSpPr/>
          <p:nvPr/>
        </p:nvSpPr>
        <p:spPr>
          <a:xfrm>
            <a:off x="4000500" y="2514600"/>
            <a:ext cx="3810000" cy="304800"/>
          </a:xfrm>
          <a:prstGeom prst="roundRect">
            <a:avLst>
              <a:gd name="adj" fmla="val 18750"/>
            </a:avLst>
          </a:prstGeom>
          <a:solidFill>
            <a:srgbClr val="FFFFFF"/>
          </a:solidFill>
          <a:ln w="9525">
            <a:solidFill>
              <a:srgbClr val="E2E8F0"/>
            </a:solidFill>
            <a:prstDash val="solid"/>
          </a:ln>
        </p:spPr>
      </p:sp>
      <p:sp>
        <p:nvSpPr>
          <p:cNvPr id="31" name="Text 29"/>
          <p:cNvSpPr txBox="1"/>
          <p:nvPr/>
        </p:nvSpPr>
        <p:spPr>
          <a:xfrm>
            <a:off x="4114800" y="2590800"/>
            <a:ext cx="28575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minh@student.edu.vn</a:t>
            </a:r>
            <a:endParaRPr lang="en-US" sz="720" dirty="0"/>
          </a:p>
        </p:txBody>
      </p:sp>
      <p:sp>
        <p:nvSpPr>
          <p:cNvPr id="32" name="Text 30"/>
          <p:cNvSpPr txBox="1"/>
          <p:nvPr/>
        </p:nvSpPr>
        <p:spPr>
          <a:xfrm>
            <a:off x="4000500" y="297180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Mật khẩu</a:t>
            </a:r>
            <a:endParaRPr lang="en-US" sz="660" dirty="0"/>
          </a:p>
        </p:txBody>
      </p:sp>
      <p:sp>
        <p:nvSpPr>
          <p:cNvPr id="33" name="Shape 31"/>
          <p:cNvSpPr/>
          <p:nvPr/>
        </p:nvSpPr>
        <p:spPr>
          <a:xfrm>
            <a:off x="4000500" y="3105150"/>
            <a:ext cx="3810000" cy="304800"/>
          </a:xfrm>
          <a:prstGeom prst="roundRect">
            <a:avLst>
              <a:gd name="adj" fmla="val 18750"/>
            </a:avLst>
          </a:prstGeom>
          <a:solidFill>
            <a:srgbClr val="FFFFFF"/>
          </a:solidFill>
          <a:ln w="9525">
            <a:solidFill>
              <a:srgbClr val="E2E8F0"/>
            </a:solidFill>
            <a:prstDash val="solid"/>
          </a:ln>
        </p:spPr>
      </p:sp>
      <p:sp>
        <p:nvSpPr>
          <p:cNvPr id="34" name="Text 32"/>
          <p:cNvSpPr txBox="1"/>
          <p:nvPr/>
        </p:nvSpPr>
        <p:spPr>
          <a:xfrm>
            <a:off x="4114800" y="3181350"/>
            <a:ext cx="1905000" cy="133350"/>
          </a:xfrm>
          <a:prstGeom prst="rect">
            <a:avLst/>
          </a:prstGeom>
          <a:noFill/>
          <a:ln/>
        </p:spPr>
        <p:txBody>
          <a:bodyPr wrap="square" lIns="0" tIns="0" rIns="0" bIns="0" rtlCol="0" anchor="t"/>
          <a:lstStyle/>
          <a:p>
            <a:pPr algn="l" indent="0" marL="0">
              <a:lnSpc>
                <a:spcPct val="106000"/>
              </a:lnSpc>
              <a:buNone/>
            </a:pPr>
            <a:r>
              <a:rPr lang="en-US" sz="800" dirty="0">
                <a:solidFill>
                  <a:srgbClr val="475569"/>
                </a:solidFill>
                <a:latin typeface="Segoe UI" pitchFamily="34" charset="0"/>
                <a:ea typeface="Segoe UI" pitchFamily="34" charset="-122"/>
                <a:cs typeface="Segoe UI" pitchFamily="34" charset="-120"/>
              </a:rPr>
              <a:t>••••••••</a:t>
            </a:r>
            <a:endParaRPr lang="en-US" sz="800" dirty="0"/>
          </a:p>
        </p:txBody>
      </p:sp>
      <p:sp>
        <p:nvSpPr>
          <p:cNvPr id="35" name="Text 33"/>
          <p:cNvSpPr txBox="1"/>
          <p:nvPr/>
        </p:nvSpPr>
        <p:spPr>
          <a:xfrm>
            <a:off x="6934200" y="2971800"/>
            <a:ext cx="876300" cy="114300"/>
          </a:xfrm>
          <a:prstGeom prst="rect">
            <a:avLst/>
          </a:prstGeom>
          <a:noFill/>
          <a:ln/>
        </p:spPr>
        <p:txBody>
          <a:bodyPr wrap="square" lIns="0" tIns="0" rIns="0" bIns="0" rtlCol="0" anchor="t"/>
          <a:lstStyle/>
          <a:p>
            <a:pPr algn="r" indent="0" marL="0">
              <a:lnSpc>
                <a:spcPct val="106000"/>
              </a:lnSpc>
              <a:buNone/>
            </a:pPr>
            <a:r>
              <a:rPr lang="en-US" sz="640" dirty="0">
                <a:solidFill>
                  <a:srgbClr val="047857"/>
                </a:solidFill>
                <a:latin typeface="Segoe UI" pitchFamily="34" charset="0"/>
                <a:ea typeface="Segoe UI" pitchFamily="34" charset="-122"/>
                <a:cs typeface="Segoe UI" pitchFamily="34" charset="-120"/>
              </a:rPr>
              <a:t>Quên mật khẩu?</a:t>
            </a:r>
            <a:endParaRPr lang="en-US" sz="640" dirty="0"/>
          </a:p>
        </p:txBody>
      </p:sp>
      <p:sp>
        <p:nvSpPr>
          <p:cNvPr id="36" name="Shape 34"/>
          <p:cNvSpPr/>
          <p:nvPr/>
        </p:nvSpPr>
        <p:spPr>
          <a:xfrm>
            <a:off x="4000500" y="3562350"/>
            <a:ext cx="114300" cy="114300"/>
          </a:xfrm>
          <a:prstGeom prst="roundRect">
            <a:avLst>
              <a:gd name="adj" fmla="val 25000"/>
            </a:avLst>
          </a:prstGeom>
          <a:solidFill>
            <a:srgbClr val="FFFFFF"/>
          </a:solidFill>
          <a:ln w="9525">
            <a:solidFill>
              <a:srgbClr val="94A3B8"/>
            </a:solidFill>
            <a:prstDash val="solid"/>
          </a:ln>
        </p:spPr>
      </p:sp>
      <p:sp>
        <p:nvSpPr>
          <p:cNvPr id="37" name="Text 35"/>
          <p:cNvSpPr txBox="1"/>
          <p:nvPr/>
        </p:nvSpPr>
        <p:spPr>
          <a:xfrm>
            <a:off x="4171950" y="3562350"/>
            <a:ext cx="2857500" cy="11430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Ghi nhớ đăng nhập trên thiết bị này</a:t>
            </a:r>
            <a:endParaRPr lang="en-US" sz="660" dirty="0"/>
          </a:p>
        </p:txBody>
      </p:sp>
      <p:sp>
        <p:nvSpPr>
          <p:cNvPr id="38" name="Shape 36"/>
          <p:cNvSpPr/>
          <p:nvPr/>
        </p:nvSpPr>
        <p:spPr>
          <a:xfrm>
            <a:off x="4000500" y="3790950"/>
            <a:ext cx="3810000" cy="323850"/>
          </a:xfrm>
          <a:prstGeom prst="roundRect">
            <a:avLst>
              <a:gd name="adj" fmla="val 17647"/>
            </a:avLst>
          </a:prstGeom>
          <a:solidFill>
            <a:srgbClr val="059669"/>
          </a:solidFill>
          <a:ln/>
        </p:spPr>
      </p:sp>
      <p:sp>
        <p:nvSpPr>
          <p:cNvPr id="39" name="Text 37"/>
          <p:cNvSpPr txBox="1"/>
          <p:nvPr/>
        </p:nvSpPr>
        <p:spPr>
          <a:xfrm>
            <a:off x="4000500" y="3790950"/>
            <a:ext cx="3810000" cy="323850"/>
          </a:xfrm>
          <a:prstGeom prst="rect">
            <a:avLst/>
          </a:prstGeom>
          <a:noFill/>
          <a:ln/>
        </p:spPr>
        <p:txBody>
          <a:bodyPr wrap="square" lIns="0" tIns="0" rIns="0" bIns="0" rtlCol="0" anchor="ctr"/>
          <a:lstStyle/>
          <a:p>
            <a:pPr algn="ctr" indent="0" marL="0">
              <a:lnSpc>
                <a:spcPct val="106000"/>
              </a:lnSpc>
              <a:buNone/>
            </a:pPr>
            <a:r>
              <a:rPr lang="en-US" sz="820" b="1" dirty="0">
                <a:solidFill>
                  <a:srgbClr val="FFFFFF"/>
                </a:solidFill>
                <a:latin typeface="Segoe UI" pitchFamily="34" charset="0"/>
                <a:ea typeface="Segoe UI" pitchFamily="34" charset="-122"/>
                <a:cs typeface="Segoe UI" pitchFamily="34" charset="-120"/>
              </a:rPr>
              <a:t>Đăng nhập</a:t>
            </a:r>
            <a:endParaRPr lang="en-US" sz="820" dirty="0"/>
          </a:p>
        </p:txBody>
      </p:sp>
      <p:sp>
        <p:nvSpPr>
          <p:cNvPr id="40" name="Shape 38"/>
          <p:cNvSpPr/>
          <p:nvPr/>
        </p:nvSpPr>
        <p:spPr>
          <a:xfrm>
            <a:off x="4000500" y="4305300"/>
            <a:ext cx="3810000" cy="9525"/>
          </a:xfrm>
          <a:prstGeom prst="line">
            <a:avLst/>
          </a:prstGeom>
          <a:solidFill>
            <a:srgbClr val="FFFFFF">
              <a:alpha val="0"/>
            </a:srgbClr>
          </a:solidFill>
          <a:ln w="9525">
            <a:solidFill>
              <a:srgbClr val="E2E8F0"/>
            </a:solidFill>
            <a:prstDash val="solid"/>
          </a:ln>
        </p:spPr>
      </p:sp>
      <p:sp>
        <p:nvSpPr>
          <p:cNvPr id="41" name="Text 39"/>
          <p:cNvSpPr txBox="1"/>
          <p:nvPr/>
        </p:nvSpPr>
        <p:spPr>
          <a:xfrm>
            <a:off x="5143500" y="4229100"/>
            <a:ext cx="1524000" cy="13335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hoặc đăng nhập nhanh</a:t>
            </a:r>
            <a:endParaRPr lang="en-US" sz="640" dirty="0"/>
          </a:p>
        </p:txBody>
      </p:sp>
      <p:sp>
        <p:nvSpPr>
          <p:cNvPr id="42" name="Shape 40"/>
          <p:cNvSpPr/>
          <p:nvPr/>
        </p:nvSpPr>
        <p:spPr>
          <a:xfrm>
            <a:off x="4000500" y="4438650"/>
            <a:ext cx="1828800" cy="247650"/>
          </a:xfrm>
          <a:prstGeom prst="roundRect">
            <a:avLst>
              <a:gd name="adj" fmla="val 19231"/>
            </a:avLst>
          </a:prstGeom>
          <a:solidFill>
            <a:srgbClr val="ECFDF5"/>
          </a:solidFill>
          <a:ln w="9525">
            <a:solidFill>
              <a:srgbClr val="E2E8F0"/>
            </a:solidFill>
            <a:prstDash val="solid"/>
          </a:ln>
        </p:spPr>
      </p:sp>
      <p:sp>
        <p:nvSpPr>
          <p:cNvPr id="43" name="Text 41"/>
          <p:cNvSpPr txBox="1"/>
          <p:nvPr/>
        </p:nvSpPr>
        <p:spPr>
          <a:xfrm>
            <a:off x="4000500" y="4438650"/>
            <a:ext cx="1828800" cy="24765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Người dùng</a:t>
            </a:r>
            <a:endParaRPr lang="en-US" sz="700" dirty="0"/>
          </a:p>
        </p:txBody>
      </p:sp>
      <p:sp>
        <p:nvSpPr>
          <p:cNvPr id="44" name="Shape 42"/>
          <p:cNvSpPr/>
          <p:nvPr/>
        </p:nvSpPr>
        <p:spPr>
          <a:xfrm>
            <a:off x="5981700" y="4438650"/>
            <a:ext cx="1828800" cy="247650"/>
          </a:xfrm>
          <a:prstGeom prst="roundRect">
            <a:avLst>
              <a:gd name="adj" fmla="val 19231"/>
            </a:avLst>
          </a:prstGeom>
          <a:solidFill>
            <a:srgbClr val="FFFFFF"/>
          </a:solidFill>
          <a:ln w="9525">
            <a:solidFill>
              <a:srgbClr val="E2E8F0"/>
            </a:solidFill>
            <a:prstDash val="solid"/>
          </a:ln>
        </p:spPr>
      </p:sp>
      <p:sp>
        <p:nvSpPr>
          <p:cNvPr id="45" name="Text 43"/>
          <p:cNvSpPr txBox="1"/>
          <p:nvPr/>
        </p:nvSpPr>
        <p:spPr>
          <a:xfrm>
            <a:off x="5981700" y="4438650"/>
            <a:ext cx="1828800" cy="2476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Huấn luyện viên</a:t>
            </a:r>
            <a:endParaRPr lang="en-US" sz="700" dirty="0"/>
          </a:p>
        </p:txBody>
      </p:sp>
      <p:sp>
        <p:nvSpPr>
          <p:cNvPr id="46" name="Shape 44"/>
          <p:cNvSpPr/>
          <p:nvPr/>
        </p:nvSpPr>
        <p:spPr>
          <a:xfrm>
            <a:off x="4000500" y="4762500"/>
            <a:ext cx="1828800" cy="247650"/>
          </a:xfrm>
          <a:prstGeom prst="roundRect">
            <a:avLst>
              <a:gd name="adj" fmla="val 19231"/>
            </a:avLst>
          </a:prstGeom>
          <a:solidFill>
            <a:srgbClr val="FFFFFF"/>
          </a:solidFill>
          <a:ln w="9525">
            <a:solidFill>
              <a:srgbClr val="E2E8F0"/>
            </a:solidFill>
            <a:prstDash val="solid"/>
          </a:ln>
        </p:spPr>
      </p:sp>
      <p:sp>
        <p:nvSpPr>
          <p:cNvPr id="47" name="Text 45"/>
          <p:cNvSpPr txBox="1"/>
          <p:nvPr/>
        </p:nvSpPr>
        <p:spPr>
          <a:xfrm>
            <a:off x="4000500" y="4762500"/>
            <a:ext cx="1828800" cy="2476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Kiểm duyệt viên</a:t>
            </a:r>
            <a:endParaRPr lang="en-US" sz="700" dirty="0"/>
          </a:p>
        </p:txBody>
      </p:sp>
      <p:sp>
        <p:nvSpPr>
          <p:cNvPr id="48" name="Shape 46"/>
          <p:cNvSpPr/>
          <p:nvPr/>
        </p:nvSpPr>
        <p:spPr>
          <a:xfrm>
            <a:off x="5981700" y="4762500"/>
            <a:ext cx="1828800" cy="247650"/>
          </a:xfrm>
          <a:prstGeom prst="roundRect">
            <a:avLst>
              <a:gd name="adj" fmla="val 19231"/>
            </a:avLst>
          </a:prstGeom>
          <a:solidFill>
            <a:srgbClr val="FFFFFF"/>
          </a:solidFill>
          <a:ln w="9525">
            <a:solidFill>
              <a:srgbClr val="E2E8F0"/>
            </a:solidFill>
            <a:prstDash val="solid"/>
          </a:ln>
        </p:spPr>
      </p:sp>
      <p:sp>
        <p:nvSpPr>
          <p:cNvPr id="49" name="Text 47"/>
          <p:cNvSpPr txBox="1"/>
          <p:nvPr/>
        </p:nvSpPr>
        <p:spPr>
          <a:xfrm>
            <a:off x="5981700" y="4762500"/>
            <a:ext cx="1828800" cy="2476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Quản trị viên</a:t>
            </a:r>
            <a:endParaRPr lang="en-US" sz="700" dirty="0"/>
          </a:p>
        </p:txBody>
      </p:sp>
      <p:sp>
        <p:nvSpPr>
          <p:cNvPr id="50" name="Text 48"/>
          <p:cNvSpPr txBox="1"/>
          <p:nvPr/>
        </p:nvSpPr>
        <p:spPr>
          <a:xfrm>
            <a:off x="4000500" y="5124450"/>
            <a:ext cx="3810000" cy="13335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Chưa có tài khoản? Đăng ký ngay</a:t>
            </a:r>
            <a:endParaRPr lang="en-US" sz="720" dirty="0"/>
          </a:p>
        </p:txBody>
      </p:sp>
      <p:sp>
        <p:nvSpPr>
          <p:cNvPr id="51" name="Shape 49"/>
          <p:cNvSpPr/>
          <p:nvPr/>
        </p:nvSpPr>
        <p:spPr>
          <a:xfrm>
            <a:off x="4000500" y="5353050"/>
            <a:ext cx="3810000" cy="419100"/>
          </a:xfrm>
          <a:prstGeom prst="roundRect">
            <a:avLst>
              <a:gd name="adj" fmla="val 13636"/>
            </a:avLst>
          </a:prstGeom>
          <a:solidFill>
            <a:srgbClr val="FEF2F2"/>
          </a:solidFill>
          <a:ln/>
        </p:spPr>
      </p:sp>
      <p:sp>
        <p:nvSpPr>
          <p:cNvPr id="52" name="Text 50"/>
          <p:cNvSpPr txBox="1"/>
          <p:nvPr/>
        </p:nvSpPr>
        <p:spPr>
          <a:xfrm>
            <a:off x="4114800" y="5429250"/>
            <a:ext cx="3581400" cy="133350"/>
          </a:xfrm>
          <a:prstGeom prst="rect">
            <a:avLst/>
          </a:prstGeom>
          <a:noFill/>
          <a:ln/>
        </p:spPr>
        <p:txBody>
          <a:bodyPr wrap="square" lIns="0" tIns="0" rIns="0" bIns="0" rtlCol="0" anchor="t"/>
          <a:lstStyle/>
          <a:p>
            <a:pPr algn="l" indent="0" marL="0">
              <a:lnSpc>
                <a:spcPct val="106000"/>
              </a:lnSpc>
              <a:buNone/>
            </a:pPr>
            <a:r>
              <a:rPr lang="en-US" sz="700" b="1" dirty="0">
                <a:solidFill>
                  <a:srgbClr val="DC2626"/>
                </a:solidFill>
                <a:latin typeface="Segoe UI" pitchFamily="34" charset="0"/>
                <a:ea typeface="Segoe UI" pitchFamily="34" charset="-122"/>
                <a:cs typeface="Segoe UI" pitchFamily="34" charset="-120"/>
              </a:rPr>
              <a:t>Sai mật khẩu hoặc tài khoản đã bị khoá.</a:t>
            </a:r>
            <a:endParaRPr lang="en-US" sz="700" dirty="0"/>
          </a:p>
        </p:txBody>
      </p:sp>
      <p:sp>
        <p:nvSpPr>
          <p:cNvPr id="53" name="Text 51"/>
          <p:cNvSpPr txBox="1"/>
          <p:nvPr/>
        </p:nvSpPr>
        <p:spPr>
          <a:xfrm>
            <a:off x="4114800" y="5581650"/>
            <a:ext cx="3581400" cy="133350"/>
          </a:xfrm>
          <a:prstGeom prst="rect">
            <a:avLst/>
          </a:prstGeom>
          <a:noFill/>
          <a:ln/>
        </p:spPr>
        <p:txBody>
          <a:bodyPr wrap="square" lIns="0" tIns="0" rIns="0" bIns="0" rtlCol="0" anchor="t"/>
          <a:lstStyle/>
          <a:p>
            <a:pPr algn="l" indent="0" marL="0">
              <a:lnSpc>
                <a:spcPct val="106000"/>
              </a:lnSpc>
              <a:buNone/>
            </a:pPr>
            <a:r>
              <a:rPr lang="en-US" sz="620" dirty="0">
                <a:solidFill>
                  <a:srgbClr val="991B1B"/>
                </a:solidFill>
                <a:latin typeface="Segoe UI" pitchFamily="34" charset="0"/>
                <a:ea typeface="Segoe UI" pitchFamily="34" charset="-122"/>
                <a:cs typeface="Segoe UI" pitchFamily="34" charset="-120"/>
              </a:rPr>
              <a:t>Còn 2 lần thử · Liên hệ quản trị viên nếu tài khoản bị khoá.</a:t>
            </a:r>
            <a:endParaRPr lang="en-US" sz="620" dirty="0"/>
          </a:p>
        </p:txBody>
      </p:sp>
      <p:sp>
        <p:nvSpPr>
          <p:cNvPr id="54" name="Shape 52"/>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55" name="Text 53"/>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09 / 27</a:t>
            </a:r>
            <a:endParaRPr lang="en-US" sz="740" dirty="0"/>
          </a:p>
        </p:txBody>
      </p:sp>
      <p:sp>
        <p:nvSpPr>
          <p:cNvPr id="56" name="Text 54"/>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Đăng nhập theo vai trò</a:t>
            </a:r>
            <a:endParaRPr lang="en-US" sz="1700" dirty="0"/>
          </a:p>
        </p:txBody>
      </p:sp>
      <p:sp>
        <p:nvSpPr>
          <p:cNvPr id="57" name="Text 55"/>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pages/login.html</a:t>
            </a:r>
            <a:endParaRPr lang="en-US" sz="720" dirty="0"/>
          </a:p>
        </p:txBody>
      </p:sp>
      <p:sp>
        <p:nvSpPr>
          <p:cNvPr id="58" name="Shape 56"/>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59" name="Text 57"/>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60" name="Text 58"/>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Xác thực người dùng, hiển thị trạng thái tài khoản bị khoá và mở lối vào nhanh cho bốn vai trò demo.</a:t>
            </a:r>
            <a:endParaRPr lang="en-US" sz="920" dirty="0"/>
          </a:p>
        </p:txBody>
      </p:sp>
      <p:sp>
        <p:nvSpPr>
          <p:cNvPr id="61" name="Text 59"/>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62" name="Shape 60"/>
          <p:cNvSpPr/>
          <p:nvPr/>
        </p:nvSpPr>
        <p:spPr>
          <a:xfrm>
            <a:off x="8839200" y="3238500"/>
            <a:ext cx="209550" cy="190500"/>
          </a:xfrm>
          <a:prstGeom prst="roundRect">
            <a:avLst>
              <a:gd name="adj" fmla="val 25000"/>
            </a:avLst>
          </a:prstGeom>
          <a:solidFill>
            <a:srgbClr val="F1F5F9"/>
          </a:solidFill>
          <a:ln/>
        </p:spPr>
      </p:sp>
      <p:sp>
        <p:nvSpPr>
          <p:cNvPr id="63" name="Text 61"/>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64" name="Shape 62"/>
          <p:cNvSpPr/>
          <p:nvPr/>
        </p:nvSpPr>
        <p:spPr>
          <a:xfrm>
            <a:off x="9086850" y="3238500"/>
            <a:ext cx="209550" cy="190500"/>
          </a:xfrm>
          <a:prstGeom prst="roundRect">
            <a:avLst>
              <a:gd name="adj" fmla="val 25000"/>
            </a:avLst>
          </a:prstGeom>
          <a:solidFill>
            <a:srgbClr val="059669"/>
          </a:solidFill>
          <a:ln/>
        </p:spPr>
      </p:sp>
      <p:sp>
        <p:nvSpPr>
          <p:cNvPr id="65" name="Text 63"/>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66" name="Shape 64"/>
          <p:cNvSpPr/>
          <p:nvPr/>
        </p:nvSpPr>
        <p:spPr>
          <a:xfrm>
            <a:off x="9334500" y="3238500"/>
            <a:ext cx="209550" cy="190500"/>
          </a:xfrm>
          <a:prstGeom prst="roundRect">
            <a:avLst>
              <a:gd name="adj" fmla="val 25000"/>
            </a:avLst>
          </a:prstGeom>
          <a:solidFill>
            <a:srgbClr val="F1F5F9"/>
          </a:solidFill>
          <a:ln/>
        </p:spPr>
      </p:sp>
      <p:sp>
        <p:nvSpPr>
          <p:cNvPr id="67" name="Text 65"/>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68" name="Shape 66"/>
          <p:cNvSpPr/>
          <p:nvPr/>
        </p:nvSpPr>
        <p:spPr>
          <a:xfrm>
            <a:off x="9582150" y="3238500"/>
            <a:ext cx="209550" cy="190500"/>
          </a:xfrm>
          <a:prstGeom prst="roundRect">
            <a:avLst>
              <a:gd name="adj" fmla="val 25000"/>
            </a:avLst>
          </a:prstGeom>
          <a:solidFill>
            <a:srgbClr val="F1F5F9"/>
          </a:solidFill>
          <a:ln/>
        </p:spPr>
      </p:sp>
      <p:sp>
        <p:nvSpPr>
          <p:cNvPr id="69" name="Text 67"/>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70" name="Text 68"/>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Rỗng · sai mật khẩu · tài khoản bị khoá · đang xử lý · thành công chuyển trang.</a:t>
            </a:r>
            <a:endParaRPr lang="en-US" sz="900" dirty="0"/>
          </a:p>
        </p:txBody>
      </p:sp>
      <p:sp>
        <p:nvSpPr>
          <p:cNvPr id="71" name="Text 69"/>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72" name="Text 70"/>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Kiểm tra email/mật khẩu; hiện–ẩn mật khẩu; bốn nút đăng nhập nhanh; ghi sessionStorage và điều hướng.</a:t>
            </a:r>
            <a:endParaRPr lang="en-US" sz="900" dirty="0"/>
          </a:p>
        </p:txBody>
      </p:sp>
      <p:sp>
        <p:nvSpPr>
          <p:cNvPr id="73" name="Text 71"/>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74" name="Text 72"/>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Dữ liệu users trong JSON; mật khẩu demo 123456; không gọi API thật.</a:t>
            </a:r>
            <a:endParaRPr lang="en-US" sz="900" dirty="0"/>
          </a:p>
        </p:txBody>
      </p:sp>
      <p:sp>
        <p:nvSpPr>
          <p:cNvPr id="75" name="Shape 73"/>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76" name="Text 74"/>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SV1-02-login</a:t>
            </a:r>
            <a:endParaRPr lang="en-US" sz="840" dirty="0"/>
          </a:p>
        </p:txBody>
      </p:sp>
      <p:sp>
        <p:nvSpPr>
          <p:cNvPr id="77" name="Text 75"/>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1F5F9"/>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64748B"/>
                </a:solidFill>
                <a:latin typeface="Segoe UI" pitchFamily="34" charset="0"/>
                <a:ea typeface="Segoe UI" pitchFamily="34" charset="-122"/>
                <a:cs typeface="Segoe UI" pitchFamily="34" charset="-120"/>
              </a:rPr>
              <a:t>DÙNG CHUNG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10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Đăng ký tài khoản</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pages/register.html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spendwise.app/pages/register.html</a:t>
            </a:r>
            <a:endParaRPr lang="en-US" sz="700" dirty="0"/>
          </a:p>
        </p:txBody>
      </p:sp>
      <p:sp>
        <p:nvSpPr>
          <p:cNvPr id="14" name="Shape 12"/>
          <p:cNvSpPr/>
          <p:nvPr/>
        </p:nvSpPr>
        <p:spPr>
          <a:xfrm>
            <a:off x="390525" y="1419225"/>
            <a:ext cx="3143250" cy="5172075"/>
          </a:xfrm>
          <a:prstGeom prst="rect">
            <a:avLst/>
          </a:prstGeom>
          <a:solidFill>
            <a:srgbClr val="052E22"/>
          </a:solidFill>
          <a:ln/>
        </p:spPr>
      </p:sp>
      <p:sp>
        <p:nvSpPr>
          <p:cNvPr id="15" name="Shape 13"/>
          <p:cNvSpPr/>
          <p:nvPr/>
        </p:nvSpPr>
        <p:spPr>
          <a:xfrm>
            <a:off x="619125" y="1695450"/>
            <a:ext cx="190500" cy="190500"/>
          </a:xfrm>
          <a:prstGeom prst="roundRect">
            <a:avLst>
              <a:gd name="adj" fmla="val 25000"/>
            </a:avLst>
          </a:prstGeom>
          <a:solidFill>
            <a:srgbClr val="059669"/>
          </a:solidFill>
          <a:ln/>
        </p:spPr>
      </p:sp>
      <p:sp>
        <p:nvSpPr>
          <p:cNvPr id="16" name="Text 14"/>
          <p:cNvSpPr txBox="1"/>
          <p:nvPr/>
        </p:nvSpPr>
        <p:spPr>
          <a:xfrm>
            <a:off x="619125" y="1695450"/>
            <a:ext cx="190500" cy="190500"/>
          </a:xfrm>
          <a:prstGeom prst="rect">
            <a:avLst/>
          </a:prstGeom>
          <a:noFill/>
          <a:ln/>
        </p:spPr>
        <p:txBody>
          <a:bodyPr wrap="square" lIns="0" tIns="0" rIns="0" bIns="0" rtlCol="0" anchor="ctr"/>
          <a:lstStyle/>
          <a:p>
            <a:pPr algn="ctr" indent="0" marL="0">
              <a:lnSpc>
                <a:spcPct val="106000"/>
              </a:lnSpc>
              <a:buNone/>
            </a:pPr>
            <a:r>
              <a:rPr lang="en-US" sz="900" b="1" dirty="0">
                <a:solidFill>
                  <a:srgbClr val="FFFFFF"/>
                </a:solidFill>
                <a:latin typeface="Segoe UI" pitchFamily="34" charset="0"/>
                <a:ea typeface="Segoe UI" pitchFamily="34" charset="-122"/>
                <a:cs typeface="Segoe UI" pitchFamily="34" charset="-120"/>
              </a:rPr>
              <a:t>S</a:t>
            </a:r>
            <a:endParaRPr lang="en-US" sz="900" dirty="0"/>
          </a:p>
        </p:txBody>
      </p:sp>
      <p:sp>
        <p:nvSpPr>
          <p:cNvPr id="17" name="Text 15"/>
          <p:cNvSpPr txBox="1"/>
          <p:nvPr/>
        </p:nvSpPr>
        <p:spPr>
          <a:xfrm>
            <a:off x="876300" y="1676400"/>
            <a:ext cx="1905000" cy="209550"/>
          </a:xfrm>
          <a:prstGeom prst="rect">
            <a:avLst/>
          </a:prstGeom>
          <a:noFill/>
          <a:ln/>
        </p:spPr>
        <p:txBody>
          <a:bodyPr wrap="square" lIns="0" tIns="0" rIns="0" bIns="0" rtlCol="0" anchor="t"/>
          <a:lstStyle/>
          <a:p>
            <a:pPr algn="l" indent="0" marL="0">
              <a:lnSpc>
                <a:spcPct val="106000"/>
              </a:lnSpc>
              <a:buNone/>
            </a:pPr>
            <a:r>
              <a:rPr lang="en-US" sz="1400" b="1" dirty="0">
                <a:solidFill>
                  <a:srgbClr val="FFFFFF"/>
                </a:solidFill>
                <a:latin typeface="Segoe UI" pitchFamily="34" charset="0"/>
                <a:ea typeface="Segoe UI" pitchFamily="34" charset="-122"/>
                <a:cs typeface="Segoe UI" pitchFamily="34" charset="-120"/>
              </a:rPr>
              <a:t>SpendWise</a:t>
            </a:r>
            <a:endParaRPr lang="en-US" sz="1400" dirty="0"/>
          </a:p>
        </p:txBody>
      </p:sp>
      <p:sp>
        <p:nvSpPr>
          <p:cNvPr id="18" name="Text 16"/>
          <p:cNvSpPr txBox="1"/>
          <p:nvPr/>
        </p:nvSpPr>
        <p:spPr>
          <a:xfrm>
            <a:off x="619125" y="2286000"/>
            <a:ext cx="2571750" cy="62865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Segoe UI" pitchFamily="34" charset="0"/>
                <a:ea typeface="Segoe UI" pitchFamily="34" charset="-122"/>
                <a:cs typeface="Segoe UI" pitchFamily="34" charset="-120"/>
              </a:rPr>
              <a:t>Bắt đầu hành trình tài chính.</a:t>
            </a:r>
            <a:endParaRPr lang="en-US" sz="1700" dirty="0"/>
          </a:p>
        </p:txBody>
      </p:sp>
      <p:sp>
        <p:nvSpPr>
          <p:cNvPr id="19" name="Text 17"/>
          <p:cNvSpPr txBox="1"/>
          <p:nvPr/>
        </p:nvSpPr>
        <p:spPr>
          <a:xfrm>
            <a:off x="619125" y="3028950"/>
            <a:ext cx="2571750" cy="533400"/>
          </a:xfrm>
          <a:prstGeom prst="rect">
            <a:avLst/>
          </a:prstGeom>
          <a:noFill/>
          <a:ln/>
        </p:spPr>
        <p:txBody>
          <a:bodyPr wrap="square" lIns="0" tIns="0" rIns="0" bIns="0" rtlCol="0" anchor="t"/>
          <a:lstStyle/>
          <a:p>
            <a:pPr algn="l" indent="0" marL="0">
              <a:lnSpc>
                <a:spcPct val="106000"/>
              </a:lnSpc>
              <a:buNone/>
            </a:pPr>
            <a:r>
              <a:rPr lang="en-US" sz="840" dirty="0">
                <a:solidFill>
                  <a:srgbClr val="A7F3D0"/>
                </a:solidFill>
                <a:latin typeface="Segoe UI" pitchFamily="34" charset="0"/>
                <a:ea typeface="Segoe UI" pitchFamily="34" charset="-122"/>
                <a:cs typeface="Segoe UI" pitchFamily="34" charset="-120"/>
              </a:rPr>
              <a:t>Một tài khoản cho giao dịch, ngân sách, mục tiêu và coach đồng hành.</a:t>
            </a:r>
            <a:endParaRPr lang="en-US" sz="840" dirty="0"/>
          </a:p>
        </p:txBody>
      </p:sp>
      <p:sp>
        <p:nvSpPr>
          <p:cNvPr id="20" name="Text 18"/>
          <p:cNvSpPr txBox="1"/>
          <p:nvPr/>
        </p:nvSpPr>
        <p:spPr>
          <a:xfrm>
            <a:off x="619125" y="381000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Theo dõi thu chi hằng ngày</a:t>
            </a:r>
            <a:endParaRPr lang="en-US" sz="820" dirty="0"/>
          </a:p>
        </p:txBody>
      </p:sp>
      <p:sp>
        <p:nvSpPr>
          <p:cNvPr id="21" name="Text 19"/>
          <p:cNvSpPr txBox="1"/>
          <p:nvPr/>
        </p:nvSpPr>
        <p:spPr>
          <a:xfrm>
            <a:off x="619125" y="407670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Ngân sách theo danh mục</a:t>
            </a:r>
            <a:endParaRPr lang="en-US" sz="820" dirty="0"/>
          </a:p>
        </p:txBody>
      </p:sp>
      <p:sp>
        <p:nvSpPr>
          <p:cNvPr id="22" name="Text 20"/>
          <p:cNvSpPr txBox="1"/>
          <p:nvPr/>
        </p:nvSpPr>
        <p:spPr>
          <a:xfrm>
            <a:off x="619125" y="434340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Mục tiêu + AI Goal Coach</a:t>
            </a:r>
            <a:endParaRPr lang="en-US" sz="820" dirty="0"/>
          </a:p>
        </p:txBody>
      </p:sp>
      <p:sp>
        <p:nvSpPr>
          <p:cNvPr id="23" name="Text 21"/>
          <p:cNvSpPr txBox="1"/>
          <p:nvPr/>
        </p:nvSpPr>
        <p:spPr>
          <a:xfrm>
            <a:off x="619125" y="4610100"/>
            <a:ext cx="2571750" cy="171450"/>
          </a:xfrm>
          <a:prstGeom prst="rect">
            <a:avLst/>
          </a:prstGeom>
          <a:noFill/>
          <a:ln/>
        </p:spPr>
        <p:txBody>
          <a:bodyPr wrap="square" lIns="0" tIns="0" rIns="0" bIns="0" rtlCol="0" anchor="t"/>
          <a:lstStyle/>
          <a:p>
            <a:pPr algn="l" indent="0" marL="0">
              <a:lnSpc>
                <a:spcPct val="106000"/>
              </a:lnSpc>
              <a:buNone/>
            </a:pPr>
            <a:r>
              <a:rPr lang="en-US" sz="820" dirty="0">
                <a:solidFill>
                  <a:srgbClr val="A7F3D0"/>
                </a:solidFill>
                <a:latin typeface="Segoe UI" pitchFamily="34" charset="0"/>
                <a:ea typeface="Segoe UI" pitchFamily="34" charset="-122"/>
                <a:cs typeface="Segoe UI" pitchFamily="34" charset="-120"/>
              </a:rPr>
              <a:t>•  Coach duyệt và tư vấn</a:t>
            </a:r>
            <a:endParaRPr lang="en-US" sz="820" dirty="0"/>
          </a:p>
        </p:txBody>
      </p:sp>
      <p:sp>
        <p:nvSpPr>
          <p:cNvPr id="24" name="Shape 22"/>
          <p:cNvSpPr/>
          <p:nvPr/>
        </p:nvSpPr>
        <p:spPr>
          <a:xfrm>
            <a:off x="619125" y="5524500"/>
            <a:ext cx="2571750" cy="9525"/>
          </a:xfrm>
          <a:prstGeom prst="line">
            <a:avLst/>
          </a:prstGeom>
          <a:solidFill>
            <a:srgbClr val="FFFFFF">
              <a:alpha val="0"/>
            </a:srgbClr>
          </a:solidFill>
          <a:ln w="9525">
            <a:solidFill>
              <a:srgbClr val="14513C"/>
            </a:solidFill>
            <a:prstDash val="solid"/>
          </a:ln>
        </p:spPr>
      </p:sp>
      <p:sp>
        <p:nvSpPr>
          <p:cNvPr id="25" name="Text 23"/>
          <p:cNvSpPr txBox="1"/>
          <p:nvPr/>
        </p:nvSpPr>
        <p:spPr>
          <a:xfrm>
            <a:off x="619125" y="5676900"/>
            <a:ext cx="2571750" cy="133350"/>
          </a:xfrm>
          <a:prstGeom prst="rect">
            <a:avLst/>
          </a:prstGeom>
          <a:noFill/>
          <a:ln/>
        </p:spPr>
        <p:txBody>
          <a:bodyPr wrap="square" lIns="0" tIns="0" rIns="0" bIns="0" rtlCol="0" anchor="t"/>
          <a:lstStyle/>
          <a:p>
            <a:pPr algn="l" indent="0" marL="0">
              <a:lnSpc>
                <a:spcPct val="106000"/>
              </a:lnSpc>
              <a:buNone/>
            </a:pPr>
            <a:r>
              <a:rPr lang="en-US" sz="700" dirty="0">
                <a:solidFill>
                  <a:srgbClr val="6EE7B7"/>
                </a:solidFill>
                <a:latin typeface="Segoe UI" pitchFamily="34" charset="0"/>
                <a:ea typeface="Segoe UI" pitchFamily="34" charset="-122"/>
                <a:cs typeface="Segoe UI" pitchFamily="34" charset="-120"/>
              </a:rPr>
              <a:t>Đã có tài khoản?</a:t>
            </a:r>
            <a:endParaRPr lang="en-US" sz="700" dirty="0"/>
          </a:p>
        </p:txBody>
      </p:sp>
      <p:sp>
        <p:nvSpPr>
          <p:cNvPr id="26" name="Text 24"/>
          <p:cNvSpPr txBox="1"/>
          <p:nvPr/>
        </p:nvSpPr>
        <p:spPr>
          <a:xfrm>
            <a:off x="619125" y="5848350"/>
            <a:ext cx="2571750" cy="133350"/>
          </a:xfrm>
          <a:prstGeom prst="rect">
            <a:avLst/>
          </a:prstGeom>
          <a:noFill/>
          <a:ln/>
        </p:spPr>
        <p:txBody>
          <a:bodyPr wrap="square" lIns="0" tIns="0" rIns="0" bIns="0" rtlCol="0" anchor="t"/>
          <a:lstStyle/>
          <a:p>
            <a:pPr algn="l"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Quay lại đăng nhập →</a:t>
            </a:r>
            <a:endParaRPr lang="en-US" sz="740" dirty="0"/>
          </a:p>
        </p:txBody>
      </p:sp>
      <p:sp>
        <p:nvSpPr>
          <p:cNvPr id="27" name="Shape 25"/>
          <p:cNvSpPr/>
          <p:nvPr/>
        </p:nvSpPr>
        <p:spPr>
          <a:xfrm>
            <a:off x="3533775" y="1419225"/>
            <a:ext cx="4838700" cy="5172075"/>
          </a:xfrm>
          <a:prstGeom prst="rect">
            <a:avLst/>
          </a:prstGeom>
          <a:solidFill>
            <a:srgbClr val="FFFFFF"/>
          </a:solidFill>
          <a:ln/>
        </p:spPr>
      </p:sp>
      <p:sp>
        <p:nvSpPr>
          <p:cNvPr id="28" name="Text 26"/>
          <p:cNvSpPr txBox="1"/>
          <p:nvPr/>
        </p:nvSpPr>
        <p:spPr>
          <a:xfrm>
            <a:off x="4000500" y="1600200"/>
            <a:ext cx="3810000" cy="228600"/>
          </a:xfrm>
          <a:prstGeom prst="rect">
            <a:avLst/>
          </a:prstGeom>
          <a:noFill/>
          <a:ln/>
        </p:spPr>
        <p:txBody>
          <a:bodyPr wrap="square" lIns="0" tIns="0" rIns="0" bIns="0" rtlCol="0" anchor="t"/>
          <a:lstStyle/>
          <a:p>
            <a:pPr algn="l" indent="0" marL="0">
              <a:lnSpc>
                <a:spcPct val="106000"/>
              </a:lnSpc>
              <a:buNone/>
            </a:pPr>
            <a:r>
              <a:rPr lang="en-US" sz="1600" b="1" dirty="0">
                <a:solidFill>
                  <a:srgbClr val="0F172A"/>
                </a:solidFill>
                <a:latin typeface="Segoe UI" pitchFamily="34" charset="0"/>
                <a:ea typeface="Segoe UI" pitchFamily="34" charset="-122"/>
                <a:cs typeface="Segoe UI" pitchFamily="34" charset="-120"/>
              </a:rPr>
              <a:t>Đăng ký SpendWise</a:t>
            </a:r>
            <a:endParaRPr lang="en-US" sz="1600" dirty="0"/>
          </a:p>
        </p:txBody>
      </p:sp>
      <p:sp>
        <p:nvSpPr>
          <p:cNvPr id="29" name="Text 27"/>
          <p:cNvSpPr txBox="1"/>
          <p:nvPr/>
        </p:nvSpPr>
        <p:spPr>
          <a:xfrm>
            <a:off x="4000500" y="1885950"/>
            <a:ext cx="3810000" cy="15240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Tài khoản mới mặc định có vai trò Người dùng.</a:t>
            </a:r>
            <a:endParaRPr lang="en-US" sz="740" dirty="0"/>
          </a:p>
        </p:txBody>
      </p:sp>
      <p:sp>
        <p:nvSpPr>
          <p:cNvPr id="30" name="Text 28"/>
          <p:cNvSpPr txBox="1"/>
          <p:nvPr/>
        </p:nvSpPr>
        <p:spPr>
          <a:xfrm>
            <a:off x="4000500" y="213360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Họ và tên</a:t>
            </a:r>
            <a:endParaRPr lang="en-US" sz="660" dirty="0"/>
          </a:p>
        </p:txBody>
      </p:sp>
      <p:sp>
        <p:nvSpPr>
          <p:cNvPr id="31" name="Shape 29"/>
          <p:cNvSpPr/>
          <p:nvPr/>
        </p:nvSpPr>
        <p:spPr>
          <a:xfrm>
            <a:off x="4000500" y="2266950"/>
            <a:ext cx="3810000" cy="266700"/>
          </a:xfrm>
          <a:prstGeom prst="roundRect">
            <a:avLst>
              <a:gd name="adj" fmla="val 21429"/>
            </a:avLst>
          </a:prstGeom>
          <a:solidFill>
            <a:srgbClr val="FFFFFF"/>
          </a:solidFill>
          <a:ln w="9525">
            <a:solidFill>
              <a:srgbClr val="E2E8F0"/>
            </a:solidFill>
            <a:prstDash val="solid"/>
          </a:ln>
        </p:spPr>
      </p:sp>
      <p:sp>
        <p:nvSpPr>
          <p:cNvPr id="32" name="Text 30"/>
          <p:cNvSpPr txBox="1"/>
          <p:nvPr/>
        </p:nvSpPr>
        <p:spPr>
          <a:xfrm>
            <a:off x="4114800" y="2324100"/>
            <a:ext cx="2857500" cy="13335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Nguyễn Văn An</a:t>
            </a:r>
            <a:endParaRPr lang="en-US" sz="700" dirty="0"/>
          </a:p>
        </p:txBody>
      </p:sp>
      <p:sp>
        <p:nvSpPr>
          <p:cNvPr id="33" name="Text 31"/>
          <p:cNvSpPr txBox="1"/>
          <p:nvPr/>
        </p:nvSpPr>
        <p:spPr>
          <a:xfrm>
            <a:off x="4000500" y="257175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Email</a:t>
            </a:r>
            <a:endParaRPr lang="en-US" sz="660" dirty="0"/>
          </a:p>
        </p:txBody>
      </p:sp>
      <p:sp>
        <p:nvSpPr>
          <p:cNvPr id="34" name="Shape 32"/>
          <p:cNvSpPr/>
          <p:nvPr/>
        </p:nvSpPr>
        <p:spPr>
          <a:xfrm>
            <a:off x="4000500" y="2705100"/>
            <a:ext cx="3810000" cy="266700"/>
          </a:xfrm>
          <a:prstGeom prst="roundRect">
            <a:avLst>
              <a:gd name="adj" fmla="val 21429"/>
            </a:avLst>
          </a:prstGeom>
          <a:solidFill>
            <a:srgbClr val="FFFFFF"/>
          </a:solidFill>
          <a:ln w="9525">
            <a:solidFill>
              <a:srgbClr val="DC2626"/>
            </a:solidFill>
            <a:prstDash val="solid"/>
          </a:ln>
        </p:spPr>
      </p:sp>
      <p:sp>
        <p:nvSpPr>
          <p:cNvPr id="35" name="Text 33"/>
          <p:cNvSpPr txBox="1"/>
          <p:nvPr/>
        </p:nvSpPr>
        <p:spPr>
          <a:xfrm>
            <a:off x="4114800" y="2762250"/>
            <a:ext cx="2857500" cy="13335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ban@spendwise.vn</a:t>
            </a:r>
            <a:endParaRPr lang="en-US" sz="700" dirty="0"/>
          </a:p>
        </p:txBody>
      </p:sp>
      <p:sp>
        <p:nvSpPr>
          <p:cNvPr id="36" name="Text 34"/>
          <p:cNvSpPr txBox="1"/>
          <p:nvPr/>
        </p:nvSpPr>
        <p:spPr>
          <a:xfrm>
            <a:off x="4000500" y="300990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Mật khẩu</a:t>
            </a:r>
            <a:endParaRPr lang="en-US" sz="660" dirty="0"/>
          </a:p>
        </p:txBody>
      </p:sp>
      <p:sp>
        <p:nvSpPr>
          <p:cNvPr id="37" name="Shape 35"/>
          <p:cNvSpPr/>
          <p:nvPr/>
        </p:nvSpPr>
        <p:spPr>
          <a:xfrm>
            <a:off x="4000500" y="3143250"/>
            <a:ext cx="3810000" cy="266700"/>
          </a:xfrm>
          <a:prstGeom prst="roundRect">
            <a:avLst>
              <a:gd name="adj" fmla="val 21429"/>
            </a:avLst>
          </a:prstGeom>
          <a:solidFill>
            <a:srgbClr val="FFFFFF"/>
          </a:solidFill>
          <a:ln w="9525">
            <a:solidFill>
              <a:srgbClr val="E2E8F0"/>
            </a:solidFill>
            <a:prstDash val="solid"/>
          </a:ln>
        </p:spPr>
      </p:sp>
      <p:sp>
        <p:nvSpPr>
          <p:cNvPr id="38" name="Text 36"/>
          <p:cNvSpPr txBox="1"/>
          <p:nvPr/>
        </p:nvSpPr>
        <p:spPr>
          <a:xfrm>
            <a:off x="4114800" y="3200400"/>
            <a:ext cx="2857500" cy="13335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a:t>
            </a:r>
            <a:endParaRPr lang="en-US" sz="700" dirty="0"/>
          </a:p>
        </p:txBody>
      </p:sp>
      <p:sp>
        <p:nvSpPr>
          <p:cNvPr id="39" name="Text 37"/>
          <p:cNvSpPr txBox="1"/>
          <p:nvPr/>
        </p:nvSpPr>
        <p:spPr>
          <a:xfrm>
            <a:off x="4000500" y="344805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Nhập lại mật khẩu</a:t>
            </a:r>
            <a:endParaRPr lang="en-US" sz="660" dirty="0"/>
          </a:p>
        </p:txBody>
      </p:sp>
      <p:sp>
        <p:nvSpPr>
          <p:cNvPr id="40" name="Shape 38"/>
          <p:cNvSpPr/>
          <p:nvPr/>
        </p:nvSpPr>
        <p:spPr>
          <a:xfrm>
            <a:off x="4000500" y="3581400"/>
            <a:ext cx="3810000" cy="266700"/>
          </a:xfrm>
          <a:prstGeom prst="roundRect">
            <a:avLst>
              <a:gd name="adj" fmla="val 21429"/>
            </a:avLst>
          </a:prstGeom>
          <a:solidFill>
            <a:srgbClr val="FFFFFF"/>
          </a:solidFill>
          <a:ln w="9525">
            <a:solidFill>
              <a:srgbClr val="E2E8F0"/>
            </a:solidFill>
            <a:prstDash val="solid"/>
          </a:ln>
        </p:spPr>
      </p:sp>
      <p:sp>
        <p:nvSpPr>
          <p:cNvPr id="41" name="Text 39"/>
          <p:cNvSpPr txBox="1"/>
          <p:nvPr/>
        </p:nvSpPr>
        <p:spPr>
          <a:xfrm>
            <a:off x="4114800" y="3638550"/>
            <a:ext cx="2857500" cy="13335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a:t>
            </a:r>
            <a:endParaRPr lang="en-US" sz="700" dirty="0"/>
          </a:p>
        </p:txBody>
      </p:sp>
      <p:sp>
        <p:nvSpPr>
          <p:cNvPr id="42" name="Text 40"/>
          <p:cNvSpPr txBox="1"/>
          <p:nvPr/>
        </p:nvSpPr>
        <p:spPr>
          <a:xfrm>
            <a:off x="4000500" y="3000375"/>
            <a:ext cx="3810000" cy="114300"/>
          </a:xfrm>
          <a:prstGeom prst="rect">
            <a:avLst/>
          </a:prstGeom>
          <a:noFill/>
          <a:ln/>
        </p:spPr>
        <p:txBody>
          <a:bodyPr wrap="square" lIns="0" tIns="0" rIns="0" bIns="0" rtlCol="0" anchor="t"/>
          <a:lstStyle/>
          <a:p>
            <a:pPr algn="r" indent="0" marL="0">
              <a:lnSpc>
                <a:spcPct val="106000"/>
              </a:lnSpc>
              <a:buNone/>
            </a:pPr>
            <a:r>
              <a:rPr lang="en-US" sz="600" dirty="0">
                <a:solidFill>
                  <a:srgbClr val="DC2626"/>
                </a:solidFill>
                <a:latin typeface="Segoe UI" pitchFamily="34" charset="0"/>
                <a:ea typeface="Segoe UI" pitchFamily="34" charset="-122"/>
                <a:cs typeface="Segoe UI" pitchFamily="34" charset="-120"/>
              </a:rPr>
              <a:t>Email này đã được sử dụng.</a:t>
            </a:r>
            <a:endParaRPr lang="en-US" sz="600" dirty="0"/>
          </a:p>
        </p:txBody>
      </p:sp>
      <p:sp>
        <p:nvSpPr>
          <p:cNvPr id="43" name="Shape 41"/>
          <p:cNvSpPr/>
          <p:nvPr/>
        </p:nvSpPr>
        <p:spPr>
          <a:xfrm>
            <a:off x="4000500" y="3829050"/>
            <a:ext cx="114300" cy="114300"/>
          </a:xfrm>
          <a:prstGeom prst="roundRect">
            <a:avLst>
              <a:gd name="adj" fmla="val 25000"/>
            </a:avLst>
          </a:prstGeom>
          <a:solidFill>
            <a:srgbClr val="FFFFFF"/>
          </a:solidFill>
          <a:ln w="9525">
            <a:solidFill>
              <a:srgbClr val="94A3B8"/>
            </a:solidFill>
            <a:prstDash val="solid"/>
          </a:ln>
        </p:spPr>
      </p:sp>
      <p:sp>
        <p:nvSpPr>
          <p:cNvPr id="44" name="Text 42"/>
          <p:cNvSpPr txBox="1"/>
          <p:nvPr/>
        </p:nvSpPr>
        <p:spPr>
          <a:xfrm>
            <a:off x="4171950" y="3829050"/>
            <a:ext cx="352425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Tôi đồng ý với điều khoản sử dụng và chính sách dữ liệu.</a:t>
            </a:r>
            <a:endParaRPr lang="en-US" sz="640" dirty="0"/>
          </a:p>
        </p:txBody>
      </p:sp>
      <p:sp>
        <p:nvSpPr>
          <p:cNvPr id="45" name="Shape 43"/>
          <p:cNvSpPr/>
          <p:nvPr/>
        </p:nvSpPr>
        <p:spPr>
          <a:xfrm>
            <a:off x="4000500" y="4038600"/>
            <a:ext cx="3810000" cy="323850"/>
          </a:xfrm>
          <a:prstGeom prst="roundRect">
            <a:avLst>
              <a:gd name="adj" fmla="val 17647"/>
            </a:avLst>
          </a:prstGeom>
          <a:solidFill>
            <a:srgbClr val="059669"/>
          </a:solidFill>
          <a:ln/>
        </p:spPr>
      </p:sp>
      <p:sp>
        <p:nvSpPr>
          <p:cNvPr id="46" name="Text 44"/>
          <p:cNvSpPr txBox="1"/>
          <p:nvPr/>
        </p:nvSpPr>
        <p:spPr>
          <a:xfrm>
            <a:off x="4000500" y="4038600"/>
            <a:ext cx="3810000" cy="323850"/>
          </a:xfrm>
          <a:prstGeom prst="rect">
            <a:avLst/>
          </a:prstGeom>
          <a:noFill/>
          <a:ln/>
        </p:spPr>
        <p:txBody>
          <a:bodyPr wrap="square" lIns="0" tIns="0" rIns="0" bIns="0" rtlCol="0" anchor="ctr"/>
          <a:lstStyle/>
          <a:p>
            <a:pPr algn="ctr" indent="0" marL="0">
              <a:lnSpc>
                <a:spcPct val="106000"/>
              </a:lnSpc>
              <a:buNone/>
            </a:pPr>
            <a:r>
              <a:rPr lang="en-US" sz="820" b="1" dirty="0">
                <a:solidFill>
                  <a:srgbClr val="FFFFFF"/>
                </a:solidFill>
                <a:latin typeface="Segoe UI" pitchFamily="34" charset="0"/>
                <a:ea typeface="Segoe UI" pitchFamily="34" charset="-122"/>
                <a:cs typeface="Segoe UI" pitchFamily="34" charset="-120"/>
              </a:rPr>
              <a:t>Tạo tài khoản</a:t>
            </a:r>
            <a:endParaRPr lang="en-US" sz="820" dirty="0"/>
          </a:p>
        </p:txBody>
      </p:sp>
      <p:sp>
        <p:nvSpPr>
          <p:cNvPr id="47" name="Text 45"/>
          <p:cNvSpPr txBox="1"/>
          <p:nvPr/>
        </p:nvSpPr>
        <p:spPr>
          <a:xfrm>
            <a:off x="4000500" y="4476750"/>
            <a:ext cx="3810000" cy="133350"/>
          </a:xfrm>
          <a:prstGeom prst="rect">
            <a:avLst/>
          </a:prstGeom>
          <a:noFill/>
          <a:ln/>
        </p:spPr>
        <p:txBody>
          <a:bodyPr wrap="square" lIns="0" tIns="0" rIns="0" bIns="0" rtlCol="0" anchor="t"/>
          <a:lstStyle/>
          <a:p>
            <a:pPr algn="l" indent="0" marL="0">
              <a:lnSpc>
                <a:spcPct val="106000"/>
              </a:lnSpc>
              <a:buNone/>
            </a:pPr>
            <a:r>
              <a:rPr lang="en-US" sz="700" dirty="0">
                <a:solidFill>
                  <a:srgbClr val="047857"/>
                </a:solidFill>
                <a:latin typeface="Segoe UI" pitchFamily="34" charset="0"/>
                <a:ea typeface="Segoe UI" pitchFamily="34" charset="-122"/>
                <a:cs typeface="Segoe UI" pitchFamily="34" charset="-120"/>
              </a:rPr>
              <a:t>Đã có tài khoản? Đăng nhập</a:t>
            </a:r>
            <a:endParaRPr lang="en-US" sz="700" dirty="0"/>
          </a:p>
        </p:txBody>
      </p:sp>
      <p:sp>
        <p:nvSpPr>
          <p:cNvPr id="48" name="Shape 46"/>
          <p:cNvSpPr/>
          <p:nvPr/>
        </p:nvSpPr>
        <p:spPr>
          <a:xfrm>
            <a:off x="4000500" y="4724400"/>
            <a:ext cx="3810000" cy="762000"/>
          </a:xfrm>
          <a:prstGeom prst="roundRect">
            <a:avLst>
              <a:gd name="adj" fmla="val 7500"/>
            </a:avLst>
          </a:prstGeom>
          <a:solidFill>
            <a:srgbClr val="ECFDF5"/>
          </a:solidFill>
          <a:ln/>
        </p:spPr>
      </p:sp>
      <p:sp>
        <p:nvSpPr>
          <p:cNvPr id="49" name="Text 47"/>
          <p:cNvSpPr txBox="1"/>
          <p:nvPr/>
        </p:nvSpPr>
        <p:spPr>
          <a:xfrm>
            <a:off x="4114800" y="4819650"/>
            <a:ext cx="35814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Đăng ký thành công</a:t>
            </a:r>
            <a:endParaRPr lang="en-US" sz="820" dirty="0"/>
          </a:p>
        </p:txBody>
      </p:sp>
      <p:sp>
        <p:nvSpPr>
          <p:cNvPr id="50" name="Text 48"/>
          <p:cNvSpPr txBox="1"/>
          <p:nvPr/>
        </p:nvSpPr>
        <p:spPr>
          <a:xfrm>
            <a:off x="4114800" y="4991100"/>
            <a:ext cx="3581400" cy="266700"/>
          </a:xfrm>
          <a:prstGeom prst="rect">
            <a:avLst/>
          </a:prstGeom>
          <a:noFill/>
          <a:ln/>
        </p:spPr>
        <p:txBody>
          <a:bodyPr wrap="square" lIns="0" tIns="0" rIns="0" bIns="0" rtlCol="0" anchor="t"/>
          <a:lstStyle/>
          <a:p>
            <a:pPr algn="l" indent="0" marL="0">
              <a:lnSpc>
                <a:spcPct val="106000"/>
              </a:lnSpc>
              <a:buNone/>
            </a:pPr>
            <a:r>
              <a:rPr lang="en-US" sz="680" dirty="0">
                <a:solidFill>
                  <a:srgbClr val="065F46"/>
                </a:solidFill>
                <a:latin typeface="Segoe UI" pitchFamily="34" charset="0"/>
                <a:ea typeface="Segoe UI" pitchFamily="34" charset="-122"/>
                <a:cs typeface="Segoe UI" pitchFamily="34" charset="-120"/>
              </a:rPr>
              <a:t>Kiểm tra email để xác thực tài khoản. Trong bản mô phỏng, bạn có thể đăng nhập ngay.</a:t>
            </a:r>
            <a:endParaRPr lang="en-US" sz="680" dirty="0"/>
          </a:p>
        </p:txBody>
      </p:sp>
      <p:sp>
        <p:nvSpPr>
          <p:cNvPr id="51" name="Text 49"/>
          <p:cNvSpPr txBox="1"/>
          <p:nvPr/>
        </p:nvSpPr>
        <p:spPr>
          <a:xfrm>
            <a:off x="4114800" y="5276850"/>
            <a:ext cx="3581400" cy="133350"/>
          </a:xfrm>
          <a:prstGeom prst="rect">
            <a:avLst/>
          </a:prstGeom>
          <a:noFill/>
          <a:ln/>
        </p:spPr>
        <p:txBody>
          <a:bodyPr wrap="square" lIns="0" tIns="0" rIns="0" bIns="0" rtlCol="0" anchor="t"/>
          <a:lstStyle/>
          <a:p>
            <a:pPr algn="l" indent="0" marL="0">
              <a:lnSpc>
                <a:spcPct val="106000"/>
              </a:lnSpc>
              <a:buNone/>
            </a:pPr>
            <a:r>
              <a:rPr lang="en-US" sz="720" b="1" dirty="0">
                <a:solidFill>
                  <a:srgbClr val="047857"/>
                </a:solidFill>
                <a:latin typeface="Segoe UI" pitchFamily="34" charset="0"/>
                <a:ea typeface="Segoe UI" pitchFamily="34" charset="-122"/>
                <a:cs typeface="Segoe UI" pitchFamily="34" charset="-120"/>
              </a:rPr>
              <a:t>Đăng nhập ngay →</a:t>
            </a:r>
            <a:endParaRPr lang="en-US" sz="720" dirty="0"/>
          </a:p>
        </p:txBody>
      </p:sp>
      <p:sp>
        <p:nvSpPr>
          <p:cNvPr id="52" name="Shape 50"/>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53" name="Text 51"/>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10 / 27</a:t>
            </a:r>
            <a:endParaRPr lang="en-US" sz="740" dirty="0"/>
          </a:p>
        </p:txBody>
      </p:sp>
      <p:sp>
        <p:nvSpPr>
          <p:cNvPr id="54" name="Text 52"/>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Đăng ký tài khoản</a:t>
            </a:r>
            <a:endParaRPr lang="en-US" sz="1700" dirty="0"/>
          </a:p>
        </p:txBody>
      </p:sp>
      <p:sp>
        <p:nvSpPr>
          <p:cNvPr id="55" name="Text 53"/>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pages/register.html</a:t>
            </a:r>
            <a:endParaRPr lang="en-US" sz="720" dirty="0"/>
          </a:p>
        </p:txBody>
      </p:sp>
      <p:sp>
        <p:nvSpPr>
          <p:cNvPr id="56" name="Shape 54"/>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57" name="Text 55"/>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58" name="Text 56"/>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Tạo tài khoản Người dùng với kiểm tra hợp lệ từng trường và phản hồi thành công rõ ràng.</a:t>
            </a:r>
            <a:endParaRPr lang="en-US" sz="920" dirty="0"/>
          </a:p>
        </p:txBody>
      </p:sp>
      <p:sp>
        <p:nvSpPr>
          <p:cNvPr id="59" name="Text 57"/>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60" name="Shape 58"/>
          <p:cNvSpPr/>
          <p:nvPr/>
        </p:nvSpPr>
        <p:spPr>
          <a:xfrm>
            <a:off x="8839200" y="3238500"/>
            <a:ext cx="209550" cy="190500"/>
          </a:xfrm>
          <a:prstGeom prst="roundRect">
            <a:avLst>
              <a:gd name="adj" fmla="val 25000"/>
            </a:avLst>
          </a:prstGeom>
          <a:solidFill>
            <a:srgbClr val="059669"/>
          </a:solidFill>
          <a:ln/>
        </p:spPr>
      </p:sp>
      <p:sp>
        <p:nvSpPr>
          <p:cNvPr id="61" name="Text 59"/>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62" name="Shape 60"/>
          <p:cNvSpPr/>
          <p:nvPr/>
        </p:nvSpPr>
        <p:spPr>
          <a:xfrm>
            <a:off x="9086850" y="3238500"/>
            <a:ext cx="209550" cy="190500"/>
          </a:xfrm>
          <a:prstGeom prst="roundRect">
            <a:avLst>
              <a:gd name="adj" fmla="val 25000"/>
            </a:avLst>
          </a:prstGeom>
          <a:solidFill>
            <a:srgbClr val="F1F5F9"/>
          </a:solidFill>
          <a:ln/>
        </p:spPr>
      </p:sp>
      <p:sp>
        <p:nvSpPr>
          <p:cNvPr id="63" name="Text 61"/>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R</a:t>
            </a:r>
            <a:endParaRPr lang="en-US" sz="740" dirty="0"/>
          </a:p>
        </p:txBody>
      </p:sp>
      <p:sp>
        <p:nvSpPr>
          <p:cNvPr id="64" name="Shape 62"/>
          <p:cNvSpPr/>
          <p:nvPr/>
        </p:nvSpPr>
        <p:spPr>
          <a:xfrm>
            <a:off x="9334500" y="3238500"/>
            <a:ext cx="209550" cy="190500"/>
          </a:xfrm>
          <a:prstGeom prst="roundRect">
            <a:avLst>
              <a:gd name="adj" fmla="val 25000"/>
            </a:avLst>
          </a:prstGeom>
          <a:solidFill>
            <a:srgbClr val="F1F5F9"/>
          </a:solidFill>
          <a:ln/>
        </p:spPr>
      </p:sp>
      <p:sp>
        <p:nvSpPr>
          <p:cNvPr id="65" name="Text 63"/>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66" name="Shape 64"/>
          <p:cNvSpPr/>
          <p:nvPr/>
        </p:nvSpPr>
        <p:spPr>
          <a:xfrm>
            <a:off x="9582150" y="3238500"/>
            <a:ext cx="209550" cy="190500"/>
          </a:xfrm>
          <a:prstGeom prst="roundRect">
            <a:avLst>
              <a:gd name="adj" fmla="val 25000"/>
            </a:avLst>
          </a:prstGeom>
          <a:solidFill>
            <a:srgbClr val="F1F5F9"/>
          </a:solidFill>
          <a:ln/>
        </p:spPr>
      </p:sp>
      <p:sp>
        <p:nvSpPr>
          <p:cNvPr id="67" name="Text 65"/>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68" name="Text 66"/>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Lỗi từng trường · email trùng · mật khẩu yếu · đang gửi · thành công.</a:t>
            </a:r>
            <a:endParaRPr lang="en-US" sz="900" dirty="0"/>
          </a:p>
        </p:txBody>
      </p:sp>
      <p:sp>
        <p:nvSpPr>
          <p:cNvPr id="69" name="Text 67"/>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70" name="Text 68"/>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Validate on blur/submit; đếm ký tự; bắt buộc đồng ý điều khoản; chuyển sang đăng nhập.</a:t>
            </a:r>
            <a:endParaRPr lang="en-US" sz="900" dirty="0"/>
          </a:p>
        </p:txBody>
      </p:sp>
      <p:sp>
        <p:nvSpPr>
          <p:cNvPr id="71" name="Text 69"/>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72" name="Text 70"/>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Ghi users vào LocalStorage; không gửi email thật, chỉ mô phỏng xác thực.</a:t>
            </a:r>
            <a:endParaRPr lang="en-US" sz="900" dirty="0"/>
          </a:p>
        </p:txBody>
      </p:sp>
      <p:sp>
        <p:nvSpPr>
          <p:cNvPr id="73" name="Shape 71"/>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74" name="Text 72"/>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SV1-03-register</a:t>
            </a:r>
            <a:endParaRPr lang="en-US" sz="840" dirty="0"/>
          </a:p>
        </p:txBody>
      </p:sp>
      <p:sp>
        <p:nvSpPr>
          <p:cNvPr id="75" name="Text 73"/>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1F5F9"/>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64748B"/>
                </a:solidFill>
                <a:latin typeface="Segoe UI" pitchFamily="34" charset="0"/>
                <a:ea typeface="Segoe UI" pitchFamily="34" charset="-122"/>
                <a:cs typeface="Segoe UI" pitchFamily="34" charset="-120"/>
              </a:rPr>
              <a:t>DÙNG CHUNG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11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Quên mật khẩu</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pages/forgot-password.html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spendwise.app/pages/forgot-password.html</a:t>
            </a:r>
            <a:endParaRPr lang="en-US" sz="700" dirty="0"/>
          </a:p>
        </p:txBody>
      </p:sp>
      <p:sp>
        <p:nvSpPr>
          <p:cNvPr id="14" name="Shape 12"/>
          <p:cNvSpPr/>
          <p:nvPr/>
        </p:nvSpPr>
        <p:spPr>
          <a:xfrm>
            <a:off x="390525" y="1419225"/>
            <a:ext cx="7981950" cy="5172075"/>
          </a:xfrm>
          <a:prstGeom prst="rect">
            <a:avLst/>
          </a:prstGeom>
          <a:solidFill>
            <a:srgbClr val="FFFFFF"/>
          </a:solidFill>
          <a:ln/>
        </p:spPr>
      </p:sp>
      <p:sp>
        <p:nvSpPr>
          <p:cNvPr id="15" name="Text 13"/>
          <p:cNvSpPr txBox="1"/>
          <p:nvPr/>
        </p:nvSpPr>
        <p:spPr>
          <a:xfrm>
            <a:off x="762000" y="1866900"/>
            <a:ext cx="2857500" cy="133350"/>
          </a:xfrm>
          <a:prstGeom prst="rect">
            <a:avLst/>
          </a:prstGeom>
          <a:noFill/>
          <a:ln/>
        </p:spPr>
        <p:txBody>
          <a:bodyPr wrap="square" lIns="0" tIns="0" rIns="0" bIns="0" rtlCol="0" anchor="t"/>
          <a:lstStyle/>
          <a:p>
            <a:pPr algn="l" indent="0" marL="0">
              <a:lnSpc>
                <a:spcPct val="106000"/>
              </a:lnSpc>
              <a:buNone/>
            </a:pPr>
            <a:r>
              <a:rPr lang="en-US" sz="720" b="1" spc="60" kern="0" dirty="0">
                <a:solidFill>
                  <a:srgbClr val="059669"/>
                </a:solidFill>
                <a:latin typeface="Segoe UI" pitchFamily="34" charset="0"/>
                <a:ea typeface="Segoe UI" pitchFamily="34" charset="-122"/>
                <a:cs typeface="Segoe UI" pitchFamily="34" charset="-120"/>
              </a:rPr>
              <a:t>KHÔI PHỤC TÀI KHOẢN</a:t>
            </a:r>
            <a:endParaRPr lang="en-US" sz="720" dirty="0"/>
          </a:p>
        </p:txBody>
      </p:sp>
      <p:sp>
        <p:nvSpPr>
          <p:cNvPr id="16" name="Text 14"/>
          <p:cNvSpPr txBox="1"/>
          <p:nvPr/>
        </p:nvSpPr>
        <p:spPr>
          <a:xfrm>
            <a:off x="762000" y="2057400"/>
            <a:ext cx="3048000" cy="381000"/>
          </a:xfrm>
          <a:prstGeom prst="rect">
            <a:avLst/>
          </a:prstGeom>
          <a:noFill/>
          <a:ln/>
        </p:spPr>
        <p:txBody>
          <a:bodyPr wrap="square" lIns="0" tIns="0" rIns="0" bIns="0" rtlCol="0" anchor="t"/>
          <a:lstStyle/>
          <a:p>
            <a:pPr algn="l" indent="0" marL="0">
              <a:lnSpc>
                <a:spcPct val="106000"/>
              </a:lnSpc>
              <a:buNone/>
            </a:pPr>
            <a:r>
              <a:rPr lang="en-US" sz="2200" b="1" dirty="0">
                <a:solidFill>
                  <a:srgbClr val="0F172A"/>
                </a:solidFill>
                <a:latin typeface="Segoe UI" pitchFamily="34" charset="0"/>
                <a:ea typeface="Segoe UI" pitchFamily="34" charset="-122"/>
                <a:cs typeface="Segoe UI" pitchFamily="34" charset="-120"/>
              </a:rPr>
              <a:t>Quên mật khẩu?</a:t>
            </a:r>
            <a:endParaRPr lang="en-US" sz="2200" dirty="0"/>
          </a:p>
        </p:txBody>
      </p:sp>
      <p:sp>
        <p:nvSpPr>
          <p:cNvPr id="17" name="Text 15"/>
          <p:cNvSpPr txBox="1"/>
          <p:nvPr/>
        </p:nvSpPr>
        <p:spPr>
          <a:xfrm>
            <a:off x="762000" y="2495550"/>
            <a:ext cx="2952750" cy="419100"/>
          </a:xfrm>
          <a:prstGeom prst="rect">
            <a:avLst/>
          </a:prstGeom>
          <a:noFill/>
          <a:ln/>
        </p:spPr>
        <p:txBody>
          <a:bodyPr wrap="square" lIns="0" tIns="0" rIns="0" bIns="0" rtlCol="0" anchor="t"/>
          <a:lstStyle/>
          <a:p>
            <a:pPr algn="l" indent="0" marL="0">
              <a:lnSpc>
                <a:spcPct val="106000"/>
              </a:lnSpc>
              <a:buNone/>
            </a:pPr>
            <a:r>
              <a:rPr lang="en-US" sz="860" dirty="0">
                <a:solidFill>
                  <a:srgbClr val="475569"/>
                </a:solidFill>
                <a:latin typeface="Segoe UI" pitchFamily="34" charset="0"/>
                <a:ea typeface="Segoe UI" pitchFamily="34" charset="-122"/>
                <a:cs typeface="Segoe UI" pitchFamily="34" charset="-120"/>
              </a:rPr>
              <a:t>Đừng lo. Chúng tôi sẽ gửi một liên kết an toàn để bạn đặt lại mật khẩu.</a:t>
            </a:r>
            <a:endParaRPr lang="en-US" sz="860" dirty="0"/>
          </a:p>
        </p:txBody>
      </p:sp>
      <p:sp>
        <p:nvSpPr>
          <p:cNvPr id="18" name="Shape 16"/>
          <p:cNvSpPr/>
          <p:nvPr/>
        </p:nvSpPr>
        <p:spPr>
          <a:xfrm>
            <a:off x="762000" y="3143250"/>
            <a:ext cx="190500" cy="190500"/>
          </a:xfrm>
          <a:prstGeom prst="ellipse">
            <a:avLst/>
          </a:prstGeom>
          <a:solidFill>
            <a:srgbClr val="ECFDF5"/>
          </a:solidFill>
          <a:ln/>
        </p:spPr>
      </p:sp>
      <p:sp>
        <p:nvSpPr>
          <p:cNvPr id="19" name="Text 17"/>
          <p:cNvSpPr txBox="1"/>
          <p:nvPr/>
        </p:nvSpPr>
        <p:spPr>
          <a:xfrm>
            <a:off x="762000" y="3143250"/>
            <a:ext cx="190500" cy="190500"/>
          </a:xfrm>
          <a:prstGeom prst="rect">
            <a:avLst/>
          </a:prstGeom>
          <a:noFill/>
          <a:ln/>
        </p:spPr>
        <p:txBody>
          <a:bodyPr wrap="square" lIns="0" tIns="0" rIns="0" bIns="0" rtlCol="0" anchor="ctr"/>
          <a:lstStyle/>
          <a:p>
            <a:pPr algn="ctr" indent="0" marL="0">
              <a:lnSpc>
                <a:spcPct val="106000"/>
              </a:lnSpc>
              <a:buNone/>
            </a:pPr>
            <a:r>
              <a:rPr lang="en-US" sz="680" b="1" dirty="0">
                <a:solidFill>
                  <a:srgbClr val="047857"/>
                </a:solidFill>
                <a:latin typeface="Segoe UI" pitchFamily="34" charset="0"/>
                <a:ea typeface="Segoe UI" pitchFamily="34" charset="-122"/>
                <a:cs typeface="Segoe UI" pitchFamily="34" charset="-120"/>
              </a:rPr>
              <a:t>1</a:t>
            </a:r>
            <a:endParaRPr lang="en-US" sz="680" dirty="0"/>
          </a:p>
        </p:txBody>
      </p:sp>
      <p:sp>
        <p:nvSpPr>
          <p:cNvPr id="20" name="Text 18"/>
          <p:cNvSpPr txBox="1"/>
          <p:nvPr/>
        </p:nvSpPr>
        <p:spPr>
          <a:xfrm>
            <a:off x="1047750" y="3133725"/>
            <a:ext cx="257175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Nhập email</a:t>
            </a:r>
            <a:endParaRPr lang="en-US" sz="860" dirty="0"/>
          </a:p>
        </p:txBody>
      </p:sp>
      <p:sp>
        <p:nvSpPr>
          <p:cNvPr id="21" name="Text 19"/>
          <p:cNvSpPr txBox="1"/>
          <p:nvPr/>
        </p:nvSpPr>
        <p:spPr>
          <a:xfrm>
            <a:off x="1047750" y="3295650"/>
            <a:ext cx="2571750" cy="2667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Email đã dùng khi đăng ký tài khoản.</a:t>
            </a:r>
            <a:endParaRPr lang="en-US" sz="700" dirty="0"/>
          </a:p>
        </p:txBody>
      </p:sp>
      <p:sp>
        <p:nvSpPr>
          <p:cNvPr id="22" name="Shape 20"/>
          <p:cNvSpPr/>
          <p:nvPr/>
        </p:nvSpPr>
        <p:spPr>
          <a:xfrm>
            <a:off x="762000" y="3733800"/>
            <a:ext cx="190500" cy="190500"/>
          </a:xfrm>
          <a:prstGeom prst="ellipse">
            <a:avLst/>
          </a:prstGeom>
          <a:solidFill>
            <a:srgbClr val="ECFDF5"/>
          </a:solidFill>
          <a:ln/>
        </p:spPr>
      </p:sp>
      <p:sp>
        <p:nvSpPr>
          <p:cNvPr id="23" name="Text 21"/>
          <p:cNvSpPr txBox="1"/>
          <p:nvPr/>
        </p:nvSpPr>
        <p:spPr>
          <a:xfrm>
            <a:off x="762000" y="3733800"/>
            <a:ext cx="190500" cy="190500"/>
          </a:xfrm>
          <a:prstGeom prst="rect">
            <a:avLst/>
          </a:prstGeom>
          <a:noFill/>
          <a:ln/>
        </p:spPr>
        <p:txBody>
          <a:bodyPr wrap="square" lIns="0" tIns="0" rIns="0" bIns="0" rtlCol="0" anchor="ctr"/>
          <a:lstStyle/>
          <a:p>
            <a:pPr algn="ctr" indent="0" marL="0">
              <a:lnSpc>
                <a:spcPct val="106000"/>
              </a:lnSpc>
              <a:buNone/>
            </a:pPr>
            <a:r>
              <a:rPr lang="en-US" sz="680" b="1" dirty="0">
                <a:solidFill>
                  <a:srgbClr val="047857"/>
                </a:solidFill>
                <a:latin typeface="Segoe UI" pitchFamily="34" charset="0"/>
                <a:ea typeface="Segoe UI" pitchFamily="34" charset="-122"/>
                <a:cs typeface="Segoe UI" pitchFamily="34" charset="-120"/>
              </a:rPr>
              <a:t>2</a:t>
            </a:r>
            <a:endParaRPr lang="en-US" sz="680" dirty="0"/>
          </a:p>
        </p:txBody>
      </p:sp>
      <p:sp>
        <p:nvSpPr>
          <p:cNvPr id="24" name="Text 22"/>
          <p:cNvSpPr txBox="1"/>
          <p:nvPr/>
        </p:nvSpPr>
        <p:spPr>
          <a:xfrm>
            <a:off x="1047750" y="3724275"/>
            <a:ext cx="257175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Mở liên kết</a:t>
            </a:r>
            <a:endParaRPr lang="en-US" sz="860" dirty="0"/>
          </a:p>
        </p:txBody>
      </p:sp>
      <p:sp>
        <p:nvSpPr>
          <p:cNvPr id="25" name="Text 23"/>
          <p:cNvSpPr txBox="1"/>
          <p:nvPr/>
        </p:nvSpPr>
        <p:spPr>
          <a:xfrm>
            <a:off x="1047750" y="3886200"/>
            <a:ext cx="2571750" cy="2667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Liên kết có hiệu lực trong 15 phút.</a:t>
            </a:r>
            <a:endParaRPr lang="en-US" sz="700" dirty="0"/>
          </a:p>
        </p:txBody>
      </p:sp>
      <p:sp>
        <p:nvSpPr>
          <p:cNvPr id="26" name="Shape 24"/>
          <p:cNvSpPr/>
          <p:nvPr/>
        </p:nvSpPr>
        <p:spPr>
          <a:xfrm>
            <a:off x="762000" y="4324350"/>
            <a:ext cx="190500" cy="190500"/>
          </a:xfrm>
          <a:prstGeom prst="ellipse">
            <a:avLst/>
          </a:prstGeom>
          <a:solidFill>
            <a:srgbClr val="ECFDF5"/>
          </a:solidFill>
          <a:ln/>
        </p:spPr>
      </p:sp>
      <p:sp>
        <p:nvSpPr>
          <p:cNvPr id="27" name="Text 25"/>
          <p:cNvSpPr txBox="1"/>
          <p:nvPr/>
        </p:nvSpPr>
        <p:spPr>
          <a:xfrm>
            <a:off x="762000" y="4324350"/>
            <a:ext cx="190500" cy="190500"/>
          </a:xfrm>
          <a:prstGeom prst="rect">
            <a:avLst/>
          </a:prstGeom>
          <a:noFill/>
          <a:ln/>
        </p:spPr>
        <p:txBody>
          <a:bodyPr wrap="square" lIns="0" tIns="0" rIns="0" bIns="0" rtlCol="0" anchor="ctr"/>
          <a:lstStyle/>
          <a:p>
            <a:pPr algn="ctr" indent="0" marL="0">
              <a:lnSpc>
                <a:spcPct val="106000"/>
              </a:lnSpc>
              <a:buNone/>
            </a:pPr>
            <a:r>
              <a:rPr lang="en-US" sz="680" b="1" dirty="0">
                <a:solidFill>
                  <a:srgbClr val="047857"/>
                </a:solidFill>
                <a:latin typeface="Segoe UI" pitchFamily="34" charset="0"/>
                <a:ea typeface="Segoe UI" pitchFamily="34" charset="-122"/>
                <a:cs typeface="Segoe UI" pitchFamily="34" charset="-120"/>
              </a:rPr>
              <a:t>3</a:t>
            </a:r>
            <a:endParaRPr lang="en-US" sz="680" dirty="0"/>
          </a:p>
        </p:txBody>
      </p:sp>
      <p:sp>
        <p:nvSpPr>
          <p:cNvPr id="28" name="Text 26"/>
          <p:cNvSpPr txBox="1"/>
          <p:nvPr/>
        </p:nvSpPr>
        <p:spPr>
          <a:xfrm>
            <a:off x="1047750" y="4314825"/>
            <a:ext cx="257175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Đặt mật khẩu mới</a:t>
            </a:r>
            <a:endParaRPr lang="en-US" sz="860" dirty="0"/>
          </a:p>
        </p:txBody>
      </p:sp>
      <p:sp>
        <p:nvSpPr>
          <p:cNvPr id="29" name="Text 27"/>
          <p:cNvSpPr txBox="1"/>
          <p:nvPr/>
        </p:nvSpPr>
        <p:spPr>
          <a:xfrm>
            <a:off x="1047750" y="4476750"/>
            <a:ext cx="2571750" cy="26670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Tối thiểu 8 ký tự, có chữ và số.</a:t>
            </a:r>
            <a:endParaRPr lang="en-US" sz="700" dirty="0"/>
          </a:p>
        </p:txBody>
      </p:sp>
      <p:sp>
        <p:nvSpPr>
          <p:cNvPr id="30" name="Text 28"/>
          <p:cNvSpPr txBox="1"/>
          <p:nvPr/>
        </p:nvSpPr>
        <p:spPr>
          <a:xfrm>
            <a:off x="762000" y="5124450"/>
            <a:ext cx="2952750" cy="3048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Không nhận được email? Kiểm tra thư mục spam hoặc liên hệ quản trị viên.</a:t>
            </a:r>
            <a:endParaRPr lang="en-US" sz="700" dirty="0"/>
          </a:p>
        </p:txBody>
      </p:sp>
      <p:sp>
        <p:nvSpPr>
          <p:cNvPr id="31" name="Shape 29"/>
          <p:cNvSpPr/>
          <p:nvPr/>
        </p:nvSpPr>
        <p:spPr>
          <a:xfrm>
            <a:off x="4095750" y="1695450"/>
            <a:ext cx="3619500" cy="3105150"/>
          </a:xfrm>
          <a:prstGeom prst="roundRect">
            <a:avLst>
              <a:gd name="adj" fmla="val 3067"/>
            </a:avLst>
          </a:prstGeom>
          <a:solidFill>
            <a:srgbClr val="FFFFFF"/>
          </a:solidFill>
          <a:ln w="9525">
            <a:solidFill>
              <a:srgbClr val="E2E8F0"/>
            </a:solidFill>
            <a:prstDash val="solid"/>
          </a:ln>
        </p:spPr>
      </p:sp>
      <p:sp>
        <p:nvSpPr>
          <p:cNvPr id="32" name="Text 30"/>
          <p:cNvSpPr txBox="1"/>
          <p:nvPr/>
        </p:nvSpPr>
        <p:spPr>
          <a:xfrm>
            <a:off x="4286250" y="1847850"/>
            <a:ext cx="3238500" cy="20955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Đặt lại mật khẩu</a:t>
            </a:r>
            <a:endParaRPr lang="en-US" sz="1300" dirty="0"/>
          </a:p>
        </p:txBody>
      </p:sp>
      <p:sp>
        <p:nvSpPr>
          <p:cNvPr id="33" name="Text 31"/>
          <p:cNvSpPr txBox="1"/>
          <p:nvPr/>
        </p:nvSpPr>
        <p:spPr>
          <a:xfrm>
            <a:off x="4286250" y="2114550"/>
            <a:ext cx="32385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Nhập email gắn với tài khoản của bạn.</a:t>
            </a:r>
            <a:endParaRPr lang="en-US" sz="720" dirty="0"/>
          </a:p>
        </p:txBody>
      </p:sp>
      <p:sp>
        <p:nvSpPr>
          <p:cNvPr id="34" name="Text 32"/>
          <p:cNvSpPr txBox="1"/>
          <p:nvPr/>
        </p:nvSpPr>
        <p:spPr>
          <a:xfrm>
            <a:off x="4286250" y="241935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Email</a:t>
            </a:r>
            <a:endParaRPr lang="en-US" sz="660" dirty="0"/>
          </a:p>
        </p:txBody>
      </p:sp>
      <p:sp>
        <p:nvSpPr>
          <p:cNvPr id="35" name="Shape 33"/>
          <p:cNvSpPr/>
          <p:nvPr/>
        </p:nvSpPr>
        <p:spPr>
          <a:xfrm>
            <a:off x="4286250" y="2552700"/>
            <a:ext cx="3238500" cy="304800"/>
          </a:xfrm>
          <a:prstGeom prst="roundRect">
            <a:avLst>
              <a:gd name="adj" fmla="val 18750"/>
            </a:avLst>
          </a:prstGeom>
          <a:solidFill>
            <a:srgbClr val="FFFFFF"/>
          </a:solidFill>
          <a:ln w="9525">
            <a:solidFill>
              <a:srgbClr val="E2E8F0"/>
            </a:solidFill>
            <a:prstDash val="solid"/>
          </a:ln>
        </p:spPr>
      </p:sp>
      <p:sp>
        <p:nvSpPr>
          <p:cNvPr id="36" name="Text 34"/>
          <p:cNvSpPr txBox="1"/>
          <p:nvPr/>
        </p:nvSpPr>
        <p:spPr>
          <a:xfrm>
            <a:off x="4400550" y="2628900"/>
            <a:ext cx="28575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minh@student.edu.vn</a:t>
            </a:r>
            <a:endParaRPr lang="en-US" sz="720" dirty="0"/>
          </a:p>
        </p:txBody>
      </p:sp>
      <p:sp>
        <p:nvSpPr>
          <p:cNvPr id="37" name="Shape 35"/>
          <p:cNvSpPr/>
          <p:nvPr/>
        </p:nvSpPr>
        <p:spPr>
          <a:xfrm>
            <a:off x="4286250" y="3009900"/>
            <a:ext cx="3238500" cy="323850"/>
          </a:xfrm>
          <a:prstGeom prst="roundRect">
            <a:avLst>
              <a:gd name="adj" fmla="val 17647"/>
            </a:avLst>
          </a:prstGeom>
          <a:solidFill>
            <a:srgbClr val="059669"/>
          </a:solidFill>
          <a:ln/>
        </p:spPr>
      </p:sp>
      <p:sp>
        <p:nvSpPr>
          <p:cNvPr id="38" name="Text 36"/>
          <p:cNvSpPr txBox="1"/>
          <p:nvPr/>
        </p:nvSpPr>
        <p:spPr>
          <a:xfrm>
            <a:off x="4286250" y="3009900"/>
            <a:ext cx="3238500" cy="32385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Gửi liên kết đặt lại</a:t>
            </a:r>
            <a:endParaRPr lang="en-US" sz="800" dirty="0"/>
          </a:p>
        </p:txBody>
      </p:sp>
      <p:sp>
        <p:nvSpPr>
          <p:cNvPr id="39" name="Shape 37"/>
          <p:cNvSpPr/>
          <p:nvPr/>
        </p:nvSpPr>
        <p:spPr>
          <a:xfrm>
            <a:off x="4286250" y="3505200"/>
            <a:ext cx="3238500" cy="9525"/>
          </a:xfrm>
          <a:prstGeom prst="line">
            <a:avLst/>
          </a:prstGeom>
          <a:solidFill>
            <a:srgbClr val="FFFFFF">
              <a:alpha val="0"/>
            </a:srgbClr>
          </a:solidFill>
          <a:ln w="9525">
            <a:solidFill>
              <a:srgbClr val="E2E8F0"/>
            </a:solidFill>
            <a:prstDash val="solid"/>
          </a:ln>
        </p:spPr>
      </p:sp>
      <p:sp>
        <p:nvSpPr>
          <p:cNvPr id="40" name="Text 38"/>
          <p:cNvSpPr txBox="1"/>
          <p:nvPr/>
        </p:nvSpPr>
        <p:spPr>
          <a:xfrm>
            <a:off x="4286250" y="3619500"/>
            <a:ext cx="1714500" cy="133350"/>
          </a:xfrm>
          <a:prstGeom prst="rect">
            <a:avLst/>
          </a:prstGeom>
          <a:noFill/>
          <a:ln/>
        </p:spPr>
        <p:txBody>
          <a:bodyPr wrap="square" lIns="0" tIns="0" rIns="0" bIns="0" rtlCol="0" anchor="t"/>
          <a:lstStyle/>
          <a:p>
            <a:pPr algn="l" indent="0" marL="0">
              <a:lnSpc>
                <a:spcPct val="106000"/>
              </a:lnSpc>
              <a:buNone/>
            </a:pPr>
            <a:r>
              <a:rPr lang="en-US" sz="700" dirty="0">
                <a:solidFill>
                  <a:srgbClr val="475569"/>
                </a:solidFill>
                <a:latin typeface="Segoe UI" pitchFamily="34" charset="0"/>
                <a:ea typeface="Segoe UI" pitchFamily="34" charset="-122"/>
                <a:cs typeface="Segoe UI" pitchFamily="34" charset="-120"/>
              </a:rPr>
              <a:t>Nhớ ra mật khẩu rồi?</a:t>
            </a:r>
            <a:endParaRPr lang="en-US" sz="700" dirty="0"/>
          </a:p>
        </p:txBody>
      </p:sp>
      <p:sp>
        <p:nvSpPr>
          <p:cNvPr id="41" name="Text 39"/>
          <p:cNvSpPr txBox="1"/>
          <p:nvPr/>
        </p:nvSpPr>
        <p:spPr>
          <a:xfrm>
            <a:off x="5715000" y="3619500"/>
            <a:ext cx="1809750" cy="133350"/>
          </a:xfrm>
          <a:prstGeom prst="rect">
            <a:avLst/>
          </a:prstGeom>
          <a:noFill/>
          <a:ln/>
        </p:spPr>
        <p:txBody>
          <a:bodyPr wrap="square" lIns="0" tIns="0" rIns="0" bIns="0" rtlCol="0" anchor="t"/>
          <a:lstStyle/>
          <a:p>
            <a:pPr algn="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Đăng nhập</a:t>
            </a:r>
            <a:endParaRPr lang="en-US" sz="700" dirty="0"/>
          </a:p>
        </p:txBody>
      </p:sp>
      <p:sp>
        <p:nvSpPr>
          <p:cNvPr id="42" name="Shape 40"/>
          <p:cNvSpPr/>
          <p:nvPr/>
        </p:nvSpPr>
        <p:spPr>
          <a:xfrm>
            <a:off x="4095750" y="4953000"/>
            <a:ext cx="3619500" cy="990600"/>
          </a:xfrm>
          <a:prstGeom prst="roundRect">
            <a:avLst>
              <a:gd name="adj" fmla="val 7692"/>
            </a:avLst>
          </a:prstGeom>
          <a:solidFill>
            <a:srgbClr val="ECFDF5"/>
          </a:solidFill>
          <a:ln/>
        </p:spPr>
      </p:sp>
      <p:sp>
        <p:nvSpPr>
          <p:cNvPr id="43" name="Text 41"/>
          <p:cNvSpPr txBox="1"/>
          <p:nvPr/>
        </p:nvSpPr>
        <p:spPr>
          <a:xfrm>
            <a:off x="4248150" y="5067300"/>
            <a:ext cx="3314700" cy="15240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Đã gửi hướng dẫn</a:t>
            </a:r>
            <a:endParaRPr lang="en-US" sz="840" dirty="0"/>
          </a:p>
        </p:txBody>
      </p:sp>
      <p:sp>
        <p:nvSpPr>
          <p:cNvPr id="44" name="Text 42"/>
          <p:cNvSpPr txBox="1"/>
          <p:nvPr/>
        </p:nvSpPr>
        <p:spPr>
          <a:xfrm>
            <a:off x="4248150" y="5257800"/>
            <a:ext cx="3314700" cy="342900"/>
          </a:xfrm>
          <a:prstGeom prst="rect">
            <a:avLst/>
          </a:prstGeom>
          <a:noFill/>
          <a:ln/>
        </p:spPr>
        <p:txBody>
          <a:bodyPr wrap="square" lIns="0" tIns="0" rIns="0" bIns="0" rtlCol="0" anchor="t"/>
          <a:lstStyle/>
          <a:p>
            <a:pPr algn="l" indent="0" marL="0">
              <a:lnSpc>
                <a:spcPct val="106000"/>
              </a:lnSpc>
              <a:buNone/>
            </a:pPr>
            <a:r>
              <a:rPr lang="en-US" sz="680" dirty="0">
                <a:solidFill>
                  <a:srgbClr val="065F46"/>
                </a:solidFill>
                <a:latin typeface="Segoe UI" pitchFamily="34" charset="0"/>
                <a:ea typeface="Segoe UI" pitchFamily="34" charset="-122"/>
                <a:cs typeface="Segoe UI" pitchFamily="34" charset="-120"/>
              </a:rPr>
              <a:t>Nếu email tồn tại trong hệ thống, bạn sẽ nhận được liên kết trong 1–2 phút. Vui lòng kiểm tra cả thư mục spam.</a:t>
            </a:r>
            <a:endParaRPr lang="en-US" sz="680" dirty="0"/>
          </a:p>
        </p:txBody>
      </p:sp>
      <p:sp>
        <p:nvSpPr>
          <p:cNvPr id="45" name="Shape 43"/>
          <p:cNvSpPr/>
          <p:nvPr/>
        </p:nvSpPr>
        <p:spPr>
          <a:xfrm>
            <a:off x="4248150" y="5638800"/>
            <a:ext cx="1714500" cy="209550"/>
          </a:xfrm>
          <a:prstGeom prst="roundRect">
            <a:avLst>
              <a:gd name="adj" fmla="val 22727"/>
            </a:avLst>
          </a:prstGeom>
          <a:solidFill>
            <a:srgbClr val="D1FAE5"/>
          </a:solidFill>
          <a:ln/>
        </p:spPr>
      </p:sp>
      <p:sp>
        <p:nvSpPr>
          <p:cNvPr id="46" name="Text 44"/>
          <p:cNvSpPr txBox="1"/>
          <p:nvPr/>
        </p:nvSpPr>
        <p:spPr>
          <a:xfrm>
            <a:off x="4248150" y="5638800"/>
            <a:ext cx="1714500" cy="209550"/>
          </a:xfrm>
          <a:prstGeom prst="rect">
            <a:avLst/>
          </a:prstGeom>
          <a:noFill/>
          <a:ln/>
        </p:spPr>
        <p:txBody>
          <a:bodyPr wrap="square" lIns="0" tIns="0" rIns="0" bIns="0" rtlCol="0" anchor="ctr"/>
          <a:lstStyle/>
          <a:p>
            <a:pPr algn="ctr" indent="0" marL="0">
              <a:lnSpc>
                <a:spcPct val="106000"/>
              </a:lnSpc>
              <a:buNone/>
            </a:pPr>
            <a:r>
              <a:rPr lang="en-US" sz="640" dirty="0">
                <a:solidFill>
                  <a:srgbClr val="94A3B8"/>
                </a:solidFill>
                <a:latin typeface="Segoe UI" pitchFamily="34" charset="0"/>
                <a:ea typeface="Segoe UI" pitchFamily="34" charset="-122"/>
                <a:cs typeface="Segoe UI" pitchFamily="34" charset="-120"/>
              </a:rPr>
              <a:t>Gửi lại sau 60s</a:t>
            </a:r>
            <a:endParaRPr lang="en-US" sz="640" dirty="0"/>
          </a:p>
        </p:txBody>
      </p:sp>
      <p:sp>
        <p:nvSpPr>
          <p:cNvPr id="47" name="Shape 45"/>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48" name="Text 46"/>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11 / 27</a:t>
            </a:r>
            <a:endParaRPr lang="en-US" sz="740" dirty="0"/>
          </a:p>
        </p:txBody>
      </p:sp>
      <p:sp>
        <p:nvSpPr>
          <p:cNvPr id="49" name="Text 47"/>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Quên mật khẩu</a:t>
            </a:r>
            <a:endParaRPr lang="en-US" sz="1700" dirty="0"/>
          </a:p>
        </p:txBody>
      </p:sp>
      <p:sp>
        <p:nvSpPr>
          <p:cNvPr id="50" name="Text 48"/>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pages/forgot-password.html</a:t>
            </a:r>
            <a:endParaRPr lang="en-US" sz="720" dirty="0"/>
          </a:p>
        </p:txBody>
      </p:sp>
      <p:sp>
        <p:nvSpPr>
          <p:cNvPr id="51" name="Shape 49"/>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52" name="Text 50"/>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53" name="Text 51"/>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Khôi phục mật khẩu qua email mô phỏng, không tiết lộ email có tồn tại trong hệ thống hay không.</a:t>
            </a:r>
            <a:endParaRPr lang="en-US" sz="920" dirty="0"/>
          </a:p>
        </p:txBody>
      </p:sp>
      <p:sp>
        <p:nvSpPr>
          <p:cNvPr id="54" name="Text 52"/>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55" name="Shape 53"/>
          <p:cNvSpPr/>
          <p:nvPr/>
        </p:nvSpPr>
        <p:spPr>
          <a:xfrm>
            <a:off x="8839200" y="3238500"/>
            <a:ext cx="209550" cy="190500"/>
          </a:xfrm>
          <a:prstGeom prst="roundRect">
            <a:avLst>
              <a:gd name="adj" fmla="val 25000"/>
            </a:avLst>
          </a:prstGeom>
          <a:solidFill>
            <a:srgbClr val="F1F5F9"/>
          </a:solidFill>
          <a:ln/>
        </p:spPr>
      </p:sp>
      <p:sp>
        <p:nvSpPr>
          <p:cNvPr id="56" name="Text 54"/>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57" name="Shape 55"/>
          <p:cNvSpPr/>
          <p:nvPr/>
        </p:nvSpPr>
        <p:spPr>
          <a:xfrm>
            <a:off x="9086850" y="3238500"/>
            <a:ext cx="209550" cy="190500"/>
          </a:xfrm>
          <a:prstGeom prst="roundRect">
            <a:avLst>
              <a:gd name="adj" fmla="val 25000"/>
            </a:avLst>
          </a:prstGeom>
          <a:solidFill>
            <a:srgbClr val="F1F5F9"/>
          </a:solidFill>
          <a:ln/>
        </p:spPr>
      </p:sp>
      <p:sp>
        <p:nvSpPr>
          <p:cNvPr id="58" name="Text 56"/>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R</a:t>
            </a:r>
            <a:endParaRPr lang="en-US" sz="740" dirty="0"/>
          </a:p>
        </p:txBody>
      </p:sp>
      <p:sp>
        <p:nvSpPr>
          <p:cNvPr id="59" name="Shape 57"/>
          <p:cNvSpPr/>
          <p:nvPr/>
        </p:nvSpPr>
        <p:spPr>
          <a:xfrm>
            <a:off x="9334500" y="3238500"/>
            <a:ext cx="209550" cy="190500"/>
          </a:xfrm>
          <a:prstGeom prst="roundRect">
            <a:avLst>
              <a:gd name="adj" fmla="val 25000"/>
            </a:avLst>
          </a:prstGeom>
          <a:solidFill>
            <a:srgbClr val="059669"/>
          </a:solidFill>
          <a:ln/>
        </p:spPr>
      </p:sp>
      <p:sp>
        <p:nvSpPr>
          <p:cNvPr id="60" name="Text 58"/>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61" name="Shape 59"/>
          <p:cNvSpPr/>
          <p:nvPr/>
        </p:nvSpPr>
        <p:spPr>
          <a:xfrm>
            <a:off x="9582150" y="3238500"/>
            <a:ext cx="209550" cy="190500"/>
          </a:xfrm>
          <a:prstGeom prst="roundRect">
            <a:avLst>
              <a:gd name="adj" fmla="val 25000"/>
            </a:avLst>
          </a:prstGeom>
          <a:solidFill>
            <a:srgbClr val="F1F5F9"/>
          </a:solidFill>
          <a:ln/>
        </p:spPr>
      </p:sp>
      <p:sp>
        <p:nvSpPr>
          <p:cNvPr id="62" name="Text 60"/>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63" name="Text 61"/>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Rỗng · email sai định dạng · đang gửi · đã gửi · nút gửi lại bị vô hiệu 60 giây.</a:t>
            </a:r>
            <a:endParaRPr lang="en-US" sz="900" dirty="0"/>
          </a:p>
        </p:txBody>
      </p:sp>
      <p:sp>
        <p:nvSpPr>
          <p:cNvPr id="64" name="Text 62"/>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65" name="Text 63"/>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Validate email; đếm ngược; phản hồi trung tính; quay lại đăng nhập.</a:t>
            </a:r>
            <a:endParaRPr lang="en-US" sz="900" dirty="0"/>
          </a:p>
        </p:txBody>
      </p:sp>
      <p:sp>
        <p:nvSpPr>
          <p:cNvPr id="66" name="Text 64"/>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67" name="Text 65"/>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gửi email thật; chỉ mô phỏng trạng thái đã gửi và lưu yêu cầu.</a:t>
            </a:r>
            <a:endParaRPr lang="en-US" sz="900" dirty="0"/>
          </a:p>
        </p:txBody>
      </p:sp>
      <p:sp>
        <p:nvSpPr>
          <p:cNvPr id="68" name="Shape 66"/>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69" name="Text 67"/>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SV1-04-forgot-password</a:t>
            </a:r>
            <a:endParaRPr lang="en-US" sz="840" dirty="0"/>
          </a:p>
        </p:txBody>
      </p:sp>
      <p:sp>
        <p:nvSpPr>
          <p:cNvPr id="70" name="Text 68"/>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1F5F9"/>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64748B"/>
                </a:solidFill>
                <a:latin typeface="Segoe UI" pitchFamily="34" charset="0"/>
                <a:ea typeface="Segoe UI" pitchFamily="34" charset="-122"/>
                <a:cs typeface="Segoe UI" pitchFamily="34" charset="-120"/>
              </a:rPr>
              <a:t>DÙNG CHUNG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12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403 — Không có quyền truy cập</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pages/403.html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spendwise.app/pages/admin-system-dashboard.html</a:t>
            </a:r>
            <a:endParaRPr lang="en-US" sz="700" dirty="0"/>
          </a:p>
        </p:txBody>
      </p:sp>
      <p:sp>
        <p:nvSpPr>
          <p:cNvPr id="14" name="Shape 12"/>
          <p:cNvSpPr/>
          <p:nvPr/>
        </p:nvSpPr>
        <p:spPr>
          <a:xfrm>
            <a:off x="390525" y="1419225"/>
            <a:ext cx="7981950" cy="5172075"/>
          </a:xfrm>
          <a:prstGeom prst="rect">
            <a:avLst/>
          </a:prstGeom>
          <a:solidFill>
            <a:srgbClr val="F8FAFC"/>
          </a:solidFill>
          <a:ln/>
        </p:spPr>
      </p:sp>
      <p:sp>
        <p:nvSpPr>
          <p:cNvPr id="15" name="Text 13"/>
          <p:cNvSpPr txBox="1"/>
          <p:nvPr/>
        </p:nvSpPr>
        <p:spPr>
          <a:xfrm>
            <a:off x="2381250" y="2038350"/>
            <a:ext cx="4381500" cy="1219200"/>
          </a:xfrm>
          <a:prstGeom prst="rect">
            <a:avLst/>
          </a:prstGeom>
          <a:noFill/>
          <a:ln/>
        </p:spPr>
        <p:txBody>
          <a:bodyPr wrap="square" lIns="0" tIns="0" rIns="0" bIns="0" rtlCol="0" anchor="t"/>
          <a:lstStyle/>
          <a:p>
            <a:pPr algn="ctr" indent="0" marL="0">
              <a:lnSpc>
                <a:spcPct val="106000"/>
              </a:lnSpc>
              <a:buNone/>
            </a:pPr>
            <a:r>
              <a:rPr lang="en-US" sz="9200" b="1" dirty="0">
                <a:solidFill>
                  <a:srgbClr val="F59E0B"/>
                </a:solidFill>
                <a:latin typeface="Segoe UI" pitchFamily="34" charset="0"/>
                <a:ea typeface="Segoe UI" pitchFamily="34" charset="-122"/>
                <a:cs typeface="Segoe UI" pitchFamily="34" charset="-120"/>
              </a:rPr>
              <a:t>403</a:t>
            </a:r>
            <a:endParaRPr lang="en-US" sz="9200" dirty="0"/>
          </a:p>
        </p:txBody>
      </p:sp>
      <p:sp>
        <p:nvSpPr>
          <p:cNvPr id="16" name="Text 14"/>
          <p:cNvSpPr txBox="1"/>
          <p:nvPr/>
        </p:nvSpPr>
        <p:spPr>
          <a:xfrm>
            <a:off x="2000250" y="3314700"/>
            <a:ext cx="5143500" cy="323850"/>
          </a:xfrm>
          <a:prstGeom prst="rect">
            <a:avLst/>
          </a:prstGeom>
          <a:noFill/>
          <a:ln/>
        </p:spPr>
        <p:txBody>
          <a:bodyPr wrap="square" lIns="0" tIns="0" rIns="0" bIns="0" rtlCol="0" anchor="t"/>
          <a:lstStyle/>
          <a:p>
            <a:pPr algn="ctr" indent="0" marL="0">
              <a:lnSpc>
                <a:spcPct val="106000"/>
              </a:lnSpc>
              <a:buNone/>
            </a:pPr>
            <a:r>
              <a:rPr lang="en-US" sz="1700" b="1" dirty="0">
                <a:solidFill>
                  <a:srgbClr val="0F172A"/>
                </a:solidFill>
                <a:latin typeface="Segoe UI" pitchFamily="34" charset="0"/>
                <a:ea typeface="Segoe UI" pitchFamily="34" charset="-122"/>
                <a:cs typeface="Segoe UI" pitchFamily="34" charset="-120"/>
              </a:rPr>
              <a:t>Bạn không có quyền truy cập màn hình này</a:t>
            </a:r>
            <a:endParaRPr lang="en-US" sz="1700" dirty="0"/>
          </a:p>
        </p:txBody>
      </p:sp>
      <p:sp>
        <p:nvSpPr>
          <p:cNvPr id="17" name="Text 15"/>
          <p:cNvSpPr txBox="1"/>
          <p:nvPr/>
        </p:nvSpPr>
        <p:spPr>
          <a:xfrm>
            <a:off x="2667000" y="3733800"/>
            <a:ext cx="3810000" cy="152400"/>
          </a:xfrm>
          <a:prstGeom prst="rect">
            <a:avLst/>
          </a:prstGeom>
          <a:noFill/>
          <a:ln/>
        </p:spPr>
        <p:txBody>
          <a:bodyPr wrap="square" lIns="0" tIns="0" rIns="0" bIns="0" rtlCol="0" anchor="t"/>
          <a:lstStyle/>
          <a:p>
            <a:pPr algn="ctr" indent="0" marL="0">
              <a:lnSpc>
                <a:spcPct val="106000"/>
              </a:lnSpc>
              <a:buNone/>
            </a:pPr>
            <a:r>
              <a:rPr lang="en-US" sz="840" dirty="0">
                <a:solidFill>
                  <a:srgbClr val="475569"/>
                </a:solidFill>
                <a:latin typeface="Segoe UI" pitchFamily="34" charset="0"/>
                <a:ea typeface="Segoe UI" pitchFamily="34" charset="-122"/>
                <a:cs typeface="Segoe UI" pitchFamily="34" charset="-120"/>
              </a:rPr>
              <a:t>Vai trò Người dùng không có quyền vào khu vực Quản trị.</a:t>
            </a:r>
            <a:endParaRPr lang="en-US" sz="840" dirty="0"/>
          </a:p>
        </p:txBody>
      </p:sp>
      <p:sp>
        <p:nvSpPr>
          <p:cNvPr id="18" name="Text 16"/>
          <p:cNvSpPr txBox="1"/>
          <p:nvPr/>
        </p:nvSpPr>
        <p:spPr>
          <a:xfrm>
            <a:off x="2667000" y="3905250"/>
            <a:ext cx="3810000" cy="152400"/>
          </a:xfrm>
          <a:prstGeom prst="rect">
            <a:avLst/>
          </a:prstGeom>
          <a:noFill/>
          <a:ln/>
        </p:spPr>
        <p:txBody>
          <a:bodyPr wrap="square" lIns="0" tIns="0" rIns="0" bIns="0" rtlCol="0" anchor="t"/>
          <a:lstStyle/>
          <a:p>
            <a:pPr algn="ctr" indent="0" marL="0">
              <a:lnSpc>
                <a:spcPct val="106000"/>
              </a:lnSpc>
              <a:buNone/>
            </a:pPr>
            <a:r>
              <a:rPr lang="en-US" sz="840" dirty="0">
                <a:solidFill>
                  <a:srgbClr val="475569"/>
                </a:solidFill>
                <a:latin typeface="Segoe UI" pitchFamily="34" charset="0"/>
                <a:ea typeface="Segoe UI" pitchFamily="34" charset="-122"/>
                <a:cs typeface="Segoe UI" pitchFamily="34" charset="-120"/>
              </a:rPr>
              <a:t>Yêu cầu đã bị chặn và ghi vào nhật ký hệ thống.</a:t>
            </a:r>
            <a:endParaRPr lang="en-US" sz="840" dirty="0"/>
          </a:p>
        </p:txBody>
      </p:sp>
      <p:sp>
        <p:nvSpPr>
          <p:cNvPr id="19" name="Shape 17"/>
          <p:cNvSpPr/>
          <p:nvPr/>
        </p:nvSpPr>
        <p:spPr>
          <a:xfrm>
            <a:off x="3162300" y="4248150"/>
            <a:ext cx="1333500" cy="285750"/>
          </a:xfrm>
          <a:prstGeom prst="roundRect">
            <a:avLst>
              <a:gd name="adj" fmla="val 20000"/>
            </a:avLst>
          </a:prstGeom>
          <a:solidFill>
            <a:srgbClr val="059669"/>
          </a:solidFill>
          <a:ln/>
        </p:spPr>
      </p:sp>
      <p:sp>
        <p:nvSpPr>
          <p:cNvPr id="20" name="Text 18"/>
          <p:cNvSpPr txBox="1"/>
          <p:nvPr/>
        </p:nvSpPr>
        <p:spPr>
          <a:xfrm>
            <a:off x="3162300" y="4248150"/>
            <a:ext cx="1333500" cy="28575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Về trang phù hợp</a:t>
            </a:r>
            <a:endParaRPr lang="en-US" sz="740" dirty="0"/>
          </a:p>
        </p:txBody>
      </p:sp>
      <p:sp>
        <p:nvSpPr>
          <p:cNvPr id="21" name="Shape 19"/>
          <p:cNvSpPr/>
          <p:nvPr/>
        </p:nvSpPr>
        <p:spPr>
          <a:xfrm>
            <a:off x="4591050" y="4248150"/>
            <a:ext cx="1238250" cy="285750"/>
          </a:xfrm>
          <a:prstGeom prst="roundRect">
            <a:avLst>
              <a:gd name="adj" fmla="val 20000"/>
            </a:avLst>
          </a:prstGeom>
          <a:solidFill>
            <a:srgbClr val="FFFFFF"/>
          </a:solidFill>
          <a:ln w="9525">
            <a:solidFill>
              <a:srgbClr val="E2E8F0"/>
            </a:solidFill>
            <a:prstDash val="solid"/>
          </a:ln>
        </p:spPr>
      </p:sp>
      <p:sp>
        <p:nvSpPr>
          <p:cNvPr id="22" name="Text 20"/>
          <p:cNvSpPr txBox="1"/>
          <p:nvPr/>
        </p:nvSpPr>
        <p:spPr>
          <a:xfrm>
            <a:off x="4591050" y="4248150"/>
            <a:ext cx="1238250" cy="285750"/>
          </a:xfrm>
          <a:prstGeom prst="rect">
            <a:avLst/>
          </a:prstGeom>
          <a:noFill/>
          <a:ln/>
        </p:spPr>
        <p:txBody>
          <a:bodyPr wrap="square" lIns="0" tIns="0" rIns="0" bIns="0" rtlCol="0" anchor="ctr"/>
          <a:lstStyle/>
          <a:p>
            <a:pPr algn="ctr" indent="0" marL="0">
              <a:lnSpc>
                <a:spcPct val="106000"/>
              </a:lnSpc>
              <a:buNone/>
            </a:pPr>
            <a:r>
              <a:rPr lang="en-US" sz="740" b="1" dirty="0">
                <a:solidFill>
                  <a:srgbClr val="475569"/>
                </a:solidFill>
                <a:latin typeface="Segoe UI" pitchFamily="34" charset="0"/>
                <a:ea typeface="Segoe UI" pitchFamily="34" charset="-122"/>
                <a:cs typeface="Segoe UI" pitchFamily="34" charset="-120"/>
              </a:rPr>
              <a:t>Đổi tài khoản</a:t>
            </a:r>
            <a:endParaRPr lang="en-US" sz="740" dirty="0"/>
          </a:p>
        </p:txBody>
      </p:sp>
      <p:sp>
        <p:nvSpPr>
          <p:cNvPr id="23" name="Shape 21"/>
          <p:cNvSpPr/>
          <p:nvPr/>
        </p:nvSpPr>
        <p:spPr>
          <a:xfrm>
            <a:off x="3143250" y="4762500"/>
            <a:ext cx="3429000" cy="819150"/>
          </a:xfrm>
          <a:prstGeom prst="roundRect">
            <a:avLst>
              <a:gd name="adj" fmla="val 9302"/>
            </a:avLst>
          </a:prstGeom>
          <a:solidFill>
            <a:srgbClr val="ECFDF5"/>
          </a:solidFill>
          <a:ln/>
        </p:spPr>
      </p:sp>
      <p:sp>
        <p:nvSpPr>
          <p:cNvPr id="24" name="Text 22"/>
          <p:cNvSpPr txBox="1"/>
          <p:nvPr/>
        </p:nvSpPr>
        <p:spPr>
          <a:xfrm>
            <a:off x="3276600" y="4876800"/>
            <a:ext cx="3162300" cy="114300"/>
          </a:xfrm>
          <a:prstGeom prst="rect">
            <a:avLst/>
          </a:prstGeom>
          <a:noFill/>
          <a:ln/>
        </p:spPr>
        <p:txBody>
          <a:bodyPr wrap="square" lIns="0" tIns="0" rIns="0" bIns="0" rtlCol="0" anchor="t"/>
          <a:lstStyle/>
          <a:p>
            <a:pPr algn="l" indent="0" marL="0">
              <a:lnSpc>
                <a:spcPct val="106000"/>
              </a:lnSpc>
              <a:buNone/>
            </a:pPr>
            <a:r>
              <a:rPr lang="en-US" sz="620" b="1" spc="40" kern="0" dirty="0">
                <a:solidFill>
                  <a:srgbClr val="047857"/>
                </a:solidFill>
                <a:latin typeface="Segoe UI" pitchFamily="34" charset="0"/>
                <a:ea typeface="Segoe UI" pitchFamily="34" charset="-122"/>
                <a:cs typeface="Segoe UI" pitchFamily="34" charset="-120"/>
              </a:rPr>
              <a:t>BẠN ĐANG ĐĂNG NHẬP</a:t>
            </a:r>
            <a:endParaRPr lang="en-US" sz="620" dirty="0"/>
          </a:p>
        </p:txBody>
      </p:sp>
      <p:sp>
        <p:nvSpPr>
          <p:cNvPr id="25" name="Text 23"/>
          <p:cNvSpPr txBox="1"/>
          <p:nvPr/>
        </p:nvSpPr>
        <p:spPr>
          <a:xfrm>
            <a:off x="3276600" y="5029200"/>
            <a:ext cx="3162300" cy="152400"/>
          </a:xfrm>
          <a:prstGeom prst="rect">
            <a:avLst/>
          </a:prstGeom>
          <a:noFill/>
          <a:ln/>
        </p:spPr>
        <p:txBody>
          <a:bodyPr wrap="square" lIns="0" tIns="0" rIns="0" bIns="0" rtlCol="0" anchor="t"/>
          <a:lstStyle/>
          <a:p>
            <a:pPr algn="l" indent="0" marL="0">
              <a:lnSpc>
                <a:spcPct val="106000"/>
              </a:lnSpc>
              <a:buNone/>
            </a:pPr>
            <a:r>
              <a:rPr lang="en-US" sz="860" b="1" dirty="0">
                <a:solidFill>
                  <a:srgbClr val="065F46"/>
                </a:solidFill>
                <a:latin typeface="Segoe UI" pitchFamily="34" charset="0"/>
                <a:ea typeface="Segoe UI" pitchFamily="34" charset="-122"/>
                <a:cs typeface="Segoe UI" pitchFamily="34" charset="-120"/>
              </a:rPr>
              <a:t>Nguyễn Văn Minh · Người dùng</a:t>
            </a:r>
            <a:endParaRPr lang="en-US" sz="860" dirty="0"/>
          </a:p>
        </p:txBody>
      </p:sp>
      <p:sp>
        <p:nvSpPr>
          <p:cNvPr id="26" name="Text 24"/>
          <p:cNvSpPr txBox="1"/>
          <p:nvPr/>
        </p:nvSpPr>
        <p:spPr>
          <a:xfrm>
            <a:off x="3276600" y="5257800"/>
            <a:ext cx="3162300" cy="133350"/>
          </a:xfrm>
          <a:prstGeom prst="rect">
            <a:avLst/>
          </a:prstGeom>
          <a:noFill/>
          <a:ln/>
        </p:spPr>
        <p:txBody>
          <a:bodyPr wrap="square" lIns="0" tIns="0" rIns="0" bIns="0" rtlCol="0" anchor="t"/>
          <a:lstStyle/>
          <a:p>
            <a:pPr algn="l" indent="0" marL="0">
              <a:lnSpc>
                <a:spcPct val="106000"/>
              </a:lnSpc>
              <a:buNone/>
            </a:pPr>
            <a:r>
              <a:rPr lang="en-US" sz="720" dirty="0">
                <a:solidFill>
                  <a:srgbClr val="047857"/>
                </a:solidFill>
                <a:latin typeface="Segoe UI" pitchFamily="34" charset="0"/>
                <a:ea typeface="Segoe UI" pitchFamily="34" charset="-122"/>
                <a:cs typeface="Segoe UI" pitchFamily="34" charset="-120"/>
              </a:rPr>
              <a:t>Mở Tài chính của tôi →</a:t>
            </a:r>
            <a:endParaRPr lang="en-US" sz="720" dirty="0"/>
          </a:p>
        </p:txBody>
      </p:sp>
      <p:sp>
        <p:nvSpPr>
          <p:cNvPr id="27" name="Shape 25"/>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28" name="Text 26"/>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12 / 27</a:t>
            </a:r>
            <a:endParaRPr lang="en-US" sz="740" dirty="0"/>
          </a:p>
        </p:txBody>
      </p:sp>
      <p:sp>
        <p:nvSpPr>
          <p:cNvPr id="29" name="Text 27"/>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403 — Không có quyền truy cập</a:t>
            </a:r>
            <a:endParaRPr lang="en-US" sz="1700" dirty="0"/>
          </a:p>
        </p:txBody>
      </p:sp>
      <p:sp>
        <p:nvSpPr>
          <p:cNvPr id="30" name="Text 28"/>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pages/403.html</a:t>
            </a:r>
            <a:endParaRPr lang="en-US" sz="720" dirty="0"/>
          </a:p>
        </p:txBody>
      </p:sp>
      <p:sp>
        <p:nvSpPr>
          <p:cNvPr id="31" name="Shape 29"/>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32" name="Text 30"/>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33" name="Text 31"/>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Chặn truy cập sai vai trò, giải thích lý do và đưa người dùng về đúng màn hình của mình.</a:t>
            </a:r>
            <a:endParaRPr lang="en-US" sz="920" dirty="0"/>
          </a:p>
        </p:txBody>
      </p:sp>
      <p:sp>
        <p:nvSpPr>
          <p:cNvPr id="34" name="Text 32"/>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35" name="Shape 33"/>
          <p:cNvSpPr/>
          <p:nvPr/>
        </p:nvSpPr>
        <p:spPr>
          <a:xfrm>
            <a:off x="8839200" y="3238500"/>
            <a:ext cx="209550" cy="190500"/>
          </a:xfrm>
          <a:prstGeom prst="roundRect">
            <a:avLst>
              <a:gd name="adj" fmla="val 25000"/>
            </a:avLst>
          </a:prstGeom>
          <a:solidFill>
            <a:srgbClr val="F1F5F9"/>
          </a:solidFill>
          <a:ln/>
        </p:spPr>
      </p:sp>
      <p:sp>
        <p:nvSpPr>
          <p:cNvPr id="36" name="Text 34"/>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37" name="Shape 35"/>
          <p:cNvSpPr/>
          <p:nvPr/>
        </p:nvSpPr>
        <p:spPr>
          <a:xfrm>
            <a:off x="9086850" y="3238500"/>
            <a:ext cx="209550" cy="190500"/>
          </a:xfrm>
          <a:prstGeom prst="roundRect">
            <a:avLst>
              <a:gd name="adj" fmla="val 25000"/>
            </a:avLst>
          </a:prstGeom>
          <a:solidFill>
            <a:srgbClr val="F1F5F9"/>
          </a:solidFill>
          <a:ln/>
        </p:spPr>
      </p:sp>
      <p:sp>
        <p:nvSpPr>
          <p:cNvPr id="38" name="Text 36"/>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R</a:t>
            </a:r>
            <a:endParaRPr lang="en-US" sz="740" dirty="0"/>
          </a:p>
        </p:txBody>
      </p:sp>
      <p:sp>
        <p:nvSpPr>
          <p:cNvPr id="39" name="Shape 37"/>
          <p:cNvSpPr/>
          <p:nvPr/>
        </p:nvSpPr>
        <p:spPr>
          <a:xfrm>
            <a:off x="9334500" y="3238500"/>
            <a:ext cx="209550" cy="190500"/>
          </a:xfrm>
          <a:prstGeom prst="roundRect">
            <a:avLst>
              <a:gd name="adj" fmla="val 25000"/>
            </a:avLst>
          </a:prstGeom>
          <a:solidFill>
            <a:srgbClr val="F1F5F9"/>
          </a:solidFill>
          <a:ln/>
        </p:spPr>
      </p:sp>
      <p:sp>
        <p:nvSpPr>
          <p:cNvPr id="40" name="Text 38"/>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41" name="Shape 39"/>
          <p:cNvSpPr/>
          <p:nvPr/>
        </p:nvSpPr>
        <p:spPr>
          <a:xfrm>
            <a:off x="9582150" y="3238500"/>
            <a:ext cx="209550" cy="190500"/>
          </a:xfrm>
          <a:prstGeom prst="roundRect">
            <a:avLst>
              <a:gd name="adj" fmla="val 25000"/>
            </a:avLst>
          </a:prstGeom>
          <a:solidFill>
            <a:srgbClr val="F1F5F9"/>
          </a:solidFill>
          <a:ln/>
        </p:spPr>
      </p:sp>
      <p:sp>
        <p:nvSpPr>
          <p:cNvPr id="42" name="Text 40"/>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43" name="Text 41"/>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Vai trò không đủ quyền · đường dẫn bị chặn · vẫn đang đăng nhập.</a:t>
            </a:r>
            <a:endParaRPr lang="en-US" sz="900" dirty="0"/>
          </a:p>
        </p:txBody>
      </p:sp>
      <p:sp>
        <p:nvSpPr>
          <p:cNvPr id="44" name="Text 42"/>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45" name="Text 43"/>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Đọc sessionStorage; hiển thị vai trò hiện tại; về trang phù hợp; đổi tài khoản.</a:t>
            </a:r>
            <a:endParaRPr lang="en-US" sz="900" dirty="0"/>
          </a:p>
        </p:txBody>
      </p:sp>
      <p:sp>
        <p:nvSpPr>
          <p:cNvPr id="46" name="Text 44"/>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47" name="Text 45"/>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có dữ liệu nghiệp vụ; chỉ đọc phiên đăng nhập hiện tại.</a:t>
            </a:r>
            <a:endParaRPr lang="en-US" sz="900" dirty="0"/>
          </a:p>
        </p:txBody>
      </p:sp>
      <p:sp>
        <p:nvSpPr>
          <p:cNvPr id="48" name="Shape 46"/>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49" name="Text 47"/>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SV3-01-403</a:t>
            </a:r>
            <a:endParaRPr lang="en-US" sz="840" dirty="0"/>
          </a:p>
        </p:txBody>
      </p:sp>
      <p:sp>
        <p:nvSpPr>
          <p:cNvPr id="50" name="Text 48"/>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1F5F9"/>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64748B"/>
                </a:solidFill>
                <a:latin typeface="Segoe UI" pitchFamily="34" charset="0"/>
                <a:ea typeface="Segoe UI" pitchFamily="34" charset="-122"/>
                <a:cs typeface="Segoe UI" pitchFamily="34" charset="-120"/>
              </a:rPr>
              <a:t>DÙNG CHUNG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13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404 — Không tìm thấy trang</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pages/404.html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spendwise.app/pages/khong-ton-tai</a:t>
            </a:r>
            <a:endParaRPr lang="en-US" sz="700" dirty="0"/>
          </a:p>
        </p:txBody>
      </p:sp>
      <p:sp>
        <p:nvSpPr>
          <p:cNvPr id="14" name="Shape 12"/>
          <p:cNvSpPr/>
          <p:nvPr/>
        </p:nvSpPr>
        <p:spPr>
          <a:xfrm>
            <a:off x="390525" y="1419225"/>
            <a:ext cx="7981950" cy="5172075"/>
          </a:xfrm>
          <a:prstGeom prst="rect">
            <a:avLst/>
          </a:prstGeom>
          <a:solidFill>
            <a:srgbClr val="FFFFFF"/>
          </a:solidFill>
          <a:ln/>
        </p:spPr>
      </p:sp>
      <p:sp>
        <p:nvSpPr>
          <p:cNvPr id="15" name="Text 13"/>
          <p:cNvSpPr txBox="1"/>
          <p:nvPr/>
        </p:nvSpPr>
        <p:spPr>
          <a:xfrm>
            <a:off x="2381250" y="2038350"/>
            <a:ext cx="4381500" cy="1219200"/>
          </a:xfrm>
          <a:prstGeom prst="rect">
            <a:avLst/>
          </a:prstGeom>
          <a:noFill/>
          <a:ln/>
        </p:spPr>
        <p:txBody>
          <a:bodyPr wrap="square" lIns="0" tIns="0" rIns="0" bIns="0" rtlCol="0" anchor="t"/>
          <a:lstStyle/>
          <a:p>
            <a:pPr algn="ctr" indent="0" marL="0">
              <a:lnSpc>
                <a:spcPct val="106000"/>
              </a:lnSpc>
              <a:buNone/>
            </a:pPr>
            <a:r>
              <a:rPr lang="en-US" sz="9200" b="1" dirty="0">
                <a:solidFill>
                  <a:srgbClr val="059669"/>
                </a:solidFill>
                <a:latin typeface="Segoe UI" pitchFamily="34" charset="0"/>
                <a:ea typeface="Segoe UI" pitchFamily="34" charset="-122"/>
                <a:cs typeface="Segoe UI" pitchFamily="34" charset="-120"/>
              </a:rPr>
              <a:t>404</a:t>
            </a:r>
            <a:endParaRPr lang="en-US" sz="9200" dirty="0"/>
          </a:p>
        </p:txBody>
      </p:sp>
      <p:sp>
        <p:nvSpPr>
          <p:cNvPr id="16" name="Text 14"/>
          <p:cNvSpPr txBox="1"/>
          <p:nvPr/>
        </p:nvSpPr>
        <p:spPr>
          <a:xfrm>
            <a:off x="2381250" y="3333750"/>
            <a:ext cx="4381500" cy="247650"/>
          </a:xfrm>
          <a:prstGeom prst="rect">
            <a:avLst/>
          </a:prstGeom>
          <a:noFill/>
          <a:ln/>
        </p:spPr>
        <p:txBody>
          <a:bodyPr wrap="square" lIns="0" tIns="0" rIns="0" bIns="0" rtlCol="0" anchor="t"/>
          <a:lstStyle/>
          <a:p>
            <a:pPr algn="ctr" indent="0" marL="0">
              <a:lnSpc>
                <a:spcPct val="106000"/>
              </a:lnSpc>
              <a:buNone/>
            </a:pPr>
            <a:r>
              <a:rPr lang="en-US" sz="1700" b="1" dirty="0">
                <a:solidFill>
                  <a:srgbClr val="0F172A"/>
                </a:solidFill>
                <a:latin typeface="Segoe UI" pitchFamily="34" charset="0"/>
                <a:ea typeface="Segoe UI" pitchFamily="34" charset="-122"/>
                <a:cs typeface="Segoe UI" pitchFamily="34" charset="-120"/>
              </a:rPr>
              <a:t>Trang này không tồn tại</a:t>
            </a:r>
            <a:endParaRPr lang="en-US" sz="1700" dirty="0"/>
          </a:p>
        </p:txBody>
      </p:sp>
      <p:sp>
        <p:nvSpPr>
          <p:cNvPr id="17" name="Text 15"/>
          <p:cNvSpPr txBox="1"/>
          <p:nvPr/>
        </p:nvSpPr>
        <p:spPr>
          <a:xfrm>
            <a:off x="2857500" y="3695700"/>
            <a:ext cx="3429000" cy="381000"/>
          </a:xfrm>
          <a:prstGeom prst="rect">
            <a:avLst/>
          </a:prstGeom>
          <a:noFill/>
          <a:ln/>
        </p:spPr>
        <p:txBody>
          <a:bodyPr wrap="square" lIns="0" tIns="0" rIns="0" bIns="0" rtlCol="0" anchor="t"/>
          <a:lstStyle/>
          <a:p>
            <a:pPr algn="ctr" indent="0" marL="0">
              <a:lnSpc>
                <a:spcPct val="106000"/>
              </a:lnSpc>
              <a:buNone/>
            </a:pPr>
            <a:r>
              <a:rPr lang="en-US" sz="820" dirty="0">
                <a:solidFill>
                  <a:srgbClr val="475569"/>
                </a:solidFill>
                <a:latin typeface="Segoe UI" pitchFamily="34" charset="0"/>
                <a:ea typeface="Segoe UI" pitchFamily="34" charset="-122"/>
                <a:cs typeface="Segoe UI" pitchFamily="34" charset="-120"/>
              </a:rPr>
              <a:t>Có thể đường dẫn đã thay đổi hoặc bạn gõ sai tên tệp. Hãy thử tìm màn hình bạn cần.</a:t>
            </a:r>
            <a:endParaRPr lang="en-US" sz="820" dirty="0"/>
          </a:p>
        </p:txBody>
      </p:sp>
      <p:sp>
        <p:nvSpPr>
          <p:cNvPr id="18" name="Shape 16"/>
          <p:cNvSpPr/>
          <p:nvPr/>
        </p:nvSpPr>
        <p:spPr>
          <a:xfrm>
            <a:off x="3143250" y="4229100"/>
            <a:ext cx="2476500" cy="304800"/>
          </a:xfrm>
          <a:prstGeom prst="roundRect">
            <a:avLst>
              <a:gd name="adj" fmla="val 18750"/>
            </a:avLst>
          </a:prstGeom>
          <a:solidFill>
            <a:srgbClr val="FFFFFF"/>
          </a:solidFill>
          <a:ln w="9525">
            <a:solidFill>
              <a:srgbClr val="E2E8F0"/>
            </a:solidFill>
            <a:prstDash val="solid"/>
          </a:ln>
        </p:spPr>
      </p:sp>
      <p:sp>
        <p:nvSpPr>
          <p:cNvPr id="19" name="Text 17"/>
          <p:cNvSpPr txBox="1"/>
          <p:nvPr/>
        </p:nvSpPr>
        <p:spPr>
          <a:xfrm>
            <a:off x="3257550" y="4305300"/>
            <a:ext cx="2190750" cy="13335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Tìm màn hình...</a:t>
            </a:r>
            <a:endParaRPr lang="en-US" sz="700" dirty="0"/>
          </a:p>
        </p:txBody>
      </p:sp>
      <p:sp>
        <p:nvSpPr>
          <p:cNvPr id="20" name="Shape 18"/>
          <p:cNvSpPr/>
          <p:nvPr/>
        </p:nvSpPr>
        <p:spPr>
          <a:xfrm>
            <a:off x="5695950" y="4229100"/>
            <a:ext cx="762000" cy="304800"/>
          </a:xfrm>
          <a:prstGeom prst="roundRect">
            <a:avLst>
              <a:gd name="adj" fmla="val 18750"/>
            </a:avLst>
          </a:prstGeom>
          <a:solidFill>
            <a:srgbClr val="059669"/>
          </a:solidFill>
          <a:ln/>
        </p:spPr>
      </p:sp>
      <p:sp>
        <p:nvSpPr>
          <p:cNvPr id="21" name="Text 19"/>
          <p:cNvSpPr txBox="1"/>
          <p:nvPr/>
        </p:nvSpPr>
        <p:spPr>
          <a:xfrm>
            <a:off x="5695950" y="4229100"/>
            <a:ext cx="762000" cy="30480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Tìm</a:t>
            </a:r>
            <a:endParaRPr lang="en-US" sz="720" dirty="0"/>
          </a:p>
        </p:txBody>
      </p:sp>
      <p:sp>
        <p:nvSpPr>
          <p:cNvPr id="22" name="Shape 20"/>
          <p:cNvSpPr/>
          <p:nvPr/>
        </p:nvSpPr>
        <p:spPr>
          <a:xfrm>
            <a:off x="2857500" y="4724400"/>
            <a:ext cx="857250" cy="228600"/>
          </a:xfrm>
          <a:prstGeom prst="roundRect">
            <a:avLst>
              <a:gd name="adj" fmla="val 20833"/>
            </a:avLst>
          </a:prstGeom>
          <a:solidFill>
            <a:srgbClr val="F8FAFC"/>
          </a:solidFill>
          <a:ln w="9525">
            <a:solidFill>
              <a:srgbClr val="E2E8F0"/>
            </a:solidFill>
            <a:prstDash val="solid"/>
          </a:ln>
        </p:spPr>
      </p:sp>
      <p:sp>
        <p:nvSpPr>
          <p:cNvPr id="23" name="Text 21"/>
          <p:cNvSpPr txBox="1"/>
          <p:nvPr/>
        </p:nvSpPr>
        <p:spPr>
          <a:xfrm>
            <a:off x="2857500" y="4724400"/>
            <a:ext cx="857250" cy="228600"/>
          </a:xfrm>
          <a:prstGeom prst="rect">
            <a:avLst/>
          </a:prstGeom>
          <a:noFill/>
          <a:ln/>
        </p:spPr>
        <p:txBody>
          <a:bodyPr wrap="square" lIns="0" tIns="0" rIns="0" bIns="0" rtlCol="0" anchor="ctr"/>
          <a:lstStyle/>
          <a:p>
            <a:pPr algn="ctr" indent="0" marL="0">
              <a:lnSpc>
                <a:spcPct val="106000"/>
              </a:lnSpc>
              <a:buNone/>
            </a:pPr>
            <a:r>
              <a:rPr lang="en-US" sz="660" dirty="0">
                <a:solidFill>
                  <a:srgbClr val="475569"/>
                </a:solidFill>
                <a:latin typeface="Segoe UI" pitchFamily="34" charset="0"/>
                <a:ea typeface="Segoe UI" pitchFamily="34" charset="-122"/>
                <a:cs typeface="Segoe UI" pitchFamily="34" charset="-120"/>
              </a:rPr>
              <a:t>Trang chủ</a:t>
            </a:r>
            <a:endParaRPr lang="en-US" sz="660" dirty="0"/>
          </a:p>
        </p:txBody>
      </p:sp>
      <p:sp>
        <p:nvSpPr>
          <p:cNvPr id="24" name="Shape 22"/>
          <p:cNvSpPr/>
          <p:nvPr/>
        </p:nvSpPr>
        <p:spPr>
          <a:xfrm>
            <a:off x="3810000" y="4724400"/>
            <a:ext cx="857250" cy="228600"/>
          </a:xfrm>
          <a:prstGeom prst="roundRect">
            <a:avLst>
              <a:gd name="adj" fmla="val 20833"/>
            </a:avLst>
          </a:prstGeom>
          <a:solidFill>
            <a:srgbClr val="F8FAFC"/>
          </a:solidFill>
          <a:ln w="9525">
            <a:solidFill>
              <a:srgbClr val="E2E8F0"/>
            </a:solidFill>
            <a:prstDash val="solid"/>
          </a:ln>
        </p:spPr>
      </p:sp>
      <p:sp>
        <p:nvSpPr>
          <p:cNvPr id="25" name="Text 23"/>
          <p:cNvSpPr txBox="1"/>
          <p:nvPr/>
        </p:nvSpPr>
        <p:spPr>
          <a:xfrm>
            <a:off x="3810000" y="4724400"/>
            <a:ext cx="857250" cy="228600"/>
          </a:xfrm>
          <a:prstGeom prst="rect">
            <a:avLst/>
          </a:prstGeom>
          <a:noFill/>
          <a:ln/>
        </p:spPr>
        <p:txBody>
          <a:bodyPr wrap="square" lIns="0" tIns="0" rIns="0" bIns="0" rtlCol="0" anchor="ctr"/>
          <a:lstStyle/>
          <a:p>
            <a:pPr algn="ctr" indent="0" marL="0">
              <a:lnSpc>
                <a:spcPct val="106000"/>
              </a:lnSpc>
              <a:buNone/>
            </a:pPr>
            <a:r>
              <a:rPr lang="en-US" sz="660" dirty="0">
                <a:solidFill>
                  <a:srgbClr val="475569"/>
                </a:solidFill>
                <a:latin typeface="Segoe UI" pitchFamily="34" charset="0"/>
                <a:ea typeface="Segoe UI" pitchFamily="34" charset="-122"/>
                <a:cs typeface="Segoe UI" pitchFamily="34" charset="-120"/>
              </a:rPr>
              <a:t>Đăng nhập</a:t>
            </a:r>
            <a:endParaRPr lang="en-US" sz="660" dirty="0"/>
          </a:p>
        </p:txBody>
      </p:sp>
      <p:sp>
        <p:nvSpPr>
          <p:cNvPr id="26" name="Shape 24"/>
          <p:cNvSpPr/>
          <p:nvPr/>
        </p:nvSpPr>
        <p:spPr>
          <a:xfrm>
            <a:off x="4762500" y="4724400"/>
            <a:ext cx="857250" cy="228600"/>
          </a:xfrm>
          <a:prstGeom prst="roundRect">
            <a:avLst>
              <a:gd name="adj" fmla="val 20833"/>
            </a:avLst>
          </a:prstGeom>
          <a:solidFill>
            <a:srgbClr val="F8FAFC"/>
          </a:solidFill>
          <a:ln w="9525">
            <a:solidFill>
              <a:srgbClr val="E2E8F0"/>
            </a:solidFill>
            <a:prstDash val="solid"/>
          </a:ln>
        </p:spPr>
      </p:sp>
      <p:sp>
        <p:nvSpPr>
          <p:cNvPr id="27" name="Text 25"/>
          <p:cNvSpPr txBox="1"/>
          <p:nvPr/>
        </p:nvSpPr>
        <p:spPr>
          <a:xfrm>
            <a:off x="4762500" y="4724400"/>
            <a:ext cx="857250" cy="228600"/>
          </a:xfrm>
          <a:prstGeom prst="rect">
            <a:avLst/>
          </a:prstGeom>
          <a:noFill/>
          <a:ln/>
        </p:spPr>
        <p:txBody>
          <a:bodyPr wrap="square" lIns="0" tIns="0" rIns="0" bIns="0" rtlCol="0" anchor="ctr"/>
          <a:lstStyle/>
          <a:p>
            <a:pPr algn="ctr" indent="0" marL="0">
              <a:lnSpc>
                <a:spcPct val="106000"/>
              </a:lnSpc>
              <a:buNone/>
            </a:pPr>
            <a:r>
              <a:rPr lang="en-US" sz="660" dirty="0">
                <a:solidFill>
                  <a:srgbClr val="475569"/>
                </a:solidFill>
                <a:latin typeface="Segoe UI" pitchFamily="34" charset="0"/>
                <a:ea typeface="Segoe UI" pitchFamily="34" charset="-122"/>
                <a:cs typeface="Segoe UI" pitchFamily="34" charset="-120"/>
              </a:rPr>
              <a:t>Tổng quan</a:t>
            </a:r>
            <a:endParaRPr lang="en-US" sz="660" dirty="0"/>
          </a:p>
        </p:txBody>
      </p:sp>
      <p:sp>
        <p:nvSpPr>
          <p:cNvPr id="28" name="Shape 26"/>
          <p:cNvSpPr/>
          <p:nvPr/>
        </p:nvSpPr>
        <p:spPr>
          <a:xfrm>
            <a:off x="5715000" y="4724400"/>
            <a:ext cx="857250" cy="228600"/>
          </a:xfrm>
          <a:prstGeom prst="roundRect">
            <a:avLst>
              <a:gd name="adj" fmla="val 20833"/>
            </a:avLst>
          </a:prstGeom>
          <a:solidFill>
            <a:srgbClr val="F8FAFC"/>
          </a:solidFill>
          <a:ln w="9525">
            <a:solidFill>
              <a:srgbClr val="E2E8F0"/>
            </a:solidFill>
            <a:prstDash val="solid"/>
          </a:ln>
        </p:spPr>
      </p:sp>
      <p:sp>
        <p:nvSpPr>
          <p:cNvPr id="29" name="Text 27"/>
          <p:cNvSpPr txBox="1"/>
          <p:nvPr/>
        </p:nvSpPr>
        <p:spPr>
          <a:xfrm>
            <a:off x="5715000" y="4724400"/>
            <a:ext cx="857250" cy="228600"/>
          </a:xfrm>
          <a:prstGeom prst="rect">
            <a:avLst/>
          </a:prstGeom>
          <a:noFill/>
          <a:ln/>
        </p:spPr>
        <p:txBody>
          <a:bodyPr wrap="square" lIns="0" tIns="0" rIns="0" bIns="0" rtlCol="0" anchor="ctr"/>
          <a:lstStyle/>
          <a:p>
            <a:pPr algn="ctr" indent="0" marL="0">
              <a:lnSpc>
                <a:spcPct val="106000"/>
              </a:lnSpc>
              <a:buNone/>
            </a:pPr>
            <a:r>
              <a:rPr lang="en-US" sz="660" dirty="0">
                <a:solidFill>
                  <a:srgbClr val="475569"/>
                </a:solidFill>
                <a:latin typeface="Segoe UI" pitchFamily="34" charset="0"/>
                <a:ea typeface="Segoe UI" pitchFamily="34" charset="-122"/>
                <a:cs typeface="Segoe UI" pitchFamily="34" charset="-120"/>
              </a:rPr>
              <a:t>Hỗ trợ</a:t>
            </a:r>
            <a:endParaRPr lang="en-US" sz="660" dirty="0"/>
          </a:p>
        </p:txBody>
      </p:sp>
      <p:sp>
        <p:nvSpPr>
          <p:cNvPr id="30" name="Text 28"/>
          <p:cNvSpPr txBox="1"/>
          <p:nvPr/>
        </p:nvSpPr>
        <p:spPr>
          <a:xfrm>
            <a:off x="2857500" y="5143500"/>
            <a:ext cx="3429000" cy="152400"/>
          </a:xfrm>
          <a:prstGeom prst="rect">
            <a:avLst/>
          </a:prstGeom>
          <a:noFill/>
          <a:ln/>
        </p:spPr>
        <p:txBody>
          <a:bodyPr wrap="square" lIns="0" tIns="0" rIns="0" bIns="0" rtlCol="0" anchor="t"/>
          <a:lstStyle/>
          <a:p>
            <a:pPr algn="ctr" indent="0" marL="0">
              <a:lnSpc>
                <a:spcPct val="106000"/>
              </a:lnSpc>
              <a:buNone/>
            </a:pPr>
            <a:r>
              <a:rPr lang="en-US" sz="700" dirty="0">
                <a:solidFill>
                  <a:srgbClr val="94A3B8"/>
                </a:solidFill>
                <a:latin typeface="Segoe UI" pitchFamily="34" charset="0"/>
                <a:ea typeface="Segoe UI" pitchFamily="34" charset="-122"/>
                <a:cs typeface="Segoe UI" pitchFamily="34" charset="-120"/>
              </a:rPr>
              <a:t>Kiểm tra lại đường dẫn hoặc quay về trang chủ để tiếp tục.</a:t>
            </a:r>
            <a:endParaRPr lang="en-US" sz="700" dirty="0"/>
          </a:p>
        </p:txBody>
      </p:sp>
      <p:sp>
        <p:nvSpPr>
          <p:cNvPr id="31" name="Shape 29"/>
          <p:cNvSpPr/>
          <p:nvPr/>
        </p:nvSpPr>
        <p:spPr>
          <a:xfrm>
            <a:off x="3143250" y="5448300"/>
            <a:ext cx="3429000" cy="533400"/>
          </a:xfrm>
          <a:prstGeom prst="roundRect">
            <a:avLst>
              <a:gd name="adj" fmla="val 14286"/>
            </a:avLst>
          </a:prstGeom>
          <a:solidFill>
            <a:srgbClr val="F8FAFC"/>
          </a:solidFill>
          <a:ln w="9525">
            <a:solidFill>
              <a:srgbClr val="E2E8F0"/>
            </a:solidFill>
            <a:prstDash val="solid"/>
          </a:ln>
        </p:spPr>
      </p:sp>
      <p:sp>
        <p:nvSpPr>
          <p:cNvPr id="32" name="Text 30"/>
          <p:cNvSpPr txBox="1"/>
          <p:nvPr/>
        </p:nvSpPr>
        <p:spPr>
          <a:xfrm>
            <a:off x="3276600" y="5543550"/>
            <a:ext cx="3162300" cy="133350"/>
          </a:xfrm>
          <a:prstGeom prst="rect">
            <a:avLst/>
          </a:prstGeom>
          <a:noFill/>
          <a:ln/>
        </p:spPr>
        <p:txBody>
          <a:bodyPr wrap="square" lIns="0" tIns="0" rIns="0" bIns="0" rtlCol="0" anchor="t"/>
          <a:lstStyle/>
          <a:p>
            <a:pPr algn="l" indent="0" marL="0">
              <a:lnSpc>
                <a:spcPct val="106000"/>
              </a:lnSpc>
              <a:buNone/>
            </a:pPr>
            <a:r>
              <a:rPr lang="en-US" sz="740" b="1" dirty="0">
                <a:solidFill>
                  <a:srgbClr val="0F172A"/>
                </a:solidFill>
                <a:latin typeface="Segoe UI" pitchFamily="34" charset="0"/>
                <a:ea typeface="Segoe UI" pitchFamily="34" charset="-122"/>
                <a:cs typeface="Segoe UI" pitchFamily="34" charset="-120"/>
              </a:rPr>
              <a:t>Vẫn không tìm thấy màn hình?</a:t>
            </a:r>
            <a:endParaRPr lang="en-US" sz="740" dirty="0"/>
          </a:p>
        </p:txBody>
      </p:sp>
      <p:sp>
        <p:nvSpPr>
          <p:cNvPr id="33" name="Text 31"/>
          <p:cNvSpPr txBox="1"/>
          <p:nvPr/>
        </p:nvSpPr>
        <p:spPr>
          <a:xfrm>
            <a:off x="3276600" y="5715000"/>
            <a:ext cx="3162300" cy="22860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Liên hệ quản trị viên hoặc mở trang Hỗ trợ để được hướng dẫn.</a:t>
            </a:r>
            <a:endParaRPr lang="en-US" sz="660" dirty="0"/>
          </a:p>
        </p:txBody>
      </p:sp>
      <p:sp>
        <p:nvSpPr>
          <p:cNvPr id="34" name="Shape 32"/>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35" name="Text 33"/>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13 / 27</a:t>
            </a:r>
            <a:endParaRPr lang="en-US" sz="740" dirty="0"/>
          </a:p>
        </p:txBody>
      </p:sp>
      <p:sp>
        <p:nvSpPr>
          <p:cNvPr id="36" name="Text 34"/>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404 — Không tìm thấy trang</a:t>
            </a:r>
            <a:endParaRPr lang="en-US" sz="1700" dirty="0"/>
          </a:p>
        </p:txBody>
      </p:sp>
      <p:sp>
        <p:nvSpPr>
          <p:cNvPr id="37" name="Text 35"/>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pages/404.html</a:t>
            </a:r>
            <a:endParaRPr lang="en-US" sz="720" dirty="0"/>
          </a:p>
        </p:txBody>
      </p:sp>
      <p:sp>
        <p:nvSpPr>
          <p:cNvPr id="38" name="Shape 36"/>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39" name="Text 37"/>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40" name="Text 38"/>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Báo trang không tồn tại và giúp người dùng tìm lại màn hình phù hợp mà không bị mắc kẹt.</a:t>
            </a:r>
            <a:endParaRPr lang="en-US" sz="920" dirty="0"/>
          </a:p>
        </p:txBody>
      </p:sp>
      <p:sp>
        <p:nvSpPr>
          <p:cNvPr id="41" name="Text 39"/>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42" name="Shape 40"/>
          <p:cNvSpPr/>
          <p:nvPr/>
        </p:nvSpPr>
        <p:spPr>
          <a:xfrm>
            <a:off x="8839200" y="3238500"/>
            <a:ext cx="209550" cy="190500"/>
          </a:xfrm>
          <a:prstGeom prst="roundRect">
            <a:avLst>
              <a:gd name="adj" fmla="val 25000"/>
            </a:avLst>
          </a:prstGeom>
          <a:solidFill>
            <a:srgbClr val="F1F5F9"/>
          </a:solidFill>
          <a:ln/>
        </p:spPr>
      </p:sp>
      <p:sp>
        <p:nvSpPr>
          <p:cNvPr id="43" name="Text 41"/>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44" name="Shape 42"/>
          <p:cNvSpPr/>
          <p:nvPr/>
        </p:nvSpPr>
        <p:spPr>
          <a:xfrm>
            <a:off x="9086850" y="3238500"/>
            <a:ext cx="209550" cy="190500"/>
          </a:xfrm>
          <a:prstGeom prst="roundRect">
            <a:avLst>
              <a:gd name="adj" fmla="val 25000"/>
            </a:avLst>
          </a:prstGeom>
          <a:solidFill>
            <a:srgbClr val="F1F5F9"/>
          </a:solidFill>
          <a:ln/>
        </p:spPr>
      </p:sp>
      <p:sp>
        <p:nvSpPr>
          <p:cNvPr id="45" name="Text 43"/>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R</a:t>
            </a:r>
            <a:endParaRPr lang="en-US" sz="740" dirty="0"/>
          </a:p>
        </p:txBody>
      </p:sp>
      <p:sp>
        <p:nvSpPr>
          <p:cNvPr id="46" name="Shape 44"/>
          <p:cNvSpPr/>
          <p:nvPr/>
        </p:nvSpPr>
        <p:spPr>
          <a:xfrm>
            <a:off x="9334500" y="3238500"/>
            <a:ext cx="209550" cy="190500"/>
          </a:xfrm>
          <a:prstGeom prst="roundRect">
            <a:avLst>
              <a:gd name="adj" fmla="val 25000"/>
            </a:avLst>
          </a:prstGeom>
          <a:solidFill>
            <a:srgbClr val="F1F5F9"/>
          </a:solidFill>
          <a:ln/>
        </p:spPr>
      </p:sp>
      <p:sp>
        <p:nvSpPr>
          <p:cNvPr id="47" name="Text 45"/>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48" name="Shape 46"/>
          <p:cNvSpPr/>
          <p:nvPr/>
        </p:nvSpPr>
        <p:spPr>
          <a:xfrm>
            <a:off x="9582150" y="3238500"/>
            <a:ext cx="209550" cy="190500"/>
          </a:xfrm>
          <a:prstGeom prst="roundRect">
            <a:avLst>
              <a:gd name="adj" fmla="val 25000"/>
            </a:avLst>
          </a:prstGeom>
          <a:solidFill>
            <a:srgbClr val="F1F5F9"/>
          </a:solidFill>
          <a:ln/>
        </p:spPr>
      </p:sp>
      <p:sp>
        <p:nvSpPr>
          <p:cNvPr id="49" name="Text 47"/>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50" name="Text 48"/>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Đường dẫn sai · tìm kiếm không có kết quả · quay về trang chủ.</a:t>
            </a:r>
            <a:endParaRPr lang="en-US" sz="900" dirty="0"/>
          </a:p>
        </p:txBody>
      </p:sp>
      <p:sp>
        <p:nvSpPr>
          <p:cNvPr id="51" name="Text 49"/>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52" name="Text 50"/>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Ô tìm kiếm; bốn liên kết nhanh; giữ nguyên điều hướng và phiên đăng nhập.</a:t>
            </a:r>
            <a:endParaRPr lang="en-US" sz="900" dirty="0"/>
          </a:p>
        </p:txBody>
      </p:sp>
      <p:sp>
        <p:nvSpPr>
          <p:cNvPr id="53" name="Text 51"/>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54" name="Text 52"/>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có dữ liệu; trang tĩnh.</a:t>
            </a:r>
            <a:endParaRPr lang="en-US" sz="900" dirty="0"/>
          </a:p>
        </p:txBody>
      </p:sp>
      <p:sp>
        <p:nvSpPr>
          <p:cNvPr id="55" name="Shape 53"/>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56" name="Text 54"/>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SV3-02-404</a:t>
            </a:r>
            <a:endParaRPr lang="en-US" sz="840" dirty="0"/>
          </a:p>
        </p:txBody>
      </p:sp>
      <p:sp>
        <p:nvSpPr>
          <p:cNvPr id="57" name="Text 55"/>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NGƯỜI DÙNG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14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Bảng điều khiển tài chính</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pages/user-finance-dashboard.html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spendwise.app/pages/user-finance-dashboard.html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Người dùng</a:t>
            </a:r>
            <a:endParaRPr lang="en-US" sz="640" dirty="0"/>
          </a:p>
        </p:txBody>
      </p:sp>
      <p:sp>
        <p:nvSpPr>
          <p:cNvPr id="21" name="Shape 19"/>
          <p:cNvSpPr/>
          <p:nvPr/>
        </p:nvSpPr>
        <p:spPr>
          <a:xfrm>
            <a:off x="495300" y="2085975"/>
            <a:ext cx="1181100" cy="209550"/>
          </a:xfrm>
          <a:prstGeom prst="roundRect">
            <a:avLst>
              <a:gd name="adj" fmla="val 27273"/>
            </a:avLst>
          </a:prstGeom>
          <a:solidFill>
            <a:srgbClr val="ECFDF5"/>
          </a:solidFill>
          <a:ln/>
        </p:spPr>
      </p:sp>
      <p:sp>
        <p:nvSpPr>
          <p:cNvPr id="22" name="Text 20"/>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Tổng quan</a:t>
            </a:r>
            <a:endParaRPr lang="en-US" sz="820" dirty="0"/>
          </a:p>
        </p:txBody>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Giao dịch</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Ngân sách</a:t>
            </a:r>
            <a:endParaRPr lang="en-US" sz="820" dirty="0"/>
          </a:p>
        </p:txBody>
      </p:sp>
      <p:sp>
        <p:nvSpPr>
          <p:cNvPr id="25" name="Text 23"/>
          <p:cNvSpPr txBox="1"/>
          <p:nvPr/>
        </p:nvSpPr>
        <p:spPr>
          <a:xfrm>
            <a:off x="609600" y="288607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Mục tiêu</a:t>
            </a:r>
            <a:endParaRPr lang="en-US" sz="820" dirty="0"/>
          </a:p>
        </p:txBody>
      </p:sp>
      <p:sp>
        <p:nvSpPr>
          <p:cNvPr id="26" name="Shape 24"/>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7" name="Text 25"/>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8" name="Text 26"/>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9" name="Shape 27"/>
          <p:cNvSpPr/>
          <p:nvPr/>
        </p:nvSpPr>
        <p:spPr>
          <a:xfrm>
            <a:off x="1809750" y="1419225"/>
            <a:ext cx="6572250" cy="428625"/>
          </a:xfrm>
          <a:prstGeom prst="rect">
            <a:avLst/>
          </a:prstGeom>
          <a:solidFill>
            <a:srgbClr val="FFFFFF"/>
          </a:solidFill>
          <a:ln/>
        </p:spPr>
      </p:sp>
      <p:sp>
        <p:nvSpPr>
          <p:cNvPr id="30" name="Shape 28"/>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1" name="Text 29"/>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Tài chính của tôi</a:t>
            </a:r>
            <a:endParaRPr lang="en-US" sz="1050" dirty="0"/>
          </a:p>
        </p:txBody>
      </p:sp>
      <p:sp>
        <p:nvSpPr>
          <p:cNvPr id="32" name="Shape 30"/>
          <p:cNvSpPr/>
          <p:nvPr/>
        </p:nvSpPr>
        <p:spPr>
          <a:xfrm>
            <a:off x="7315200" y="1533525"/>
            <a:ext cx="914400" cy="171450"/>
          </a:xfrm>
          <a:prstGeom prst="roundRect">
            <a:avLst>
              <a:gd name="adj" fmla="val 50000"/>
            </a:avLst>
          </a:prstGeom>
          <a:solidFill>
            <a:srgbClr val="F1F5F9"/>
          </a:solidFill>
          <a:ln/>
        </p:spPr>
      </p:sp>
      <p:sp>
        <p:nvSpPr>
          <p:cNvPr id="33" name="Text 31"/>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Nguyễn Văn Minh</a:t>
            </a:r>
            <a:endParaRPr lang="en-US" sz="700" dirty="0"/>
          </a:p>
        </p:txBody>
      </p:sp>
      <p:sp>
        <p:nvSpPr>
          <p:cNvPr id="34" name="Shape 32"/>
          <p:cNvSpPr/>
          <p:nvPr/>
        </p:nvSpPr>
        <p:spPr>
          <a:xfrm>
            <a:off x="1943100" y="1952625"/>
            <a:ext cx="1466850" cy="590550"/>
          </a:xfrm>
          <a:prstGeom prst="roundRect">
            <a:avLst>
              <a:gd name="adj" fmla="val 12903"/>
            </a:avLst>
          </a:prstGeom>
          <a:solidFill>
            <a:srgbClr val="FFFFFF"/>
          </a:solidFill>
          <a:ln w="9525">
            <a:solidFill>
              <a:srgbClr val="E2E8F0"/>
            </a:solidFill>
            <a:prstDash val="solid"/>
          </a:ln>
        </p:spPr>
      </p:sp>
      <p:sp>
        <p:nvSpPr>
          <p:cNvPr id="35" name="Text 33"/>
          <p:cNvSpPr txBox="1"/>
          <p:nvPr/>
        </p:nvSpPr>
        <p:spPr>
          <a:xfrm>
            <a:off x="2057400" y="2038350"/>
            <a:ext cx="1257300" cy="114300"/>
          </a:xfrm>
          <a:prstGeom prst="rect">
            <a:avLst/>
          </a:prstGeom>
          <a:noFill/>
          <a:ln/>
        </p:spPr>
        <p:txBody>
          <a:bodyPr wrap="square" lIns="0" tIns="0" rIns="0" bIns="0" rtlCol="0" anchor="t"/>
          <a:lstStyle/>
          <a:p>
            <a:pPr algn="l" indent="0" marL="0">
              <a:lnSpc>
                <a:spcPct val="106000"/>
              </a:lnSpc>
              <a:buNone/>
            </a:pPr>
            <a:r>
              <a:rPr lang="en-US" sz="650" dirty="0">
                <a:solidFill>
                  <a:srgbClr val="475569"/>
                </a:solidFill>
                <a:latin typeface="Segoe UI" pitchFamily="34" charset="0"/>
                <a:ea typeface="Segoe UI" pitchFamily="34" charset="-122"/>
                <a:cs typeface="Segoe UI" pitchFamily="34" charset="-120"/>
              </a:rPr>
              <a:t>Đã chi tháng 10</a:t>
            </a:r>
            <a:endParaRPr lang="en-US" sz="650" dirty="0"/>
          </a:p>
        </p:txBody>
      </p:sp>
      <p:sp>
        <p:nvSpPr>
          <p:cNvPr id="36" name="Text 34"/>
          <p:cNvSpPr txBox="1"/>
          <p:nvPr/>
        </p:nvSpPr>
        <p:spPr>
          <a:xfrm>
            <a:off x="2057400" y="2171700"/>
            <a:ext cx="1257300" cy="190500"/>
          </a:xfrm>
          <a:prstGeom prst="rect">
            <a:avLst/>
          </a:prstGeom>
          <a:noFill/>
          <a:ln/>
        </p:spPr>
        <p:txBody>
          <a:bodyPr wrap="square" lIns="0" tIns="0" rIns="0" bIns="0" rtlCol="0" anchor="t"/>
          <a:lstStyle/>
          <a:p>
            <a:pPr algn="l" indent="0" marL="0">
              <a:lnSpc>
                <a:spcPct val="106000"/>
              </a:lnSpc>
              <a:buNone/>
            </a:pPr>
            <a:r>
              <a:rPr lang="en-US" sz="1120" b="1" dirty="0">
                <a:solidFill>
                  <a:srgbClr val="0F172A"/>
                </a:solidFill>
                <a:latin typeface="Segoe UI" pitchFamily="34" charset="0"/>
                <a:ea typeface="Segoe UI" pitchFamily="34" charset="-122"/>
                <a:cs typeface="Segoe UI" pitchFamily="34" charset="-120"/>
              </a:rPr>
              <a:t>1.620.000 ₫</a:t>
            </a:r>
            <a:endParaRPr lang="en-US" sz="1120" dirty="0"/>
          </a:p>
        </p:txBody>
      </p:sp>
      <p:sp>
        <p:nvSpPr>
          <p:cNvPr id="37" name="Text 35"/>
          <p:cNvSpPr txBox="1"/>
          <p:nvPr/>
        </p:nvSpPr>
        <p:spPr>
          <a:xfrm>
            <a:off x="2057400" y="2390775"/>
            <a:ext cx="1257300" cy="95250"/>
          </a:xfrm>
          <a:prstGeom prst="rect">
            <a:avLst/>
          </a:prstGeom>
          <a:noFill/>
          <a:ln/>
        </p:spPr>
        <p:txBody>
          <a:bodyPr wrap="square" lIns="0" tIns="0" rIns="0" bIns="0" rtlCol="0" anchor="t"/>
          <a:lstStyle/>
          <a:p>
            <a:pPr algn="l" indent="0" marL="0">
              <a:lnSpc>
                <a:spcPct val="106000"/>
              </a:lnSpc>
              <a:buNone/>
            </a:pPr>
            <a:r>
              <a:rPr lang="en-US" sz="600" dirty="0">
                <a:solidFill>
                  <a:srgbClr val="047857"/>
                </a:solidFill>
                <a:latin typeface="Segoe UI" pitchFamily="34" charset="0"/>
                <a:ea typeface="Segoe UI" pitchFamily="34" charset="-122"/>
                <a:cs typeface="Segoe UI" pitchFamily="34" charset="-120"/>
              </a:rPr>
              <a:t>↑ 12% so với tháng 9</a:t>
            </a:r>
            <a:endParaRPr lang="en-US" sz="600" dirty="0"/>
          </a:p>
        </p:txBody>
      </p:sp>
      <p:sp>
        <p:nvSpPr>
          <p:cNvPr id="38" name="Shape 36"/>
          <p:cNvSpPr/>
          <p:nvPr/>
        </p:nvSpPr>
        <p:spPr>
          <a:xfrm>
            <a:off x="3524250" y="1952625"/>
            <a:ext cx="1466850" cy="590550"/>
          </a:xfrm>
          <a:prstGeom prst="roundRect">
            <a:avLst>
              <a:gd name="adj" fmla="val 12903"/>
            </a:avLst>
          </a:prstGeom>
          <a:solidFill>
            <a:srgbClr val="FFFFFF"/>
          </a:solidFill>
          <a:ln w="9525">
            <a:solidFill>
              <a:srgbClr val="E2E8F0"/>
            </a:solidFill>
            <a:prstDash val="solid"/>
          </a:ln>
        </p:spPr>
      </p:sp>
      <p:sp>
        <p:nvSpPr>
          <p:cNvPr id="39" name="Text 37"/>
          <p:cNvSpPr txBox="1"/>
          <p:nvPr/>
        </p:nvSpPr>
        <p:spPr>
          <a:xfrm>
            <a:off x="3638550" y="2038350"/>
            <a:ext cx="1257300" cy="114300"/>
          </a:xfrm>
          <a:prstGeom prst="rect">
            <a:avLst/>
          </a:prstGeom>
          <a:noFill/>
          <a:ln/>
        </p:spPr>
        <p:txBody>
          <a:bodyPr wrap="square" lIns="0" tIns="0" rIns="0" bIns="0" rtlCol="0" anchor="t"/>
          <a:lstStyle/>
          <a:p>
            <a:pPr algn="l" indent="0" marL="0">
              <a:lnSpc>
                <a:spcPct val="106000"/>
              </a:lnSpc>
              <a:buNone/>
            </a:pPr>
            <a:r>
              <a:rPr lang="en-US" sz="650" dirty="0">
                <a:solidFill>
                  <a:srgbClr val="475569"/>
                </a:solidFill>
                <a:latin typeface="Segoe UI" pitchFamily="34" charset="0"/>
                <a:ea typeface="Segoe UI" pitchFamily="34" charset="-122"/>
                <a:cs typeface="Segoe UI" pitchFamily="34" charset="-120"/>
              </a:rPr>
              <a:t>Thu nhập</a:t>
            </a:r>
            <a:endParaRPr lang="en-US" sz="650" dirty="0"/>
          </a:p>
        </p:txBody>
      </p:sp>
      <p:sp>
        <p:nvSpPr>
          <p:cNvPr id="40" name="Text 38"/>
          <p:cNvSpPr txBox="1"/>
          <p:nvPr/>
        </p:nvSpPr>
        <p:spPr>
          <a:xfrm>
            <a:off x="3638550" y="2171700"/>
            <a:ext cx="1257300" cy="190500"/>
          </a:xfrm>
          <a:prstGeom prst="rect">
            <a:avLst/>
          </a:prstGeom>
          <a:noFill/>
          <a:ln/>
        </p:spPr>
        <p:txBody>
          <a:bodyPr wrap="square" lIns="0" tIns="0" rIns="0" bIns="0" rtlCol="0" anchor="t"/>
          <a:lstStyle/>
          <a:p>
            <a:pPr algn="l" indent="0" marL="0">
              <a:lnSpc>
                <a:spcPct val="106000"/>
              </a:lnSpc>
              <a:buNone/>
            </a:pPr>
            <a:r>
              <a:rPr lang="en-US" sz="1120" b="1" dirty="0">
                <a:solidFill>
                  <a:srgbClr val="0F172A"/>
                </a:solidFill>
                <a:latin typeface="Segoe UI" pitchFamily="34" charset="0"/>
                <a:ea typeface="Segoe UI" pitchFamily="34" charset="-122"/>
                <a:cs typeface="Segoe UI" pitchFamily="34" charset="-120"/>
              </a:rPr>
              <a:t>3.000.000 ₫</a:t>
            </a:r>
            <a:endParaRPr lang="en-US" sz="1120" dirty="0"/>
          </a:p>
        </p:txBody>
      </p:sp>
      <p:sp>
        <p:nvSpPr>
          <p:cNvPr id="41" name="Text 39"/>
          <p:cNvSpPr txBox="1"/>
          <p:nvPr/>
        </p:nvSpPr>
        <p:spPr>
          <a:xfrm>
            <a:off x="3638550" y="2390775"/>
            <a:ext cx="1257300" cy="95250"/>
          </a:xfrm>
          <a:prstGeom prst="rect">
            <a:avLst/>
          </a:prstGeom>
          <a:noFill/>
          <a:ln/>
        </p:spPr>
        <p:txBody>
          <a:bodyPr wrap="square" lIns="0" tIns="0" rIns="0" bIns="0" rtlCol="0" anchor="t"/>
          <a:lstStyle/>
          <a:p>
            <a:pPr algn="l" indent="0" marL="0">
              <a:lnSpc>
                <a:spcPct val="106000"/>
              </a:lnSpc>
              <a:buNone/>
            </a:pPr>
            <a:r>
              <a:rPr lang="en-US" sz="600" dirty="0">
                <a:solidFill>
                  <a:srgbClr val="047857"/>
                </a:solidFill>
                <a:latin typeface="Segoe UI" pitchFamily="34" charset="0"/>
                <a:ea typeface="Segoe UI" pitchFamily="34" charset="-122"/>
                <a:cs typeface="Segoe UI" pitchFamily="34" charset="-120"/>
              </a:rPr>
              <a:t>Lương làm thêm</a:t>
            </a:r>
            <a:endParaRPr lang="en-US" sz="600" dirty="0"/>
          </a:p>
        </p:txBody>
      </p:sp>
      <p:sp>
        <p:nvSpPr>
          <p:cNvPr id="42" name="Shape 40"/>
          <p:cNvSpPr/>
          <p:nvPr/>
        </p:nvSpPr>
        <p:spPr>
          <a:xfrm>
            <a:off x="5105400" y="1952625"/>
            <a:ext cx="1466850" cy="590550"/>
          </a:xfrm>
          <a:prstGeom prst="roundRect">
            <a:avLst>
              <a:gd name="adj" fmla="val 12903"/>
            </a:avLst>
          </a:prstGeom>
          <a:solidFill>
            <a:srgbClr val="FFFFFF"/>
          </a:solidFill>
          <a:ln w="9525">
            <a:solidFill>
              <a:srgbClr val="E2E8F0"/>
            </a:solidFill>
            <a:prstDash val="solid"/>
          </a:ln>
        </p:spPr>
      </p:sp>
      <p:sp>
        <p:nvSpPr>
          <p:cNvPr id="43" name="Text 41"/>
          <p:cNvSpPr txBox="1"/>
          <p:nvPr/>
        </p:nvSpPr>
        <p:spPr>
          <a:xfrm>
            <a:off x="5219700" y="2038350"/>
            <a:ext cx="1257300" cy="114300"/>
          </a:xfrm>
          <a:prstGeom prst="rect">
            <a:avLst/>
          </a:prstGeom>
          <a:noFill/>
          <a:ln/>
        </p:spPr>
        <p:txBody>
          <a:bodyPr wrap="square" lIns="0" tIns="0" rIns="0" bIns="0" rtlCol="0" anchor="t"/>
          <a:lstStyle/>
          <a:p>
            <a:pPr algn="l" indent="0" marL="0">
              <a:lnSpc>
                <a:spcPct val="106000"/>
              </a:lnSpc>
              <a:buNone/>
            </a:pPr>
            <a:r>
              <a:rPr lang="en-US" sz="650" dirty="0">
                <a:solidFill>
                  <a:srgbClr val="475569"/>
                </a:solidFill>
                <a:latin typeface="Segoe UI" pitchFamily="34" charset="0"/>
                <a:ea typeface="Segoe UI" pitchFamily="34" charset="-122"/>
                <a:cs typeface="Segoe UI" pitchFamily="34" charset="-120"/>
              </a:rPr>
              <a:t>Đã tiết kiệm</a:t>
            </a:r>
            <a:endParaRPr lang="en-US" sz="650" dirty="0"/>
          </a:p>
        </p:txBody>
      </p:sp>
      <p:sp>
        <p:nvSpPr>
          <p:cNvPr id="44" name="Text 42"/>
          <p:cNvSpPr txBox="1"/>
          <p:nvPr/>
        </p:nvSpPr>
        <p:spPr>
          <a:xfrm>
            <a:off x="5219700" y="2171700"/>
            <a:ext cx="1257300" cy="190500"/>
          </a:xfrm>
          <a:prstGeom prst="rect">
            <a:avLst/>
          </a:prstGeom>
          <a:noFill/>
          <a:ln/>
        </p:spPr>
        <p:txBody>
          <a:bodyPr wrap="square" lIns="0" tIns="0" rIns="0" bIns="0" rtlCol="0" anchor="t"/>
          <a:lstStyle/>
          <a:p>
            <a:pPr algn="l" indent="0" marL="0">
              <a:lnSpc>
                <a:spcPct val="106000"/>
              </a:lnSpc>
              <a:buNone/>
            </a:pPr>
            <a:r>
              <a:rPr lang="en-US" sz="1120" b="1" dirty="0">
                <a:solidFill>
                  <a:srgbClr val="0F172A"/>
                </a:solidFill>
                <a:latin typeface="Segoe UI" pitchFamily="34" charset="0"/>
                <a:ea typeface="Segoe UI" pitchFamily="34" charset="-122"/>
                <a:cs typeface="Segoe UI" pitchFamily="34" charset="-120"/>
              </a:rPr>
              <a:t>6.500.000 ₫</a:t>
            </a:r>
            <a:endParaRPr lang="en-US" sz="1120" dirty="0"/>
          </a:p>
        </p:txBody>
      </p:sp>
      <p:sp>
        <p:nvSpPr>
          <p:cNvPr id="45" name="Text 43"/>
          <p:cNvSpPr txBox="1"/>
          <p:nvPr/>
        </p:nvSpPr>
        <p:spPr>
          <a:xfrm>
            <a:off x="5219700" y="2390775"/>
            <a:ext cx="1257300" cy="95250"/>
          </a:xfrm>
          <a:prstGeom prst="rect">
            <a:avLst/>
          </a:prstGeom>
          <a:noFill/>
          <a:ln/>
        </p:spPr>
        <p:txBody>
          <a:bodyPr wrap="square" lIns="0" tIns="0" rIns="0" bIns="0" rtlCol="0" anchor="t"/>
          <a:lstStyle/>
          <a:p>
            <a:pPr algn="l" indent="0" marL="0">
              <a:lnSpc>
                <a:spcPct val="106000"/>
              </a:lnSpc>
              <a:buNone/>
            </a:pPr>
            <a:r>
              <a:rPr lang="en-US" sz="600" dirty="0">
                <a:solidFill>
                  <a:srgbClr val="047857"/>
                </a:solidFill>
                <a:latin typeface="Segoe UI" pitchFamily="34" charset="0"/>
                <a:ea typeface="Segoe UI" pitchFamily="34" charset="-122"/>
                <a:cs typeface="Segoe UI" pitchFamily="34" charset="-120"/>
              </a:rPr>
              <a:t>2 mục tiêu</a:t>
            </a:r>
            <a:endParaRPr lang="en-US" sz="600" dirty="0"/>
          </a:p>
        </p:txBody>
      </p:sp>
      <p:sp>
        <p:nvSpPr>
          <p:cNvPr id="46" name="Shape 44"/>
          <p:cNvSpPr/>
          <p:nvPr/>
        </p:nvSpPr>
        <p:spPr>
          <a:xfrm>
            <a:off x="6686550" y="1952625"/>
            <a:ext cx="1466850" cy="590550"/>
          </a:xfrm>
          <a:prstGeom prst="roundRect">
            <a:avLst>
              <a:gd name="adj" fmla="val 12903"/>
            </a:avLst>
          </a:prstGeom>
          <a:solidFill>
            <a:srgbClr val="FFFFFF"/>
          </a:solidFill>
          <a:ln w="9525">
            <a:solidFill>
              <a:srgbClr val="E2E8F0"/>
            </a:solidFill>
            <a:prstDash val="solid"/>
          </a:ln>
        </p:spPr>
      </p:sp>
      <p:sp>
        <p:nvSpPr>
          <p:cNvPr id="47" name="Text 45"/>
          <p:cNvSpPr txBox="1"/>
          <p:nvPr/>
        </p:nvSpPr>
        <p:spPr>
          <a:xfrm>
            <a:off x="6800850" y="2038350"/>
            <a:ext cx="1257300" cy="114300"/>
          </a:xfrm>
          <a:prstGeom prst="rect">
            <a:avLst/>
          </a:prstGeom>
          <a:noFill/>
          <a:ln/>
        </p:spPr>
        <p:txBody>
          <a:bodyPr wrap="square" lIns="0" tIns="0" rIns="0" bIns="0" rtlCol="0" anchor="t"/>
          <a:lstStyle/>
          <a:p>
            <a:pPr algn="l" indent="0" marL="0">
              <a:lnSpc>
                <a:spcPct val="106000"/>
              </a:lnSpc>
              <a:buNone/>
            </a:pPr>
            <a:r>
              <a:rPr lang="en-US" sz="650" dirty="0">
                <a:solidFill>
                  <a:srgbClr val="475569"/>
                </a:solidFill>
                <a:latin typeface="Segoe UI" pitchFamily="34" charset="0"/>
                <a:ea typeface="Segoe UI" pitchFamily="34" charset="-122"/>
                <a:cs typeface="Segoe UI" pitchFamily="34" charset="-120"/>
              </a:rPr>
              <a:t>Ngân sách còn lại</a:t>
            </a:r>
            <a:endParaRPr lang="en-US" sz="650" dirty="0"/>
          </a:p>
        </p:txBody>
      </p:sp>
      <p:sp>
        <p:nvSpPr>
          <p:cNvPr id="48" name="Text 46"/>
          <p:cNvSpPr txBox="1"/>
          <p:nvPr/>
        </p:nvSpPr>
        <p:spPr>
          <a:xfrm>
            <a:off x="6800850" y="2171700"/>
            <a:ext cx="1257300" cy="190500"/>
          </a:xfrm>
          <a:prstGeom prst="rect">
            <a:avLst/>
          </a:prstGeom>
          <a:noFill/>
          <a:ln/>
        </p:spPr>
        <p:txBody>
          <a:bodyPr wrap="square" lIns="0" tIns="0" rIns="0" bIns="0" rtlCol="0" anchor="t"/>
          <a:lstStyle/>
          <a:p>
            <a:pPr algn="l" indent="0" marL="0">
              <a:lnSpc>
                <a:spcPct val="106000"/>
              </a:lnSpc>
              <a:buNone/>
            </a:pPr>
            <a:r>
              <a:rPr lang="en-US" sz="1120" b="1" dirty="0">
                <a:solidFill>
                  <a:srgbClr val="0F172A"/>
                </a:solidFill>
                <a:latin typeface="Segoe UI" pitchFamily="34" charset="0"/>
                <a:ea typeface="Segoe UI" pitchFamily="34" charset="-122"/>
                <a:cs typeface="Segoe UI" pitchFamily="34" charset="-120"/>
              </a:rPr>
              <a:t>335.000 ₫</a:t>
            </a:r>
            <a:endParaRPr lang="en-US" sz="1120" dirty="0"/>
          </a:p>
        </p:txBody>
      </p:sp>
      <p:sp>
        <p:nvSpPr>
          <p:cNvPr id="49" name="Text 47"/>
          <p:cNvSpPr txBox="1"/>
          <p:nvPr/>
        </p:nvSpPr>
        <p:spPr>
          <a:xfrm>
            <a:off x="6800850" y="2390775"/>
            <a:ext cx="1257300" cy="95250"/>
          </a:xfrm>
          <a:prstGeom prst="rect">
            <a:avLst/>
          </a:prstGeom>
          <a:noFill/>
          <a:ln/>
        </p:spPr>
        <p:txBody>
          <a:bodyPr wrap="square" lIns="0" tIns="0" rIns="0" bIns="0" rtlCol="0" anchor="t"/>
          <a:lstStyle/>
          <a:p>
            <a:pPr algn="l" indent="0" marL="0">
              <a:lnSpc>
                <a:spcPct val="106000"/>
              </a:lnSpc>
              <a:buNone/>
            </a:pPr>
            <a:r>
              <a:rPr lang="en-US" sz="600" dirty="0">
                <a:solidFill>
                  <a:srgbClr val="047857"/>
                </a:solidFill>
                <a:latin typeface="Segoe UI" pitchFamily="34" charset="0"/>
                <a:ea typeface="Segoe UI" pitchFamily="34" charset="-122"/>
                <a:cs typeface="Segoe UI" pitchFamily="34" charset="-120"/>
              </a:rPr>
              <a:t>1 danh mục đã duyệt</a:t>
            </a:r>
            <a:endParaRPr lang="en-US" sz="600" dirty="0"/>
          </a:p>
        </p:txBody>
      </p:sp>
      <p:sp>
        <p:nvSpPr>
          <p:cNvPr id="50" name="Shape 48"/>
          <p:cNvSpPr/>
          <p:nvPr/>
        </p:nvSpPr>
        <p:spPr>
          <a:xfrm>
            <a:off x="1943100" y="2657475"/>
            <a:ext cx="3733800" cy="1952625"/>
          </a:xfrm>
          <a:prstGeom prst="roundRect">
            <a:avLst>
              <a:gd name="adj" fmla="val 3902"/>
            </a:avLst>
          </a:prstGeom>
          <a:solidFill>
            <a:srgbClr val="FFFFFF"/>
          </a:solidFill>
          <a:ln w="9525">
            <a:solidFill>
              <a:srgbClr val="E2E8F0"/>
            </a:solidFill>
            <a:prstDash val="solid"/>
          </a:ln>
        </p:spPr>
      </p:sp>
      <p:sp>
        <p:nvSpPr>
          <p:cNvPr id="51" name="Text 49"/>
          <p:cNvSpPr txBox="1"/>
          <p:nvPr/>
        </p:nvSpPr>
        <p:spPr>
          <a:xfrm>
            <a:off x="2057400" y="2743200"/>
            <a:ext cx="3048000" cy="133350"/>
          </a:xfrm>
          <a:prstGeom prst="rect">
            <a:avLst/>
          </a:prstGeom>
          <a:noFill/>
          <a:ln/>
        </p:spPr>
        <p:txBody>
          <a:bodyPr wrap="square" lIns="0" tIns="0" rIns="0" bIns="0" rtlCol="0" anchor="t"/>
          <a:lstStyle/>
          <a:p>
            <a:pPr algn="l" indent="0" marL="0">
              <a:lnSpc>
                <a:spcPct val="106000"/>
              </a:lnSpc>
              <a:buNone/>
            </a:pPr>
            <a:r>
              <a:rPr lang="en-US" sz="840" b="1" dirty="0">
                <a:solidFill>
                  <a:srgbClr val="0F172A"/>
                </a:solidFill>
                <a:latin typeface="Segoe UI" pitchFamily="34" charset="0"/>
                <a:ea typeface="Segoe UI" pitchFamily="34" charset="-122"/>
                <a:cs typeface="Segoe UI" pitchFamily="34" charset="-120"/>
              </a:rPr>
              <a:t>Chi tiêu theo danh mục (tháng này)</a:t>
            </a:r>
            <a:endParaRPr lang="en-US" sz="840" dirty="0"/>
          </a:p>
        </p:txBody>
      </p:sp>
      <p:sp>
        <p:nvSpPr>
          <p:cNvPr id="52" name="Text 50"/>
          <p:cNvSpPr txBox="1"/>
          <p:nvPr/>
        </p:nvSpPr>
        <p:spPr>
          <a:xfrm>
            <a:off x="2057400" y="2971800"/>
            <a:ext cx="742950" cy="1143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Khác</a:t>
            </a:r>
            <a:endParaRPr lang="en-US" sz="680" dirty="0"/>
          </a:p>
        </p:txBody>
      </p:sp>
      <p:sp>
        <p:nvSpPr>
          <p:cNvPr id="53" name="Shape 51"/>
          <p:cNvSpPr/>
          <p:nvPr/>
        </p:nvSpPr>
        <p:spPr>
          <a:xfrm>
            <a:off x="2838450" y="2981325"/>
            <a:ext cx="1809750" cy="85725"/>
          </a:xfrm>
          <a:prstGeom prst="roundRect">
            <a:avLst>
              <a:gd name="adj" fmla="val 44444"/>
            </a:avLst>
          </a:prstGeom>
          <a:solidFill>
            <a:srgbClr val="F1F5F9"/>
          </a:solidFill>
          <a:ln/>
        </p:spPr>
      </p:sp>
      <p:sp>
        <p:nvSpPr>
          <p:cNvPr id="54" name="Shape 52"/>
          <p:cNvSpPr/>
          <p:nvPr/>
        </p:nvSpPr>
        <p:spPr>
          <a:xfrm>
            <a:off x="2838450" y="2981325"/>
            <a:ext cx="1809750" cy="85725"/>
          </a:xfrm>
          <a:prstGeom prst="roundRect">
            <a:avLst>
              <a:gd name="adj" fmla="val 44444"/>
            </a:avLst>
          </a:prstGeom>
          <a:solidFill>
            <a:srgbClr val="059669"/>
          </a:solidFill>
          <a:ln/>
        </p:spPr>
      </p:sp>
      <p:sp>
        <p:nvSpPr>
          <p:cNvPr id="55" name="Text 53"/>
          <p:cNvSpPr txBox="1"/>
          <p:nvPr/>
        </p:nvSpPr>
        <p:spPr>
          <a:xfrm>
            <a:off x="4705350" y="2971800"/>
            <a:ext cx="857250" cy="114300"/>
          </a:xfrm>
          <a:prstGeom prst="rect">
            <a:avLst/>
          </a:prstGeom>
          <a:noFill/>
          <a:ln/>
        </p:spPr>
        <p:txBody>
          <a:bodyPr wrap="square" lIns="0" tIns="0" rIns="0" bIns="0" rtlCol="0" anchor="t"/>
          <a:lstStyle/>
          <a:p>
            <a:pPr algn="r" indent="0" marL="0">
              <a:lnSpc>
                <a:spcPct val="106000"/>
              </a:lnSpc>
              <a:buNone/>
            </a:pPr>
            <a:r>
              <a:rPr lang="en-US" sz="660" dirty="0">
                <a:solidFill>
                  <a:srgbClr val="475569"/>
                </a:solidFill>
                <a:latin typeface="Segoe UI" pitchFamily="34" charset="0"/>
                <a:ea typeface="Segoe UI" pitchFamily="34" charset="-122"/>
                <a:cs typeface="Segoe UI" pitchFamily="34" charset="-120"/>
              </a:rPr>
              <a:t>500.000</a:t>
            </a:r>
            <a:endParaRPr lang="en-US" sz="660" dirty="0"/>
          </a:p>
        </p:txBody>
      </p:sp>
      <p:sp>
        <p:nvSpPr>
          <p:cNvPr id="56" name="Text 54"/>
          <p:cNvSpPr txBox="1"/>
          <p:nvPr/>
        </p:nvSpPr>
        <p:spPr>
          <a:xfrm>
            <a:off x="2057400" y="3200400"/>
            <a:ext cx="742950" cy="1143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Ăn uống</a:t>
            </a:r>
            <a:endParaRPr lang="en-US" sz="680" dirty="0"/>
          </a:p>
        </p:txBody>
      </p:sp>
      <p:sp>
        <p:nvSpPr>
          <p:cNvPr id="57" name="Shape 55"/>
          <p:cNvSpPr/>
          <p:nvPr/>
        </p:nvSpPr>
        <p:spPr>
          <a:xfrm>
            <a:off x="2838450" y="3209925"/>
            <a:ext cx="1809750" cy="85725"/>
          </a:xfrm>
          <a:prstGeom prst="roundRect">
            <a:avLst>
              <a:gd name="adj" fmla="val 44444"/>
            </a:avLst>
          </a:prstGeom>
          <a:solidFill>
            <a:srgbClr val="F1F5F9"/>
          </a:solidFill>
          <a:ln/>
        </p:spPr>
      </p:sp>
      <p:sp>
        <p:nvSpPr>
          <p:cNvPr id="58" name="Shape 56"/>
          <p:cNvSpPr/>
          <p:nvPr/>
        </p:nvSpPr>
        <p:spPr>
          <a:xfrm>
            <a:off x="2838450" y="3209925"/>
            <a:ext cx="1230630" cy="85725"/>
          </a:xfrm>
          <a:prstGeom prst="roundRect">
            <a:avLst>
              <a:gd name="adj" fmla="val 44444"/>
            </a:avLst>
          </a:prstGeom>
          <a:solidFill>
            <a:srgbClr val="F59E0B"/>
          </a:solidFill>
          <a:ln/>
        </p:spPr>
      </p:sp>
      <p:sp>
        <p:nvSpPr>
          <p:cNvPr id="59" name="Text 57"/>
          <p:cNvSpPr txBox="1"/>
          <p:nvPr/>
        </p:nvSpPr>
        <p:spPr>
          <a:xfrm>
            <a:off x="4705350" y="3200400"/>
            <a:ext cx="857250" cy="114300"/>
          </a:xfrm>
          <a:prstGeom prst="rect">
            <a:avLst/>
          </a:prstGeom>
          <a:noFill/>
          <a:ln/>
        </p:spPr>
        <p:txBody>
          <a:bodyPr wrap="square" lIns="0" tIns="0" rIns="0" bIns="0" rtlCol="0" anchor="t"/>
          <a:lstStyle/>
          <a:p>
            <a:pPr algn="r" indent="0" marL="0">
              <a:lnSpc>
                <a:spcPct val="106000"/>
              </a:lnSpc>
              <a:buNone/>
            </a:pPr>
            <a:r>
              <a:rPr lang="en-US" sz="660" dirty="0">
                <a:solidFill>
                  <a:srgbClr val="475569"/>
                </a:solidFill>
                <a:latin typeface="Segoe UI" pitchFamily="34" charset="0"/>
                <a:ea typeface="Segoe UI" pitchFamily="34" charset="-122"/>
                <a:cs typeface="Segoe UI" pitchFamily="34" charset="-120"/>
              </a:rPr>
              <a:t>340.000</a:t>
            </a:r>
            <a:endParaRPr lang="en-US" sz="660" dirty="0"/>
          </a:p>
        </p:txBody>
      </p:sp>
      <p:sp>
        <p:nvSpPr>
          <p:cNvPr id="60" name="Text 58"/>
          <p:cNvSpPr txBox="1"/>
          <p:nvPr/>
        </p:nvSpPr>
        <p:spPr>
          <a:xfrm>
            <a:off x="2057400" y="3429000"/>
            <a:ext cx="742950" cy="1143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Mua sắm</a:t>
            </a:r>
            <a:endParaRPr lang="en-US" sz="680" dirty="0"/>
          </a:p>
        </p:txBody>
      </p:sp>
      <p:sp>
        <p:nvSpPr>
          <p:cNvPr id="61" name="Shape 59"/>
          <p:cNvSpPr/>
          <p:nvPr/>
        </p:nvSpPr>
        <p:spPr>
          <a:xfrm>
            <a:off x="2838450" y="3438525"/>
            <a:ext cx="1809750" cy="85725"/>
          </a:xfrm>
          <a:prstGeom prst="roundRect">
            <a:avLst>
              <a:gd name="adj" fmla="val 44444"/>
            </a:avLst>
          </a:prstGeom>
          <a:solidFill>
            <a:srgbClr val="F1F5F9"/>
          </a:solidFill>
          <a:ln/>
        </p:spPr>
      </p:sp>
      <p:sp>
        <p:nvSpPr>
          <p:cNvPr id="62" name="Shape 60"/>
          <p:cNvSpPr/>
          <p:nvPr/>
        </p:nvSpPr>
        <p:spPr>
          <a:xfrm>
            <a:off x="2838450" y="3438525"/>
            <a:ext cx="1158240" cy="85725"/>
          </a:xfrm>
          <a:prstGeom prst="roundRect">
            <a:avLst>
              <a:gd name="adj" fmla="val 44444"/>
            </a:avLst>
          </a:prstGeom>
          <a:solidFill>
            <a:srgbClr val="059669"/>
          </a:solidFill>
          <a:ln/>
        </p:spPr>
      </p:sp>
      <p:sp>
        <p:nvSpPr>
          <p:cNvPr id="63" name="Text 61"/>
          <p:cNvSpPr txBox="1"/>
          <p:nvPr/>
        </p:nvSpPr>
        <p:spPr>
          <a:xfrm>
            <a:off x="4705350" y="3429000"/>
            <a:ext cx="857250" cy="114300"/>
          </a:xfrm>
          <a:prstGeom prst="rect">
            <a:avLst/>
          </a:prstGeom>
          <a:noFill/>
          <a:ln/>
        </p:spPr>
        <p:txBody>
          <a:bodyPr wrap="square" lIns="0" tIns="0" rIns="0" bIns="0" rtlCol="0" anchor="t"/>
          <a:lstStyle/>
          <a:p>
            <a:pPr algn="r" indent="0" marL="0">
              <a:lnSpc>
                <a:spcPct val="106000"/>
              </a:lnSpc>
              <a:buNone/>
            </a:pPr>
            <a:r>
              <a:rPr lang="en-US" sz="660" dirty="0">
                <a:solidFill>
                  <a:srgbClr val="475569"/>
                </a:solidFill>
                <a:latin typeface="Segoe UI" pitchFamily="34" charset="0"/>
                <a:ea typeface="Segoe UI" pitchFamily="34" charset="-122"/>
                <a:cs typeface="Segoe UI" pitchFamily="34" charset="-120"/>
              </a:rPr>
              <a:t>320.000</a:t>
            </a:r>
            <a:endParaRPr lang="en-US" sz="660" dirty="0"/>
          </a:p>
        </p:txBody>
      </p:sp>
      <p:sp>
        <p:nvSpPr>
          <p:cNvPr id="64" name="Text 62"/>
          <p:cNvSpPr txBox="1"/>
          <p:nvPr/>
        </p:nvSpPr>
        <p:spPr>
          <a:xfrm>
            <a:off x="2057400" y="3657600"/>
            <a:ext cx="742950" cy="1143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Hoá đơn</a:t>
            </a:r>
            <a:endParaRPr lang="en-US" sz="680" dirty="0"/>
          </a:p>
        </p:txBody>
      </p:sp>
      <p:sp>
        <p:nvSpPr>
          <p:cNvPr id="65" name="Shape 63"/>
          <p:cNvSpPr/>
          <p:nvPr/>
        </p:nvSpPr>
        <p:spPr>
          <a:xfrm>
            <a:off x="2838450" y="3667125"/>
            <a:ext cx="1809750" cy="85725"/>
          </a:xfrm>
          <a:prstGeom prst="roundRect">
            <a:avLst>
              <a:gd name="adj" fmla="val 44444"/>
            </a:avLst>
          </a:prstGeom>
          <a:solidFill>
            <a:srgbClr val="F1F5F9"/>
          </a:solidFill>
          <a:ln/>
        </p:spPr>
      </p:sp>
      <p:sp>
        <p:nvSpPr>
          <p:cNvPr id="66" name="Shape 64"/>
          <p:cNvSpPr/>
          <p:nvPr/>
        </p:nvSpPr>
        <p:spPr>
          <a:xfrm>
            <a:off x="2838450" y="3667125"/>
            <a:ext cx="651510" cy="85725"/>
          </a:xfrm>
          <a:prstGeom prst="roundRect">
            <a:avLst>
              <a:gd name="adj" fmla="val 44444"/>
            </a:avLst>
          </a:prstGeom>
          <a:solidFill>
            <a:srgbClr val="059669"/>
          </a:solidFill>
          <a:ln/>
        </p:spPr>
      </p:sp>
      <p:sp>
        <p:nvSpPr>
          <p:cNvPr id="67" name="Text 65"/>
          <p:cNvSpPr txBox="1"/>
          <p:nvPr/>
        </p:nvSpPr>
        <p:spPr>
          <a:xfrm>
            <a:off x="4705350" y="3657600"/>
            <a:ext cx="857250" cy="114300"/>
          </a:xfrm>
          <a:prstGeom prst="rect">
            <a:avLst/>
          </a:prstGeom>
          <a:noFill/>
          <a:ln/>
        </p:spPr>
        <p:txBody>
          <a:bodyPr wrap="square" lIns="0" tIns="0" rIns="0" bIns="0" rtlCol="0" anchor="t"/>
          <a:lstStyle/>
          <a:p>
            <a:pPr algn="r" indent="0" marL="0">
              <a:lnSpc>
                <a:spcPct val="106000"/>
              </a:lnSpc>
              <a:buNone/>
            </a:pPr>
            <a:r>
              <a:rPr lang="en-US" sz="660" dirty="0">
                <a:solidFill>
                  <a:srgbClr val="475569"/>
                </a:solidFill>
                <a:latin typeface="Segoe UI" pitchFamily="34" charset="0"/>
                <a:ea typeface="Segoe UI" pitchFamily="34" charset="-122"/>
                <a:cs typeface="Segoe UI" pitchFamily="34" charset="-120"/>
              </a:rPr>
              <a:t>180.000</a:t>
            </a:r>
            <a:endParaRPr lang="en-US" sz="660" dirty="0"/>
          </a:p>
        </p:txBody>
      </p:sp>
      <p:sp>
        <p:nvSpPr>
          <p:cNvPr id="68" name="Text 66"/>
          <p:cNvSpPr txBox="1"/>
          <p:nvPr/>
        </p:nvSpPr>
        <p:spPr>
          <a:xfrm>
            <a:off x="2057400" y="3886200"/>
            <a:ext cx="742950" cy="1143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Giải trí</a:t>
            </a:r>
            <a:endParaRPr lang="en-US" sz="680" dirty="0"/>
          </a:p>
        </p:txBody>
      </p:sp>
      <p:sp>
        <p:nvSpPr>
          <p:cNvPr id="69" name="Shape 67"/>
          <p:cNvSpPr/>
          <p:nvPr/>
        </p:nvSpPr>
        <p:spPr>
          <a:xfrm>
            <a:off x="2838450" y="3895725"/>
            <a:ext cx="1809750" cy="85725"/>
          </a:xfrm>
          <a:prstGeom prst="roundRect">
            <a:avLst>
              <a:gd name="adj" fmla="val 44444"/>
            </a:avLst>
          </a:prstGeom>
          <a:solidFill>
            <a:srgbClr val="F1F5F9"/>
          </a:solidFill>
          <a:ln/>
        </p:spPr>
      </p:sp>
      <p:sp>
        <p:nvSpPr>
          <p:cNvPr id="70" name="Shape 68"/>
          <p:cNvSpPr/>
          <p:nvPr/>
        </p:nvSpPr>
        <p:spPr>
          <a:xfrm>
            <a:off x="2838450" y="3895725"/>
            <a:ext cx="361950" cy="85725"/>
          </a:xfrm>
          <a:prstGeom prst="roundRect">
            <a:avLst>
              <a:gd name="adj" fmla="val 44444"/>
            </a:avLst>
          </a:prstGeom>
          <a:solidFill>
            <a:srgbClr val="059669"/>
          </a:solidFill>
          <a:ln/>
        </p:spPr>
      </p:sp>
      <p:sp>
        <p:nvSpPr>
          <p:cNvPr id="71" name="Text 69"/>
          <p:cNvSpPr txBox="1"/>
          <p:nvPr/>
        </p:nvSpPr>
        <p:spPr>
          <a:xfrm>
            <a:off x="4705350" y="3886200"/>
            <a:ext cx="857250" cy="114300"/>
          </a:xfrm>
          <a:prstGeom prst="rect">
            <a:avLst/>
          </a:prstGeom>
          <a:noFill/>
          <a:ln/>
        </p:spPr>
        <p:txBody>
          <a:bodyPr wrap="square" lIns="0" tIns="0" rIns="0" bIns="0" rtlCol="0" anchor="t"/>
          <a:lstStyle/>
          <a:p>
            <a:pPr algn="r" indent="0" marL="0">
              <a:lnSpc>
                <a:spcPct val="106000"/>
              </a:lnSpc>
              <a:buNone/>
            </a:pPr>
            <a:r>
              <a:rPr lang="en-US" sz="660" dirty="0">
                <a:solidFill>
                  <a:srgbClr val="475569"/>
                </a:solidFill>
                <a:latin typeface="Segoe UI" pitchFamily="34" charset="0"/>
                <a:ea typeface="Segoe UI" pitchFamily="34" charset="-122"/>
                <a:cs typeface="Segoe UI" pitchFamily="34" charset="-120"/>
              </a:rPr>
              <a:t>100.000</a:t>
            </a:r>
            <a:endParaRPr lang="en-US" sz="660" dirty="0"/>
          </a:p>
        </p:txBody>
      </p:sp>
      <p:sp>
        <p:nvSpPr>
          <p:cNvPr id="72" name="Text 70"/>
          <p:cNvSpPr txBox="1"/>
          <p:nvPr/>
        </p:nvSpPr>
        <p:spPr>
          <a:xfrm>
            <a:off x="2838450" y="4152900"/>
            <a:ext cx="18097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0 → 500.000 ₫</a:t>
            </a:r>
            <a:endParaRPr lang="en-US" sz="580" dirty="0"/>
          </a:p>
        </p:txBody>
      </p:sp>
      <p:sp>
        <p:nvSpPr>
          <p:cNvPr id="73" name="Shape 71"/>
          <p:cNvSpPr/>
          <p:nvPr/>
        </p:nvSpPr>
        <p:spPr>
          <a:xfrm>
            <a:off x="5791200" y="2657475"/>
            <a:ext cx="2457450" cy="1952625"/>
          </a:xfrm>
          <a:prstGeom prst="roundRect">
            <a:avLst>
              <a:gd name="adj" fmla="val 3902"/>
            </a:avLst>
          </a:prstGeom>
          <a:solidFill>
            <a:srgbClr val="FFFFFF"/>
          </a:solidFill>
          <a:ln w="9525">
            <a:solidFill>
              <a:srgbClr val="E2E8F0"/>
            </a:solidFill>
            <a:prstDash val="solid"/>
          </a:ln>
        </p:spPr>
      </p:sp>
      <p:sp>
        <p:nvSpPr>
          <p:cNvPr id="74" name="Text 72"/>
          <p:cNvSpPr txBox="1"/>
          <p:nvPr/>
        </p:nvSpPr>
        <p:spPr>
          <a:xfrm>
            <a:off x="5905500" y="2743200"/>
            <a:ext cx="1905000" cy="133350"/>
          </a:xfrm>
          <a:prstGeom prst="rect">
            <a:avLst/>
          </a:prstGeom>
          <a:noFill/>
          <a:ln/>
        </p:spPr>
        <p:txBody>
          <a:bodyPr wrap="square" lIns="0" tIns="0" rIns="0" bIns="0" rtlCol="0" anchor="t"/>
          <a:lstStyle/>
          <a:p>
            <a:pPr algn="l" indent="0" marL="0">
              <a:lnSpc>
                <a:spcPct val="106000"/>
              </a:lnSpc>
              <a:buNone/>
            </a:pPr>
            <a:r>
              <a:rPr lang="en-US" sz="840" b="1" dirty="0">
                <a:solidFill>
                  <a:srgbClr val="0F172A"/>
                </a:solidFill>
                <a:latin typeface="Segoe UI" pitchFamily="34" charset="0"/>
                <a:ea typeface="Segoe UI" pitchFamily="34" charset="-122"/>
                <a:cs typeface="Segoe UI" pitchFamily="34" charset="-120"/>
              </a:rPr>
              <a:t>Giao dịch gần đây</a:t>
            </a:r>
            <a:endParaRPr lang="en-US" sz="840" dirty="0"/>
          </a:p>
        </p:txBody>
      </p:sp>
      <p:sp>
        <p:nvSpPr>
          <p:cNvPr id="75" name="Text 73"/>
          <p:cNvSpPr txBox="1"/>
          <p:nvPr/>
        </p:nvSpPr>
        <p:spPr>
          <a:xfrm>
            <a:off x="5905500" y="2952750"/>
            <a:ext cx="1409700" cy="114300"/>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Tiền điện phòng trọ</a:t>
            </a:r>
            <a:endParaRPr lang="en-US" sz="680" dirty="0"/>
          </a:p>
        </p:txBody>
      </p:sp>
      <p:sp>
        <p:nvSpPr>
          <p:cNvPr id="76" name="Text 74"/>
          <p:cNvSpPr txBox="1"/>
          <p:nvPr/>
        </p:nvSpPr>
        <p:spPr>
          <a:xfrm>
            <a:off x="7391400" y="2952750"/>
            <a:ext cx="742950" cy="114300"/>
          </a:xfrm>
          <a:prstGeom prst="rect">
            <a:avLst/>
          </a:prstGeom>
          <a:noFill/>
          <a:ln/>
        </p:spPr>
        <p:txBody>
          <a:bodyPr wrap="square" lIns="0" tIns="0" rIns="0" bIns="0" rtlCol="0" anchor="t"/>
          <a:lstStyle/>
          <a:p>
            <a:pPr algn="r" indent="0" marL="0">
              <a:lnSpc>
                <a:spcPct val="106000"/>
              </a:lnSpc>
              <a:buNone/>
            </a:pPr>
            <a:r>
              <a:rPr lang="en-US" sz="680" dirty="0">
                <a:solidFill>
                  <a:srgbClr val="DC2626"/>
                </a:solidFill>
                <a:latin typeface="Segoe UI" pitchFamily="34" charset="0"/>
                <a:ea typeface="Segoe UI" pitchFamily="34" charset="-122"/>
                <a:cs typeface="Segoe UI" pitchFamily="34" charset="-120"/>
              </a:rPr>
              <a:t>-180.000</a:t>
            </a:r>
            <a:endParaRPr lang="en-US" sz="680" dirty="0"/>
          </a:p>
        </p:txBody>
      </p:sp>
      <p:sp>
        <p:nvSpPr>
          <p:cNvPr id="77" name="Text 75"/>
          <p:cNvSpPr txBox="1"/>
          <p:nvPr/>
        </p:nvSpPr>
        <p:spPr>
          <a:xfrm>
            <a:off x="5905500" y="3076575"/>
            <a:ext cx="14287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16/10</a:t>
            </a:r>
            <a:endParaRPr lang="en-US" sz="580" dirty="0"/>
          </a:p>
        </p:txBody>
      </p:sp>
      <p:sp>
        <p:nvSpPr>
          <p:cNvPr id="78" name="Text 76"/>
          <p:cNvSpPr txBox="1"/>
          <p:nvPr/>
        </p:nvSpPr>
        <p:spPr>
          <a:xfrm>
            <a:off x="5905500" y="3352800"/>
            <a:ext cx="1409700" cy="114300"/>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Xem phim CGV</a:t>
            </a:r>
            <a:endParaRPr lang="en-US" sz="680" dirty="0"/>
          </a:p>
        </p:txBody>
      </p:sp>
      <p:sp>
        <p:nvSpPr>
          <p:cNvPr id="79" name="Text 77"/>
          <p:cNvSpPr txBox="1"/>
          <p:nvPr/>
        </p:nvSpPr>
        <p:spPr>
          <a:xfrm>
            <a:off x="7391400" y="3352800"/>
            <a:ext cx="742950" cy="114300"/>
          </a:xfrm>
          <a:prstGeom prst="rect">
            <a:avLst/>
          </a:prstGeom>
          <a:noFill/>
          <a:ln/>
        </p:spPr>
        <p:txBody>
          <a:bodyPr wrap="square" lIns="0" tIns="0" rIns="0" bIns="0" rtlCol="0" anchor="t"/>
          <a:lstStyle/>
          <a:p>
            <a:pPr algn="r" indent="0" marL="0">
              <a:lnSpc>
                <a:spcPct val="106000"/>
              </a:lnSpc>
              <a:buNone/>
            </a:pPr>
            <a:r>
              <a:rPr lang="en-US" sz="680" dirty="0">
                <a:solidFill>
                  <a:srgbClr val="DC2626"/>
                </a:solidFill>
                <a:latin typeface="Segoe UI" pitchFamily="34" charset="0"/>
                <a:ea typeface="Segoe UI" pitchFamily="34" charset="-122"/>
                <a:cs typeface="Segoe UI" pitchFamily="34" charset="-120"/>
              </a:rPr>
              <a:t>-100.000</a:t>
            </a:r>
            <a:endParaRPr lang="en-US" sz="680" dirty="0"/>
          </a:p>
        </p:txBody>
      </p:sp>
      <p:sp>
        <p:nvSpPr>
          <p:cNvPr id="80" name="Text 78"/>
          <p:cNvSpPr txBox="1"/>
          <p:nvPr/>
        </p:nvSpPr>
        <p:spPr>
          <a:xfrm>
            <a:off x="5905500" y="3476625"/>
            <a:ext cx="14287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14/10</a:t>
            </a:r>
            <a:endParaRPr lang="en-US" sz="580" dirty="0"/>
          </a:p>
        </p:txBody>
      </p:sp>
      <p:sp>
        <p:nvSpPr>
          <p:cNvPr id="81" name="Text 79"/>
          <p:cNvSpPr txBox="1"/>
          <p:nvPr/>
        </p:nvSpPr>
        <p:spPr>
          <a:xfrm>
            <a:off x="5905500" y="3752850"/>
            <a:ext cx="1409700" cy="114300"/>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Cà phê học nhóm</a:t>
            </a:r>
            <a:endParaRPr lang="en-US" sz="680" dirty="0"/>
          </a:p>
        </p:txBody>
      </p:sp>
      <p:sp>
        <p:nvSpPr>
          <p:cNvPr id="82" name="Text 80"/>
          <p:cNvSpPr txBox="1"/>
          <p:nvPr/>
        </p:nvSpPr>
        <p:spPr>
          <a:xfrm>
            <a:off x="7391400" y="3752850"/>
            <a:ext cx="742950" cy="114300"/>
          </a:xfrm>
          <a:prstGeom prst="rect">
            <a:avLst/>
          </a:prstGeom>
          <a:noFill/>
          <a:ln/>
        </p:spPr>
        <p:txBody>
          <a:bodyPr wrap="square" lIns="0" tIns="0" rIns="0" bIns="0" rtlCol="0" anchor="t"/>
          <a:lstStyle/>
          <a:p>
            <a:pPr algn="r" indent="0" marL="0">
              <a:lnSpc>
                <a:spcPct val="106000"/>
              </a:lnSpc>
              <a:buNone/>
            </a:pPr>
            <a:r>
              <a:rPr lang="en-US" sz="680" dirty="0">
                <a:solidFill>
                  <a:srgbClr val="DC2626"/>
                </a:solidFill>
                <a:latin typeface="Segoe UI" pitchFamily="34" charset="0"/>
                <a:ea typeface="Segoe UI" pitchFamily="34" charset="-122"/>
                <a:cs typeface="Segoe UI" pitchFamily="34" charset="-120"/>
              </a:rPr>
              <a:t>-45.000</a:t>
            </a:r>
            <a:endParaRPr lang="en-US" sz="680" dirty="0"/>
          </a:p>
        </p:txBody>
      </p:sp>
      <p:sp>
        <p:nvSpPr>
          <p:cNvPr id="83" name="Text 81"/>
          <p:cNvSpPr txBox="1"/>
          <p:nvPr/>
        </p:nvSpPr>
        <p:spPr>
          <a:xfrm>
            <a:off x="5905500" y="3876675"/>
            <a:ext cx="14287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17/10</a:t>
            </a:r>
            <a:endParaRPr lang="en-US" sz="580" dirty="0"/>
          </a:p>
        </p:txBody>
      </p:sp>
      <p:sp>
        <p:nvSpPr>
          <p:cNvPr id="84" name="Text 82"/>
          <p:cNvSpPr txBox="1"/>
          <p:nvPr/>
        </p:nvSpPr>
        <p:spPr>
          <a:xfrm>
            <a:off x="5905500" y="4152900"/>
            <a:ext cx="1409700" cy="114300"/>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Cơm trọ ký túc xá</a:t>
            </a:r>
            <a:endParaRPr lang="en-US" sz="680" dirty="0"/>
          </a:p>
        </p:txBody>
      </p:sp>
      <p:sp>
        <p:nvSpPr>
          <p:cNvPr id="85" name="Text 83"/>
          <p:cNvSpPr txBox="1"/>
          <p:nvPr/>
        </p:nvSpPr>
        <p:spPr>
          <a:xfrm>
            <a:off x="7391400" y="4152900"/>
            <a:ext cx="742950" cy="114300"/>
          </a:xfrm>
          <a:prstGeom prst="rect">
            <a:avLst/>
          </a:prstGeom>
          <a:noFill/>
          <a:ln/>
        </p:spPr>
        <p:txBody>
          <a:bodyPr wrap="square" lIns="0" tIns="0" rIns="0" bIns="0" rtlCol="0" anchor="t"/>
          <a:lstStyle/>
          <a:p>
            <a:pPr algn="r" indent="0" marL="0">
              <a:lnSpc>
                <a:spcPct val="106000"/>
              </a:lnSpc>
              <a:buNone/>
            </a:pPr>
            <a:r>
              <a:rPr lang="en-US" sz="680" dirty="0">
                <a:solidFill>
                  <a:srgbClr val="DC2626"/>
                </a:solidFill>
                <a:latin typeface="Segoe UI" pitchFamily="34" charset="0"/>
                <a:ea typeface="Segoe UI" pitchFamily="34" charset="-122"/>
                <a:cs typeface="Segoe UI" pitchFamily="34" charset="-120"/>
              </a:rPr>
              <a:t>-35.000</a:t>
            </a:r>
            <a:endParaRPr lang="en-US" sz="680" dirty="0"/>
          </a:p>
        </p:txBody>
      </p:sp>
      <p:sp>
        <p:nvSpPr>
          <p:cNvPr id="86" name="Text 84"/>
          <p:cNvSpPr txBox="1"/>
          <p:nvPr/>
        </p:nvSpPr>
        <p:spPr>
          <a:xfrm>
            <a:off x="5905500" y="4276725"/>
            <a:ext cx="14287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18/10</a:t>
            </a:r>
            <a:endParaRPr lang="en-US" sz="580" dirty="0"/>
          </a:p>
        </p:txBody>
      </p:sp>
      <p:sp>
        <p:nvSpPr>
          <p:cNvPr id="87" name="Text 85"/>
          <p:cNvSpPr txBox="1"/>
          <p:nvPr/>
        </p:nvSpPr>
        <p:spPr>
          <a:xfrm>
            <a:off x="5905500" y="4419600"/>
            <a:ext cx="95250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Xem tất cả →</a:t>
            </a:r>
            <a:endParaRPr lang="en-US" sz="640" dirty="0"/>
          </a:p>
        </p:txBody>
      </p:sp>
      <p:sp>
        <p:nvSpPr>
          <p:cNvPr id="88" name="Shape 86"/>
          <p:cNvSpPr/>
          <p:nvPr/>
        </p:nvSpPr>
        <p:spPr>
          <a:xfrm>
            <a:off x="1943100" y="4705350"/>
            <a:ext cx="6305550" cy="819150"/>
          </a:xfrm>
          <a:prstGeom prst="roundRect">
            <a:avLst>
              <a:gd name="adj" fmla="val 9302"/>
            </a:avLst>
          </a:prstGeom>
          <a:solidFill>
            <a:srgbClr val="ECFDF5"/>
          </a:solidFill>
          <a:ln/>
        </p:spPr>
      </p:sp>
      <p:sp>
        <p:nvSpPr>
          <p:cNvPr id="89" name="Text 87"/>
          <p:cNvSpPr txBox="1"/>
          <p:nvPr/>
        </p:nvSpPr>
        <p:spPr>
          <a:xfrm>
            <a:off x="2057400" y="4791075"/>
            <a:ext cx="2857500" cy="114300"/>
          </a:xfrm>
          <a:prstGeom prst="rect">
            <a:avLst/>
          </a:prstGeom>
          <a:noFill/>
          <a:ln/>
        </p:spPr>
        <p:txBody>
          <a:bodyPr wrap="square" lIns="0" tIns="0" rIns="0" bIns="0" rtlCol="0" anchor="t"/>
          <a:lstStyle/>
          <a:p>
            <a:pPr algn="l" indent="0" marL="0">
              <a:lnSpc>
                <a:spcPct val="106000"/>
              </a:lnSpc>
              <a:buNone/>
            </a:pPr>
            <a:r>
              <a:rPr lang="en-US" sz="660" b="1" spc="40" kern="0" dirty="0">
                <a:solidFill>
                  <a:srgbClr val="047857"/>
                </a:solidFill>
                <a:latin typeface="Segoe UI" pitchFamily="34" charset="0"/>
                <a:ea typeface="Segoe UI" pitchFamily="34" charset="-122"/>
                <a:cs typeface="Segoe UI" pitchFamily="34" charset="-120"/>
              </a:rPr>
              <a:t>AI-2 · SPENDING PATTERN</a:t>
            </a:r>
            <a:endParaRPr lang="en-US" sz="660" dirty="0"/>
          </a:p>
        </p:txBody>
      </p:sp>
      <p:sp>
        <p:nvSpPr>
          <p:cNvPr id="90" name="Text 88"/>
          <p:cNvSpPr txBox="1"/>
          <p:nvPr/>
        </p:nvSpPr>
        <p:spPr>
          <a:xfrm>
            <a:off x="2057400" y="4933950"/>
            <a:ext cx="6057900" cy="285750"/>
          </a:xfrm>
          <a:prstGeom prst="rect">
            <a:avLst/>
          </a:prstGeom>
          <a:noFill/>
          <a:ln/>
        </p:spPr>
        <p:txBody>
          <a:bodyPr wrap="square" lIns="0" tIns="0" rIns="0" bIns="0" rtlCol="0" anchor="t"/>
          <a:lstStyle/>
          <a:p>
            <a:pPr algn="l" indent="0" marL="0">
              <a:lnSpc>
                <a:spcPct val="106000"/>
              </a:lnSpc>
              <a:buNone/>
            </a:pPr>
            <a:r>
              <a:rPr lang="en-US" sz="820" dirty="0">
                <a:solidFill>
                  <a:srgbClr val="065F46"/>
                </a:solidFill>
                <a:latin typeface="Segoe UI" pitchFamily="34" charset="0"/>
                <a:ea typeface="Segoe UI" pitchFamily="34" charset="-122"/>
                <a:cs typeface="Segoe UI" pitchFamily="34" charset="-120"/>
              </a:rPr>
              <a:t>Chi ăn uống tăng 12% so với tháng 9; khoản chuyển tiết kiệm 500.000 ₫ chiếm 31% tổng chi.</a:t>
            </a:r>
            <a:endParaRPr lang="en-US" sz="820" dirty="0"/>
          </a:p>
        </p:txBody>
      </p:sp>
      <p:sp>
        <p:nvSpPr>
          <p:cNvPr id="91" name="Shape 89"/>
          <p:cNvSpPr/>
          <p:nvPr/>
        </p:nvSpPr>
        <p:spPr>
          <a:xfrm>
            <a:off x="2057400" y="5257800"/>
            <a:ext cx="571500" cy="190500"/>
          </a:xfrm>
          <a:prstGeom prst="roundRect">
            <a:avLst>
              <a:gd name="adj" fmla="val 50000"/>
            </a:avLst>
          </a:prstGeom>
          <a:solidFill>
            <a:srgbClr val="FFFFFF"/>
          </a:solidFill>
          <a:ln w="9525">
            <a:solidFill>
              <a:srgbClr val="E2E8F0"/>
            </a:solidFill>
            <a:prstDash val="solid"/>
          </a:ln>
        </p:spPr>
      </p:sp>
      <p:sp>
        <p:nvSpPr>
          <p:cNvPr id="92" name="Text 90"/>
          <p:cNvSpPr txBox="1"/>
          <p:nvPr/>
        </p:nvSpPr>
        <p:spPr>
          <a:xfrm>
            <a:off x="2085975" y="5257800"/>
            <a:ext cx="514350" cy="190500"/>
          </a:xfrm>
          <a:prstGeom prst="rect">
            <a:avLst/>
          </a:prstGeom>
          <a:noFill/>
          <a:ln/>
        </p:spPr>
        <p:txBody>
          <a:bodyPr wrap="square" lIns="0" tIns="0" rIns="0" bIns="0" rtlCol="0" anchor="ctr"/>
          <a:lstStyle/>
          <a:p>
            <a:pPr algn="ctr"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Vì sao?</a:t>
            </a:r>
            <a:endParaRPr lang="en-US" sz="620" dirty="0"/>
          </a:p>
        </p:txBody>
      </p:sp>
      <p:sp>
        <p:nvSpPr>
          <p:cNvPr id="93" name="Shape 91"/>
          <p:cNvSpPr/>
          <p:nvPr/>
        </p:nvSpPr>
        <p:spPr>
          <a:xfrm>
            <a:off x="2686050" y="5257800"/>
            <a:ext cx="685800" cy="190500"/>
          </a:xfrm>
          <a:prstGeom prst="roundRect">
            <a:avLst>
              <a:gd name="adj" fmla="val 50000"/>
            </a:avLst>
          </a:prstGeom>
          <a:solidFill>
            <a:srgbClr val="ECFDF5"/>
          </a:solidFill>
          <a:ln/>
        </p:spPr>
      </p:sp>
      <p:sp>
        <p:nvSpPr>
          <p:cNvPr id="94" name="Text 92"/>
          <p:cNvSpPr txBox="1"/>
          <p:nvPr/>
        </p:nvSpPr>
        <p:spPr>
          <a:xfrm>
            <a:off x="2714625" y="5257800"/>
            <a:ext cx="628650" cy="19050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Chấp nhận</a:t>
            </a:r>
            <a:endParaRPr lang="en-US" sz="620" dirty="0"/>
          </a:p>
        </p:txBody>
      </p:sp>
      <p:sp>
        <p:nvSpPr>
          <p:cNvPr id="95" name="Shape 93"/>
          <p:cNvSpPr/>
          <p:nvPr/>
        </p:nvSpPr>
        <p:spPr>
          <a:xfrm>
            <a:off x="3429000" y="5257800"/>
            <a:ext cx="419100" cy="190500"/>
          </a:xfrm>
          <a:prstGeom prst="roundRect">
            <a:avLst>
              <a:gd name="adj" fmla="val 50000"/>
            </a:avLst>
          </a:prstGeom>
          <a:solidFill>
            <a:srgbClr val="FFFFFF"/>
          </a:solidFill>
          <a:ln w="9525">
            <a:solidFill>
              <a:srgbClr val="E2E8F0"/>
            </a:solidFill>
            <a:prstDash val="solid"/>
          </a:ln>
        </p:spPr>
      </p:sp>
      <p:sp>
        <p:nvSpPr>
          <p:cNvPr id="96" name="Text 94"/>
          <p:cNvSpPr txBox="1"/>
          <p:nvPr/>
        </p:nvSpPr>
        <p:spPr>
          <a:xfrm>
            <a:off x="3457575" y="5257800"/>
            <a:ext cx="361950" cy="190500"/>
          </a:xfrm>
          <a:prstGeom prst="rect">
            <a:avLst/>
          </a:prstGeom>
          <a:noFill/>
          <a:ln/>
        </p:spPr>
        <p:txBody>
          <a:bodyPr wrap="square" lIns="0" tIns="0" rIns="0" bIns="0" rtlCol="0" anchor="ctr"/>
          <a:lstStyle/>
          <a:p>
            <a:pPr algn="ctr"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Sửa</a:t>
            </a:r>
            <a:endParaRPr lang="en-US" sz="620" dirty="0"/>
          </a:p>
        </p:txBody>
      </p:sp>
      <p:sp>
        <p:nvSpPr>
          <p:cNvPr id="97" name="Shape 95"/>
          <p:cNvSpPr/>
          <p:nvPr/>
        </p:nvSpPr>
        <p:spPr>
          <a:xfrm>
            <a:off x="3905250" y="5257800"/>
            <a:ext cx="514350" cy="190500"/>
          </a:xfrm>
          <a:prstGeom prst="roundRect">
            <a:avLst>
              <a:gd name="adj" fmla="val 50000"/>
            </a:avLst>
          </a:prstGeom>
          <a:solidFill>
            <a:srgbClr val="FFFFFF"/>
          </a:solidFill>
          <a:ln w="9525">
            <a:solidFill>
              <a:srgbClr val="E2E8F0"/>
            </a:solidFill>
            <a:prstDash val="solid"/>
          </a:ln>
        </p:spPr>
      </p:sp>
      <p:sp>
        <p:nvSpPr>
          <p:cNvPr id="98" name="Text 96"/>
          <p:cNvSpPr txBox="1"/>
          <p:nvPr/>
        </p:nvSpPr>
        <p:spPr>
          <a:xfrm>
            <a:off x="3933825" y="5257800"/>
            <a:ext cx="457200" cy="190500"/>
          </a:xfrm>
          <a:prstGeom prst="rect">
            <a:avLst/>
          </a:prstGeom>
          <a:noFill/>
          <a:ln/>
        </p:spPr>
        <p:txBody>
          <a:bodyPr wrap="square" lIns="0" tIns="0" rIns="0" bIns="0" rtlCol="0" anchor="ctr"/>
          <a:lstStyle/>
          <a:p>
            <a:pPr algn="ctr"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Tạo lại</a:t>
            </a:r>
            <a:endParaRPr lang="en-US" sz="620" dirty="0"/>
          </a:p>
        </p:txBody>
      </p:sp>
      <p:sp>
        <p:nvSpPr>
          <p:cNvPr id="99" name="Text 97"/>
          <p:cNvSpPr txBox="1"/>
          <p:nvPr/>
        </p:nvSpPr>
        <p:spPr>
          <a:xfrm>
            <a:off x="7620000" y="4791075"/>
            <a:ext cx="514350" cy="114300"/>
          </a:xfrm>
          <a:prstGeom prst="rect">
            <a:avLst/>
          </a:prstGeom>
          <a:noFill/>
          <a:ln/>
        </p:spPr>
        <p:txBody>
          <a:bodyPr wrap="square" lIns="0" tIns="0" rIns="0" bIns="0" rtlCol="0" anchor="t"/>
          <a:lstStyle/>
          <a:p>
            <a:pPr algn="r" indent="0" marL="0">
              <a:lnSpc>
                <a:spcPct val="106000"/>
              </a:lnSpc>
              <a:buNone/>
            </a:pPr>
            <a:r>
              <a:rPr lang="en-US" sz="580" dirty="0">
                <a:solidFill>
                  <a:srgbClr val="047857"/>
                </a:solidFill>
                <a:latin typeface="Segoe UI" pitchFamily="34" charset="0"/>
                <a:ea typeface="Segoe UI" pitchFamily="34" charset="-122"/>
                <a:cs typeface="Segoe UI" pitchFamily="34" charset="-120"/>
              </a:rPr>
              <a:t>Độ tin cậy 86%</a:t>
            </a:r>
            <a:endParaRPr lang="en-US" sz="580" dirty="0"/>
          </a:p>
        </p:txBody>
      </p:sp>
      <p:sp>
        <p:nvSpPr>
          <p:cNvPr id="100" name="Shape 98"/>
          <p:cNvSpPr/>
          <p:nvPr/>
        </p:nvSpPr>
        <p:spPr>
          <a:xfrm>
            <a:off x="1943100" y="5619750"/>
            <a:ext cx="6305550" cy="781050"/>
          </a:xfrm>
          <a:prstGeom prst="roundRect">
            <a:avLst>
              <a:gd name="adj" fmla="val 9756"/>
            </a:avLst>
          </a:prstGeom>
          <a:solidFill>
            <a:srgbClr val="FFFFFF"/>
          </a:solidFill>
          <a:ln w="9525">
            <a:solidFill>
              <a:srgbClr val="E2E8F0"/>
            </a:solidFill>
            <a:prstDash val="solid"/>
          </a:ln>
        </p:spPr>
      </p:sp>
      <p:sp>
        <p:nvSpPr>
          <p:cNvPr id="101" name="Text 99"/>
          <p:cNvSpPr txBox="1"/>
          <p:nvPr/>
        </p:nvSpPr>
        <p:spPr>
          <a:xfrm>
            <a:off x="2057400" y="5695950"/>
            <a:ext cx="2857500" cy="133350"/>
          </a:xfrm>
          <a:prstGeom prst="rect">
            <a:avLst/>
          </a:prstGeom>
          <a:noFill/>
          <a:ln/>
        </p:spPr>
        <p:txBody>
          <a:bodyPr wrap="square" lIns="0" tIns="0" rIns="0" bIns="0" rtlCol="0" anchor="t"/>
          <a:lstStyle/>
          <a:p>
            <a:pPr algn="l" indent="0" marL="0">
              <a:lnSpc>
                <a:spcPct val="106000"/>
              </a:lnSpc>
              <a:buNone/>
            </a:pPr>
            <a:r>
              <a:rPr lang="en-US" sz="820" b="1" dirty="0">
                <a:solidFill>
                  <a:srgbClr val="0F172A"/>
                </a:solidFill>
                <a:latin typeface="Segoe UI" pitchFamily="34" charset="0"/>
                <a:ea typeface="Segoe UI" pitchFamily="34" charset="-122"/>
                <a:cs typeface="Segoe UI" pitchFamily="34" charset="-120"/>
              </a:rPr>
              <a:t>Ngân sách tháng 10</a:t>
            </a:r>
            <a:endParaRPr lang="en-US" sz="820" dirty="0"/>
          </a:p>
        </p:txBody>
      </p:sp>
      <p:sp>
        <p:nvSpPr>
          <p:cNvPr id="102" name="Text 100"/>
          <p:cNvSpPr txBox="1"/>
          <p:nvPr/>
        </p:nvSpPr>
        <p:spPr>
          <a:xfrm>
            <a:off x="7620000" y="5695950"/>
            <a:ext cx="514350" cy="114300"/>
          </a:xfrm>
          <a:prstGeom prst="rect">
            <a:avLst/>
          </a:prstGeom>
          <a:noFill/>
          <a:ln/>
        </p:spPr>
        <p:txBody>
          <a:bodyPr wrap="square" lIns="0" tIns="0" rIns="0" bIns="0" rtlCol="0" anchor="t"/>
          <a:lstStyle/>
          <a:p>
            <a:pPr algn="r" indent="0" marL="0">
              <a:lnSpc>
                <a:spcPct val="106000"/>
              </a:lnSpc>
              <a:buNone/>
            </a:pPr>
            <a:r>
              <a:rPr lang="en-US" sz="620" dirty="0">
                <a:solidFill>
                  <a:srgbClr val="047857"/>
                </a:solidFill>
                <a:latin typeface="Segoe UI" pitchFamily="34" charset="0"/>
                <a:ea typeface="Segoe UI" pitchFamily="34" charset="-122"/>
                <a:cs typeface="Segoe UI" pitchFamily="34" charset="-120"/>
              </a:rPr>
              <a:t>Quản lý →</a:t>
            </a:r>
            <a:endParaRPr lang="en-US" sz="620" dirty="0"/>
          </a:p>
        </p:txBody>
      </p:sp>
      <p:sp>
        <p:nvSpPr>
          <p:cNvPr id="103" name="Text 101"/>
          <p:cNvSpPr txBox="1"/>
          <p:nvPr/>
        </p:nvSpPr>
        <p:spPr>
          <a:xfrm>
            <a:off x="2057400" y="5905500"/>
            <a:ext cx="8001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Di chuyển</a:t>
            </a:r>
            <a:endParaRPr lang="en-US" sz="660" dirty="0"/>
          </a:p>
        </p:txBody>
      </p:sp>
      <p:sp>
        <p:nvSpPr>
          <p:cNvPr id="104" name="Text 102"/>
          <p:cNvSpPr txBox="1"/>
          <p:nvPr/>
        </p:nvSpPr>
        <p:spPr>
          <a:xfrm>
            <a:off x="2895600" y="5905500"/>
            <a:ext cx="1428750" cy="1143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65.000 / 400.000 ₫</a:t>
            </a:r>
            <a:endParaRPr lang="en-US" sz="620" dirty="0"/>
          </a:p>
        </p:txBody>
      </p:sp>
      <p:sp>
        <p:nvSpPr>
          <p:cNvPr id="105" name="Shape 103"/>
          <p:cNvSpPr/>
          <p:nvPr/>
        </p:nvSpPr>
        <p:spPr>
          <a:xfrm>
            <a:off x="4381500" y="5924550"/>
            <a:ext cx="1714500" cy="57150"/>
          </a:xfrm>
          <a:prstGeom prst="roundRect">
            <a:avLst>
              <a:gd name="adj" fmla="val 50000"/>
            </a:avLst>
          </a:prstGeom>
          <a:solidFill>
            <a:srgbClr val="F1F5F9"/>
          </a:solidFill>
          <a:ln/>
        </p:spPr>
      </p:sp>
      <p:sp>
        <p:nvSpPr>
          <p:cNvPr id="106" name="Shape 104"/>
          <p:cNvSpPr/>
          <p:nvPr/>
        </p:nvSpPr>
        <p:spPr>
          <a:xfrm>
            <a:off x="4381500" y="5924550"/>
            <a:ext cx="274320" cy="57150"/>
          </a:xfrm>
          <a:prstGeom prst="roundRect">
            <a:avLst>
              <a:gd name="adj" fmla="val 50000"/>
            </a:avLst>
          </a:prstGeom>
          <a:solidFill>
            <a:srgbClr val="059669"/>
          </a:solidFill>
          <a:ln/>
        </p:spPr>
      </p:sp>
      <p:sp>
        <p:nvSpPr>
          <p:cNvPr id="107" name="Shape 105"/>
          <p:cNvSpPr/>
          <p:nvPr/>
        </p:nvSpPr>
        <p:spPr>
          <a:xfrm>
            <a:off x="6400800" y="5895975"/>
            <a:ext cx="571500" cy="142875"/>
          </a:xfrm>
          <a:prstGeom prst="roundRect">
            <a:avLst>
              <a:gd name="adj" fmla="val 50000"/>
            </a:avLst>
          </a:prstGeom>
          <a:solidFill>
            <a:srgbClr val="ECFDF5"/>
          </a:solidFill>
          <a:ln/>
        </p:spPr>
      </p:sp>
      <p:sp>
        <p:nvSpPr>
          <p:cNvPr id="108" name="Text 106"/>
          <p:cNvSpPr txBox="1"/>
          <p:nvPr/>
        </p:nvSpPr>
        <p:spPr>
          <a:xfrm>
            <a:off x="6429375" y="5895975"/>
            <a:ext cx="514350" cy="142875"/>
          </a:xfrm>
          <a:prstGeom prst="rect">
            <a:avLst/>
          </a:prstGeom>
          <a:noFill/>
          <a:ln/>
        </p:spPr>
        <p:txBody>
          <a:bodyPr wrap="square" lIns="0" tIns="0" rIns="0" bIns="0" rtlCol="0" anchor="ctr"/>
          <a:lstStyle/>
          <a:p>
            <a:pPr algn="ctr" indent="0" marL="0">
              <a:lnSpc>
                <a:spcPct val="106000"/>
              </a:lnSpc>
              <a:buNone/>
            </a:pPr>
            <a:r>
              <a:rPr lang="en-US" sz="560" b="1" dirty="0">
                <a:solidFill>
                  <a:srgbClr val="047857"/>
                </a:solidFill>
                <a:latin typeface="Segoe UI" pitchFamily="34" charset="0"/>
                <a:ea typeface="Segoe UI" pitchFamily="34" charset="-122"/>
                <a:cs typeface="Segoe UI" pitchFamily="34" charset="-120"/>
              </a:rPr>
              <a:t>Đã duyệt</a:t>
            </a:r>
            <a:endParaRPr lang="en-US" sz="560" dirty="0"/>
          </a:p>
        </p:txBody>
      </p:sp>
      <p:sp>
        <p:nvSpPr>
          <p:cNvPr id="109" name="Text 107"/>
          <p:cNvSpPr txBox="1"/>
          <p:nvPr/>
        </p:nvSpPr>
        <p:spPr>
          <a:xfrm>
            <a:off x="2057400" y="6134100"/>
            <a:ext cx="8001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Ăn uống</a:t>
            </a:r>
            <a:endParaRPr lang="en-US" sz="660" dirty="0"/>
          </a:p>
        </p:txBody>
      </p:sp>
      <p:sp>
        <p:nvSpPr>
          <p:cNvPr id="110" name="Text 108"/>
          <p:cNvSpPr txBox="1"/>
          <p:nvPr/>
        </p:nvSpPr>
        <p:spPr>
          <a:xfrm>
            <a:off x="2895600" y="6134100"/>
            <a:ext cx="1428750" cy="1143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340.000 / 2.000.000 ₫</a:t>
            </a:r>
            <a:endParaRPr lang="en-US" sz="620" dirty="0"/>
          </a:p>
        </p:txBody>
      </p:sp>
      <p:sp>
        <p:nvSpPr>
          <p:cNvPr id="111" name="Shape 109"/>
          <p:cNvSpPr/>
          <p:nvPr/>
        </p:nvSpPr>
        <p:spPr>
          <a:xfrm>
            <a:off x="4381500" y="6153150"/>
            <a:ext cx="1714500" cy="57150"/>
          </a:xfrm>
          <a:prstGeom prst="roundRect">
            <a:avLst>
              <a:gd name="adj" fmla="val 50000"/>
            </a:avLst>
          </a:prstGeom>
          <a:solidFill>
            <a:srgbClr val="F1F5F9"/>
          </a:solidFill>
          <a:ln/>
        </p:spPr>
      </p:sp>
      <p:sp>
        <p:nvSpPr>
          <p:cNvPr id="112" name="Shape 110"/>
          <p:cNvSpPr/>
          <p:nvPr/>
        </p:nvSpPr>
        <p:spPr>
          <a:xfrm>
            <a:off x="4381500" y="6153150"/>
            <a:ext cx="291465" cy="57150"/>
          </a:xfrm>
          <a:prstGeom prst="roundRect">
            <a:avLst>
              <a:gd name="adj" fmla="val 50000"/>
            </a:avLst>
          </a:prstGeom>
          <a:solidFill>
            <a:srgbClr val="F59E0B"/>
          </a:solidFill>
          <a:ln/>
        </p:spPr>
      </p:sp>
      <p:sp>
        <p:nvSpPr>
          <p:cNvPr id="113" name="Shape 111"/>
          <p:cNvSpPr/>
          <p:nvPr/>
        </p:nvSpPr>
        <p:spPr>
          <a:xfrm>
            <a:off x="6400800" y="6124575"/>
            <a:ext cx="571500" cy="142875"/>
          </a:xfrm>
          <a:prstGeom prst="roundRect">
            <a:avLst>
              <a:gd name="adj" fmla="val 50000"/>
            </a:avLst>
          </a:prstGeom>
          <a:solidFill>
            <a:srgbClr val="FFFBEB"/>
          </a:solidFill>
          <a:ln/>
        </p:spPr>
      </p:sp>
      <p:sp>
        <p:nvSpPr>
          <p:cNvPr id="114" name="Text 112"/>
          <p:cNvSpPr txBox="1"/>
          <p:nvPr/>
        </p:nvSpPr>
        <p:spPr>
          <a:xfrm>
            <a:off x="6429375" y="6124575"/>
            <a:ext cx="514350" cy="142875"/>
          </a:xfrm>
          <a:prstGeom prst="rect">
            <a:avLst/>
          </a:prstGeom>
          <a:noFill/>
          <a:ln/>
        </p:spPr>
        <p:txBody>
          <a:bodyPr wrap="square" lIns="0" tIns="0" rIns="0" bIns="0" rtlCol="0" anchor="ctr"/>
          <a:lstStyle/>
          <a:p>
            <a:pPr algn="ctr" indent="0" marL="0">
              <a:lnSpc>
                <a:spcPct val="106000"/>
              </a:lnSpc>
              <a:buNone/>
            </a:pPr>
            <a:r>
              <a:rPr lang="en-US" sz="560" b="1" dirty="0">
                <a:solidFill>
                  <a:srgbClr val="B45309"/>
                </a:solidFill>
                <a:latin typeface="Segoe UI" pitchFamily="34" charset="0"/>
                <a:ea typeface="Segoe UI" pitchFamily="34" charset="-122"/>
                <a:cs typeface="Segoe UI" pitchFamily="34" charset="-120"/>
              </a:rPr>
              <a:t>Chờ duyệt</a:t>
            </a:r>
            <a:endParaRPr lang="en-US" sz="560" dirty="0"/>
          </a:p>
        </p:txBody>
      </p:sp>
      <p:sp>
        <p:nvSpPr>
          <p:cNvPr id="115" name="Shape 113"/>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116" name="Text 114"/>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14 / 27</a:t>
            </a:r>
            <a:endParaRPr lang="en-US" sz="740" dirty="0"/>
          </a:p>
        </p:txBody>
      </p:sp>
      <p:sp>
        <p:nvSpPr>
          <p:cNvPr id="117" name="Text 115"/>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Bảng điều khiển tài chính</a:t>
            </a:r>
            <a:endParaRPr lang="en-US" sz="1700" dirty="0"/>
          </a:p>
        </p:txBody>
      </p:sp>
      <p:sp>
        <p:nvSpPr>
          <p:cNvPr id="118" name="Text 116"/>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pages/user-finance-dashboard.html</a:t>
            </a:r>
            <a:endParaRPr lang="en-US" sz="720" dirty="0"/>
          </a:p>
        </p:txBody>
      </p:sp>
      <p:sp>
        <p:nvSpPr>
          <p:cNvPr id="119" name="Shape 117"/>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20" name="Text 118"/>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21" name="Text 119"/>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Tổng hợp thu chi, tiết kiệm, ngân sách còn lại và insight chi tiêu trong tháng của riêng người đang đăng nhập.</a:t>
            </a:r>
            <a:endParaRPr lang="en-US" sz="920" dirty="0"/>
          </a:p>
        </p:txBody>
      </p:sp>
      <p:sp>
        <p:nvSpPr>
          <p:cNvPr id="122" name="Text 120"/>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23" name="Shape 121"/>
          <p:cNvSpPr/>
          <p:nvPr/>
        </p:nvSpPr>
        <p:spPr>
          <a:xfrm>
            <a:off x="8839200" y="3238500"/>
            <a:ext cx="209550" cy="190500"/>
          </a:xfrm>
          <a:prstGeom prst="roundRect">
            <a:avLst>
              <a:gd name="adj" fmla="val 25000"/>
            </a:avLst>
          </a:prstGeom>
          <a:solidFill>
            <a:srgbClr val="F1F5F9"/>
          </a:solidFill>
          <a:ln/>
        </p:spPr>
      </p:sp>
      <p:sp>
        <p:nvSpPr>
          <p:cNvPr id="124" name="Text 122"/>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125" name="Shape 123"/>
          <p:cNvSpPr/>
          <p:nvPr/>
        </p:nvSpPr>
        <p:spPr>
          <a:xfrm>
            <a:off x="9086850" y="3238500"/>
            <a:ext cx="209550" cy="190500"/>
          </a:xfrm>
          <a:prstGeom prst="roundRect">
            <a:avLst>
              <a:gd name="adj" fmla="val 25000"/>
            </a:avLst>
          </a:prstGeom>
          <a:solidFill>
            <a:srgbClr val="059669"/>
          </a:solidFill>
          <a:ln/>
        </p:spPr>
      </p:sp>
      <p:sp>
        <p:nvSpPr>
          <p:cNvPr id="126" name="Text 124"/>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27" name="Shape 125"/>
          <p:cNvSpPr/>
          <p:nvPr/>
        </p:nvSpPr>
        <p:spPr>
          <a:xfrm>
            <a:off x="9334500" y="3238500"/>
            <a:ext cx="209550" cy="190500"/>
          </a:xfrm>
          <a:prstGeom prst="roundRect">
            <a:avLst>
              <a:gd name="adj" fmla="val 25000"/>
            </a:avLst>
          </a:prstGeom>
          <a:solidFill>
            <a:srgbClr val="F1F5F9"/>
          </a:solidFill>
          <a:ln/>
        </p:spPr>
      </p:sp>
      <p:sp>
        <p:nvSpPr>
          <p:cNvPr id="128" name="Text 126"/>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129" name="Shape 127"/>
          <p:cNvSpPr/>
          <p:nvPr/>
        </p:nvSpPr>
        <p:spPr>
          <a:xfrm>
            <a:off x="9582150" y="3238500"/>
            <a:ext cx="209550" cy="190500"/>
          </a:xfrm>
          <a:prstGeom prst="roundRect">
            <a:avLst>
              <a:gd name="adj" fmla="val 25000"/>
            </a:avLst>
          </a:prstGeom>
          <a:solidFill>
            <a:srgbClr val="F1F5F9"/>
          </a:solidFill>
          <a:ln/>
        </p:spPr>
      </p:sp>
      <p:sp>
        <p:nvSpPr>
          <p:cNvPr id="130" name="Text 128"/>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131" name="Text 129"/>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Đang tải skeleton · rỗng · lỗi tải + thử lại · thành công.</a:t>
            </a:r>
            <a:endParaRPr lang="en-US" sz="900" dirty="0"/>
          </a:p>
        </p:txBody>
      </p:sp>
      <p:sp>
        <p:nvSpPr>
          <p:cNvPr id="132" name="Text 130"/>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33" name="Text 131"/>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Tính KPI từ dữ liệu; vẽ cột theo danh mục; lọc tháng; mở giao dịch gần đây; nhận insight AI-2.</a:t>
            </a:r>
            <a:endParaRPr lang="en-US" sz="900" dirty="0"/>
          </a:p>
        </p:txBody>
      </p:sp>
      <p:sp>
        <p:nvSpPr>
          <p:cNvPr id="134" name="Text 132"/>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35" name="Text 133"/>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AI-2 trả tối đa 3 insight + hành động, có “Vì sao?”, tạo lại và trạng thái thiếu dữ liệu.</a:t>
            </a:r>
            <a:endParaRPr lang="en-US" sz="900" dirty="0"/>
          </a:p>
        </p:txBody>
      </p:sp>
      <p:sp>
        <p:nvSpPr>
          <p:cNvPr id="136" name="Shape 134"/>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37" name="Text 135"/>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SV1-05-dashboard</a:t>
            </a:r>
            <a:endParaRPr lang="en-US" sz="840" dirty="0"/>
          </a:p>
        </p:txBody>
      </p:sp>
      <p:sp>
        <p:nvSpPr>
          <p:cNvPr id="138" name="Text 136"/>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NGƯỜI DÙNG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15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Quản lý giao dịch</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pages/user-transaction-management.html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spendwise.app/pages/user-transaction-management.html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Người dùng</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Tổng quan</a:t>
            </a:r>
            <a:endParaRPr lang="en-US" sz="820" dirty="0"/>
          </a:p>
        </p:txBody>
      </p:sp>
      <p:sp>
        <p:nvSpPr>
          <p:cNvPr id="22" name="Shape 20"/>
          <p:cNvSpPr/>
          <p:nvPr/>
        </p:nvSpPr>
        <p:spPr>
          <a:xfrm>
            <a:off x="495300" y="2343150"/>
            <a:ext cx="1181100" cy="209550"/>
          </a:xfrm>
          <a:prstGeom prst="roundRect">
            <a:avLst>
              <a:gd name="adj" fmla="val 27273"/>
            </a:avLst>
          </a:prstGeom>
          <a:solidFill>
            <a:srgbClr val="ECFDF5"/>
          </a:solidFill>
          <a:ln/>
        </p:spPr>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Giao dịch</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Ngân sách</a:t>
            </a:r>
            <a:endParaRPr lang="en-US" sz="820" dirty="0"/>
          </a:p>
        </p:txBody>
      </p:sp>
      <p:sp>
        <p:nvSpPr>
          <p:cNvPr id="25" name="Text 23"/>
          <p:cNvSpPr txBox="1"/>
          <p:nvPr/>
        </p:nvSpPr>
        <p:spPr>
          <a:xfrm>
            <a:off x="609600" y="288607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Mục tiêu</a:t>
            </a:r>
            <a:endParaRPr lang="en-US" sz="820" dirty="0"/>
          </a:p>
        </p:txBody>
      </p:sp>
      <p:sp>
        <p:nvSpPr>
          <p:cNvPr id="26" name="Shape 24"/>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7" name="Text 25"/>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8" name="Text 26"/>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9" name="Shape 27"/>
          <p:cNvSpPr/>
          <p:nvPr/>
        </p:nvSpPr>
        <p:spPr>
          <a:xfrm>
            <a:off x="1809750" y="1419225"/>
            <a:ext cx="6572250" cy="428625"/>
          </a:xfrm>
          <a:prstGeom prst="rect">
            <a:avLst/>
          </a:prstGeom>
          <a:solidFill>
            <a:srgbClr val="FFFFFF"/>
          </a:solidFill>
          <a:ln/>
        </p:spPr>
      </p:sp>
      <p:sp>
        <p:nvSpPr>
          <p:cNvPr id="30" name="Shape 28"/>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1" name="Text 29"/>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Quản lý giao dịch</a:t>
            </a:r>
            <a:endParaRPr lang="en-US" sz="1050" dirty="0"/>
          </a:p>
        </p:txBody>
      </p:sp>
      <p:sp>
        <p:nvSpPr>
          <p:cNvPr id="32" name="Shape 30"/>
          <p:cNvSpPr/>
          <p:nvPr/>
        </p:nvSpPr>
        <p:spPr>
          <a:xfrm>
            <a:off x="7315200" y="1533525"/>
            <a:ext cx="914400" cy="171450"/>
          </a:xfrm>
          <a:prstGeom prst="roundRect">
            <a:avLst>
              <a:gd name="adj" fmla="val 50000"/>
            </a:avLst>
          </a:prstGeom>
          <a:solidFill>
            <a:srgbClr val="F1F5F9"/>
          </a:solidFill>
          <a:ln/>
        </p:spPr>
      </p:sp>
      <p:sp>
        <p:nvSpPr>
          <p:cNvPr id="33" name="Text 31"/>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Nguyễn Văn Minh</a:t>
            </a:r>
            <a:endParaRPr lang="en-US" sz="700" dirty="0"/>
          </a:p>
        </p:txBody>
      </p:sp>
      <p:sp>
        <p:nvSpPr>
          <p:cNvPr id="34" name="Shape 32"/>
          <p:cNvSpPr/>
          <p:nvPr/>
        </p:nvSpPr>
        <p:spPr>
          <a:xfrm>
            <a:off x="1943100" y="1952625"/>
            <a:ext cx="2381250" cy="266700"/>
          </a:xfrm>
          <a:prstGeom prst="roundRect">
            <a:avLst>
              <a:gd name="adj" fmla="val 21429"/>
            </a:avLst>
          </a:prstGeom>
          <a:solidFill>
            <a:srgbClr val="FFFFFF"/>
          </a:solidFill>
          <a:ln w="9525">
            <a:solidFill>
              <a:srgbClr val="E2E8F0"/>
            </a:solidFill>
            <a:prstDash val="solid"/>
          </a:ln>
        </p:spPr>
      </p:sp>
      <p:sp>
        <p:nvSpPr>
          <p:cNvPr id="35" name="Text 33"/>
          <p:cNvSpPr txBox="1"/>
          <p:nvPr/>
        </p:nvSpPr>
        <p:spPr>
          <a:xfrm>
            <a:off x="2057400" y="2028825"/>
            <a:ext cx="219075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Tìm theo tên giao dịch...</a:t>
            </a:r>
            <a:endParaRPr lang="en-US" sz="680" dirty="0"/>
          </a:p>
        </p:txBody>
      </p:sp>
      <p:sp>
        <p:nvSpPr>
          <p:cNvPr id="36" name="Shape 34"/>
          <p:cNvSpPr/>
          <p:nvPr/>
        </p:nvSpPr>
        <p:spPr>
          <a:xfrm>
            <a:off x="4400550" y="1952625"/>
            <a:ext cx="1066800" cy="266700"/>
          </a:xfrm>
          <a:prstGeom prst="roundRect">
            <a:avLst>
              <a:gd name="adj" fmla="val 21429"/>
            </a:avLst>
          </a:prstGeom>
          <a:solidFill>
            <a:srgbClr val="FFFFFF"/>
          </a:solidFill>
          <a:ln w="9525">
            <a:solidFill>
              <a:srgbClr val="E2E8F0"/>
            </a:solidFill>
            <a:prstDash val="solid"/>
          </a:ln>
        </p:spPr>
      </p:sp>
      <p:sp>
        <p:nvSpPr>
          <p:cNvPr id="37" name="Text 35"/>
          <p:cNvSpPr txBox="1"/>
          <p:nvPr/>
        </p:nvSpPr>
        <p:spPr>
          <a:xfrm>
            <a:off x="4495800" y="2028825"/>
            <a:ext cx="89535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Tất cả danh mục</a:t>
            </a:r>
            <a:endParaRPr lang="en-US" sz="660" dirty="0"/>
          </a:p>
        </p:txBody>
      </p:sp>
      <p:sp>
        <p:nvSpPr>
          <p:cNvPr id="38" name="Shape 36"/>
          <p:cNvSpPr/>
          <p:nvPr/>
        </p:nvSpPr>
        <p:spPr>
          <a:xfrm>
            <a:off x="5543550" y="1952625"/>
            <a:ext cx="914400" cy="266700"/>
          </a:xfrm>
          <a:prstGeom prst="roundRect">
            <a:avLst>
              <a:gd name="adj" fmla="val 21429"/>
            </a:avLst>
          </a:prstGeom>
          <a:solidFill>
            <a:srgbClr val="FFFFFF"/>
          </a:solidFill>
          <a:ln w="9525">
            <a:solidFill>
              <a:srgbClr val="E2E8F0"/>
            </a:solidFill>
            <a:prstDash val="solid"/>
          </a:ln>
        </p:spPr>
      </p:sp>
      <p:sp>
        <p:nvSpPr>
          <p:cNvPr id="39" name="Text 37"/>
          <p:cNvSpPr txBox="1"/>
          <p:nvPr/>
        </p:nvSpPr>
        <p:spPr>
          <a:xfrm>
            <a:off x="5638800" y="2028825"/>
            <a:ext cx="74295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Tất cả loại</a:t>
            </a:r>
            <a:endParaRPr lang="en-US" sz="660" dirty="0"/>
          </a:p>
        </p:txBody>
      </p:sp>
      <p:sp>
        <p:nvSpPr>
          <p:cNvPr id="40" name="Shape 38"/>
          <p:cNvSpPr/>
          <p:nvPr/>
        </p:nvSpPr>
        <p:spPr>
          <a:xfrm>
            <a:off x="6534150" y="1952625"/>
            <a:ext cx="1714500" cy="266700"/>
          </a:xfrm>
          <a:prstGeom prst="roundRect">
            <a:avLst>
              <a:gd name="adj" fmla="val 21429"/>
            </a:avLst>
          </a:prstGeom>
          <a:solidFill>
            <a:srgbClr val="059669"/>
          </a:solidFill>
          <a:ln/>
        </p:spPr>
      </p:sp>
      <p:sp>
        <p:nvSpPr>
          <p:cNvPr id="41" name="Text 39"/>
          <p:cNvSpPr txBox="1"/>
          <p:nvPr/>
        </p:nvSpPr>
        <p:spPr>
          <a:xfrm>
            <a:off x="6534150" y="1952625"/>
            <a:ext cx="1714500" cy="26670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 Thêm giao dịch</a:t>
            </a:r>
            <a:endParaRPr lang="en-US" sz="720" dirty="0"/>
          </a:p>
        </p:txBody>
      </p:sp>
      <p:sp>
        <p:nvSpPr>
          <p:cNvPr id="42" name="Text 40"/>
          <p:cNvSpPr txBox="1"/>
          <p:nvPr/>
        </p:nvSpPr>
        <p:spPr>
          <a:xfrm>
            <a:off x="1943100" y="2314575"/>
            <a:ext cx="2857500" cy="133350"/>
          </a:xfrm>
          <a:prstGeom prst="rect">
            <a:avLst/>
          </a:prstGeom>
          <a:noFill/>
          <a:ln/>
        </p:spPr>
        <p:txBody>
          <a:bodyPr wrap="square" lIns="0" tIns="0" rIns="0" bIns="0" rtlCol="0" anchor="t"/>
          <a:lstStyle/>
          <a:p>
            <a:pPr algn="l" indent="0" marL="0">
              <a:lnSpc>
                <a:spcPct val="106000"/>
              </a:lnSpc>
              <a:buNone/>
            </a:pPr>
            <a:r>
              <a:rPr lang="en-US" sz="720" dirty="0">
                <a:solidFill>
                  <a:srgbClr val="94A3B8"/>
                </a:solidFill>
                <a:latin typeface="Segoe UI" pitchFamily="34" charset="0"/>
                <a:ea typeface="Segoe UI" pitchFamily="34" charset="-122"/>
                <a:cs typeface="Segoe UI" pitchFamily="34" charset="-120"/>
              </a:rPr>
              <a:t>17 giao dịch · Tháng 10/2026</a:t>
            </a:r>
            <a:endParaRPr lang="en-US" sz="720" dirty="0"/>
          </a:p>
        </p:txBody>
      </p:sp>
      <p:sp>
        <p:nvSpPr>
          <p:cNvPr id="43" name="Text 41"/>
          <p:cNvSpPr txBox="1"/>
          <p:nvPr/>
        </p:nvSpPr>
        <p:spPr>
          <a:xfrm>
            <a:off x="7486650" y="2314575"/>
            <a:ext cx="762000" cy="133350"/>
          </a:xfrm>
          <a:prstGeom prst="rect">
            <a:avLst/>
          </a:prstGeom>
          <a:noFill/>
          <a:ln/>
        </p:spPr>
        <p:txBody>
          <a:bodyPr wrap="square" lIns="0" tIns="0" rIns="0" bIns="0" rtlCol="0" anchor="t"/>
          <a:lstStyle/>
          <a:p>
            <a:pPr algn="r" indent="0" marL="0">
              <a:lnSpc>
                <a:spcPct val="106000"/>
              </a:lnSpc>
              <a:buNone/>
            </a:pPr>
            <a:r>
              <a:rPr lang="en-US" sz="620" dirty="0">
                <a:solidFill>
                  <a:srgbClr val="475569"/>
                </a:solidFill>
                <a:latin typeface="Segoe UI" pitchFamily="34" charset="0"/>
                <a:ea typeface="Segoe UI" pitchFamily="34" charset="-122"/>
                <a:cs typeface="Segoe UI" pitchFamily="34" charset="-120"/>
              </a:rPr>
              <a:t>Hiện cả lưu trữ</a:t>
            </a:r>
            <a:endParaRPr lang="en-US" sz="620" dirty="0"/>
          </a:p>
        </p:txBody>
      </p:sp>
      <p:sp>
        <p:nvSpPr>
          <p:cNvPr id="44" name="Shape 42"/>
          <p:cNvSpPr/>
          <p:nvPr/>
        </p:nvSpPr>
        <p:spPr>
          <a:xfrm>
            <a:off x="1943100" y="2533650"/>
            <a:ext cx="6305550" cy="3600450"/>
          </a:xfrm>
          <a:prstGeom prst="roundRect">
            <a:avLst>
              <a:gd name="adj" fmla="val 2116"/>
            </a:avLst>
          </a:prstGeom>
          <a:solidFill>
            <a:srgbClr val="FFFFFF"/>
          </a:solidFill>
          <a:ln w="9525">
            <a:solidFill>
              <a:srgbClr val="E2E8F0"/>
            </a:solidFill>
            <a:prstDash val="solid"/>
          </a:ln>
        </p:spPr>
      </p:sp>
      <p:sp>
        <p:nvSpPr>
          <p:cNvPr id="45" name="Shape 43"/>
          <p:cNvSpPr/>
          <p:nvPr/>
        </p:nvSpPr>
        <p:spPr>
          <a:xfrm>
            <a:off x="1952625" y="2543175"/>
            <a:ext cx="6286500" cy="228600"/>
          </a:xfrm>
          <a:prstGeom prst="rect">
            <a:avLst/>
          </a:prstGeom>
          <a:solidFill>
            <a:srgbClr val="F8FAFC"/>
          </a:solidFill>
          <a:ln/>
        </p:spPr>
      </p:sp>
      <p:sp>
        <p:nvSpPr>
          <p:cNvPr id="46" name="Text 44"/>
          <p:cNvSpPr txBox="1"/>
          <p:nvPr/>
        </p:nvSpPr>
        <p:spPr>
          <a:xfrm>
            <a:off x="2057400" y="2609850"/>
            <a:ext cx="533400" cy="104775"/>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Ngày</a:t>
            </a:r>
            <a:endParaRPr lang="en-US" sz="620" dirty="0"/>
          </a:p>
        </p:txBody>
      </p:sp>
      <p:sp>
        <p:nvSpPr>
          <p:cNvPr id="47" name="Text 45"/>
          <p:cNvSpPr txBox="1"/>
          <p:nvPr/>
        </p:nvSpPr>
        <p:spPr>
          <a:xfrm>
            <a:off x="2628900" y="2609850"/>
            <a:ext cx="1905000" cy="104775"/>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Tên giao dịch</a:t>
            </a:r>
            <a:endParaRPr lang="en-US" sz="620" dirty="0"/>
          </a:p>
        </p:txBody>
      </p:sp>
      <p:sp>
        <p:nvSpPr>
          <p:cNvPr id="48" name="Text 46"/>
          <p:cNvSpPr txBox="1"/>
          <p:nvPr/>
        </p:nvSpPr>
        <p:spPr>
          <a:xfrm>
            <a:off x="4572000" y="2609850"/>
            <a:ext cx="1047750" cy="104775"/>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Danh mục</a:t>
            </a:r>
            <a:endParaRPr lang="en-US" sz="620" dirty="0"/>
          </a:p>
        </p:txBody>
      </p:sp>
      <p:sp>
        <p:nvSpPr>
          <p:cNvPr id="49" name="Text 47"/>
          <p:cNvSpPr txBox="1"/>
          <p:nvPr/>
        </p:nvSpPr>
        <p:spPr>
          <a:xfrm>
            <a:off x="5657850" y="2609850"/>
            <a:ext cx="857250" cy="104775"/>
          </a:xfrm>
          <a:prstGeom prst="rect">
            <a:avLst/>
          </a:prstGeom>
          <a:noFill/>
          <a:ln/>
        </p:spPr>
        <p:txBody>
          <a:bodyPr wrap="square" lIns="0" tIns="0" rIns="0" bIns="0" rtlCol="0" anchor="t"/>
          <a:lstStyle/>
          <a:p>
            <a:pPr algn="r"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Số tiền</a:t>
            </a:r>
            <a:endParaRPr lang="en-US" sz="620" dirty="0"/>
          </a:p>
        </p:txBody>
      </p:sp>
      <p:sp>
        <p:nvSpPr>
          <p:cNvPr id="50" name="Text 48"/>
          <p:cNvSpPr txBox="1"/>
          <p:nvPr/>
        </p:nvSpPr>
        <p:spPr>
          <a:xfrm>
            <a:off x="6591300" y="2609850"/>
            <a:ext cx="666750" cy="104775"/>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Trạng thái</a:t>
            </a:r>
            <a:endParaRPr lang="en-US" sz="620" dirty="0"/>
          </a:p>
        </p:txBody>
      </p:sp>
      <p:sp>
        <p:nvSpPr>
          <p:cNvPr id="51" name="Text 49"/>
          <p:cNvSpPr txBox="1"/>
          <p:nvPr/>
        </p:nvSpPr>
        <p:spPr>
          <a:xfrm>
            <a:off x="7334250" y="2609850"/>
            <a:ext cx="762000" cy="104775"/>
          </a:xfrm>
          <a:prstGeom prst="rect">
            <a:avLst/>
          </a:prstGeom>
          <a:noFill/>
          <a:ln/>
        </p:spPr>
        <p:txBody>
          <a:bodyPr wrap="square" lIns="0" tIns="0" rIns="0" bIns="0" rtlCol="0" anchor="t"/>
          <a:lstStyle/>
          <a:p>
            <a:pPr algn="l" indent="0" marL="0">
              <a:lnSpc>
                <a:spcPct val="106000"/>
              </a:lnSpc>
              <a:buNone/>
            </a:pPr>
            <a:endParaRPr lang="en-US" sz="620" dirty="0"/>
          </a:p>
        </p:txBody>
      </p:sp>
      <p:sp>
        <p:nvSpPr>
          <p:cNvPr id="52" name="Shape 50"/>
          <p:cNvSpPr/>
          <p:nvPr/>
        </p:nvSpPr>
        <p:spPr>
          <a:xfrm>
            <a:off x="1943100" y="2771775"/>
            <a:ext cx="6305550" cy="9525"/>
          </a:xfrm>
          <a:prstGeom prst="line">
            <a:avLst/>
          </a:prstGeom>
          <a:solidFill>
            <a:srgbClr val="FFFFFF">
              <a:alpha val="0"/>
            </a:srgbClr>
          </a:solidFill>
          <a:ln w="9525">
            <a:solidFill>
              <a:srgbClr val="E2E8F0"/>
            </a:solidFill>
            <a:prstDash val="solid"/>
          </a:ln>
        </p:spPr>
      </p:sp>
      <p:sp>
        <p:nvSpPr>
          <p:cNvPr id="53" name="Text 51"/>
          <p:cNvSpPr txBox="1"/>
          <p:nvPr/>
        </p:nvSpPr>
        <p:spPr>
          <a:xfrm>
            <a:off x="2057400" y="2962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18/10</a:t>
            </a:r>
            <a:endParaRPr lang="en-US" sz="640" dirty="0"/>
          </a:p>
        </p:txBody>
      </p:sp>
      <p:sp>
        <p:nvSpPr>
          <p:cNvPr id="54" name="Text 52"/>
          <p:cNvSpPr txBox="1"/>
          <p:nvPr/>
        </p:nvSpPr>
        <p:spPr>
          <a:xfrm>
            <a:off x="2628900" y="2952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Cơm trọ ký túc xá</a:t>
            </a:r>
            <a:endParaRPr lang="en-US" sz="690" dirty="0"/>
          </a:p>
        </p:txBody>
      </p:sp>
      <p:sp>
        <p:nvSpPr>
          <p:cNvPr id="55" name="Text 53"/>
          <p:cNvSpPr txBox="1"/>
          <p:nvPr/>
        </p:nvSpPr>
        <p:spPr>
          <a:xfrm>
            <a:off x="4572000" y="2962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Ăn uống</a:t>
            </a:r>
            <a:endParaRPr lang="en-US" sz="640" dirty="0"/>
          </a:p>
        </p:txBody>
      </p:sp>
      <p:sp>
        <p:nvSpPr>
          <p:cNvPr id="56" name="Text 54"/>
          <p:cNvSpPr txBox="1"/>
          <p:nvPr/>
        </p:nvSpPr>
        <p:spPr>
          <a:xfrm>
            <a:off x="5581650" y="2952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-35.000</a:t>
            </a:r>
            <a:endParaRPr lang="en-US" sz="680" dirty="0"/>
          </a:p>
        </p:txBody>
      </p:sp>
      <p:sp>
        <p:nvSpPr>
          <p:cNvPr id="57" name="Shape 55"/>
          <p:cNvSpPr/>
          <p:nvPr/>
        </p:nvSpPr>
        <p:spPr>
          <a:xfrm>
            <a:off x="6591300" y="2962275"/>
            <a:ext cx="533400" cy="133350"/>
          </a:xfrm>
          <a:prstGeom prst="roundRect">
            <a:avLst>
              <a:gd name="adj" fmla="val 50000"/>
            </a:avLst>
          </a:prstGeom>
          <a:solidFill>
            <a:srgbClr val="ECFDF5"/>
          </a:solidFill>
          <a:ln/>
        </p:spPr>
      </p:sp>
      <p:sp>
        <p:nvSpPr>
          <p:cNvPr id="58" name="Text 56"/>
          <p:cNvSpPr txBox="1"/>
          <p:nvPr/>
        </p:nvSpPr>
        <p:spPr>
          <a:xfrm>
            <a:off x="6619875" y="2962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59" name="Text 57"/>
          <p:cNvSpPr txBox="1"/>
          <p:nvPr/>
        </p:nvSpPr>
        <p:spPr>
          <a:xfrm>
            <a:off x="7334250" y="2962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60" name="Shape 58"/>
          <p:cNvSpPr/>
          <p:nvPr/>
        </p:nvSpPr>
        <p:spPr>
          <a:xfrm>
            <a:off x="2057400" y="3219450"/>
            <a:ext cx="6076950" cy="9525"/>
          </a:xfrm>
          <a:prstGeom prst="line">
            <a:avLst/>
          </a:prstGeom>
          <a:solidFill>
            <a:srgbClr val="FFFFFF">
              <a:alpha val="0"/>
            </a:srgbClr>
          </a:solidFill>
          <a:ln w="9525">
            <a:solidFill>
              <a:srgbClr val="F1F5F9"/>
            </a:solidFill>
            <a:prstDash val="solid"/>
          </a:ln>
        </p:spPr>
      </p:sp>
      <p:sp>
        <p:nvSpPr>
          <p:cNvPr id="61" name="Text 59"/>
          <p:cNvSpPr txBox="1"/>
          <p:nvPr/>
        </p:nvSpPr>
        <p:spPr>
          <a:xfrm>
            <a:off x="2057400" y="3343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18/10</a:t>
            </a:r>
            <a:endParaRPr lang="en-US" sz="640" dirty="0"/>
          </a:p>
        </p:txBody>
      </p:sp>
      <p:sp>
        <p:nvSpPr>
          <p:cNvPr id="62" name="Text 60"/>
          <p:cNvSpPr txBox="1"/>
          <p:nvPr/>
        </p:nvSpPr>
        <p:spPr>
          <a:xfrm>
            <a:off x="2628900" y="3333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Xe buýt đi học</a:t>
            </a:r>
            <a:endParaRPr lang="en-US" sz="690" dirty="0"/>
          </a:p>
        </p:txBody>
      </p:sp>
      <p:sp>
        <p:nvSpPr>
          <p:cNvPr id="63" name="Text 61"/>
          <p:cNvSpPr txBox="1"/>
          <p:nvPr/>
        </p:nvSpPr>
        <p:spPr>
          <a:xfrm>
            <a:off x="4572000" y="3343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Di chuyển</a:t>
            </a:r>
            <a:endParaRPr lang="en-US" sz="640" dirty="0"/>
          </a:p>
        </p:txBody>
      </p:sp>
      <p:sp>
        <p:nvSpPr>
          <p:cNvPr id="64" name="Text 62"/>
          <p:cNvSpPr txBox="1"/>
          <p:nvPr/>
        </p:nvSpPr>
        <p:spPr>
          <a:xfrm>
            <a:off x="5581650" y="3333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-7.000</a:t>
            </a:r>
            <a:endParaRPr lang="en-US" sz="680" dirty="0"/>
          </a:p>
        </p:txBody>
      </p:sp>
      <p:sp>
        <p:nvSpPr>
          <p:cNvPr id="65" name="Shape 63"/>
          <p:cNvSpPr/>
          <p:nvPr/>
        </p:nvSpPr>
        <p:spPr>
          <a:xfrm>
            <a:off x="6591300" y="3343275"/>
            <a:ext cx="533400" cy="133350"/>
          </a:xfrm>
          <a:prstGeom prst="roundRect">
            <a:avLst>
              <a:gd name="adj" fmla="val 50000"/>
            </a:avLst>
          </a:prstGeom>
          <a:solidFill>
            <a:srgbClr val="ECFDF5"/>
          </a:solidFill>
          <a:ln/>
        </p:spPr>
      </p:sp>
      <p:sp>
        <p:nvSpPr>
          <p:cNvPr id="66" name="Text 64"/>
          <p:cNvSpPr txBox="1"/>
          <p:nvPr/>
        </p:nvSpPr>
        <p:spPr>
          <a:xfrm>
            <a:off x="6619875" y="3343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67" name="Text 65"/>
          <p:cNvSpPr txBox="1"/>
          <p:nvPr/>
        </p:nvSpPr>
        <p:spPr>
          <a:xfrm>
            <a:off x="7334250" y="3343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68" name="Shape 66"/>
          <p:cNvSpPr/>
          <p:nvPr/>
        </p:nvSpPr>
        <p:spPr>
          <a:xfrm>
            <a:off x="2057400" y="3600450"/>
            <a:ext cx="6076950" cy="9525"/>
          </a:xfrm>
          <a:prstGeom prst="line">
            <a:avLst/>
          </a:prstGeom>
          <a:solidFill>
            <a:srgbClr val="FFFFFF">
              <a:alpha val="0"/>
            </a:srgbClr>
          </a:solidFill>
          <a:ln w="9525">
            <a:solidFill>
              <a:srgbClr val="F1F5F9"/>
            </a:solidFill>
            <a:prstDash val="solid"/>
          </a:ln>
        </p:spPr>
      </p:sp>
      <p:sp>
        <p:nvSpPr>
          <p:cNvPr id="69" name="Text 67"/>
          <p:cNvSpPr txBox="1"/>
          <p:nvPr/>
        </p:nvSpPr>
        <p:spPr>
          <a:xfrm>
            <a:off x="2057400" y="3724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17/10</a:t>
            </a:r>
            <a:endParaRPr lang="en-US" sz="640" dirty="0"/>
          </a:p>
        </p:txBody>
      </p:sp>
      <p:sp>
        <p:nvSpPr>
          <p:cNvPr id="70" name="Text 68"/>
          <p:cNvSpPr txBox="1"/>
          <p:nvPr/>
        </p:nvSpPr>
        <p:spPr>
          <a:xfrm>
            <a:off x="2628900" y="3714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Cà phê học nhóm</a:t>
            </a:r>
            <a:endParaRPr lang="en-US" sz="690" dirty="0"/>
          </a:p>
        </p:txBody>
      </p:sp>
      <p:sp>
        <p:nvSpPr>
          <p:cNvPr id="71" name="Text 69"/>
          <p:cNvSpPr txBox="1"/>
          <p:nvPr/>
        </p:nvSpPr>
        <p:spPr>
          <a:xfrm>
            <a:off x="4572000" y="3724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Ăn uống</a:t>
            </a:r>
            <a:endParaRPr lang="en-US" sz="640" dirty="0"/>
          </a:p>
        </p:txBody>
      </p:sp>
      <p:sp>
        <p:nvSpPr>
          <p:cNvPr id="72" name="Text 70"/>
          <p:cNvSpPr txBox="1"/>
          <p:nvPr/>
        </p:nvSpPr>
        <p:spPr>
          <a:xfrm>
            <a:off x="5581650" y="3714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-45.000</a:t>
            </a:r>
            <a:endParaRPr lang="en-US" sz="680" dirty="0"/>
          </a:p>
        </p:txBody>
      </p:sp>
      <p:sp>
        <p:nvSpPr>
          <p:cNvPr id="73" name="Shape 71"/>
          <p:cNvSpPr/>
          <p:nvPr/>
        </p:nvSpPr>
        <p:spPr>
          <a:xfrm>
            <a:off x="6591300" y="3724275"/>
            <a:ext cx="533400" cy="133350"/>
          </a:xfrm>
          <a:prstGeom prst="roundRect">
            <a:avLst>
              <a:gd name="adj" fmla="val 50000"/>
            </a:avLst>
          </a:prstGeom>
          <a:solidFill>
            <a:srgbClr val="ECFDF5"/>
          </a:solidFill>
          <a:ln/>
        </p:spPr>
      </p:sp>
      <p:sp>
        <p:nvSpPr>
          <p:cNvPr id="74" name="Text 72"/>
          <p:cNvSpPr txBox="1"/>
          <p:nvPr/>
        </p:nvSpPr>
        <p:spPr>
          <a:xfrm>
            <a:off x="6619875" y="3724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75" name="Text 73"/>
          <p:cNvSpPr txBox="1"/>
          <p:nvPr/>
        </p:nvSpPr>
        <p:spPr>
          <a:xfrm>
            <a:off x="7334250" y="3724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76" name="Shape 74"/>
          <p:cNvSpPr/>
          <p:nvPr/>
        </p:nvSpPr>
        <p:spPr>
          <a:xfrm>
            <a:off x="2057400" y="3981450"/>
            <a:ext cx="6076950" cy="9525"/>
          </a:xfrm>
          <a:prstGeom prst="line">
            <a:avLst/>
          </a:prstGeom>
          <a:solidFill>
            <a:srgbClr val="FFFFFF">
              <a:alpha val="0"/>
            </a:srgbClr>
          </a:solidFill>
          <a:ln w="9525">
            <a:solidFill>
              <a:srgbClr val="F1F5F9"/>
            </a:solidFill>
            <a:prstDash val="solid"/>
          </a:ln>
        </p:spPr>
      </p:sp>
      <p:sp>
        <p:nvSpPr>
          <p:cNvPr id="77" name="Text 75"/>
          <p:cNvSpPr txBox="1"/>
          <p:nvPr/>
        </p:nvSpPr>
        <p:spPr>
          <a:xfrm>
            <a:off x="2057400" y="4105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16/10</a:t>
            </a:r>
            <a:endParaRPr lang="en-US" sz="640" dirty="0"/>
          </a:p>
        </p:txBody>
      </p:sp>
      <p:sp>
        <p:nvSpPr>
          <p:cNvPr id="78" name="Text 76"/>
          <p:cNvSpPr txBox="1"/>
          <p:nvPr/>
        </p:nvSpPr>
        <p:spPr>
          <a:xfrm>
            <a:off x="2628900" y="4095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Tiền điện phòng trọ</a:t>
            </a:r>
            <a:endParaRPr lang="en-US" sz="690" dirty="0"/>
          </a:p>
        </p:txBody>
      </p:sp>
      <p:sp>
        <p:nvSpPr>
          <p:cNvPr id="79" name="Text 77"/>
          <p:cNvSpPr txBox="1"/>
          <p:nvPr/>
        </p:nvSpPr>
        <p:spPr>
          <a:xfrm>
            <a:off x="4572000" y="4105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Hoá đơn</a:t>
            </a:r>
            <a:endParaRPr lang="en-US" sz="640" dirty="0"/>
          </a:p>
        </p:txBody>
      </p:sp>
      <p:sp>
        <p:nvSpPr>
          <p:cNvPr id="80" name="Text 78"/>
          <p:cNvSpPr txBox="1"/>
          <p:nvPr/>
        </p:nvSpPr>
        <p:spPr>
          <a:xfrm>
            <a:off x="5581650" y="4095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-180.000</a:t>
            </a:r>
            <a:endParaRPr lang="en-US" sz="680" dirty="0"/>
          </a:p>
        </p:txBody>
      </p:sp>
      <p:sp>
        <p:nvSpPr>
          <p:cNvPr id="81" name="Shape 79"/>
          <p:cNvSpPr/>
          <p:nvPr/>
        </p:nvSpPr>
        <p:spPr>
          <a:xfrm>
            <a:off x="6591300" y="4105275"/>
            <a:ext cx="533400" cy="133350"/>
          </a:xfrm>
          <a:prstGeom prst="roundRect">
            <a:avLst>
              <a:gd name="adj" fmla="val 50000"/>
            </a:avLst>
          </a:prstGeom>
          <a:solidFill>
            <a:srgbClr val="ECFDF5"/>
          </a:solidFill>
          <a:ln/>
        </p:spPr>
      </p:sp>
      <p:sp>
        <p:nvSpPr>
          <p:cNvPr id="82" name="Text 80"/>
          <p:cNvSpPr txBox="1"/>
          <p:nvPr/>
        </p:nvSpPr>
        <p:spPr>
          <a:xfrm>
            <a:off x="6619875" y="4105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83" name="Text 81"/>
          <p:cNvSpPr txBox="1"/>
          <p:nvPr/>
        </p:nvSpPr>
        <p:spPr>
          <a:xfrm>
            <a:off x="7334250" y="4105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84" name="Shape 82"/>
          <p:cNvSpPr/>
          <p:nvPr/>
        </p:nvSpPr>
        <p:spPr>
          <a:xfrm>
            <a:off x="2057400" y="4362450"/>
            <a:ext cx="6076950" cy="9525"/>
          </a:xfrm>
          <a:prstGeom prst="line">
            <a:avLst/>
          </a:prstGeom>
          <a:solidFill>
            <a:srgbClr val="FFFFFF">
              <a:alpha val="0"/>
            </a:srgbClr>
          </a:solidFill>
          <a:ln w="9525">
            <a:solidFill>
              <a:srgbClr val="F1F5F9"/>
            </a:solidFill>
            <a:prstDash val="solid"/>
          </a:ln>
        </p:spPr>
      </p:sp>
      <p:sp>
        <p:nvSpPr>
          <p:cNvPr id="85" name="Text 83"/>
          <p:cNvSpPr txBox="1"/>
          <p:nvPr/>
        </p:nvSpPr>
        <p:spPr>
          <a:xfrm>
            <a:off x="2057400" y="4486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15/10</a:t>
            </a:r>
            <a:endParaRPr lang="en-US" sz="640" dirty="0"/>
          </a:p>
        </p:txBody>
      </p:sp>
      <p:sp>
        <p:nvSpPr>
          <p:cNvPr id="86" name="Text 84"/>
          <p:cNvSpPr txBox="1"/>
          <p:nvPr/>
        </p:nvSpPr>
        <p:spPr>
          <a:xfrm>
            <a:off x="2628900" y="4476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In tài liệu ôn thi</a:t>
            </a:r>
            <a:endParaRPr lang="en-US" sz="690" dirty="0"/>
          </a:p>
        </p:txBody>
      </p:sp>
      <p:sp>
        <p:nvSpPr>
          <p:cNvPr id="87" name="Text 85"/>
          <p:cNvSpPr txBox="1"/>
          <p:nvPr/>
        </p:nvSpPr>
        <p:spPr>
          <a:xfrm>
            <a:off x="4572000" y="4486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Học tập</a:t>
            </a:r>
            <a:endParaRPr lang="en-US" sz="640" dirty="0"/>
          </a:p>
        </p:txBody>
      </p:sp>
      <p:sp>
        <p:nvSpPr>
          <p:cNvPr id="88" name="Text 86"/>
          <p:cNvSpPr txBox="1"/>
          <p:nvPr/>
        </p:nvSpPr>
        <p:spPr>
          <a:xfrm>
            <a:off x="5581650" y="4476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-30.000</a:t>
            </a:r>
            <a:endParaRPr lang="en-US" sz="680" dirty="0"/>
          </a:p>
        </p:txBody>
      </p:sp>
      <p:sp>
        <p:nvSpPr>
          <p:cNvPr id="89" name="Shape 87"/>
          <p:cNvSpPr/>
          <p:nvPr/>
        </p:nvSpPr>
        <p:spPr>
          <a:xfrm>
            <a:off x="6591300" y="4486275"/>
            <a:ext cx="533400" cy="133350"/>
          </a:xfrm>
          <a:prstGeom prst="roundRect">
            <a:avLst>
              <a:gd name="adj" fmla="val 50000"/>
            </a:avLst>
          </a:prstGeom>
          <a:solidFill>
            <a:srgbClr val="ECFDF5"/>
          </a:solidFill>
          <a:ln/>
        </p:spPr>
      </p:sp>
      <p:sp>
        <p:nvSpPr>
          <p:cNvPr id="90" name="Text 88"/>
          <p:cNvSpPr txBox="1"/>
          <p:nvPr/>
        </p:nvSpPr>
        <p:spPr>
          <a:xfrm>
            <a:off x="6619875" y="4486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91" name="Text 89"/>
          <p:cNvSpPr txBox="1"/>
          <p:nvPr/>
        </p:nvSpPr>
        <p:spPr>
          <a:xfrm>
            <a:off x="7334250" y="4486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92" name="Shape 90"/>
          <p:cNvSpPr/>
          <p:nvPr/>
        </p:nvSpPr>
        <p:spPr>
          <a:xfrm>
            <a:off x="2057400" y="4743450"/>
            <a:ext cx="6076950" cy="9525"/>
          </a:xfrm>
          <a:prstGeom prst="line">
            <a:avLst/>
          </a:prstGeom>
          <a:solidFill>
            <a:srgbClr val="FFFFFF">
              <a:alpha val="0"/>
            </a:srgbClr>
          </a:solidFill>
          <a:ln w="9525">
            <a:solidFill>
              <a:srgbClr val="F1F5F9"/>
            </a:solidFill>
            <a:prstDash val="solid"/>
          </a:ln>
        </p:spPr>
      </p:sp>
      <p:sp>
        <p:nvSpPr>
          <p:cNvPr id="93" name="Text 91"/>
          <p:cNvSpPr txBox="1"/>
          <p:nvPr/>
        </p:nvSpPr>
        <p:spPr>
          <a:xfrm>
            <a:off x="2057400" y="4867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14/10</a:t>
            </a:r>
            <a:endParaRPr lang="en-US" sz="640" dirty="0"/>
          </a:p>
        </p:txBody>
      </p:sp>
      <p:sp>
        <p:nvSpPr>
          <p:cNvPr id="94" name="Text 92"/>
          <p:cNvSpPr txBox="1"/>
          <p:nvPr/>
        </p:nvSpPr>
        <p:spPr>
          <a:xfrm>
            <a:off x="2628900" y="4857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Xem phim CGV</a:t>
            </a:r>
            <a:endParaRPr lang="en-US" sz="690" dirty="0"/>
          </a:p>
        </p:txBody>
      </p:sp>
      <p:sp>
        <p:nvSpPr>
          <p:cNvPr id="95" name="Text 93"/>
          <p:cNvSpPr txBox="1"/>
          <p:nvPr/>
        </p:nvSpPr>
        <p:spPr>
          <a:xfrm>
            <a:off x="4572000" y="4867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Giải trí</a:t>
            </a:r>
            <a:endParaRPr lang="en-US" sz="640" dirty="0"/>
          </a:p>
        </p:txBody>
      </p:sp>
      <p:sp>
        <p:nvSpPr>
          <p:cNvPr id="96" name="Text 94"/>
          <p:cNvSpPr txBox="1"/>
          <p:nvPr/>
        </p:nvSpPr>
        <p:spPr>
          <a:xfrm>
            <a:off x="5581650" y="4857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-100.000</a:t>
            </a:r>
            <a:endParaRPr lang="en-US" sz="680" dirty="0"/>
          </a:p>
        </p:txBody>
      </p:sp>
      <p:sp>
        <p:nvSpPr>
          <p:cNvPr id="97" name="Shape 95"/>
          <p:cNvSpPr/>
          <p:nvPr/>
        </p:nvSpPr>
        <p:spPr>
          <a:xfrm>
            <a:off x="6591300" y="4867275"/>
            <a:ext cx="533400" cy="133350"/>
          </a:xfrm>
          <a:prstGeom prst="roundRect">
            <a:avLst>
              <a:gd name="adj" fmla="val 50000"/>
            </a:avLst>
          </a:prstGeom>
          <a:solidFill>
            <a:srgbClr val="ECFDF5"/>
          </a:solidFill>
          <a:ln/>
        </p:spPr>
      </p:sp>
      <p:sp>
        <p:nvSpPr>
          <p:cNvPr id="98" name="Text 96"/>
          <p:cNvSpPr txBox="1"/>
          <p:nvPr/>
        </p:nvSpPr>
        <p:spPr>
          <a:xfrm>
            <a:off x="6619875" y="4867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99" name="Text 97"/>
          <p:cNvSpPr txBox="1"/>
          <p:nvPr/>
        </p:nvSpPr>
        <p:spPr>
          <a:xfrm>
            <a:off x="7334250" y="4867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100" name="Shape 98"/>
          <p:cNvSpPr/>
          <p:nvPr/>
        </p:nvSpPr>
        <p:spPr>
          <a:xfrm>
            <a:off x="2057400" y="5124450"/>
            <a:ext cx="6076950" cy="9525"/>
          </a:xfrm>
          <a:prstGeom prst="line">
            <a:avLst/>
          </a:prstGeom>
          <a:solidFill>
            <a:srgbClr val="FFFFFF">
              <a:alpha val="0"/>
            </a:srgbClr>
          </a:solidFill>
          <a:ln w="9525">
            <a:solidFill>
              <a:srgbClr val="F1F5F9"/>
            </a:solidFill>
            <a:prstDash val="solid"/>
          </a:ln>
        </p:spPr>
      </p:sp>
      <p:sp>
        <p:nvSpPr>
          <p:cNvPr id="101" name="Text 99"/>
          <p:cNvSpPr txBox="1"/>
          <p:nvPr/>
        </p:nvSpPr>
        <p:spPr>
          <a:xfrm>
            <a:off x="2057400" y="5248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05/10</a:t>
            </a:r>
            <a:endParaRPr lang="en-US" sz="640" dirty="0"/>
          </a:p>
        </p:txBody>
      </p:sp>
      <p:sp>
        <p:nvSpPr>
          <p:cNvPr id="102" name="Text 100"/>
          <p:cNvSpPr txBox="1"/>
          <p:nvPr/>
        </p:nvSpPr>
        <p:spPr>
          <a:xfrm>
            <a:off x="2628900" y="5238750"/>
            <a:ext cx="1866900" cy="123825"/>
          </a:xfrm>
          <a:prstGeom prst="rect">
            <a:avLst/>
          </a:prstGeom>
          <a:noFill/>
          <a:ln/>
        </p:spPr>
        <p:txBody>
          <a:bodyPr wrap="square" lIns="0" tIns="0" rIns="0" bIns="0" rtlCol="0" anchor="t"/>
          <a:lstStyle/>
          <a:p>
            <a:pPr algn="l" indent="0" marL="0">
              <a:lnSpc>
                <a:spcPct val="106000"/>
              </a:lnSpc>
              <a:buNone/>
            </a:pPr>
            <a:r>
              <a:rPr lang="en-US" sz="690" b="1" dirty="0">
                <a:solidFill>
                  <a:srgbClr val="0F172A"/>
                </a:solidFill>
                <a:latin typeface="Segoe UI" pitchFamily="34" charset="0"/>
                <a:ea typeface="Segoe UI" pitchFamily="34" charset="-122"/>
                <a:cs typeface="Segoe UI" pitchFamily="34" charset="-120"/>
              </a:rPr>
              <a:t>Nhận lương làm thêm</a:t>
            </a:r>
            <a:endParaRPr lang="en-US" sz="690" dirty="0"/>
          </a:p>
        </p:txBody>
      </p:sp>
      <p:sp>
        <p:nvSpPr>
          <p:cNvPr id="103" name="Text 101"/>
          <p:cNvSpPr txBox="1"/>
          <p:nvPr/>
        </p:nvSpPr>
        <p:spPr>
          <a:xfrm>
            <a:off x="4572000" y="5248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Khác</a:t>
            </a:r>
            <a:endParaRPr lang="en-US" sz="640" dirty="0"/>
          </a:p>
        </p:txBody>
      </p:sp>
      <p:sp>
        <p:nvSpPr>
          <p:cNvPr id="104" name="Text 102"/>
          <p:cNvSpPr txBox="1"/>
          <p:nvPr/>
        </p:nvSpPr>
        <p:spPr>
          <a:xfrm>
            <a:off x="5581650" y="5238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59669"/>
                </a:solidFill>
                <a:latin typeface="Segoe UI" pitchFamily="34" charset="0"/>
                <a:ea typeface="Segoe UI" pitchFamily="34" charset="-122"/>
                <a:cs typeface="Segoe UI" pitchFamily="34" charset="-120"/>
              </a:rPr>
              <a:t>+3.000.000</a:t>
            </a:r>
            <a:endParaRPr lang="en-US" sz="680" dirty="0"/>
          </a:p>
        </p:txBody>
      </p:sp>
      <p:sp>
        <p:nvSpPr>
          <p:cNvPr id="105" name="Shape 103"/>
          <p:cNvSpPr/>
          <p:nvPr/>
        </p:nvSpPr>
        <p:spPr>
          <a:xfrm>
            <a:off x="6591300" y="5248275"/>
            <a:ext cx="533400" cy="133350"/>
          </a:xfrm>
          <a:prstGeom prst="roundRect">
            <a:avLst>
              <a:gd name="adj" fmla="val 50000"/>
            </a:avLst>
          </a:prstGeom>
          <a:solidFill>
            <a:srgbClr val="ECFDF5"/>
          </a:solidFill>
          <a:ln/>
        </p:spPr>
      </p:sp>
      <p:sp>
        <p:nvSpPr>
          <p:cNvPr id="106" name="Text 104"/>
          <p:cNvSpPr txBox="1"/>
          <p:nvPr/>
        </p:nvSpPr>
        <p:spPr>
          <a:xfrm>
            <a:off x="6619875" y="5248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Hoạt động</a:t>
            </a:r>
            <a:endParaRPr lang="en-US" sz="540" dirty="0"/>
          </a:p>
        </p:txBody>
      </p:sp>
      <p:sp>
        <p:nvSpPr>
          <p:cNvPr id="107" name="Text 105"/>
          <p:cNvSpPr txBox="1"/>
          <p:nvPr/>
        </p:nvSpPr>
        <p:spPr>
          <a:xfrm>
            <a:off x="7334250" y="5248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108" name="Shape 106"/>
          <p:cNvSpPr/>
          <p:nvPr/>
        </p:nvSpPr>
        <p:spPr>
          <a:xfrm>
            <a:off x="2057400" y="5505450"/>
            <a:ext cx="6076950" cy="9525"/>
          </a:xfrm>
          <a:prstGeom prst="line">
            <a:avLst/>
          </a:prstGeom>
          <a:solidFill>
            <a:srgbClr val="FFFFFF">
              <a:alpha val="0"/>
            </a:srgbClr>
          </a:solidFill>
          <a:ln w="9525">
            <a:solidFill>
              <a:srgbClr val="F1F5F9"/>
            </a:solidFill>
            <a:prstDash val="solid"/>
          </a:ln>
        </p:spPr>
      </p:sp>
      <p:sp>
        <p:nvSpPr>
          <p:cNvPr id="109" name="Text 107"/>
          <p:cNvSpPr txBox="1"/>
          <p:nvPr/>
        </p:nvSpPr>
        <p:spPr>
          <a:xfrm>
            <a:off x="2057400" y="5629275"/>
            <a:ext cx="495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01/09</a:t>
            </a:r>
            <a:endParaRPr lang="en-US" sz="640" dirty="0"/>
          </a:p>
        </p:txBody>
      </p:sp>
      <p:sp>
        <p:nvSpPr>
          <p:cNvPr id="110" name="Text 108"/>
          <p:cNvSpPr txBox="1"/>
          <p:nvPr/>
        </p:nvSpPr>
        <p:spPr>
          <a:xfrm>
            <a:off x="2628900" y="5619750"/>
            <a:ext cx="1866900" cy="123825"/>
          </a:xfrm>
          <a:prstGeom prst="rect">
            <a:avLst/>
          </a:prstGeom>
          <a:noFill/>
          <a:ln/>
        </p:spPr>
        <p:txBody>
          <a:bodyPr wrap="square" lIns="0" tIns="0" rIns="0" bIns="0" rtlCol="0" anchor="t"/>
          <a:lstStyle/>
          <a:p>
            <a:pPr algn="l" indent="0" marL="0">
              <a:lnSpc>
                <a:spcPct val="106000"/>
              </a:lnSpc>
              <a:buNone/>
            </a:pPr>
            <a:r>
              <a:rPr lang="en-US" sz="690" dirty="0">
                <a:solidFill>
                  <a:srgbClr val="94A3B8"/>
                </a:solidFill>
                <a:latin typeface="Segoe UI" pitchFamily="34" charset="0"/>
                <a:ea typeface="Segoe UI" pitchFamily="34" charset="-122"/>
                <a:cs typeface="Segoe UI" pitchFamily="34" charset="-120"/>
              </a:rPr>
              <a:t>Giao dịch cũ đã lưu trữ</a:t>
            </a:r>
            <a:endParaRPr lang="en-US" sz="690" dirty="0"/>
          </a:p>
        </p:txBody>
      </p:sp>
      <p:sp>
        <p:nvSpPr>
          <p:cNvPr id="111" name="Text 109"/>
          <p:cNvSpPr txBox="1"/>
          <p:nvPr/>
        </p:nvSpPr>
        <p:spPr>
          <a:xfrm>
            <a:off x="4572000" y="5629275"/>
            <a:ext cx="9906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Khác</a:t>
            </a:r>
            <a:endParaRPr lang="en-US" sz="640" dirty="0"/>
          </a:p>
        </p:txBody>
      </p:sp>
      <p:sp>
        <p:nvSpPr>
          <p:cNvPr id="112" name="Text 110"/>
          <p:cNvSpPr txBox="1"/>
          <p:nvPr/>
        </p:nvSpPr>
        <p:spPr>
          <a:xfrm>
            <a:off x="5581650" y="5619750"/>
            <a:ext cx="895350" cy="123825"/>
          </a:xfrm>
          <a:prstGeom prst="rect">
            <a:avLst/>
          </a:prstGeom>
          <a:noFill/>
          <a:ln/>
        </p:spPr>
        <p:txBody>
          <a:bodyPr wrap="square" lIns="0" tIns="0" rIns="0" bIns="0" rtlCol="0" anchor="t"/>
          <a:lstStyle/>
          <a:p>
            <a:pPr algn="r"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-50.000</a:t>
            </a:r>
            <a:endParaRPr lang="en-US" sz="680" dirty="0"/>
          </a:p>
        </p:txBody>
      </p:sp>
      <p:sp>
        <p:nvSpPr>
          <p:cNvPr id="113" name="Shape 111"/>
          <p:cNvSpPr/>
          <p:nvPr/>
        </p:nvSpPr>
        <p:spPr>
          <a:xfrm>
            <a:off x="6591300" y="5629275"/>
            <a:ext cx="533400" cy="133350"/>
          </a:xfrm>
          <a:prstGeom prst="roundRect">
            <a:avLst>
              <a:gd name="adj" fmla="val 50000"/>
            </a:avLst>
          </a:prstGeom>
          <a:solidFill>
            <a:srgbClr val="F1F5F9"/>
          </a:solidFill>
          <a:ln/>
        </p:spPr>
      </p:sp>
      <p:sp>
        <p:nvSpPr>
          <p:cNvPr id="114" name="Text 112"/>
          <p:cNvSpPr txBox="1"/>
          <p:nvPr/>
        </p:nvSpPr>
        <p:spPr>
          <a:xfrm>
            <a:off x="6619875" y="5629275"/>
            <a:ext cx="476250" cy="133350"/>
          </a:xfrm>
          <a:prstGeom prst="rect">
            <a:avLst/>
          </a:prstGeom>
          <a:noFill/>
          <a:ln/>
        </p:spPr>
        <p:txBody>
          <a:bodyPr wrap="square" lIns="0" tIns="0" rIns="0" bIns="0" rtlCol="0" anchor="ctr"/>
          <a:lstStyle/>
          <a:p>
            <a:pPr algn="ctr" indent="0" marL="0">
              <a:lnSpc>
                <a:spcPct val="106000"/>
              </a:lnSpc>
              <a:buNone/>
            </a:pPr>
            <a:r>
              <a:rPr lang="en-US" sz="540" b="1" dirty="0">
                <a:solidFill>
                  <a:srgbClr val="64748B"/>
                </a:solidFill>
                <a:latin typeface="Segoe UI" pitchFamily="34" charset="0"/>
                <a:ea typeface="Segoe UI" pitchFamily="34" charset="-122"/>
                <a:cs typeface="Segoe UI" pitchFamily="34" charset="-120"/>
              </a:rPr>
              <a:t>Lưu trữ</a:t>
            </a:r>
            <a:endParaRPr lang="en-US" sz="540" dirty="0"/>
          </a:p>
        </p:txBody>
      </p:sp>
      <p:sp>
        <p:nvSpPr>
          <p:cNvPr id="115" name="Text 113"/>
          <p:cNvSpPr txBox="1"/>
          <p:nvPr/>
        </p:nvSpPr>
        <p:spPr>
          <a:xfrm>
            <a:off x="7334250" y="5629275"/>
            <a:ext cx="381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Sửa</a:t>
            </a:r>
            <a:endParaRPr lang="en-US" sz="620" dirty="0"/>
          </a:p>
        </p:txBody>
      </p:sp>
      <p:sp>
        <p:nvSpPr>
          <p:cNvPr id="116" name="Shape 114"/>
          <p:cNvSpPr/>
          <p:nvPr/>
        </p:nvSpPr>
        <p:spPr>
          <a:xfrm>
            <a:off x="2057400" y="5886450"/>
            <a:ext cx="6076950" cy="9525"/>
          </a:xfrm>
          <a:prstGeom prst="line">
            <a:avLst/>
          </a:prstGeom>
          <a:solidFill>
            <a:srgbClr val="FFFFFF">
              <a:alpha val="0"/>
            </a:srgbClr>
          </a:solidFill>
          <a:ln w="9525">
            <a:solidFill>
              <a:srgbClr val="F1F5F9"/>
            </a:solidFill>
            <a:prstDash val="solid"/>
          </a:ln>
        </p:spPr>
      </p:sp>
      <p:sp>
        <p:nvSpPr>
          <p:cNvPr id="117" name="Shape 115"/>
          <p:cNvSpPr/>
          <p:nvPr/>
        </p:nvSpPr>
        <p:spPr>
          <a:xfrm>
            <a:off x="1943100" y="6172200"/>
            <a:ext cx="6305550" cy="361950"/>
          </a:xfrm>
          <a:prstGeom prst="roundRect">
            <a:avLst>
              <a:gd name="adj" fmla="val 18421"/>
            </a:avLst>
          </a:prstGeom>
          <a:solidFill>
            <a:srgbClr val="ECFDF5"/>
          </a:solidFill>
          <a:ln/>
        </p:spPr>
      </p:sp>
      <p:sp>
        <p:nvSpPr>
          <p:cNvPr id="118" name="Text 116"/>
          <p:cNvSpPr txBox="1"/>
          <p:nvPr/>
        </p:nvSpPr>
        <p:spPr>
          <a:xfrm>
            <a:off x="2057400" y="6248400"/>
            <a:ext cx="4667250" cy="152400"/>
          </a:xfrm>
          <a:prstGeom prst="rect">
            <a:avLst/>
          </a:prstGeom>
          <a:noFill/>
          <a:ln/>
        </p:spPr>
        <p:txBody>
          <a:bodyPr wrap="square" lIns="0" tIns="0" rIns="0" bIns="0" rtlCol="0" anchor="t"/>
          <a:lstStyle/>
          <a:p>
            <a:pPr algn="l" indent="0" marL="0">
              <a:lnSpc>
                <a:spcPct val="106000"/>
              </a:lnSpc>
              <a:buNone/>
            </a:pPr>
            <a:r>
              <a:rPr lang="en-US" sz="700" dirty="0">
                <a:solidFill>
                  <a:srgbClr val="065F46"/>
                </a:solidFill>
                <a:latin typeface="Segoe UI" pitchFamily="34" charset="0"/>
                <a:ea typeface="Segoe UI" pitchFamily="34" charset="-122"/>
                <a:cs typeface="Segoe UI" pitchFamily="34" charset="-120"/>
              </a:rPr>
              <a:t>AI-1 · “Trà sữa với bạn” → Ăn uống · 92% · vì chứa từ khoá đồ uống.</a:t>
            </a:r>
            <a:endParaRPr lang="en-US" sz="700" dirty="0"/>
          </a:p>
        </p:txBody>
      </p:sp>
      <p:sp>
        <p:nvSpPr>
          <p:cNvPr id="119" name="Shape 117"/>
          <p:cNvSpPr/>
          <p:nvPr/>
        </p:nvSpPr>
        <p:spPr>
          <a:xfrm>
            <a:off x="6819900" y="6238875"/>
            <a:ext cx="571500" cy="209550"/>
          </a:xfrm>
          <a:prstGeom prst="roundRect">
            <a:avLst>
              <a:gd name="adj" fmla="val 50000"/>
            </a:avLst>
          </a:prstGeom>
          <a:solidFill>
            <a:srgbClr val="ECFDF5"/>
          </a:solidFill>
          <a:ln/>
        </p:spPr>
      </p:sp>
      <p:sp>
        <p:nvSpPr>
          <p:cNvPr id="120" name="Text 118"/>
          <p:cNvSpPr txBox="1"/>
          <p:nvPr/>
        </p:nvSpPr>
        <p:spPr>
          <a:xfrm>
            <a:off x="6848475" y="6238875"/>
            <a:ext cx="51435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Áp dụng</a:t>
            </a:r>
            <a:endParaRPr lang="en-US" sz="600" dirty="0"/>
          </a:p>
        </p:txBody>
      </p:sp>
      <p:sp>
        <p:nvSpPr>
          <p:cNvPr id="121" name="Shape 119"/>
          <p:cNvSpPr/>
          <p:nvPr/>
        </p:nvSpPr>
        <p:spPr>
          <a:xfrm>
            <a:off x="7448550" y="6238875"/>
            <a:ext cx="571500" cy="209550"/>
          </a:xfrm>
          <a:prstGeom prst="roundRect">
            <a:avLst>
              <a:gd name="adj" fmla="val 50000"/>
            </a:avLst>
          </a:prstGeom>
          <a:solidFill>
            <a:srgbClr val="FFFFFF"/>
          </a:solidFill>
          <a:ln w="9525">
            <a:solidFill>
              <a:srgbClr val="E2E8F0"/>
            </a:solidFill>
            <a:prstDash val="solid"/>
          </a:ln>
        </p:spPr>
      </p:sp>
      <p:sp>
        <p:nvSpPr>
          <p:cNvPr id="122" name="Text 120"/>
          <p:cNvSpPr txBox="1"/>
          <p:nvPr/>
        </p:nvSpPr>
        <p:spPr>
          <a:xfrm>
            <a:off x="7477125" y="6238875"/>
            <a:ext cx="51435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Từ chối</a:t>
            </a:r>
            <a:endParaRPr lang="en-US" sz="600" dirty="0"/>
          </a:p>
        </p:txBody>
      </p:sp>
      <p:sp>
        <p:nvSpPr>
          <p:cNvPr id="123" name="Shape 121"/>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124" name="Text 122"/>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15 / 27</a:t>
            </a:r>
            <a:endParaRPr lang="en-US" sz="740" dirty="0"/>
          </a:p>
        </p:txBody>
      </p:sp>
      <p:sp>
        <p:nvSpPr>
          <p:cNvPr id="125" name="Text 123"/>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Quản lý giao dịch</a:t>
            </a:r>
            <a:endParaRPr lang="en-US" sz="1700" dirty="0"/>
          </a:p>
        </p:txBody>
      </p:sp>
      <p:sp>
        <p:nvSpPr>
          <p:cNvPr id="126" name="Text 124"/>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pages/user-transaction-management.html</a:t>
            </a:r>
            <a:endParaRPr lang="en-US" sz="720" dirty="0"/>
          </a:p>
        </p:txBody>
      </p:sp>
      <p:sp>
        <p:nvSpPr>
          <p:cNvPr id="127" name="Shape 125"/>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28" name="Text 126"/>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29" name="Text 127"/>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Ghi, sửa, lưu trữ giao dịch; tìm kiếm/lọc linh hoạt; nhận gợi ý danh mục từ AI-1 ngay khi nhập.</a:t>
            </a:r>
            <a:endParaRPr lang="en-US" sz="920" dirty="0"/>
          </a:p>
        </p:txBody>
      </p:sp>
      <p:sp>
        <p:nvSpPr>
          <p:cNvPr id="130" name="Text 128"/>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31" name="Shape 129"/>
          <p:cNvSpPr/>
          <p:nvPr/>
        </p:nvSpPr>
        <p:spPr>
          <a:xfrm>
            <a:off x="8839200" y="3238500"/>
            <a:ext cx="209550" cy="190500"/>
          </a:xfrm>
          <a:prstGeom prst="roundRect">
            <a:avLst>
              <a:gd name="adj" fmla="val 25000"/>
            </a:avLst>
          </a:prstGeom>
          <a:solidFill>
            <a:srgbClr val="059669"/>
          </a:solidFill>
          <a:ln/>
        </p:spPr>
      </p:sp>
      <p:sp>
        <p:nvSpPr>
          <p:cNvPr id="132" name="Text 130"/>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133" name="Shape 131"/>
          <p:cNvSpPr/>
          <p:nvPr/>
        </p:nvSpPr>
        <p:spPr>
          <a:xfrm>
            <a:off x="9086850" y="3238500"/>
            <a:ext cx="209550" cy="190500"/>
          </a:xfrm>
          <a:prstGeom prst="roundRect">
            <a:avLst>
              <a:gd name="adj" fmla="val 25000"/>
            </a:avLst>
          </a:prstGeom>
          <a:solidFill>
            <a:srgbClr val="059669"/>
          </a:solidFill>
          <a:ln/>
        </p:spPr>
      </p:sp>
      <p:sp>
        <p:nvSpPr>
          <p:cNvPr id="134" name="Text 132"/>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35" name="Shape 133"/>
          <p:cNvSpPr/>
          <p:nvPr/>
        </p:nvSpPr>
        <p:spPr>
          <a:xfrm>
            <a:off x="9334500" y="3238500"/>
            <a:ext cx="209550" cy="190500"/>
          </a:xfrm>
          <a:prstGeom prst="roundRect">
            <a:avLst>
              <a:gd name="adj" fmla="val 25000"/>
            </a:avLst>
          </a:prstGeom>
          <a:solidFill>
            <a:srgbClr val="059669"/>
          </a:solidFill>
          <a:ln/>
        </p:spPr>
      </p:sp>
      <p:sp>
        <p:nvSpPr>
          <p:cNvPr id="136" name="Text 134"/>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37" name="Shape 135"/>
          <p:cNvSpPr/>
          <p:nvPr/>
        </p:nvSpPr>
        <p:spPr>
          <a:xfrm>
            <a:off x="9582150" y="3238500"/>
            <a:ext cx="209550" cy="190500"/>
          </a:xfrm>
          <a:prstGeom prst="roundRect">
            <a:avLst>
              <a:gd name="adj" fmla="val 25000"/>
            </a:avLst>
          </a:prstGeom>
          <a:solidFill>
            <a:srgbClr val="059669"/>
          </a:solidFill>
          <a:ln/>
        </p:spPr>
      </p:sp>
      <p:sp>
        <p:nvSpPr>
          <p:cNvPr id="138" name="Text 136"/>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D</a:t>
            </a:r>
            <a:endParaRPr lang="en-US" sz="740" dirty="0"/>
          </a:p>
        </p:txBody>
      </p:sp>
      <p:sp>
        <p:nvSpPr>
          <p:cNvPr id="139" name="Text 137"/>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Đang tải · rỗng · lỗi · lưu thành công · đã lưu trữ · kiểm tra hợp lệ.</a:t>
            </a:r>
            <a:endParaRPr lang="en-US" sz="900" dirty="0"/>
          </a:p>
        </p:txBody>
      </p:sp>
      <p:sp>
        <p:nvSpPr>
          <p:cNvPr id="140" name="Text 138"/>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41" name="Text 139"/>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Tìm theo tên; lọc danh mục/loại; modal thêm–sửa; xác nhận lưu trữ; toast; phân trang.</a:t>
            </a:r>
            <a:endParaRPr lang="en-US" sz="900" dirty="0"/>
          </a:p>
        </p:txBody>
      </p:sp>
      <p:sp>
        <p:nvSpPr>
          <p:cNvPr id="142" name="Text 140"/>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43" name="Text 141"/>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AI-1 trả danh mục + độ tin cậy + lý do; chấp nhận/sửa/từ chối/tạo lại; có nút mô phỏng lỗi.</a:t>
            </a:r>
            <a:endParaRPr lang="en-US" sz="900" dirty="0"/>
          </a:p>
        </p:txBody>
      </p:sp>
      <p:sp>
        <p:nvSpPr>
          <p:cNvPr id="144" name="Shape 142"/>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45" name="Text 143"/>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SV1-06-transactions</a:t>
            </a:r>
            <a:endParaRPr lang="en-US" sz="840" dirty="0"/>
          </a:p>
        </p:txBody>
      </p:sp>
      <p:sp>
        <p:nvSpPr>
          <p:cNvPr id="146" name="Text 144"/>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NGƯỜI DÙNG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16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Mục tiêu tiết kiệm</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pages/user-saving-goals.html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spendwise.app/pages/user-saving-goals.html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Người dùng</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Tổng quan</a:t>
            </a:r>
            <a:endParaRPr lang="en-US" sz="820" dirty="0"/>
          </a:p>
        </p:txBody>
      </p:sp>
      <p:sp>
        <p:nvSpPr>
          <p:cNvPr id="22" name="Text 20"/>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Giao dịch</a:t>
            </a:r>
            <a:endParaRPr lang="en-US" sz="820" dirty="0"/>
          </a:p>
        </p:txBody>
      </p:sp>
      <p:sp>
        <p:nvSpPr>
          <p:cNvPr id="23" name="Text 21"/>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Ngân sách</a:t>
            </a:r>
            <a:endParaRPr lang="en-US" sz="820" dirty="0"/>
          </a:p>
        </p:txBody>
      </p:sp>
      <p:sp>
        <p:nvSpPr>
          <p:cNvPr id="24" name="Shape 22"/>
          <p:cNvSpPr/>
          <p:nvPr/>
        </p:nvSpPr>
        <p:spPr>
          <a:xfrm>
            <a:off x="495300" y="2857500"/>
            <a:ext cx="1181100" cy="209550"/>
          </a:xfrm>
          <a:prstGeom prst="roundRect">
            <a:avLst>
              <a:gd name="adj" fmla="val 27273"/>
            </a:avLst>
          </a:prstGeom>
          <a:solidFill>
            <a:srgbClr val="ECFDF5"/>
          </a:solidFill>
          <a:ln/>
        </p:spPr>
      </p:sp>
      <p:sp>
        <p:nvSpPr>
          <p:cNvPr id="25" name="Text 23"/>
          <p:cNvSpPr txBox="1"/>
          <p:nvPr/>
        </p:nvSpPr>
        <p:spPr>
          <a:xfrm>
            <a:off x="609600" y="2886075"/>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Mục tiêu</a:t>
            </a:r>
            <a:endParaRPr lang="en-US" sz="820" dirty="0"/>
          </a:p>
        </p:txBody>
      </p:sp>
      <p:sp>
        <p:nvSpPr>
          <p:cNvPr id="26" name="Shape 24"/>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7" name="Text 25"/>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8" name="Text 26"/>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9" name="Shape 27"/>
          <p:cNvSpPr/>
          <p:nvPr/>
        </p:nvSpPr>
        <p:spPr>
          <a:xfrm>
            <a:off x="1809750" y="1419225"/>
            <a:ext cx="6572250" cy="428625"/>
          </a:xfrm>
          <a:prstGeom prst="rect">
            <a:avLst/>
          </a:prstGeom>
          <a:solidFill>
            <a:srgbClr val="FFFFFF"/>
          </a:solidFill>
          <a:ln/>
        </p:spPr>
      </p:sp>
      <p:sp>
        <p:nvSpPr>
          <p:cNvPr id="30" name="Shape 28"/>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1" name="Text 29"/>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Mục tiêu tiết kiệm</a:t>
            </a:r>
            <a:endParaRPr lang="en-US" sz="1050" dirty="0"/>
          </a:p>
        </p:txBody>
      </p:sp>
      <p:sp>
        <p:nvSpPr>
          <p:cNvPr id="32" name="Shape 30"/>
          <p:cNvSpPr/>
          <p:nvPr/>
        </p:nvSpPr>
        <p:spPr>
          <a:xfrm>
            <a:off x="7315200" y="1533525"/>
            <a:ext cx="914400" cy="171450"/>
          </a:xfrm>
          <a:prstGeom prst="roundRect">
            <a:avLst>
              <a:gd name="adj" fmla="val 50000"/>
            </a:avLst>
          </a:prstGeom>
          <a:solidFill>
            <a:srgbClr val="F1F5F9"/>
          </a:solidFill>
          <a:ln/>
        </p:spPr>
      </p:sp>
      <p:sp>
        <p:nvSpPr>
          <p:cNvPr id="33" name="Text 31"/>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Nguyễn Văn Minh</a:t>
            </a:r>
            <a:endParaRPr lang="en-US" sz="700" dirty="0"/>
          </a:p>
        </p:txBody>
      </p:sp>
      <p:sp>
        <p:nvSpPr>
          <p:cNvPr id="34" name="Shape 32"/>
          <p:cNvSpPr/>
          <p:nvPr/>
        </p:nvSpPr>
        <p:spPr>
          <a:xfrm>
            <a:off x="1943100" y="1952625"/>
            <a:ext cx="1428750" cy="304800"/>
          </a:xfrm>
          <a:prstGeom prst="roundRect">
            <a:avLst>
              <a:gd name="adj" fmla="val 25000"/>
            </a:avLst>
          </a:prstGeom>
          <a:solidFill>
            <a:srgbClr val="FFFFFF"/>
          </a:solidFill>
          <a:ln w="9525">
            <a:solidFill>
              <a:srgbClr val="E2E8F0"/>
            </a:solidFill>
            <a:prstDash val="solid"/>
          </a:ln>
        </p:spPr>
      </p:sp>
      <p:sp>
        <p:nvSpPr>
          <p:cNvPr id="35" name="Text 33"/>
          <p:cNvSpPr txBox="1"/>
          <p:nvPr/>
        </p:nvSpPr>
        <p:spPr>
          <a:xfrm>
            <a:off x="2038350" y="2000250"/>
            <a:ext cx="1238250" cy="114300"/>
          </a:xfrm>
          <a:prstGeom prst="rect">
            <a:avLst/>
          </a:prstGeom>
          <a:noFill/>
          <a:ln/>
        </p:spPr>
        <p:txBody>
          <a:bodyPr wrap="square" lIns="0" tIns="0" rIns="0" bIns="0" rtlCol="0" anchor="t"/>
          <a:lstStyle/>
          <a:p>
            <a:pPr algn="l" indent="0" marL="0">
              <a:lnSpc>
                <a:spcPct val="106000"/>
              </a:lnSpc>
              <a:buNone/>
            </a:pPr>
            <a:r>
              <a:rPr lang="en-US" sz="760" b="1" dirty="0">
                <a:solidFill>
                  <a:srgbClr val="0F172A"/>
                </a:solidFill>
                <a:latin typeface="Segoe UI" pitchFamily="34" charset="0"/>
                <a:ea typeface="Segoe UI" pitchFamily="34" charset="-122"/>
                <a:cs typeface="Segoe UI" pitchFamily="34" charset="-120"/>
              </a:rPr>
              <a:t>3 mục tiêu</a:t>
            </a:r>
            <a:endParaRPr lang="en-US" sz="760" dirty="0"/>
          </a:p>
        </p:txBody>
      </p:sp>
      <p:sp>
        <p:nvSpPr>
          <p:cNvPr id="36" name="Text 34"/>
          <p:cNvSpPr txBox="1"/>
          <p:nvPr/>
        </p:nvSpPr>
        <p:spPr>
          <a:xfrm>
            <a:off x="2038350" y="2124075"/>
            <a:ext cx="12382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1 đang thực hiện</a:t>
            </a:r>
            <a:endParaRPr lang="en-US" sz="580" dirty="0"/>
          </a:p>
        </p:txBody>
      </p:sp>
      <p:sp>
        <p:nvSpPr>
          <p:cNvPr id="37" name="Shape 35"/>
          <p:cNvSpPr/>
          <p:nvPr/>
        </p:nvSpPr>
        <p:spPr>
          <a:xfrm>
            <a:off x="3467100" y="1952625"/>
            <a:ext cx="1428750" cy="304800"/>
          </a:xfrm>
          <a:prstGeom prst="roundRect">
            <a:avLst>
              <a:gd name="adj" fmla="val 25000"/>
            </a:avLst>
          </a:prstGeom>
          <a:solidFill>
            <a:srgbClr val="FFFFFF"/>
          </a:solidFill>
          <a:ln w="9525">
            <a:solidFill>
              <a:srgbClr val="E2E8F0"/>
            </a:solidFill>
            <a:prstDash val="solid"/>
          </a:ln>
        </p:spPr>
      </p:sp>
      <p:sp>
        <p:nvSpPr>
          <p:cNvPr id="38" name="Text 36"/>
          <p:cNvSpPr txBox="1"/>
          <p:nvPr/>
        </p:nvSpPr>
        <p:spPr>
          <a:xfrm>
            <a:off x="3562350" y="2000250"/>
            <a:ext cx="1238250" cy="114300"/>
          </a:xfrm>
          <a:prstGeom prst="rect">
            <a:avLst/>
          </a:prstGeom>
          <a:noFill/>
          <a:ln/>
        </p:spPr>
        <p:txBody>
          <a:bodyPr wrap="square" lIns="0" tIns="0" rIns="0" bIns="0" rtlCol="0" anchor="t"/>
          <a:lstStyle/>
          <a:p>
            <a:pPr algn="l" indent="0" marL="0">
              <a:lnSpc>
                <a:spcPct val="106000"/>
              </a:lnSpc>
              <a:buNone/>
            </a:pPr>
            <a:r>
              <a:rPr lang="en-US" sz="760" b="1" dirty="0">
                <a:solidFill>
                  <a:srgbClr val="0F172A"/>
                </a:solidFill>
                <a:latin typeface="Segoe UI" pitchFamily="34" charset="0"/>
                <a:ea typeface="Segoe UI" pitchFamily="34" charset="-122"/>
                <a:cs typeface="Segoe UI" pitchFamily="34" charset="-120"/>
              </a:rPr>
              <a:t>1 hoàn thành</a:t>
            </a:r>
            <a:endParaRPr lang="en-US" sz="760" dirty="0"/>
          </a:p>
        </p:txBody>
      </p:sp>
      <p:sp>
        <p:nvSpPr>
          <p:cNvPr id="39" name="Text 37"/>
          <p:cNvSpPr txBox="1"/>
          <p:nvPr/>
        </p:nvSpPr>
        <p:spPr>
          <a:xfrm>
            <a:off x="3562350" y="2124075"/>
            <a:ext cx="12382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đạt 2.000.000 ₫</a:t>
            </a:r>
            <a:endParaRPr lang="en-US" sz="580" dirty="0"/>
          </a:p>
        </p:txBody>
      </p:sp>
      <p:sp>
        <p:nvSpPr>
          <p:cNvPr id="40" name="Shape 38"/>
          <p:cNvSpPr/>
          <p:nvPr/>
        </p:nvSpPr>
        <p:spPr>
          <a:xfrm>
            <a:off x="4991100" y="1952625"/>
            <a:ext cx="1428750" cy="304800"/>
          </a:xfrm>
          <a:prstGeom prst="roundRect">
            <a:avLst>
              <a:gd name="adj" fmla="val 25000"/>
            </a:avLst>
          </a:prstGeom>
          <a:solidFill>
            <a:srgbClr val="FFFFFF"/>
          </a:solidFill>
          <a:ln w="9525">
            <a:solidFill>
              <a:srgbClr val="E2E8F0"/>
            </a:solidFill>
            <a:prstDash val="solid"/>
          </a:ln>
        </p:spPr>
      </p:sp>
      <p:sp>
        <p:nvSpPr>
          <p:cNvPr id="41" name="Text 39"/>
          <p:cNvSpPr txBox="1"/>
          <p:nvPr/>
        </p:nvSpPr>
        <p:spPr>
          <a:xfrm>
            <a:off x="5086350" y="2000250"/>
            <a:ext cx="1238250" cy="114300"/>
          </a:xfrm>
          <a:prstGeom prst="rect">
            <a:avLst/>
          </a:prstGeom>
          <a:noFill/>
          <a:ln/>
        </p:spPr>
        <p:txBody>
          <a:bodyPr wrap="square" lIns="0" tIns="0" rIns="0" bIns="0" rtlCol="0" anchor="t"/>
          <a:lstStyle/>
          <a:p>
            <a:pPr algn="l" indent="0" marL="0">
              <a:lnSpc>
                <a:spcPct val="106000"/>
              </a:lnSpc>
              <a:buNone/>
            </a:pPr>
            <a:r>
              <a:rPr lang="en-US" sz="760" b="1" dirty="0">
                <a:solidFill>
                  <a:srgbClr val="0F172A"/>
                </a:solidFill>
                <a:latin typeface="Segoe UI" pitchFamily="34" charset="0"/>
                <a:ea typeface="Segoe UI" pitchFamily="34" charset="-122"/>
                <a:cs typeface="Segoe UI" pitchFamily="34" charset="-120"/>
              </a:rPr>
              <a:t>6.500.000 ₫</a:t>
            </a:r>
            <a:endParaRPr lang="en-US" sz="760" dirty="0"/>
          </a:p>
        </p:txBody>
      </p:sp>
      <p:sp>
        <p:nvSpPr>
          <p:cNvPr id="42" name="Text 40"/>
          <p:cNvSpPr txBox="1"/>
          <p:nvPr/>
        </p:nvSpPr>
        <p:spPr>
          <a:xfrm>
            <a:off x="5086350" y="2124075"/>
            <a:ext cx="123825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tổng đã tiết kiệm</a:t>
            </a:r>
            <a:endParaRPr lang="en-US" sz="580" dirty="0"/>
          </a:p>
        </p:txBody>
      </p:sp>
      <p:sp>
        <p:nvSpPr>
          <p:cNvPr id="43" name="Shape 41"/>
          <p:cNvSpPr/>
          <p:nvPr/>
        </p:nvSpPr>
        <p:spPr>
          <a:xfrm>
            <a:off x="6705600" y="1952625"/>
            <a:ext cx="1543050" cy="304800"/>
          </a:xfrm>
          <a:prstGeom prst="roundRect">
            <a:avLst>
              <a:gd name="adj" fmla="val 18750"/>
            </a:avLst>
          </a:prstGeom>
          <a:solidFill>
            <a:srgbClr val="059669"/>
          </a:solidFill>
          <a:ln/>
        </p:spPr>
      </p:sp>
      <p:sp>
        <p:nvSpPr>
          <p:cNvPr id="44" name="Text 42"/>
          <p:cNvSpPr txBox="1"/>
          <p:nvPr/>
        </p:nvSpPr>
        <p:spPr>
          <a:xfrm>
            <a:off x="6705600" y="1952625"/>
            <a:ext cx="1543050" cy="3048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 Mục tiêu mới</a:t>
            </a:r>
            <a:endParaRPr lang="en-US" sz="740" dirty="0"/>
          </a:p>
        </p:txBody>
      </p:sp>
      <p:sp>
        <p:nvSpPr>
          <p:cNvPr id="45" name="Shape 43"/>
          <p:cNvSpPr/>
          <p:nvPr/>
        </p:nvSpPr>
        <p:spPr>
          <a:xfrm>
            <a:off x="1943100" y="2381250"/>
            <a:ext cx="3905250" cy="1333500"/>
          </a:xfrm>
          <a:prstGeom prst="roundRect">
            <a:avLst>
              <a:gd name="adj" fmla="val 5714"/>
            </a:avLst>
          </a:prstGeom>
          <a:solidFill>
            <a:srgbClr val="FFFFFF"/>
          </a:solidFill>
          <a:ln w="9525">
            <a:solidFill>
              <a:srgbClr val="E2E8F0"/>
            </a:solidFill>
            <a:prstDash val="solid"/>
          </a:ln>
        </p:spPr>
      </p:sp>
      <p:sp>
        <p:nvSpPr>
          <p:cNvPr id="46" name="Text 44"/>
          <p:cNvSpPr txBox="1"/>
          <p:nvPr/>
        </p:nvSpPr>
        <p:spPr>
          <a:xfrm>
            <a:off x="2076450" y="2495550"/>
            <a:ext cx="266700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Mua laptop học lập trình</a:t>
            </a:r>
            <a:endParaRPr lang="en-US" sz="920" dirty="0"/>
          </a:p>
        </p:txBody>
      </p:sp>
      <p:sp>
        <p:nvSpPr>
          <p:cNvPr id="47" name="Text 45"/>
          <p:cNvSpPr txBox="1"/>
          <p:nvPr/>
        </p:nvSpPr>
        <p:spPr>
          <a:xfrm>
            <a:off x="2076450" y="2667000"/>
            <a:ext cx="2857500" cy="11430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Hạn chót 01/03/2027 · còn 5 tháng</a:t>
            </a:r>
            <a:endParaRPr lang="en-US" sz="640" dirty="0"/>
          </a:p>
        </p:txBody>
      </p:sp>
      <p:sp>
        <p:nvSpPr>
          <p:cNvPr id="48" name="Shape 46"/>
          <p:cNvSpPr/>
          <p:nvPr/>
        </p:nvSpPr>
        <p:spPr>
          <a:xfrm>
            <a:off x="4991100" y="2476500"/>
            <a:ext cx="723900" cy="152400"/>
          </a:xfrm>
          <a:prstGeom prst="roundRect">
            <a:avLst>
              <a:gd name="adj" fmla="val 50000"/>
            </a:avLst>
          </a:prstGeom>
          <a:solidFill>
            <a:srgbClr val="ECFDF5"/>
          </a:solidFill>
          <a:ln/>
        </p:spPr>
      </p:sp>
      <p:sp>
        <p:nvSpPr>
          <p:cNvPr id="49" name="Text 47"/>
          <p:cNvSpPr txBox="1"/>
          <p:nvPr/>
        </p:nvSpPr>
        <p:spPr>
          <a:xfrm>
            <a:off x="5019675" y="2476500"/>
            <a:ext cx="666750" cy="152400"/>
          </a:xfrm>
          <a:prstGeom prst="rect">
            <a:avLst/>
          </a:prstGeom>
          <a:noFill/>
          <a:ln/>
        </p:spPr>
        <p:txBody>
          <a:bodyPr wrap="square" lIns="0" tIns="0" rIns="0" bIns="0" rtlCol="0" anchor="ctr"/>
          <a:lstStyle/>
          <a:p>
            <a:pPr algn="ctr" indent="0" marL="0">
              <a:lnSpc>
                <a:spcPct val="106000"/>
              </a:lnSpc>
              <a:buNone/>
            </a:pPr>
            <a:r>
              <a:rPr lang="en-US" sz="560" b="1" dirty="0">
                <a:solidFill>
                  <a:srgbClr val="047857"/>
                </a:solidFill>
                <a:latin typeface="Segoe UI" pitchFamily="34" charset="0"/>
                <a:ea typeface="Segoe UI" pitchFamily="34" charset="-122"/>
                <a:cs typeface="Segoe UI" pitchFamily="34" charset="-120"/>
              </a:rPr>
              <a:t>Đang thực hiện</a:t>
            </a:r>
            <a:endParaRPr lang="en-US" sz="560" dirty="0"/>
          </a:p>
        </p:txBody>
      </p:sp>
      <p:sp>
        <p:nvSpPr>
          <p:cNvPr id="50" name="Text 48"/>
          <p:cNvSpPr txBox="1"/>
          <p:nvPr/>
        </p:nvSpPr>
        <p:spPr>
          <a:xfrm>
            <a:off x="2076450" y="2857500"/>
            <a:ext cx="285750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4.500.000 / 15.000.000 ₫</a:t>
            </a:r>
            <a:endParaRPr lang="en-US" sz="1060" dirty="0"/>
          </a:p>
        </p:txBody>
      </p:sp>
      <p:sp>
        <p:nvSpPr>
          <p:cNvPr id="51" name="Shape 49"/>
          <p:cNvSpPr/>
          <p:nvPr/>
        </p:nvSpPr>
        <p:spPr>
          <a:xfrm>
            <a:off x="2076450" y="3143250"/>
            <a:ext cx="2857500" cy="76200"/>
          </a:xfrm>
          <a:prstGeom prst="roundRect">
            <a:avLst>
              <a:gd name="adj" fmla="val 50000"/>
            </a:avLst>
          </a:prstGeom>
          <a:solidFill>
            <a:srgbClr val="F1F5F9"/>
          </a:solidFill>
          <a:ln/>
        </p:spPr>
      </p:sp>
      <p:sp>
        <p:nvSpPr>
          <p:cNvPr id="52" name="Shape 50"/>
          <p:cNvSpPr/>
          <p:nvPr/>
        </p:nvSpPr>
        <p:spPr>
          <a:xfrm>
            <a:off x="2076450" y="3143250"/>
            <a:ext cx="857250" cy="76200"/>
          </a:xfrm>
          <a:prstGeom prst="roundRect">
            <a:avLst>
              <a:gd name="adj" fmla="val 50000"/>
            </a:avLst>
          </a:prstGeom>
          <a:solidFill>
            <a:srgbClr val="059669"/>
          </a:solidFill>
          <a:ln/>
        </p:spPr>
      </p:sp>
      <p:sp>
        <p:nvSpPr>
          <p:cNvPr id="53" name="Text 51"/>
          <p:cNvSpPr txBox="1"/>
          <p:nvPr/>
        </p:nvSpPr>
        <p:spPr>
          <a:xfrm>
            <a:off x="5010150" y="3114675"/>
            <a:ext cx="38100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30%</a:t>
            </a:r>
            <a:endParaRPr lang="en-US" sz="640" dirty="0"/>
          </a:p>
        </p:txBody>
      </p:sp>
      <p:sp>
        <p:nvSpPr>
          <p:cNvPr id="54" name="Shape 52"/>
          <p:cNvSpPr/>
          <p:nvPr/>
        </p:nvSpPr>
        <p:spPr>
          <a:xfrm>
            <a:off x="2076450" y="3352800"/>
            <a:ext cx="838200" cy="209550"/>
          </a:xfrm>
          <a:prstGeom prst="roundRect">
            <a:avLst>
              <a:gd name="adj" fmla="val 22727"/>
            </a:avLst>
          </a:prstGeom>
          <a:solidFill>
            <a:srgbClr val="059669"/>
          </a:solidFill>
          <a:ln/>
        </p:spPr>
      </p:sp>
      <p:sp>
        <p:nvSpPr>
          <p:cNvPr id="55" name="Text 53"/>
          <p:cNvSpPr txBox="1"/>
          <p:nvPr/>
        </p:nvSpPr>
        <p:spPr>
          <a:xfrm>
            <a:off x="2076450" y="3352800"/>
            <a:ext cx="83820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FFFFFF"/>
                </a:solidFill>
                <a:latin typeface="Segoe UI" pitchFamily="34" charset="0"/>
                <a:ea typeface="Segoe UI" pitchFamily="34" charset="-122"/>
                <a:cs typeface="Segoe UI" pitchFamily="34" charset="-120"/>
              </a:rPr>
              <a:t>Nạp tiết kiệm</a:t>
            </a:r>
            <a:endParaRPr lang="en-US" sz="600" dirty="0"/>
          </a:p>
        </p:txBody>
      </p:sp>
      <p:sp>
        <p:nvSpPr>
          <p:cNvPr id="56" name="Shape 54"/>
          <p:cNvSpPr/>
          <p:nvPr/>
        </p:nvSpPr>
        <p:spPr>
          <a:xfrm>
            <a:off x="2990850" y="3352800"/>
            <a:ext cx="438150" cy="209550"/>
          </a:xfrm>
          <a:prstGeom prst="roundRect">
            <a:avLst>
              <a:gd name="adj" fmla="val 22727"/>
            </a:avLst>
          </a:prstGeom>
          <a:solidFill>
            <a:srgbClr val="FFFFFF"/>
          </a:solidFill>
          <a:ln w="9525">
            <a:solidFill>
              <a:srgbClr val="E2E8F0"/>
            </a:solidFill>
            <a:prstDash val="solid"/>
          </a:ln>
        </p:spPr>
      </p:sp>
      <p:sp>
        <p:nvSpPr>
          <p:cNvPr id="57" name="Text 55"/>
          <p:cNvSpPr txBox="1"/>
          <p:nvPr/>
        </p:nvSpPr>
        <p:spPr>
          <a:xfrm>
            <a:off x="2990850" y="3352800"/>
            <a:ext cx="438150" cy="209550"/>
          </a:xfrm>
          <a:prstGeom prst="rect">
            <a:avLst/>
          </a:prstGeom>
          <a:noFill/>
          <a:ln/>
        </p:spPr>
        <p:txBody>
          <a:bodyPr wrap="square" lIns="0" tIns="0" rIns="0" bIns="0" rtlCol="0" anchor="ctr"/>
          <a:lstStyle/>
          <a:p>
            <a:pPr algn="ctr" indent="0" marL="0">
              <a:lnSpc>
                <a:spcPct val="106000"/>
              </a:lnSpc>
              <a:buNone/>
            </a:pPr>
            <a:r>
              <a:rPr lang="en-US" sz="600" dirty="0">
                <a:solidFill>
                  <a:srgbClr val="475569"/>
                </a:solidFill>
                <a:latin typeface="Segoe UI" pitchFamily="34" charset="0"/>
                <a:ea typeface="Segoe UI" pitchFamily="34" charset="-122"/>
                <a:cs typeface="Segoe UI" pitchFamily="34" charset="-120"/>
              </a:rPr>
              <a:t>Sửa</a:t>
            </a:r>
            <a:endParaRPr lang="en-US" sz="600" dirty="0"/>
          </a:p>
        </p:txBody>
      </p:sp>
      <p:sp>
        <p:nvSpPr>
          <p:cNvPr id="58" name="Shape 56"/>
          <p:cNvSpPr/>
          <p:nvPr/>
        </p:nvSpPr>
        <p:spPr>
          <a:xfrm>
            <a:off x="3505200" y="3352800"/>
            <a:ext cx="438150" cy="209550"/>
          </a:xfrm>
          <a:prstGeom prst="roundRect">
            <a:avLst>
              <a:gd name="adj" fmla="val 22727"/>
            </a:avLst>
          </a:prstGeom>
          <a:solidFill>
            <a:srgbClr val="FFFFFF"/>
          </a:solidFill>
          <a:ln w="9525">
            <a:solidFill>
              <a:srgbClr val="E2E8F0"/>
            </a:solidFill>
            <a:prstDash val="solid"/>
          </a:ln>
        </p:spPr>
      </p:sp>
      <p:sp>
        <p:nvSpPr>
          <p:cNvPr id="59" name="Text 57"/>
          <p:cNvSpPr txBox="1"/>
          <p:nvPr/>
        </p:nvSpPr>
        <p:spPr>
          <a:xfrm>
            <a:off x="3505200" y="3352800"/>
            <a:ext cx="438150" cy="209550"/>
          </a:xfrm>
          <a:prstGeom prst="rect">
            <a:avLst/>
          </a:prstGeom>
          <a:noFill/>
          <a:ln/>
        </p:spPr>
        <p:txBody>
          <a:bodyPr wrap="square" lIns="0" tIns="0" rIns="0" bIns="0" rtlCol="0" anchor="ctr"/>
          <a:lstStyle/>
          <a:p>
            <a:pPr algn="ctr" indent="0" marL="0">
              <a:lnSpc>
                <a:spcPct val="106000"/>
              </a:lnSpc>
              <a:buNone/>
            </a:pPr>
            <a:r>
              <a:rPr lang="en-US" sz="600" dirty="0">
                <a:solidFill>
                  <a:srgbClr val="DC2626"/>
                </a:solidFill>
                <a:latin typeface="Segoe UI" pitchFamily="34" charset="0"/>
                <a:ea typeface="Segoe UI" pitchFamily="34" charset="-122"/>
                <a:cs typeface="Segoe UI" pitchFamily="34" charset="-120"/>
              </a:rPr>
              <a:t>Huỷ</a:t>
            </a:r>
            <a:endParaRPr lang="en-US" sz="600" dirty="0"/>
          </a:p>
        </p:txBody>
      </p:sp>
      <p:sp>
        <p:nvSpPr>
          <p:cNvPr id="60" name="Shape 58"/>
          <p:cNvSpPr/>
          <p:nvPr/>
        </p:nvSpPr>
        <p:spPr>
          <a:xfrm>
            <a:off x="1943100" y="3829050"/>
            <a:ext cx="3905250" cy="1047750"/>
          </a:xfrm>
          <a:prstGeom prst="roundRect">
            <a:avLst>
              <a:gd name="adj" fmla="val 7273"/>
            </a:avLst>
          </a:prstGeom>
          <a:solidFill>
            <a:srgbClr val="FFFFFF"/>
          </a:solidFill>
          <a:ln w="9525">
            <a:solidFill>
              <a:srgbClr val="E2E8F0"/>
            </a:solidFill>
            <a:prstDash val="solid"/>
          </a:ln>
        </p:spPr>
      </p:sp>
      <p:sp>
        <p:nvSpPr>
          <p:cNvPr id="61" name="Text 59"/>
          <p:cNvSpPr txBox="1"/>
          <p:nvPr/>
        </p:nvSpPr>
        <p:spPr>
          <a:xfrm>
            <a:off x="2076450" y="3943350"/>
            <a:ext cx="266700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Quỹ dự phòng 2 triệu</a:t>
            </a:r>
            <a:endParaRPr lang="en-US" sz="920" dirty="0"/>
          </a:p>
        </p:txBody>
      </p:sp>
      <p:sp>
        <p:nvSpPr>
          <p:cNvPr id="62" name="Shape 60"/>
          <p:cNvSpPr/>
          <p:nvPr/>
        </p:nvSpPr>
        <p:spPr>
          <a:xfrm>
            <a:off x="4991100" y="3924300"/>
            <a:ext cx="723900" cy="152400"/>
          </a:xfrm>
          <a:prstGeom prst="roundRect">
            <a:avLst>
              <a:gd name="adj" fmla="val 50000"/>
            </a:avLst>
          </a:prstGeom>
          <a:solidFill>
            <a:srgbClr val="ECFDF5"/>
          </a:solidFill>
          <a:ln/>
        </p:spPr>
      </p:sp>
      <p:sp>
        <p:nvSpPr>
          <p:cNvPr id="63" name="Text 61"/>
          <p:cNvSpPr txBox="1"/>
          <p:nvPr/>
        </p:nvSpPr>
        <p:spPr>
          <a:xfrm>
            <a:off x="5019675" y="3924300"/>
            <a:ext cx="666750" cy="152400"/>
          </a:xfrm>
          <a:prstGeom prst="rect">
            <a:avLst/>
          </a:prstGeom>
          <a:noFill/>
          <a:ln/>
        </p:spPr>
        <p:txBody>
          <a:bodyPr wrap="square" lIns="0" tIns="0" rIns="0" bIns="0" rtlCol="0" anchor="ctr"/>
          <a:lstStyle/>
          <a:p>
            <a:pPr algn="ctr" indent="0" marL="0">
              <a:lnSpc>
                <a:spcPct val="106000"/>
              </a:lnSpc>
              <a:buNone/>
            </a:pPr>
            <a:r>
              <a:rPr lang="en-US" sz="560" b="1" dirty="0">
                <a:solidFill>
                  <a:srgbClr val="047857"/>
                </a:solidFill>
                <a:latin typeface="Segoe UI" pitchFamily="34" charset="0"/>
                <a:ea typeface="Segoe UI" pitchFamily="34" charset="-122"/>
                <a:cs typeface="Segoe UI" pitchFamily="34" charset="-120"/>
              </a:rPr>
              <a:t>Hoàn thành</a:t>
            </a:r>
            <a:endParaRPr lang="en-US" sz="560" dirty="0"/>
          </a:p>
        </p:txBody>
      </p:sp>
      <p:sp>
        <p:nvSpPr>
          <p:cNvPr id="64" name="Text 62"/>
          <p:cNvSpPr txBox="1"/>
          <p:nvPr/>
        </p:nvSpPr>
        <p:spPr>
          <a:xfrm>
            <a:off x="2076450" y="4171950"/>
            <a:ext cx="2857500" cy="161925"/>
          </a:xfrm>
          <a:prstGeom prst="rect">
            <a:avLst/>
          </a:prstGeom>
          <a:noFill/>
          <a:ln/>
        </p:spPr>
        <p:txBody>
          <a:bodyPr wrap="square" lIns="0" tIns="0" rIns="0" bIns="0" rtlCol="0" anchor="t"/>
          <a:lstStyle/>
          <a:p>
            <a:pPr algn="l" indent="0" marL="0">
              <a:lnSpc>
                <a:spcPct val="106000"/>
              </a:lnSpc>
              <a:buNone/>
            </a:pPr>
            <a:r>
              <a:rPr lang="en-US" sz="1020" b="1" dirty="0">
                <a:solidFill>
                  <a:srgbClr val="0F172A"/>
                </a:solidFill>
                <a:latin typeface="Segoe UI" pitchFamily="34" charset="0"/>
                <a:ea typeface="Segoe UI" pitchFamily="34" charset="-122"/>
                <a:cs typeface="Segoe UI" pitchFamily="34" charset="-120"/>
              </a:rPr>
              <a:t>2.000.000 / 2.000.000 ₫</a:t>
            </a:r>
            <a:endParaRPr lang="en-US" sz="1020" dirty="0"/>
          </a:p>
        </p:txBody>
      </p:sp>
      <p:sp>
        <p:nvSpPr>
          <p:cNvPr id="65" name="Shape 63"/>
          <p:cNvSpPr/>
          <p:nvPr/>
        </p:nvSpPr>
        <p:spPr>
          <a:xfrm>
            <a:off x="2076450" y="4438650"/>
            <a:ext cx="2857500" cy="76200"/>
          </a:xfrm>
          <a:prstGeom prst="roundRect">
            <a:avLst>
              <a:gd name="adj" fmla="val 50000"/>
            </a:avLst>
          </a:prstGeom>
          <a:solidFill>
            <a:srgbClr val="F1F5F9"/>
          </a:solidFill>
          <a:ln/>
        </p:spPr>
      </p:sp>
      <p:sp>
        <p:nvSpPr>
          <p:cNvPr id="66" name="Shape 64"/>
          <p:cNvSpPr/>
          <p:nvPr/>
        </p:nvSpPr>
        <p:spPr>
          <a:xfrm>
            <a:off x="2076450" y="4438650"/>
            <a:ext cx="2857500" cy="76200"/>
          </a:xfrm>
          <a:prstGeom prst="roundRect">
            <a:avLst>
              <a:gd name="adj" fmla="val 50000"/>
            </a:avLst>
          </a:prstGeom>
          <a:solidFill>
            <a:srgbClr val="059669"/>
          </a:solidFill>
          <a:ln/>
        </p:spPr>
      </p:sp>
      <p:sp>
        <p:nvSpPr>
          <p:cNvPr id="67" name="Text 65"/>
          <p:cNvSpPr txBox="1"/>
          <p:nvPr/>
        </p:nvSpPr>
        <p:spPr>
          <a:xfrm>
            <a:off x="2076450" y="4629150"/>
            <a:ext cx="3619500" cy="114300"/>
          </a:xfrm>
          <a:prstGeom prst="rect">
            <a:avLst/>
          </a:prstGeom>
          <a:noFill/>
          <a:ln/>
        </p:spPr>
        <p:txBody>
          <a:bodyPr wrap="square" lIns="0" tIns="0" rIns="0" bIns="0" rtlCol="0" anchor="t"/>
          <a:lstStyle/>
          <a:p>
            <a:pPr algn="l" indent="0" marL="0">
              <a:lnSpc>
                <a:spcPct val="106000"/>
              </a:lnSpc>
              <a:buNone/>
            </a:pPr>
            <a:r>
              <a:rPr lang="en-US" sz="620" dirty="0">
                <a:solidFill>
                  <a:srgbClr val="047857"/>
                </a:solidFill>
                <a:latin typeface="Segoe UI" pitchFamily="34" charset="0"/>
                <a:ea typeface="Segoe UI" pitchFamily="34" charset="-122"/>
                <a:cs typeface="Segoe UI" pitchFamily="34" charset="-120"/>
              </a:rPr>
              <a:t>Đạt mục tiêu 12/2026 · nhận huy hiệu</a:t>
            </a:r>
            <a:endParaRPr lang="en-US" sz="620" dirty="0"/>
          </a:p>
        </p:txBody>
      </p:sp>
      <p:sp>
        <p:nvSpPr>
          <p:cNvPr id="68" name="Shape 66"/>
          <p:cNvSpPr/>
          <p:nvPr/>
        </p:nvSpPr>
        <p:spPr>
          <a:xfrm>
            <a:off x="1943100" y="4991100"/>
            <a:ext cx="3905250" cy="1143000"/>
          </a:xfrm>
          <a:prstGeom prst="roundRect">
            <a:avLst>
              <a:gd name="adj" fmla="val 6667"/>
            </a:avLst>
          </a:prstGeom>
          <a:solidFill>
            <a:srgbClr val="FFFFFF"/>
          </a:solidFill>
          <a:ln w="9525">
            <a:solidFill>
              <a:srgbClr val="E2E8F0"/>
            </a:solidFill>
            <a:prstDash val="solid"/>
          </a:ln>
        </p:spPr>
      </p:sp>
      <p:sp>
        <p:nvSpPr>
          <p:cNvPr id="69" name="Text 67"/>
          <p:cNvSpPr txBox="1"/>
          <p:nvPr/>
        </p:nvSpPr>
        <p:spPr>
          <a:xfrm>
            <a:off x="2076450" y="5105400"/>
            <a:ext cx="266700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Du lịch Đà Nẵng hè</a:t>
            </a:r>
            <a:endParaRPr lang="en-US" sz="920" dirty="0"/>
          </a:p>
        </p:txBody>
      </p:sp>
      <p:sp>
        <p:nvSpPr>
          <p:cNvPr id="70" name="Shape 68"/>
          <p:cNvSpPr/>
          <p:nvPr/>
        </p:nvSpPr>
        <p:spPr>
          <a:xfrm>
            <a:off x="4991100" y="5086350"/>
            <a:ext cx="723900" cy="152400"/>
          </a:xfrm>
          <a:prstGeom prst="roundRect">
            <a:avLst>
              <a:gd name="adj" fmla="val 50000"/>
            </a:avLst>
          </a:prstGeom>
          <a:solidFill>
            <a:srgbClr val="F1F5F9"/>
          </a:solidFill>
          <a:ln/>
        </p:spPr>
      </p:sp>
      <p:sp>
        <p:nvSpPr>
          <p:cNvPr id="71" name="Text 69"/>
          <p:cNvSpPr txBox="1"/>
          <p:nvPr/>
        </p:nvSpPr>
        <p:spPr>
          <a:xfrm>
            <a:off x="5019675" y="5086350"/>
            <a:ext cx="666750" cy="152400"/>
          </a:xfrm>
          <a:prstGeom prst="rect">
            <a:avLst/>
          </a:prstGeom>
          <a:noFill/>
          <a:ln/>
        </p:spPr>
        <p:txBody>
          <a:bodyPr wrap="square" lIns="0" tIns="0" rIns="0" bIns="0" rtlCol="0" anchor="ctr"/>
          <a:lstStyle/>
          <a:p>
            <a:pPr algn="ctr" indent="0" marL="0">
              <a:lnSpc>
                <a:spcPct val="106000"/>
              </a:lnSpc>
              <a:buNone/>
            </a:pPr>
            <a:r>
              <a:rPr lang="en-US" sz="560" b="1" dirty="0">
                <a:solidFill>
                  <a:srgbClr val="64748B"/>
                </a:solidFill>
                <a:latin typeface="Segoe UI" pitchFamily="34" charset="0"/>
                <a:ea typeface="Segoe UI" pitchFamily="34" charset="-122"/>
                <a:cs typeface="Segoe UI" pitchFamily="34" charset="-120"/>
              </a:rPr>
              <a:t>Đã huỷ</a:t>
            </a:r>
            <a:endParaRPr lang="en-US" sz="560" dirty="0"/>
          </a:p>
        </p:txBody>
      </p:sp>
      <p:sp>
        <p:nvSpPr>
          <p:cNvPr id="72" name="Text 70"/>
          <p:cNvSpPr txBox="1"/>
          <p:nvPr/>
        </p:nvSpPr>
        <p:spPr>
          <a:xfrm>
            <a:off x="2076450" y="5334000"/>
            <a:ext cx="2857500" cy="161925"/>
          </a:xfrm>
          <a:prstGeom prst="rect">
            <a:avLst/>
          </a:prstGeom>
          <a:noFill/>
          <a:ln/>
        </p:spPr>
        <p:txBody>
          <a:bodyPr wrap="square" lIns="0" tIns="0" rIns="0" bIns="0" rtlCol="0" anchor="t"/>
          <a:lstStyle/>
          <a:p>
            <a:pPr algn="l" indent="0" marL="0">
              <a:lnSpc>
                <a:spcPct val="106000"/>
              </a:lnSpc>
              <a:buNone/>
            </a:pPr>
            <a:r>
              <a:rPr lang="en-US" sz="1020" b="1" dirty="0">
                <a:solidFill>
                  <a:srgbClr val="0F172A"/>
                </a:solidFill>
                <a:latin typeface="Segoe UI" pitchFamily="34" charset="0"/>
                <a:ea typeface="Segoe UI" pitchFamily="34" charset="-122"/>
                <a:cs typeface="Segoe UI" pitchFamily="34" charset="-120"/>
              </a:rPr>
              <a:t>600.000 / 4.000.000 ₫</a:t>
            </a:r>
            <a:endParaRPr lang="en-US" sz="1020" dirty="0"/>
          </a:p>
        </p:txBody>
      </p:sp>
      <p:sp>
        <p:nvSpPr>
          <p:cNvPr id="73" name="Shape 71"/>
          <p:cNvSpPr/>
          <p:nvPr/>
        </p:nvSpPr>
        <p:spPr>
          <a:xfrm>
            <a:off x="2076450" y="5600700"/>
            <a:ext cx="2857500" cy="76200"/>
          </a:xfrm>
          <a:prstGeom prst="roundRect">
            <a:avLst>
              <a:gd name="adj" fmla="val 50000"/>
            </a:avLst>
          </a:prstGeom>
          <a:solidFill>
            <a:srgbClr val="F1F5F9"/>
          </a:solidFill>
          <a:ln/>
        </p:spPr>
      </p:sp>
      <p:sp>
        <p:nvSpPr>
          <p:cNvPr id="74" name="Shape 72"/>
          <p:cNvSpPr/>
          <p:nvPr/>
        </p:nvSpPr>
        <p:spPr>
          <a:xfrm>
            <a:off x="2076450" y="5600700"/>
            <a:ext cx="428625" cy="76200"/>
          </a:xfrm>
          <a:prstGeom prst="roundRect">
            <a:avLst>
              <a:gd name="adj" fmla="val 50000"/>
            </a:avLst>
          </a:prstGeom>
          <a:solidFill>
            <a:srgbClr val="94A3B8"/>
          </a:solidFill>
          <a:ln/>
        </p:spPr>
      </p:sp>
      <p:sp>
        <p:nvSpPr>
          <p:cNvPr id="75" name="Text 73"/>
          <p:cNvSpPr txBox="1"/>
          <p:nvPr/>
        </p:nvSpPr>
        <p:spPr>
          <a:xfrm>
            <a:off x="2076450" y="5791200"/>
            <a:ext cx="3238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Đã quá hạn 30/06/2026 · mục tiêu bị huỷ</a:t>
            </a:r>
            <a:endParaRPr lang="en-US" sz="620" dirty="0"/>
          </a:p>
        </p:txBody>
      </p:sp>
      <p:sp>
        <p:nvSpPr>
          <p:cNvPr id="76" name="Shape 74"/>
          <p:cNvSpPr/>
          <p:nvPr/>
        </p:nvSpPr>
        <p:spPr>
          <a:xfrm>
            <a:off x="4991100" y="5715000"/>
            <a:ext cx="723900" cy="209550"/>
          </a:xfrm>
          <a:prstGeom prst="roundRect">
            <a:avLst>
              <a:gd name="adj" fmla="val 22727"/>
            </a:avLst>
          </a:prstGeom>
          <a:solidFill>
            <a:srgbClr val="FFFFFF"/>
          </a:solidFill>
          <a:ln w="9525">
            <a:solidFill>
              <a:srgbClr val="E2E8F0"/>
            </a:solidFill>
            <a:prstDash val="solid"/>
          </a:ln>
        </p:spPr>
      </p:sp>
      <p:sp>
        <p:nvSpPr>
          <p:cNvPr id="77" name="Text 75"/>
          <p:cNvSpPr txBox="1"/>
          <p:nvPr/>
        </p:nvSpPr>
        <p:spPr>
          <a:xfrm>
            <a:off x="4991100" y="5715000"/>
            <a:ext cx="723900" cy="209550"/>
          </a:xfrm>
          <a:prstGeom prst="rect">
            <a:avLst/>
          </a:prstGeom>
          <a:noFill/>
          <a:ln/>
        </p:spPr>
        <p:txBody>
          <a:bodyPr wrap="square" lIns="0" tIns="0" rIns="0" bIns="0" rtlCol="0" anchor="ctr"/>
          <a:lstStyle/>
          <a:p>
            <a:pPr algn="ctr" indent="0" marL="0">
              <a:lnSpc>
                <a:spcPct val="106000"/>
              </a:lnSpc>
              <a:buNone/>
            </a:pPr>
            <a:r>
              <a:rPr lang="en-US" sz="600" dirty="0">
                <a:solidFill>
                  <a:srgbClr val="475569"/>
                </a:solidFill>
                <a:latin typeface="Segoe UI" pitchFamily="34" charset="0"/>
                <a:ea typeface="Segoe UI" pitchFamily="34" charset="-122"/>
                <a:cs typeface="Segoe UI" pitchFamily="34" charset="-120"/>
              </a:rPr>
              <a:t>Tạo lại</a:t>
            </a:r>
            <a:endParaRPr lang="en-US" sz="600" dirty="0"/>
          </a:p>
        </p:txBody>
      </p:sp>
      <p:sp>
        <p:nvSpPr>
          <p:cNvPr id="78" name="Shape 76"/>
          <p:cNvSpPr/>
          <p:nvPr/>
        </p:nvSpPr>
        <p:spPr>
          <a:xfrm>
            <a:off x="5943600" y="2381250"/>
            <a:ext cx="2305050" cy="3752850"/>
          </a:xfrm>
          <a:prstGeom prst="roundRect">
            <a:avLst>
              <a:gd name="adj" fmla="val 3306"/>
            </a:avLst>
          </a:prstGeom>
          <a:solidFill>
            <a:srgbClr val="FFFFFF"/>
          </a:solidFill>
          <a:ln w="9525">
            <a:solidFill>
              <a:srgbClr val="E2E8F0"/>
            </a:solidFill>
            <a:prstDash val="solid"/>
          </a:ln>
        </p:spPr>
      </p:sp>
      <p:sp>
        <p:nvSpPr>
          <p:cNvPr id="79" name="Text 77"/>
          <p:cNvSpPr txBox="1"/>
          <p:nvPr/>
        </p:nvSpPr>
        <p:spPr>
          <a:xfrm>
            <a:off x="6057900" y="2476500"/>
            <a:ext cx="2076450" cy="114300"/>
          </a:xfrm>
          <a:prstGeom prst="rect">
            <a:avLst/>
          </a:prstGeom>
          <a:noFill/>
          <a:ln/>
        </p:spPr>
        <p:txBody>
          <a:bodyPr wrap="square" lIns="0" tIns="0" rIns="0" bIns="0" rtlCol="0" anchor="t"/>
          <a:lstStyle/>
          <a:p>
            <a:pPr algn="l" indent="0" marL="0">
              <a:lnSpc>
                <a:spcPct val="106000"/>
              </a:lnSpc>
              <a:buNone/>
            </a:pPr>
            <a:r>
              <a:rPr lang="en-US" sz="640" b="1" spc="40" kern="0" dirty="0">
                <a:solidFill>
                  <a:srgbClr val="047857"/>
                </a:solidFill>
                <a:latin typeface="Segoe UI" pitchFamily="34" charset="0"/>
                <a:ea typeface="Segoe UI" pitchFamily="34" charset="-122"/>
                <a:cs typeface="Segoe UI" pitchFamily="34" charset="-120"/>
              </a:rPr>
              <a:t>AI-3 · GOAL COACH</a:t>
            </a:r>
            <a:endParaRPr lang="en-US" sz="640" dirty="0"/>
          </a:p>
        </p:txBody>
      </p:sp>
      <p:sp>
        <p:nvSpPr>
          <p:cNvPr id="80" name="Text 78"/>
          <p:cNvSpPr txBox="1"/>
          <p:nvPr/>
        </p:nvSpPr>
        <p:spPr>
          <a:xfrm>
            <a:off x="6057900" y="2628900"/>
            <a:ext cx="207645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Kế hoạch cho laptop</a:t>
            </a:r>
            <a:endParaRPr lang="en-US" sz="900" dirty="0"/>
          </a:p>
        </p:txBody>
      </p:sp>
      <p:sp>
        <p:nvSpPr>
          <p:cNvPr id="81" name="Text 79"/>
          <p:cNvSpPr txBox="1"/>
          <p:nvPr/>
        </p:nvSpPr>
        <p:spPr>
          <a:xfrm>
            <a:off x="6057900" y="2800350"/>
            <a:ext cx="20764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Độ tin cậy 78% · 4 bước</a:t>
            </a:r>
            <a:endParaRPr lang="en-US" sz="620" dirty="0"/>
          </a:p>
        </p:txBody>
      </p:sp>
      <p:sp>
        <p:nvSpPr>
          <p:cNvPr id="82" name="Shape 80"/>
          <p:cNvSpPr/>
          <p:nvPr/>
        </p:nvSpPr>
        <p:spPr>
          <a:xfrm>
            <a:off x="6057900" y="3048000"/>
            <a:ext cx="76200" cy="76200"/>
          </a:xfrm>
          <a:prstGeom prst="ellipse">
            <a:avLst/>
          </a:prstGeom>
          <a:solidFill>
            <a:srgbClr val="059669"/>
          </a:solidFill>
          <a:ln/>
        </p:spPr>
      </p:sp>
      <p:sp>
        <p:nvSpPr>
          <p:cNvPr id="83" name="Text 81"/>
          <p:cNvSpPr txBox="1"/>
          <p:nvPr/>
        </p:nvSpPr>
        <p:spPr>
          <a:xfrm>
            <a:off x="6191250" y="3028950"/>
            <a:ext cx="57150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Tuần 1–2</a:t>
            </a:r>
            <a:endParaRPr lang="en-US" sz="640" dirty="0"/>
          </a:p>
        </p:txBody>
      </p:sp>
      <p:sp>
        <p:nvSpPr>
          <p:cNvPr id="84" name="Text 82"/>
          <p:cNvSpPr txBox="1"/>
          <p:nvPr/>
        </p:nvSpPr>
        <p:spPr>
          <a:xfrm>
            <a:off x="6191250" y="3143250"/>
            <a:ext cx="1905000" cy="20955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350.000 ₫ / tuần · khởi động</a:t>
            </a:r>
            <a:endParaRPr lang="en-US" sz="620" dirty="0"/>
          </a:p>
        </p:txBody>
      </p:sp>
      <p:sp>
        <p:nvSpPr>
          <p:cNvPr id="85" name="Shape 83"/>
          <p:cNvSpPr/>
          <p:nvPr/>
        </p:nvSpPr>
        <p:spPr>
          <a:xfrm>
            <a:off x="6057900" y="3390900"/>
            <a:ext cx="76200" cy="76200"/>
          </a:xfrm>
          <a:prstGeom prst="ellipse">
            <a:avLst/>
          </a:prstGeom>
          <a:solidFill>
            <a:srgbClr val="059669"/>
          </a:solidFill>
          <a:ln/>
        </p:spPr>
      </p:sp>
      <p:sp>
        <p:nvSpPr>
          <p:cNvPr id="86" name="Text 84"/>
          <p:cNvSpPr txBox="1"/>
          <p:nvPr/>
        </p:nvSpPr>
        <p:spPr>
          <a:xfrm>
            <a:off x="6191250" y="3371850"/>
            <a:ext cx="57150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Tuần 3–8</a:t>
            </a:r>
            <a:endParaRPr lang="en-US" sz="640" dirty="0"/>
          </a:p>
        </p:txBody>
      </p:sp>
      <p:sp>
        <p:nvSpPr>
          <p:cNvPr id="87" name="Text 85"/>
          <p:cNvSpPr txBox="1"/>
          <p:nvPr/>
        </p:nvSpPr>
        <p:spPr>
          <a:xfrm>
            <a:off x="6191250" y="3486150"/>
            <a:ext cx="1905000" cy="20955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300.000 ₫ / tuần · ổn định</a:t>
            </a:r>
            <a:endParaRPr lang="en-US" sz="620" dirty="0"/>
          </a:p>
        </p:txBody>
      </p:sp>
      <p:sp>
        <p:nvSpPr>
          <p:cNvPr id="88" name="Shape 86"/>
          <p:cNvSpPr/>
          <p:nvPr/>
        </p:nvSpPr>
        <p:spPr>
          <a:xfrm>
            <a:off x="6057900" y="3733800"/>
            <a:ext cx="76200" cy="76200"/>
          </a:xfrm>
          <a:prstGeom prst="ellipse">
            <a:avLst/>
          </a:prstGeom>
          <a:solidFill>
            <a:srgbClr val="059669"/>
          </a:solidFill>
          <a:ln/>
        </p:spPr>
      </p:sp>
      <p:sp>
        <p:nvSpPr>
          <p:cNvPr id="89" name="Text 87"/>
          <p:cNvSpPr txBox="1"/>
          <p:nvPr/>
        </p:nvSpPr>
        <p:spPr>
          <a:xfrm>
            <a:off x="6191250" y="3714750"/>
            <a:ext cx="57150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Tuần 9–16</a:t>
            </a:r>
            <a:endParaRPr lang="en-US" sz="640" dirty="0"/>
          </a:p>
        </p:txBody>
      </p:sp>
      <p:sp>
        <p:nvSpPr>
          <p:cNvPr id="90" name="Text 88"/>
          <p:cNvSpPr txBox="1"/>
          <p:nvPr/>
        </p:nvSpPr>
        <p:spPr>
          <a:xfrm>
            <a:off x="6191250" y="3829050"/>
            <a:ext cx="1905000" cy="20955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250.000 ₫ / tuần · tăng tốc</a:t>
            </a:r>
            <a:endParaRPr lang="en-US" sz="620" dirty="0"/>
          </a:p>
        </p:txBody>
      </p:sp>
      <p:sp>
        <p:nvSpPr>
          <p:cNvPr id="91" name="Shape 89"/>
          <p:cNvSpPr/>
          <p:nvPr/>
        </p:nvSpPr>
        <p:spPr>
          <a:xfrm>
            <a:off x="6057900" y="4076700"/>
            <a:ext cx="76200" cy="76200"/>
          </a:xfrm>
          <a:prstGeom prst="ellipse">
            <a:avLst/>
          </a:prstGeom>
          <a:solidFill>
            <a:srgbClr val="059669"/>
          </a:solidFill>
          <a:ln/>
        </p:spPr>
      </p:sp>
      <p:sp>
        <p:nvSpPr>
          <p:cNvPr id="92" name="Text 90"/>
          <p:cNvSpPr txBox="1"/>
          <p:nvPr/>
        </p:nvSpPr>
        <p:spPr>
          <a:xfrm>
            <a:off x="6191250" y="4057650"/>
            <a:ext cx="57150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Dự kiến đạt</a:t>
            </a:r>
            <a:endParaRPr lang="en-US" sz="640" dirty="0"/>
          </a:p>
        </p:txBody>
      </p:sp>
      <p:sp>
        <p:nvSpPr>
          <p:cNvPr id="93" name="Text 91"/>
          <p:cNvSpPr txBox="1"/>
          <p:nvPr/>
        </p:nvSpPr>
        <p:spPr>
          <a:xfrm>
            <a:off x="6191250" y="4171950"/>
            <a:ext cx="1905000" cy="20955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03/2027 · thiếu 10.500.000 ₫</a:t>
            </a:r>
            <a:endParaRPr lang="en-US" sz="620" dirty="0"/>
          </a:p>
        </p:txBody>
      </p:sp>
      <p:sp>
        <p:nvSpPr>
          <p:cNvPr id="94" name="Shape 92"/>
          <p:cNvSpPr/>
          <p:nvPr/>
        </p:nvSpPr>
        <p:spPr>
          <a:xfrm>
            <a:off x="6057900" y="4476750"/>
            <a:ext cx="2076450" cy="476250"/>
          </a:xfrm>
          <a:prstGeom prst="roundRect">
            <a:avLst>
              <a:gd name="adj" fmla="val 12000"/>
            </a:avLst>
          </a:prstGeom>
          <a:solidFill>
            <a:srgbClr val="FFFBEB"/>
          </a:solidFill>
          <a:ln/>
        </p:spPr>
      </p:sp>
      <p:sp>
        <p:nvSpPr>
          <p:cNvPr id="95" name="Text 93"/>
          <p:cNvSpPr txBox="1"/>
          <p:nvPr/>
        </p:nvSpPr>
        <p:spPr>
          <a:xfrm>
            <a:off x="6153150" y="4552950"/>
            <a:ext cx="1885950" cy="323850"/>
          </a:xfrm>
          <a:prstGeom prst="rect">
            <a:avLst/>
          </a:prstGeom>
          <a:noFill/>
          <a:ln/>
        </p:spPr>
        <p:txBody>
          <a:bodyPr wrap="square" lIns="0" tIns="0" rIns="0" bIns="0" rtlCol="0" anchor="t"/>
          <a:lstStyle/>
          <a:p>
            <a:pPr algn="l" indent="0" marL="0">
              <a:lnSpc>
                <a:spcPct val="106000"/>
              </a:lnSpc>
              <a:buNone/>
            </a:pPr>
            <a:r>
              <a:rPr lang="en-US" sz="620" dirty="0">
                <a:solidFill>
                  <a:srgbClr val="78350F"/>
                </a:solidFill>
                <a:latin typeface="Segoe UI" pitchFamily="34" charset="0"/>
                <a:ea typeface="Segoe UI" pitchFamily="34" charset="-122"/>
                <a:cs typeface="Segoe UI" pitchFamily="34" charset="-120"/>
              </a:rPr>
              <a:t>Cần thêm 291.000 ₫/tuần để đạt đúng hạn. Kế hoạch hiện tại chỉ đạt 86%.</a:t>
            </a:r>
            <a:endParaRPr lang="en-US" sz="620" dirty="0"/>
          </a:p>
        </p:txBody>
      </p:sp>
      <p:sp>
        <p:nvSpPr>
          <p:cNvPr id="96" name="Text 94"/>
          <p:cNvSpPr txBox="1"/>
          <p:nvPr/>
        </p:nvSpPr>
        <p:spPr>
          <a:xfrm>
            <a:off x="6057900" y="5048250"/>
            <a:ext cx="2076450" cy="114300"/>
          </a:xfrm>
          <a:prstGeom prst="rect">
            <a:avLst/>
          </a:prstGeom>
          <a:noFill/>
          <a:ln/>
        </p:spPr>
        <p:txBody>
          <a:bodyPr wrap="square" lIns="0" tIns="0" rIns="0" bIns="0" rtlCol="0" anchor="t"/>
          <a:lstStyle/>
          <a:p>
            <a:pPr algn="l"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Vì sao có kế hoạch này?</a:t>
            </a:r>
            <a:endParaRPr lang="en-US" sz="640" dirty="0"/>
          </a:p>
        </p:txBody>
      </p:sp>
      <p:sp>
        <p:nvSpPr>
          <p:cNvPr id="97" name="Shape 95"/>
          <p:cNvSpPr/>
          <p:nvPr/>
        </p:nvSpPr>
        <p:spPr>
          <a:xfrm>
            <a:off x="6057900" y="5219700"/>
            <a:ext cx="819150" cy="209550"/>
          </a:xfrm>
          <a:prstGeom prst="roundRect">
            <a:avLst>
              <a:gd name="adj" fmla="val 50000"/>
            </a:avLst>
          </a:prstGeom>
          <a:solidFill>
            <a:srgbClr val="ECFDF5"/>
          </a:solidFill>
          <a:ln/>
        </p:spPr>
      </p:sp>
      <p:sp>
        <p:nvSpPr>
          <p:cNvPr id="98" name="Text 96"/>
          <p:cNvSpPr txBox="1"/>
          <p:nvPr/>
        </p:nvSpPr>
        <p:spPr>
          <a:xfrm>
            <a:off x="6086475" y="5219700"/>
            <a:ext cx="76200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Chấp nhận</a:t>
            </a:r>
            <a:endParaRPr lang="en-US" sz="600" dirty="0"/>
          </a:p>
        </p:txBody>
      </p:sp>
      <p:sp>
        <p:nvSpPr>
          <p:cNvPr id="99" name="Shape 97"/>
          <p:cNvSpPr/>
          <p:nvPr/>
        </p:nvSpPr>
        <p:spPr>
          <a:xfrm>
            <a:off x="6934200" y="5219700"/>
            <a:ext cx="419100" cy="209550"/>
          </a:xfrm>
          <a:prstGeom prst="roundRect">
            <a:avLst>
              <a:gd name="adj" fmla="val 50000"/>
            </a:avLst>
          </a:prstGeom>
          <a:solidFill>
            <a:srgbClr val="FFFFFF"/>
          </a:solidFill>
          <a:ln w="9525">
            <a:solidFill>
              <a:srgbClr val="E2E8F0"/>
            </a:solidFill>
            <a:prstDash val="solid"/>
          </a:ln>
        </p:spPr>
      </p:sp>
      <p:sp>
        <p:nvSpPr>
          <p:cNvPr id="100" name="Text 98"/>
          <p:cNvSpPr txBox="1"/>
          <p:nvPr/>
        </p:nvSpPr>
        <p:spPr>
          <a:xfrm>
            <a:off x="6962775" y="5219700"/>
            <a:ext cx="36195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Sửa</a:t>
            </a:r>
            <a:endParaRPr lang="en-US" sz="600" dirty="0"/>
          </a:p>
        </p:txBody>
      </p:sp>
      <p:sp>
        <p:nvSpPr>
          <p:cNvPr id="101" name="Shape 99"/>
          <p:cNvSpPr/>
          <p:nvPr/>
        </p:nvSpPr>
        <p:spPr>
          <a:xfrm>
            <a:off x="7410450" y="5219700"/>
            <a:ext cx="533400" cy="209550"/>
          </a:xfrm>
          <a:prstGeom prst="roundRect">
            <a:avLst>
              <a:gd name="adj" fmla="val 50000"/>
            </a:avLst>
          </a:prstGeom>
          <a:solidFill>
            <a:srgbClr val="FFFFFF"/>
          </a:solidFill>
          <a:ln w="9525">
            <a:solidFill>
              <a:srgbClr val="E2E8F0"/>
            </a:solidFill>
            <a:prstDash val="solid"/>
          </a:ln>
        </p:spPr>
      </p:sp>
      <p:sp>
        <p:nvSpPr>
          <p:cNvPr id="102" name="Text 100"/>
          <p:cNvSpPr txBox="1"/>
          <p:nvPr/>
        </p:nvSpPr>
        <p:spPr>
          <a:xfrm>
            <a:off x="7439025" y="5219700"/>
            <a:ext cx="47625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Tạo lại</a:t>
            </a:r>
            <a:endParaRPr lang="en-US" sz="600" dirty="0"/>
          </a:p>
        </p:txBody>
      </p:sp>
      <p:sp>
        <p:nvSpPr>
          <p:cNvPr id="103" name="Text 101"/>
          <p:cNvSpPr txBox="1"/>
          <p:nvPr/>
        </p:nvSpPr>
        <p:spPr>
          <a:xfrm>
            <a:off x="6057900" y="5562600"/>
            <a:ext cx="2076450" cy="3810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Không đủ dữ liệu thu nhập → AI báo không thể lập kế hoạch.</a:t>
            </a:r>
            <a:endParaRPr lang="en-US" sz="600" dirty="0"/>
          </a:p>
        </p:txBody>
      </p:sp>
      <p:sp>
        <p:nvSpPr>
          <p:cNvPr id="104" name="Text 102"/>
          <p:cNvSpPr txBox="1"/>
          <p:nvPr/>
        </p:nvSpPr>
        <p:spPr>
          <a:xfrm>
            <a:off x="1943100" y="6286500"/>
            <a:ext cx="6305550" cy="2476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AI-3 chỉ đề xuất; người dùng có thể sửa số tiền hoặc từ chối. Trạng thái thất bại: thiếu thu nhập hoặc hạn chót đã qua.</a:t>
            </a:r>
            <a:endParaRPr lang="en-US" sz="720" dirty="0"/>
          </a:p>
        </p:txBody>
      </p:sp>
      <p:sp>
        <p:nvSpPr>
          <p:cNvPr id="105" name="Shape 103"/>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106" name="Text 104"/>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16 / 27</a:t>
            </a:r>
            <a:endParaRPr lang="en-US" sz="740" dirty="0"/>
          </a:p>
        </p:txBody>
      </p:sp>
      <p:sp>
        <p:nvSpPr>
          <p:cNvPr id="107" name="Text 105"/>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Mục tiêu tiết kiệm</a:t>
            </a:r>
            <a:endParaRPr lang="en-US" sz="1700" dirty="0"/>
          </a:p>
        </p:txBody>
      </p:sp>
      <p:sp>
        <p:nvSpPr>
          <p:cNvPr id="108" name="Text 106"/>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pages/user-saving-goals.html</a:t>
            </a:r>
            <a:endParaRPr lang="en-US" sz="720" dirty="0"/>
          </a:p>
        </p:txBody>
      </p:sp>
      <p:sp>
        <p:nvSpPr>
          <p:cNvPr id="109" name="Shape 107"/>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10" name="Text 108"/>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11" name="Text 109"/>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Tạo mục tiêu, nạp tiết kiệm, đánh dấu hoàn thành hoặc huỷ; AI-3 lập kế hoạch theo tuần khả thi.</a:t>
            </a:r>
            <a:endParaRPr lang="en-US" sz="920" dirty="0"/>
          </a:p>
        </p:txBody>
      </p:sp>
      <p:sp>
        <p:nvSpPr>
          <p:cNvPr id="112" name="Text 110"/>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13" name="Shape 111"/>
          <p:cNvSpPr/>
          <p:nvPr/>
        </p:nvSpPr>
        <p:spPr>
          <a:xfrm>
            <a:off x="8839200" y="3238500"/>
            <a:ext cx="209550" cy="190500"/>
          </a:xfrm>
          <a:prstGeom prst="roundRect">
            <a:avLst>
              <a:gd name="adj" fmla="val 25000"/>
            </a:avLst>
          </a:prstGeom>
          <a:solidFill>
            <a:srgbClr val="059669"/>
          </a:solidFill>
          <a:ln/>
        </p:spPr>
      </p:sp>
      <p:sp>
        <p:nvSpPr>
          <p:cNvPr id="114" name="Text 112"/>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115" name="Shape 113"/>
          <p:cNvSpPr/>
          <p:nvPr/>
        </p:nvSpPr>
        <p:spPr>
          <a:xfrm>
            <a:off x="9086850" y="3238500"/>
            <a:ext cx="209550" cy="190500"/>
          </a:xfrm>
          <a:prstGeom prst="roundRect">
            <a:avLst>
              <a:gd name="adj" fmla="val 25000"/>
            </a:avLst>
          </a:prstGeom>
          <a:solidFill>
            <a:srgbClr val="059669"/>
          </a:solidFill>
          <a:ln/>
        </p:spPr>
      </p:sp>
      <p:sp>
        <p:nvSpPr>
          <p:cNvPr id="116" name="Text 114"/>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17" name="Shape 115"/>
          <p:cNvSpPr/>
          <p:nvPr/>
        </p:nvSpPr>
        <p:spPr>
          <a:xfrm>
            <a:off x="9334500" y="3238500"/>
            <a:ext cx="209550" cy="190500"/>
          </a:xfrm>
          <a:prstGeom prst="roundRect">
            <a:avLst>
              <a:gd name="adj" fmla="val 25000"/>
            </a:avLst>
          </a:prstGeom>
          <a:solidFill>
            <a:srgbClr val="059669"/>
          </a:solidFill>
          <a:ln/>
        </p:spPr>
      </p:sp>
      <p:sp>
        <p:nvSpPr>
          <p:cNvPr id="118" name="Text 116"/>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19" name="Shape 117"/>
          <p:cNvSpPr/>
          <p:nvPr/>
        </p:nvSpPr>
        <p:spPr>
          <a:xfrm>
            <a:off x="9582150" y="3238500"/>
            <a:ext cx="209550" cy="190500"/>
          </a:xfrm>
          <a:prstGeom prst="roundRect">
            <a:avLst>
              <a:gd name="adj" fmla="val 25000"/>
            </a:avLst>
          </a:prstGeom>
          <a:solidFill>
            <a:srgbClr val="059669"/>
          </a:solidFill>
          <a:ln/>
        </p:spPr>
      </p:sp>
      <p:sp>
        <p:nvSpPr>
          <p:cNvPr id="120" name="Text 118"/>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D</a:t>
            </a:r>
            <a:endParaRPr lang="en-US" sz="740" dirty="0"/>
          </a:p>
        </p:txBody>
      </p:sp>
      <p:sp>
        <p:nvSpPr>
          <p:cNvPr id="121" name="Text 119"/>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Đang thực hiện · hoàn thành · đã huỷ · quá hạn · AI không đủ dữ liệu.</a:t>
            </a:r>
            <a:endParaRPr lang="en-US" sz="900" dirty="0"/>
          </a:p>
        </p:txBody>
      </p:sp>
      <p:sp>
        <p:nvSpPr>
          <p:cNvPr id="122" name="Text 120"/>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23" name="Text 121"/>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Tính % tiến độ; validate số tiền &gt; 0; xác nhận huỷ; lưu kế hoạch AI; toast.</a:t>
            </a:r>
            <a:endParaRPr lang="en-US" sz="900" dirty="0"/>
          </a:p>
        </p:txBody>
      </p:sp>
      <p:sp>
        <p:nvSpPr>
          <p:cNvPr id="124" name="Text 122"/>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25" name="Text 123"/>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AI-3 đề xuất 4 bước, độ tin cậy, lý do; người dùng sửa số tiền, từ chối hoặc tạo lại.</a:t>
            </a:r>
            <a:endParaRPr lang="en-US" sz="900" dirty="0"/>
          </a:p>
        </p:txBody>
      </p:sp>
      <p:sp>
        <p:nvSpPr>
          <p:cNvPr id="126" name="Shape 124"/>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27" name="Text 125"/>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SV1-07-goals</a:t>
            </a:r>
            <a:endParaRPr lang="en-US" sz="840" dirty="0"/>
          </a:p>
        </p:txBody>
      </p:sp>
      <p:sp>
        <p:nvSpPr>
          <p:cNvPr id="128" name="Text 126"/>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NGƯỜI DÙNG</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17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Ngân sách tháng</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pages/user-budgets.html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spendwise.app/pages/user-budgets.html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Người dùng</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Tổng quan</a:t>
            </a:r>
            <a:endParaRPr lang="en-US" sz="820" dirty="0"/>
          </a:p>
        </p:txBody>
      </p:sp>
      <p:sp>
        <p:nvSpPr>
          <p:cNvPr id="22" name="Text 20"/>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Giao dịch</a:t>
            </a:r>
            <a:endParaRPr lang="en-US" sz="820" dirty="0"/>
          </a:p>
        </p:txBody>
      </p:sp>
      <p:sp>
        <p:nvSpPr>
          <p:cNvPr id="23" name="Shape 21"/>
          <p:cNvSpPr/>
          <p:nvPr/>
        </p:nvSpPr>
        <p:spPr>
          <a:xfrm>
            <a:off x="495300" y="2600325"/>
            <a:ext cx="1181100" cy="209550"/>
          </a:xfrm>
          <a:prstGeom prst="roundRect">
            <a:avLst>
              <a:gd name="adj" fmla="val 27273"/>
            </a:avLst>
          </a:prstGeom>
          <a:solidFill>
            <a:srgbClr val="ECFDF5"/>
          </a:solidFill>
          <a:ln/>
        </p:spPr>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Ngân sách</a:t>
            </a:r>
            <a:endParaRPr lang="en-US" sz="820" dirty="0"/>
          </a:p>
        </p:txBody>
      </p:sp>
      <p:sp>
        <p:nvSpPr>
          <p:cNvPr id="25" name="Text 23"/>
          <p:cNvSpPr txBox="1"/>
          <p:nvPr/>
        </p:nvSpPr>
        <p:spPr>
          <a:xfrm>
            <a:off x="609600" y="288607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Mục tiêu</a:t>
            </a:r>
            <a:endParaRPr lang="en-US" sz="820" dirty="0"/>
          </a:p>
        </p:txBody>
      </p:sp>
      <p:sp>
        <p:nvSpPr>
          <p:cNvPr id="26" name="Shape 24"/>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7" name="Text 25"/>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8" name="Text 26"/>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9" name="Shape 27"/>
          <p:cNvSpPr/>
          <p:nvPr/>
        </p:nvSpPr>
        <p:spPr>
          <a:xfrm>
            <a:off x="1809750" y="1419225"/>
            <a:ext cx="6572250" cy="428625"/>
          </a:xfrm>
          <a:prstGeom prst="rect">
            <a:avLst/>
          </a:prstGeom>
          <a:solidFill>
            <a:srgbClr val="FFFFFF"/>
          </a:solidFill>
          <a:ln/>
        </p:spPr>
      </p:sp>
      <p:sp>
        <p:nvSpPr>
          <p:cNvPr id="30" name="Shape 28"/>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1" name="Text 29"/>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Ngân sách tháng</a:t>
            </a:r>
            <a:endParaRPr lang="en-US" sz="1050" dirty="0"/>
          </a:p>
        </p:txBody>
      </p:sp>
      <p:sp>
        <p:nvSpPr>
          <p:cNvPr id="32" name="Shape 30"/>
          <p:cNvSpPr/>
          <p:nvPr/>
        </p:nvSpPr>
        <p:spPr>
          <a:xfrm>
            <a:off x="7315200" y="1533525"/>
            <a:ext cx="914400" cy="171450"/>
          </a:xfrm>
          <a:prstGeom prst="roundRect">
            <a:avLst>
              <a:gd name="adj" fmla="val 50000"/>
            </a:avLst>
          </a:prstGeom>
          <a:solidFill>
            <a:srgbClr val="F1F5F9"/>
          </a:solidFill>
          <a:ln/>
        </p:spPr>
      </p:sp>
      <p:sp>
        <p:nvSpPr>
          <p:cNvPr id="33" name="Text 31"/>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Nguyễn Văn Minh</a:t>
            </a:r>
            <a:endParaRPr lang="en-US" sz="700" dirty="0"/>
          </a:p>
        </p:txBody>
      </p:sp>
      <p:sp>
        <p:nvSpPr>
          <p:cNvPr id="34" name="Shape 32"/>
          <p:cNvSpPr/>
          <p:nvPr/>
        </p:nvSpPr>
        <p:spPr>
          <a:xfrm>
            <a:off x="1943100" y="1952625"/>
            <a:ext cx="1143000" cy="266700"/>
          </a:xfrm>
          <a:prstGeom prst="roundRect">
            <a:avLst>
              <a:gd name="adj" fmla="val 21429"/>
            </a:avLst>
          </a:prstGeom>
          <a:solidFill>
            <a:srgbClr val="FFFFFF"/>
          </a:solidFill>
          <a:ln w="9525">
            <a:solidFill>
              <a:srgbClr val="E2E8F0"/>
            </a:solidFill>
            <a:prstDash val="solid"/>
          </a:ln>
        </p:spPr>
      </p:sp>
      <p:sp>
        <p:nvSpPr>
          <p:cNvPr id="35" name="Text 33"/>
          <p:cNvSpPr txBox="1"/>
          <p:nvPr/>
        </p:nvSpPr>
        <p:spPr>
          <a:xfrm>
            <a:off x="2038350" y="2028825"/>
            <a:ext cx="952500" cy="13335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Tháng 10/2026</a:t>
            </a:r>
            <a:endParaRPr lang="en-US" sz="680" dirty="0"/>
          </a:p>
        </p:txBody>
      </p:sp>
      <p:sp>
        <p:nvSpPr>
          <p:cNvPr id="36" name="Shape 34"/>
          <p:cNvSpPr/>
          <p:nvPr/>
        </p:nvSpPr>
        <p:spPr>
          <a:xfrm>
            <a:off x="6667500" y="1952625"/>
            <a:ext cx="1581150" cy="266700"/>
          </a:xfrm>
          <a:prstGeom prst="roundRect">
            <a:avLst>
              <a:gd name="adj" fmla="val 21429"/>
            </a:avLst>
          </a:prstGeom>
          <a:solidFill>
            <a:srgbClr val="059669"/>
          </a:solidFill>
          <a:ln/>
        </p:spPr>
      </p:sp>
      <p:sp>
        <p:nvSpPr>
          <p:cNvPr id="37" name="Text 35"/>
          <p:cNvSpPr txBox="1"/>
          <p:nvPr/>
        </p:nvSpPr>
        <p:spPr>
          <a:xfrm>
            <a:off x="6667500" y="1952625"/>
            <a:ext cx="1581150" cy="26670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 Tạo ngân sách</a:t>
            </a:r>
            <a:endParaRPr lang="en-US" sz="720" dirty="0"/>
          </a:p>
        </p:txBody>
      </p:sp>
      <p:sp>
        <p:nvSpPr>
          <p:cNvPr id="38" name="Shape 36"/>
          <p:cNvSpPr/>
          <p:nvPr/>
        </p:nvSpPr>
        <p:spPr>
          <a:xfrm>
            <a:off x="1943100" y="2333625"/>
            <a:ext cx="2038350" cy="533400"/>
          </a:xfrm>
          <a:prstGeom prst="roundRect">
            <a:avLst>
              <a:gd name="adj" fmla="val 14286"/>
            </a:avLst>
          </a:prstGeom>
          <a:solidFill>
            <a:srgbClr val="FFFFFF"/>
          </a:solidFill>
          <a:ln w="9525">
            <a:solidFill>
              <a:srgbClr val="E2E8F0"/>
            </a:solidFill>
            <a:prstDash val="solid"/>
          </a:ln>
        </p:spPr>
      </p:sp>
      <p:sp>
        <p:nvSpPr>
          <p:cNvPr id="39" name="Text 37"/>
          <p:cNvSpPr txBox="1"/>
          <p:nvPr/>
        </p:nvSpPr>
        <p:spPr>
          <a:xfrm>
            <a:off x="2057400" y="2409825"/>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3 ngân sách</a:t>
            </a:r>
            <a:endParaRPr lang="en-US" sz="1060" dirty="0"/>
          </a:p>
        </p:txBody>
      </p:sp>
      <p:sp>
        <p:nvSpPr>
          <p:cNvPr id="40" name="Text 38"/>
          <p:cNvSpPr txBox="1"/>
          <p:nvPr/>
        </p:nvSpPr>
        <p:spPr>
          <a:xfrm>
            <a:off x="2057400" y="262890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2 đang chờ xử lý</a:t>
            </a:r>
            <a:endParaRPr lang="en-US" sz="620" dirty="0"/>
          </a:p>
        </p:txBody>
      </p:sp>
      <p:sp>
        <p:nvSpPr>
          <p:cNvPr id="41" name="Shape 39"/>
          <p:cNvSpPr/>
          <p:nvPr/>
        </p:nvSpPr>
        <p:spPr>
          <a:xfrm>
            <a:off x="4057650" y="2333625"/>
            <a:ext cx="2038350" cy="533400"/>
          </a:xfrm>
          <a:prstGeom prst="roundRect">
            <a:avLst>
              <a:gd name="adj" fmla="val 14286"/>
            </a:avLst>
          </a:prstGeom>
          <a:solidFill>
            <a:srgbClr val="FFFFFF"/>
          </a:solidFill>
          <a:ln w="9525">
            <a:solidFill>
              <a:srgbClr val="E2E8F0"/>
            </a:solidFill>
            <a:prstDash val="solid"/>
          </a:ln>
        </p:spPr>
      </p:sp>
      <p:sp>
        <p:nvSpPr>
          <p:cNvPr id="42" name="Text 40"/>
          <p:cNvSpPr txBox="1"/>
          <p:nvPr/>
        </p:nvSpPr>
        <p:spPr>
          <a:xfrm>
            <a:off x="4171950" y="2409825"/>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2.700.000 ₫</a:t>
            </a:r>
            <a:endParaRPr lang="en-US" sz="1060" dirty="0"/>
          </a:p>
        </p:txBody>
      </p:sp>
      <p:sp>
        <p:nvSpPr>
          <p:cNvPr id="43" name="Text 41"/>
          <p:cNvSpPr txBox="1"/>
          <p:nvPr/>
        </p:nvSpPr>
        <p:spPr>
          <a:xfrm>
            <a:off x="4171950" y="262890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hạn mức tháng 10</a:t>
            </a:r>
            <a:endParaRPr lang="en-US" sz="620" dirty="0"/>
          </a:p>
        </p:txBody>
      </p:sp>
      <p:sp>
        <p:nvSpPr>
          <p:cNvPr id="44" name="Shape 42"/>
          <p:cNvSpPr/>
          <p:nvPr/>
        </p:nvSpPr>
        <p:spPr>
          <a:xfrm>
            <a:off x="6172200" y="2333625"/>
            <a:ext cx="2038350" cy="533400"/>
          </a:xfrm>
          <a:prstGeom prst="roundRect">
            <a:avLst>
              <a:gd name="adj" fmla="val 14286"/>
            </a:avLst>
          </a:prstGeom>
          <a:solidFill>
            <a:srgbClr val="FFFFFF"/>
          </a:solidFill>
          <a:ln w="9525">
            <a:solidFill>
              <a:srgbClr val="E2E8F0"/>
            </a:solidFill>
            <a:prstDash val="solid"/>
          </a:ln>
        </p:spPr>
      </p:sp>
      <p:sp>
        <p:nvSpPr>
          <p:cNvPr id="45" name="Text 43"/>
          <p:cNvSpPr txBox="1"/>
          <p:nvPr/>
        </p:nvSpPr>
        <p:spPr>
          <a:xfrm>
            <a:off x="6286500" y="2409825"/>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2.195.000 ₫</a:t>
            </a:r>
            <a:endParaRPr lang="en-US" sz="1060" dirty="0"/>
          </a:p>
        </p:txBody>
      </p:sp>
      <p:sp>
        <p:nvSpPr>
          <p:cNvPr id="46" name="Text 44"/>
          <p:cNvSpPr txBox="1"/>
          <p:nvPr/>
        </p:nvSpPr>
        <p:spPr>
          <a:xfrm>
            <a:off x="6286500" y="262890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còn lại theo hạn mức</a:t>
            </a:r>
            <a:endParaRPr lang="en-US" sz="620" dirty="0"/>
          </a:p>
        </p:txBody>
      </p:sp>
      <p:sp>
        <p:nvSpPr>
          <p:cNvPr id="47" name="Shape 45"/>
          <p:cNvSpPr/>
          <p:nvPr/>
        </p:nvSpPr>
        <p:spPr>
          <a:xfrm>
            <a:off x="1943100" y="3000375"/>
            <a:ext cx="6305550" cy="1000125"/>
          </a:xfrm>
          <a:prstGeom prst="roundRect">
            <a:avLst>
              <a:gd name="adj" fmla="val 7619"/>
            </a:avLst>
          </a:prstGeom>
          <a:solidFill>
            <a:srgbClr val="FFFFFF"/>
          </a:solidFill>
          <a:ln w="9525">
            <a:solidFill>
              <a:srgbClr val="E2E8F0"/>
            </a:solidFill>
            <a:prstDash val="solid"/>
          </a:ln>
        </p:spPr>
      </p:sp>
      <p:sp>
        <p:nvSpPr>
          <p:cNvPr id="48" name="Shape 46"/>
          <p:cNvSpPr/>
          <p:nvPr/>
        </p:nvSpPr>
        <p:spPr>
          <a:xfrm>
            <a:off x="2057400" y="3171825"/>
            <a:ext cx="266700" cy="266700"/>
          </a:xfrm>
          <a:prstGeom prst="roundRect">
            <a:avLst>
              <a:gd name="adj" fmla="val 21429"/>
            </a:avLst>
          </a:prstGeom>
          <a:solidFill>
            <a:srgbClr val="ECFDF5"/>
          </a:solidFill>
          <a:ln/>
        </p:spPr>
      </p:sp>
      <p:sp>
        <p:nvSpPr>
          <p:cNvPr id="49" name="Text 47"/>
          <p:cNvSpPr txBox="1"/>
          <p:nvPr/>
        </p:nvSpPr>
        <p:spPr>
          <a:xfrm>
            <a:off x="2057400" y="3171825"/>
            <a:ext cx="266700" cy="266700"/>
          </a:xfrm>
          <a:prstGeom prst="rect">
            <a:avLst/>
          </a:prstGeom>
          <a:noFill/>
          <a:ln/>
        </p:spPr>
        <p:txBody>
          <a:bodyPr wrap="square" lIns="0" tIns="0" rIns="0" bIns="0" rtlCol="0" anchor="ctr"/>
          <a:lstStyle/>
          <a:p>
            <a:pPr algn="ctr" indent="0" marL="0">
              <a:lnSpc>
                <a:spcPct val="106000"/>
              </a:lnSpc>
              <a:buNone/>
            </a:pPr>
            <a:r>
              <a:rPr lang="en-US" sz="800" b="1" dirty="0">
                <a:solidFill>
                  <a:srgbClr val="047857"/>
                </a:solidFill>
                <a:latin typeface="Segoe UI" pitchFamily="34" charset="0"/>
                <a:ea typeface="Segoe UI" pitchFamily="34" charset="-122"/>
                <a:cs typeface="Segoe UI" pitchFamily="34" charset="-120"/>
              </a:rPr>
              <a:t>Ă</a:t>
            </a:r>
            <a:endParaRPr lang="en-US" sz="800" dirty="0"/>
          </a:p>
        </p:txBody>
      </p:sp>
      <p:sp>
        <p:nvSpPr>
          <p:cNvPr id="50" name="Text 48"/>
          <p:cNvSpPr txBox="1"/>
          <p:nvPr/>
        </p:nvSpPr>
        <p:spPr>
          <a:xfrm>
            <a:off x="2419350" y="3124200"/>
            <a:ext cx="247650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Ăn uống</a:t>
            </a:r>
            <a:endParaRPr lang="en-US" sz="900" dirty="0"/>
          </a:p>
        </p:txBody>
      </p:sp>
      <p:sp>
        <p:nvSpPr>
          <p:cNvPr id="51" name="Text 49"/>
          <p:cNvSpPr txBox="1"/>
          <p:nvPr/>
        </p:nvSpPr>
        <p:spPr>
          <a:xfrm>
            <a:off x="2419350" y="3295650"/>
            <a:ext cx="2476500" cy="11430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Hạn mức tháng 10 · 2.000.000 ₫</a:t>
            </a:r>
            <a:endParaRPr lang="en-US" sz="640" dirty="0"/>
          </a:p>
        </p:txBody>
      </p:sp>
      <p:sp>
        <p:nvSpPr>
          <p:cNvPr id="52" name="Shape 50"/>
          <p:cNvSpPr/>
          <p:nvPr/>
        </p:nvSpPr>
        <p:spPr>
          <a:xfrm>
            <a:off x="7086600" y="3124200"/>
            <a:ext cx="723900" cy="152400"/>
          </a:xfrm>
          <a:prstGeom prst="roundRect">
            <a:avLst>
              <a:gd name="adj" fmla="val 50000"/>
            </a:avLst>
          </a:prstGeom>
          <a:solidFill>
            <a:srgbClr val="FFFBEB"/>
          </a:solidFill>
          <a:ln/>
        </p:spPr>
      </p:sp>
      <p:sp>
        <p:nvSpPr>
          <p:cNvPr id="53" name="Text 51"/>
          <p:cNvSpPr txBox="1"/>
          <p:nvPr/>
        </p:nvSpPr>
        <p:spPr>
          <a:xfrm>
            <a:off x="7115175" y="3124200"/>
            <a:ext cx="6667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B45309"/>
                </a:solidFill>
                <a:latin typeface="Segoe UI" pitchFamily="34" charset="0"/>
                <a:ea typeface="Segoe UI" pitchFamily="34" charset="-122"/>
                <a:cs typeface="Segoe UI" pitchFamily="34" charset="-120"/>
              </a:rPr>
              <a:t>Chờ duyệt</a:t>
            </a:r>
            <a:endParaRPr lang="en-US" sz="540" dirty="0"/>
          </a:p>
        </p:txBody>
      </p:sp>
      <p:sp>
        <p:nvSpPr>
          <p:cNvPr id="54" name="Text 52"/>
          <p:cNvSpPr txBox="1"/>
          <p:nvPr/>
        </p:nvSpPr>
        <p:spPr>
          <a:xfrm>
            <a:off x="5391150" y="3505200"/>
            <a:ext cx="1524000" cy="114300"/>
          </a:xfrm>
          <a:prstGeom prst="rect">
            <a:avLst/>
          </a:prstGeom>
          <a:noFill/>
          <a:ln/>
        </p:spPr>
        <p:txBody>
          <a:bodyPr wrap="square" lIns="0" tIns="0" rIns="0" bIns="0" rtlCol="0" anchor="t"/>
          <a:lstStyle/>
          <a:p>
            <a:pPr algn="r"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340.000 / 2.000.000 ₫</a:t>
            </a:r>
            <a:endParaRPr lang="en-US" sz="660" dirty="0"/>
          </a:p>
        </p:txBody>
      </p:sp>
      <p:sp>
        <p:nvSpPr>
          <p:cNvPr id="55" name="Shape 53"/>
          <p:cNvSpPr/>
          <p:nvPr/>
        </p:nvSpPr>
        <p:spPr>
          <a:xfrm>
            <a:off x="2419350" y="3552825"/>
            <a:ext cx="2857500" cy="66675"/>
          </a:xfrm>
          <a:prstGeom prst="roundRect">
            <a:avLst>
              <a:gd name="adj" fmla="val 50000"/>
            </a:avLst>
          </a:prstGeom>
          <a:solidFill>
            <a:srgbClr val="F1F5F9"/>
          </a:solidFill>
          <a:ln/>
        </p:spPr>
      </p:sp>
      <p:sp>
        <p:nvSpPr>
          <p:cNvPr id="56" name="Shape 54"/>
          <p:cNvSpPr/>
          <p:nvPr/>
        </p:nvSpPr>
        <p:spPr>
          <a:xfrm>
            <a:off x="2419350" y="3552825"/>
            <a:ext cx="485775" cy="66675"/>
          </a:xfrm>
          <a:prstGeom prst="roundRect">
            <a:avLst>
              <a:gd name="adj" fmla="val 50000"/>
            </a:avLst>
          </a:prstGeom>
          <a:solidFill>
            <a:srgbClr val="F59E0B"/>
          </a:solidFill>
          <a:ln/>
        </p:spPr>
      </p:sp>
      <p:sp>
        <p:nvSpPr>
          <p:cNvPr id="57" name="Text 55"/>
          <p:cNvSpPr txBox="1"/>
          <p:nvPr/>
        </p:nvSpPr>
        <p:spPr>
          <a:xfrm>
            <a:off x="7124700" y="3590925"/>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58" name="Text 56"/>
          <p:cNvSpPr txBox="1"/>
          <p:nvPr/>
        </p:nvSpPr>
        <p:spPr>
          <a:xfrm>
            <a:off x="7486650" y="3590925"/>
            <a:ext cx="4381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59" name="Shape 57"/>
          <p:cNvSpPr/>
          <p:nvPr/>
        </p:nvSpPr>
        <p:spPr>
          <a:xfrm>
            <a:off x="1943100" y="4095750"/>
            <a:ext cx="6305550" cy="1000125"/>
          </a:xfrm>
          <a:prstGeom prst="roundRect">
            <a:avLst>
              <a:gd name="adj" fmla="val 7619"/>
            </a:avLst>
          </a:prstGeom>
          <a:solidFill>
            <a:srgbClr val="FFFFFF"/>
          </a:solidFill>
          <a:ln w="9525">
            <a:solidFill>
              <a:srgbClr val="E2E8F0"/>
            </a:solidFill>
            <a:prstDash val="solid"/>
          </a:ln>
        </p:spPr>
      </p:sp>
      <p:sp>
        <p:nvSpPr>
          <p:cNvPr id="60" name="Shape 58"/>
          <p:cNvSpPr/>
          <p:nvPr/>
        </p:nvSpPr>
        <p:spPr>
          <a:xfrm>
            <a:off x="2057400" y="4267200"/>
            <a:ext cx="266700" cy="266700"/>
          </a:xfrm>
          <a:prstGeom prst="roundRect">
            <a:avLst>
              <a:gd name="adj" fmla="val 21429"/>
            </a:avLst>
          </a:prstGeom>
          <a:solidFill>
            <a:srgbClr val="ECFDF5"/>
          </a:solidFill>
          <a:ln/>
        </p:spPr>
      </p:sp>
      <p:sp>
        <p:nvSpPr>
          <p:cNvPr id="61" name="Text 59"/>
          <p:cNvSpPr txBox="1"/>
          <p:nvPr/>
        </p:nvSpPr>
        <p:spPr>
          <a:xfrm>
            <a:off x="2057400" y="4267200"/>
            <a:ext cx="266700" cy="266700"/>
          </a:xfrm>
          <a:prstGeom prst="rect">
            <a:avLst/>
          </a:prstGeom>
          <a:noFill/>
          <a:ln/>
        </p:spPr>
        <p:txBody>
          <a:bodyPr wrap="square" lIns="0" tIns="0" rIns="0" bIns="0" rtlCol="0" anchor="ctr"/>
          <a:lstStyle/>
          <a:p>
            <a:pPr algn="ctr" indent="0" marL="0">
              <a:lnSpc>
                <a:spcPct val="106000"/>
              </a:lnSpc>
              <a:buNone/>
            </a:pPr>
            <a:r>
              <a:rPr lang="en-US" sz="800" b="1" dirty="0">
                <a:solidFill>
                  <a:srgbClr val="047857"/>
                </a:solidFill>
                <a:latin typeface="Segoe UI" pitchFamily="34" charset="0"/>
                <a:ea typeface="Segoe UI" pitchFamily="34" charset="-122"/>
                <a:cs typeface="Segoe UI" pitchFamily="34" charset="-120"/>
              </a:rPr>
              <a:t>D</a:t>
            </a:r>
            <a:endParaRPr lang="en-US" sz="800" dirty="0"/>
          </a:p>
        </p:txBody>
      </p:sp>
      <p:sp>
        <p:nvSpPr>
          <p:cNvPr id="62" name="Text 60"/>
          <p:cNvSpPr txBox="1"/>
          <p:nvPr/>
        </p:nvSpPr>
        <p:spPr>
          <a:xfrm>
            <a:off x="2419350" y="4219575"/>
            <a:ext cx="247650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Di chuyển</a:t>
            </a:r>
            <a:endParaRPr lang="en-US" sz="900" dirty="0"/>
          </a:p>
        </p:txBody>
      </p:sp>
      <p:sp>
        <p:nvSpPr>
          <p:cNvPr id="63" name="Text 61"/>
          <p:cNvSpPr txBox="1"/>
          <p:nvPr/>
        </p:nvSpPr>
        <p:spPr>
          <a:xfrm>
            <a:off x="2419350" y="4391025"/>
            <a:ext cx="2476500" cy="11430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Hạn mức tháng 10 · 400.000 ₫</a:t>
            </a:r>
            <a:endParaRPr lang="en-US" sz="640" dirty="0"/>
          </a:p>
        </p:txBody>
      </p:sp>
      <p:sp>
        <p:nvSpPr>
          <p:cNvPr id="64" name="Shape 62"/>
          <p:cNvSpPr/>
          <p:nvPr/>
        </p:nvSpPr>
        <p:spPr>
          <a:xfrm>
            <a:off x="7086600" y="4219575"/>
            <a:ext cx="723900" cy="152400"/>
          </a:xfrm>
          <a:prstGeom prst="roundRect">
            <a:avLst>
              <a:gd name="adj" fmla="val 50000"/>
            </a:avLst>
          </a:prstGeom>
          <a:solidFill>
            <a:srgbClr val="ECFDF5"/>
          </a:solidFill>
          <a:ln/>
        </p:spPr>
      </p:sp>
      <p:sp>
        <p:nvSpPr>
          <p:cNvPr id="65" name="Text 63"/>
          <p:cNvSpPr txBox="1"/>
          <p:nvPr/>
        </p:nvSpPr>
        <p:spPr>
          <a:xfrm>
            <a:off x="7115175" y="4219575"/>
            <a:ext cx="6667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Đã duyệt</a:t>
            </a:r>
            <a:endParaRPr lang="en-US" sz="540" dirty="0"/>
          </a:p>
        </p:txBody>
      </p:sp>
      <p:sp>
        <p:nvSpPr>
          <p:cNvPr id="66" name="Text 64"/>
          <p:cNvSpPr txBox="1"/>
          <p:nvPr/>
        </p:nvSpPr>
        <p:spPr>
          <a:xfrm>
            <a:off x="5391150" y="4600575"/>
            <a:ext cx="1524000" cy="114300"/>
          </a:xfrm>
          <a:prstGeom prst="rect">
            <a:avLst/>
          </a:prstGeom>
          <a:noFill/>
          <a:ln/>
        </p:spPr>
        <p:txBody>
          <a:bodyPr wrap="square" lIns="0" tIns="0" rIns="0" bIns="0" rtlCol="0" anchor="t"/>
          <a:lstStyle/>
          <a:p>
            <a:pPr algn="r"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65.000 / 400.000 ₫</a:t>
            </a:r>
            <a:endParaRPr lang="en-US" sz="660" dirty="0"/>
          </a:p>
        </p:txBody>
      </p:sp>
      <p:sp>
        <p:nvSpPr>
          <p:cNvPr id="67" name="Shape 65"/>
          <p:cNvSpPr/>
          <p:nvPr/>
        </p:nvSpPr>
        <p:spPr>
          <a:xfrm>
            <a:off x="2419350" y="4648200"/>
            <a:ext cx="2857500" cy="66675"/>
          </a:xfrm>
          <a:prstGeom prst="roundRect">
            <a:avLst>
              <a:gd name="adj" fmla="val 50000"/>
            </a:avLst>
          </a:prstGeom>
          <a:solidFill>
            <a:srgbClr val="F1F5F9"/>
          </a:solidFill>
          <a:ln/>
        </p:spPr>
      </p:sp>
      <p:sp>
        <p:nvSpPr>
          <p:cNvPr id="68" name="Shape 66"/>
          <p:cNvSpPr/>
          <p:nvPr/>
        </p:nvSpPr>
        <p:spPr>
          <a:xfrm>
            <a:off x="2419350" y="4648200"/>
            <a:ext cx="457200" cy="66675"/>
          </a:xfrm>
          <a:prstGeom prst="roundRect">
            <a:avLst>
              <a:gd name="adj" fmla="val 50000"/>
            </a:avLst>
          </a:prstGeom>
          <a:solidFill>
            <a:srgbClr val="059669"/>
          </a:solidFill>
          <a:ln/>
        </p:spPr>
      </p:sp>
      <p:sp>
        <p:nvSpPr>
          <p:cNvPr id="69" name="Text 67"/>
          <p:cNvSpPr txBox="1"/>
          <p:nvPr/>
        </p:nvSpPr>
        <p:spPr>
          <a:xfrm>
            <a:off x="7124700" y="468630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70" name="Text 68"/>
          <p:cNvSpPr txBox="1"/>
          <p:nvPr/>
        </p:nvSpPr>
        <p:spPr>
          <a:xfrm>
            <a:off x="7486650" y="4686300"/>
            <a:ext cx="4381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71" name="Shape 69"/>
          <p:cNvSpPr/>
          <p:nvPr/>
        </p:nvSpPr>
        <p:spPr>
          <a:xfrm>
            <a:off x="1943100" y="5191125"/>
            <a:ext cx="6305550" cy="1000125"/>
          </a:xfrm>
          <a:prstGeom prst="roundRect">
            <a:avLst>
              <a:gd name="adj" fmla="val 7619"/>
            </a:avLst>
          </a:prstGeom>
          <a:solidFill>
            <a:srgbClr val="FFFFFF"/>
          </a:solidFill>
          <a:ln w="9525">
            <a:solidFill>
              <a:srgbClr val="E2E8F0"/>
            </a:solidFill>
            <a:prstDash val="solid"/>
          </a:ln>
        </p:spPr>
      </p:sp>
      <p:sp>
        <p:nvSpPr>
          <p:cNvPr id="72" name="Shape 70"/>
          <p:cNvSpPr/>
          <p:nvPr/>
        </p:nvSpPr>
        <p:spPr>
          <a:xfrm>
            <a:off x="2057400" y="5362575"/>
            <a:ext cx="266700" cy="266700"/>
          </a:xfrm>
          <a:prstGeom prst="roundRect">
            <a:avLst>
              <a:gd name="adj" fmla="val 21429"/>
            </a:avLst>
          </a:prstGeom>
          <a:solidFill>
            <a:srgbClr val="ECFDF5"/>
          </a:solidFill>
          <a:ln/>
        </p:spPr>
      </p:sp>
      <p:sp>
        <p:nvSpPr>
          <p:cNvPr id="73" name="Text 71"/>
          <p:cNvSpPr txBox="1"/>
          <p:nvPr/>
        </p:nvSpPr>
        <p:spPr>
          <a:xfrm>
            <a:off x="2057400" y="5362575"/>
            <a:ext cx="266700" cy="266700"/>
          </a:xfrm>
          <a:prstGeom prst="rect">
            <a:avLst/>
          </a:prstGeom>
          <a:noFill/>
          <a:ln/>
        </p:spPr>
        <p:txBody>
          <a:bodyPr wrap="square" lIns="0" tIns="0" rIns="0" bIns="0" rtlCol="0" anchor="ctr"/>
          <a:lstStyle/>
          <a:p>
            <a:pPr algn="ctr" indent="0" marL="0">
              <a:lnSpc>
                <a:spcPct val="106000"/>
              </a:lnSpc>
              <a:buNone/>
            </a:pPr>
            <a:r>
              <a:rPr lang="en-US" sz="800" b="1" dirty="0">
                <a:solidFill>
                  <a:srgbClr val="047857"/>
                </a:solidFill>
                <a:latin typeface="Segoe UI" pitchFamily="34" charset="0"/>
                <a:ea typeface="Segoe UI" pitchFamily="34" charset="-122"/>
                <a:cs typeface="Segoe UI" pitchFamily="34" charset="-120"/>
              </a:rPr>
              <a:t>G</a:t>
            </a:r>
            <a:endParaRPr lang="en-US" sz="800" dirty="0"/>
          </a:p>
        </p:txBody>
      </p:sp>
      <p:sp>
        <p:nvSpPr>
          <p:cNvPr id="74" name="Text 72"/>
          <p:cNvSpPr txBox="1"/>
          <p:nvPr/>
        </p:nvSpPr>
        <p:spPr>
          <a:xfrm>
            <a:off x="2419350" y="5314950"/>
            <a:ext cx="247650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Giải trí</a:t>
            </a:r>
            <a:endParaRPr lang="en-US" sz="900" dirty="0"/>
          </a:p>
        </p:txBody>
      </p:sp>
      <p:sp>
        <p:nvSpPr>
          <p:cNvPr id="75" name="Text 73"/>
          <p:cNvSpPr txBox="1"/>
          <p:nvPr/>
        </p:nvSpPr>
        <p:spPr>
          <a:xfrm>
            <a:off x="2419350" y="5486400"/>
            <a:ext cx="2476500" cy="11430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Hạn mức tháng 10 · 300.000 ₫</a:t>
            </a:r>
            <a:endParaRPr lang="en-US" sz="640" dirty="0"/>
          </a:p>
        </p:txBody>
      </p:sp>
      <p:sp>
        <p:nvSpPr>
          <p:cNvPr id="76" name="Shape 74"/>
          <p:cNvSpPr/>
          <p:nvPr/>
        </p:nvSpPr>
        <p:spPr>
          <a:xfrm>
            <a:off x="7086600" y="5314950"/>
            <a:ext cx="723900" cy="152400"/>
          </a:xfrm>
          <a:prstGeom prst="roundRect">
            <a:avLst>
              <a:gd name="adj" fmla="val 50000"/>
            </a:avLst>
          </a:prstGeom>
          <a:solidFill>
            <a:srgbClr val="FFFBEB"/>
          </a:solidFill>
          <a:ln/>
        </p:spPr>
      </p:sp>
      <p:sp>
        <p:nvSpPr>
          <p:cNvPr id="77" name="Text 75"/>
          <p:cNvSpPr txBox="1"/>
          <p:nvPr/>
        </p:nvSpPr>
        <p:spPr>
          <a:xfrm>
            <a:off x="7115175" y="5314950"/>
            <a:ext cx="6667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B45309"/>
                </a:solidFill>
                <a:latin typeface="Segoe UI" pitchFamily="34" charset="0"/>
                <a:ea typeface="Segoe UI" pitchFamily="34" charset="-122"/>
                <a:cs typeface="Segoe UI" pitchFamily="34" charset="-120"/>
              </a:rPr>
              <a:t>Cần chỉnh sửa</a:t>
            </a:r>
            <a:endParaRPr lang="en-US" sz="540" dirty="0"/>
          </a:p>
        </p:txBody>
      </p:sp>
      <p:sp>
        <p:nvSpPr>
          <p:cNvPr id="78" name="Text 76"/>
          <p:cNvSpPr txBox="1"/>
          <p:nvPr/>
        </p:nvSpPr>
        <p:spPr>
          <a:xfrm>
            <a:off x="5391150" y="5695950"/>
            <a:ext cx="1524000" cy="114300"/>
          </a:xfrm>
          <a:prstGeom prst="rect">
            <a:avLst/>
          </a:prstGeom>
          <a:noFill/>
          <a:ln/>
        </p:spPr>
        <p:txBody>
          <a:bodyPr wrap="square" lIns="0" tIns="0" rIns="0" bIns="0" rtlCol="0" anchor="t"/>
          <a:lstStyle/>
          <a:p>
            <a:pPr algn="r"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100.000 / 300.000 ₫</a:t>
            </a:r>
            <a:endParaRPr lang="en-US" sz="660" dirty="0"/>
          </a:p>
        </p:txBody>
      </p:sp>
      <p:sp>
        <p:nvSpPr>
          <p:cNvPr id="79" name="Shape 77"/>
          <p:cNvSpPr/>
          <p:nvPr/>
        </p:nvSpPr>
        <p:spPr>
          <a:xfrm>
            <a:off x="2419350" y="5743575"/>
            <a:ext cx="2857500" cy="66675"/>
          </a:xfrm>
          <a:prstGeom prst="roundRect">
            <a:avLst>
              <a:gd name="adj" fmla="val 50000"/>
            </a:avLst>
          </a:prstGeom>
          <a:solidFill>
            <a:srgbClr val="F1F5F9"/>
          </a:solidFill>
          <a:ln/>
        </p:spPr>
      </p:sp>
      <p:sp>
        <p:nvSpPr>
          <p:cNvPr id="80" name="Shape 78"/>
          <p:cNvSpPr/>
          <p:nvPr/>
        </p:nvSpPr>
        <p:spPr>
          <a:xfrm>
            <a:off x="2419350" y="5743575"/>
            <a:ext cx="942975" cy="66675"/>
          </a:xfrm>
          <a:prstGeom prst="roundRect">
            <a:avLst>
              <a:gd name="adj" fmla="val 50000"/>
            </a:avLst>
          </a:prstGeom>
          <a:solidFill>
            <a:srgbClr val="F59E0B"/>
          </a:solidFill>
          <a:ln/>
        </p:spPr>
      </p:sp>
      <p:sp>
        <p:nvSpPr>
          <p:cNvPr id="81" name="Text 79"/>
          <p:cNvSpPr txBox="1"/>
          <p:nvPr/>
        </p:nvSpPr>
        <p:spPr>
          <a:xfrm>
            <a:off x="7124700" y="5781675"/>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82" name="Text 80"/>
          <p:cNvSpPr txBox="1"/>
          <p:nvPr/>
        </p:nvSpPr>
        <p:spPr>
          <a:xfrm>
            <a:off x="7486650" y="5781675"/>
            <a:ext cx="4381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83" name="Text 81"/>
          <p:cNvSpPr txBox="1"/>
          <p:nvPr/>
        </p:nvSpPr>
        <p:spPr>
          <a:xfrm>
            <a:off x="2419350" y="5953125"/>
            <a:ext cx="4476750" cy="152400"/>
          </a:xfrm>
          <a:prstGeom prst="rect">
            <a:avLst/>
          </a:prstGeom>
          <a:noFill/>
          <a:ln/>
        </p:spPr>
        <p:txBody>
          <a:bodyPr wrap="square" lIns="0" tIns="0" rIns="0" bIns="0" rtlCol="0" anchor="t"/>
          <a:lstStyle/>
          <a:p>
            <a:pPr algn="l" indent="0" marL="0">
              <a:lnSpc>
                <a:spcPct val="106000"/>
              </a:lnSpc>
              <a:buNone/>
            </a:pPr>
            <a:r>
              <a:rPr lang="en-US" sz="620" dirty="0">
                <a:solidFill>
                  <a:srgbClr val="B45309"/>
                </a:solidFill>
                <a:latin typeface="Segoe UI" pitchFamily="34" charset="0"/>
                <a:ea typeface="Segoe UI" pitchFamily="34" charset="-122"/>
                <a:cs typeface="Segoe UI" pitchFamily="34" charset="-120"/>
              </a:rPr>
              <a:t>GV: Giải trí 300k hơi cao so với thu nhập, đề xuất giảm còn 200k.</a:t>
            </a:r>
            <a:endParaRPr lang="en-US" sz="620" dirty="0"/>
          </a:p>
        </p:txBody>
      </p:sp>
      <p:sp>
        <p:nvSpPr>
          <p:cNvPr id="84" name="Text 82"/>
          <p:cNvSpPr txBox="1"/>
          <p:nvPr/>
        </p:nvSpPr>
        <p:spPr>
          <a:xfrm>
            <a:off x="7124700" y="5953125"/>
            <a:ext cx="571500" cy="114300"/>
          </a:xfrm>
          <a:prstGeom prst="rect">
            <a:avLst/>
          </a:prstGeom>
          <a:noFill/>
          <a:ln/>
        </p:spPr>
        <p:txBody>
          <a:bodyPr wrap="square" lIns="0" tIns="0" rIns="0" bIns="0" rtlCol="0" anchor="t"/>
          <a:lstStyle/>
          <a:p>
            <a:pPr algn="l" indent="0" marL="0">
              <a:lnSpc>
                <a:spcPct val="106000"/>
              </a:lnSpc>
              <a:buNone/>
            </a:pPr>
            <a:r>
              <a:rPr lang="en-US" sz="600" b="1" dirty="0">
                <a:solidFill>
                  <a:srgbClr val="B45309"/>
                </a:solidFill>
                <a:latin typeface="Segoe UI" pitchFamily="34" charset="0"/>
                <a:ea typeface="Segoe UI" pitchFamily="34" charset="-122"/>
                <a:cs typeface="Segoe UI" pitchFamily="34" charset="-120"/>
              </a:rPr>
              <a:t>Chỉnh sửa</a:t>
            </a:r>
            <a:endParaRPr lang="en-US" sz="600" dirty="0"/>
          </a:p>
        </p:txBody>
      </p:sp>
      <p:sp>
        <p:nvSpPr>
          <p:cNvPr id="85" name="Text 83"/>
          <p:cNvSpPr txBox="1"/>
          <p:nvPr/>
        </p:nvSpPr>
        <p:spPr>
          <a:xfrm>
            <a:off x="1943100" y="6305550"/>
            <a:ext cx="6305550" cy="190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Coach duyệt hoặc yêu cầu chỉnh sửa; người dùng thấy trạng thái và ghi chú ngay trên từng ngân sách.</a:t>
            </a:r>
            <a:endParaRPr lang="en-US" sz="720" dirty="0"/>
          </a:p>
        </p:txBody>
      </p:sp>
      <p:sp>
        <p:nvSpPr>
          <p:cNvPr id="86" name="Shape 84"/>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87" name="Text 85"/>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17 / 27</a:t>
            </a:r>
            <a:endParaRPr lang="en-US" sz="740" dirty="0"/>
          </a:p>
        </p:txBody>
      </p:sp>
      <p:sp>
        <p:nvSpPr>
          <p:cNvPr id="88" name="Text 86"/>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Ngân sách tháng</a:t>
            </a:r>
            <a:endParaRPr lang="en-US" sz="1700" dirty="0"/>
          </a:p>
        </p:txBody>
      </p:sp>
      <p:sp>
        <p:nvSpPr>
          <p:cNvPr id="89" name="Text 87"/>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pages/user-budgets.html</a:t>
            </a:r>
            <a:endParaRPr lang="en-US" sz="720" dirty="0"/>
          </a:p>
        </p:txBody>
      </p:sp>
      <p:sp>
        <p:nvSpPr>
          <p:cNvPr id="90" name="Shape 88"/>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91" name="Text 89"/>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92" name="Text 90"/>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Tạo ngân sách theo danh mục và tháng, theo dõi đã chi và trạng thái duyệt của huấn luyện viên.</a:t>
            </a:r>
            <a:endParaRPr lang="en-US" sz="920" dirty="0"/>
          </a:p>
        </p:txBody>
      </p:sp>
      <p:sp>
        <p:nvSpPr>
          <p:cNvPr id="93" name="Text 91"/>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94" name="Shape 92"/>
          <p:cNvSpPr/>
          <p:nvPr/>
        </p:nvSpPr>
        <p:spPr>
          <a:xfrm>
            <a:off x="8839200" y="3238500"/>
            <a:ext cx="209550" cy="190500"/>
          </a:xfrm>
          <a:prstGeom prst="roundRect">
            <a:avLst>
              <a:gd name="adj" fmla="val 25000"/>
            </a:avLst>
          </a:prstGeom>
          <a:solidFill>
            <a:srgbClr val="059669"/>
          </a:solidFill>
          <a:ln/>
        </p:spPr>
      </p:sp>
      <p:sp>
        <p:nvSpPr>
          <p:cNvPr id="95" name="Text 93"/>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96" name="Shape 94"/>
          <p:cNvSpPr/>
          <p:nvPr/>
        </p:nvSpPr>
        <p:spPr>
          <a:xfrm>
            <a:off x="9086850" y="3238500"/>
            <a:ext cx="209550" cy="190500"/>
          </a:xfrm>
          <a:prstGeom prst="roundRect">
            <a:avLst>
              <a:gd name="adj" fmla="val 25000"/>
            </a:avLst>
          </a:prstGeom>
          <a:solidFill>
            <a:srgbClr val="059669"/>
          </a:solidFill>
          <a:ln/>
        </p:spPr>
      </p:sp>
      <p:sp>
        <p:nvSpPr>
          <p:cNvPr id="97" name="Text 95"/>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98" name="Shape 96"/>
          <p:cNvSpPr/>
          <p:nvPr/>
        </p:nvSpPr>
        <p:spPr>
          <a:xfrm>
            <a:off x="9334500" y="3238500"/>
            <a:ext cx="209550" cy="190500"/>
          </a:xfrm>
          <a:prstGeom prst="roundRect">
            <a:avLst>
              <a:gd name="adj" fmla="val 25000"/>
            </a:avLst>
          </a:prstGeom>
          <a:solidFill>
            <a:srgbClr val="059669"/>
          </a:solidFill>
          <a:ln/>
        </p:spPr>
      </p:sp>
      <p:sp>
        <p:nvSpPr>
          <p:cNvPr id="99" name="Text 97"/>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00" name="Shape 98"/>
          <p:cNvSpPr/>
          <p:nvPr/>
        </p:nvSpPr>
        <p:spPr>
          <a:xfrm>
            <a:off x="9582150" y="3238500"/>
            <a:ext cx="209550" cy="190500"/>
          </a:xfrm>
          <a:prstGeom prst="roundRect">
            <a:avLst>
              <a:gd name="adj" fmla="val 25000"/>
            </a:avLst>
          </a:prstGeom>
          <a:solidFill>
            <a:srgbClr val="059669"/>
          </a:solidFill>
          <a:ln/>
        </p:spPr>
      </p:sp>
      <p:sp>
        <p:nvSpPr>
          <p:cNvPr id="101" name="Text 99"/>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D</a:t>
            </a:r>
            <a:endParaRPr lang="en-US" sz="740" dirty="0"/>
          </a:p>
        </p:txBody>
      </p:sp>
      <p:sp>
        <p:nvSpPr>
          <p:cNvPr id="102" name="Text 100"/>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Chờ duyệt · đã duyệt · cần chỉnh sửa (kèm ghi chú) · lưu trữ.</a:t>
            </a:r>
            <a:endParaRPr lang="en-US" sz="900" dirty="0"/>
          </a:p>
        </p:txBody>
      </p:sp>
      <p:sp>
        <p:nvSpPr>
          <p:cNvPr id="103" name="Text 101"/>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04" name="Text 102"/>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Chọn tháng; tính % đã dùng; sửa hạn mức; lưu trữ; hiển thị ghi chú coach.</a:t>
            </a:r>
            <a:endParaRPr lang="en-US" sz="900" dirty="0"/>
          </a:p>
        </p:txBody>
      </p:sp>
      <p:sp>
        <p:nvSpPr>
          <p:cNvPr id="105" name="Text 103"/>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06" name="Text 104"/>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dữ liệu budgets + categories; trạng thái do coach cập nhật.</a:t>
            </a:r>
            <a:endParaRPr lang="en-US" sz="900" dirty="0"/>
          </a:p>
        </p:txBody>
      </p:sp>
      <p:sp>
        <p:nvSpPr>
          <p:cNvPr id="107" name="Shape 105"/>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08" name="Text 106"/>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SV1-08-budgets</a:t>
            </a:r>
            <a:endParaRPr lang="en-US" sz="840" dirty="0"/>
          </a:p>
        </p:txBody>
      </p:sp>
      <p:sp>
        <p:nvSpPr>
          <p:cNvPr id="109" name="Text 107"/>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HUẤN LUYỆN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18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Danh sách học viên</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pages/coach-client-list.html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spendwise.app/pages/coach-client-list.html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Huấn luyện viên</a:t>
            </a:r>
            <a:endParaRPr lang="en-US" sz="640" dirty="0"/>
          </a:p>
        </p:txBody>
      </p:sp>
      <p:sp>
        <p:nvSpPr>
          <p:cNvPr id="21" name="Shape 19"/>
          <p:cNvSpPr/>
          <p:nvPr/>
        </p:nvSpPr>
        <p:spPr>
          <a:xfrm>
            <a:off x="495300" y="2085975"/>
            <a:ext cx="1181100" cy="209550"/>
          </a:xfrm>
          <a:prstGeom prst="roundRect">
            <a:avLst>
              <a:gd name="adj" fmla="val 27273"/>
            </a:avLst>
          </a:prstGeom>
          <a:solidFill>
            <a:srgbClr val="ECFDF5"/>
          </a:solidFill>
          <a:ln/>
        </p:spPr>
      </p:sp>
      <p:sp>
        <p:nvSpPr>
          <p:cNvPr id="22" name="Text 20"/>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Học viên</a:t>
            </a:r>
            <a:endParaRPr lang="en-US" sz="820" dirty="0"/>
          </a:p>
        </p:txBody>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Duyệt ngân sách</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Tài nguyên</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Danh sách học viên</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Phạm Thị Lan</a:t>
            </a:r>
            <a:endParaRPr lang="en-US" sz="700" dirty="0"/>
          </a:p>
        </p:txBody>
      </p:sp>
      <p:sp>
        <p:nvSpPr>
          <p:cNvPr id="33" name="Shape 31"/>
          <p:cNvSpPr/>
          <p:nvPr/>
        </p:nvSpPr>
        <p:spPr>
          <a:xfrm>
            <a:off x="1943100" y="1952625"/>
            <a:ext cx="2038350" cy="495300"/>
          </a:xfrm>
          <a:prstGeom prst="roundRect">
            <a:avLst>
              <a:gd name="adj" fmla="val 15385"/>
            </a:avLst>
          </a:prstGeom>
          <a:solidFill>
            <a:srgbClr val="FFFFFF"/>
          </a:solidFill>
          <a:ln w="9525">
            <a:solidFill>
              <a:srgbClr val="E2E8F0"/>
            </a:solidFill>
            <a:prstDash val="solid"/>
          </a:ln>
        </p:spPr>
      </p:sp>
      <p:sp>
        <p:nvSpPr>
          <p:cNvPr id="34" name="Text 32"/>
          <p:cNvSpPr txBox="1"/>
          <p:nvPr/>
        </p:nvSpPr>
        <p:spPr>
          <a:xfrm>
            <a:off x="2057400" y="2038350"/>
            <a:ext cx="1809750" cy="152400"/>
          </a:xfrm>
          <a:prstGeom prst="rect">
            <a:avLst/>
          </a:prstGeom>
          <a:noFill/>
          <a:ln/>
        </p:spPr>
        <p:txBody>
          <a:bodyPr wrap="square" lIns="0" tIns="0" rIns="0" bIns="0" rtlCol="0" anchor="t"/>
          <a:lstStyle/>
          <a:p>
            <a:pPr algn="l" indent="0" marL="0">
              <a:lnSpc>
                <a:spcPct val="106000"/>
              </a:lnSpc>
              <a:buNone/>
            </a:pPr>
            <a:r>
              <a:rPr lang="en-US" sz="1020" b="1" dirty="0">
                <a:solidFill>
                  <a:srgbClr val="0F172A"/>
                </a:solidFill>
                <a:latin typeface="Segoe UI" pitchFamily="34" charset="0"/>
                <a:ea typeface="Segoe UI" pitchFamily="34" charset="-122"/>
                <a:cs typeface="Segoe UI" pitchFamily="34" charset="-120"/>
              </a:rPr>
              <a:t>3 học viên</a:t>
            </a:r>
            <a:endParaRPr lang="en-US" sz="1020" dirty="0"/>
          </a:p>
        </p:txBody>
      </p:sp>
      <p:sp>
        <p:nvSpPr>
          <p:cNvPr id="35" name="Text 33"/>
          <p:cNvSpPr txBox="1"/>
          <p:nvPr/>
        </p:nvSpPr>
        <p:spPr>
          <a:xfrm>
            <a:off x="2057400" y="222885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đang theo dõi</a:t>
            </a:r>
            <a:endParaRPr lang="en-US" sz="620" dirty="0"/>
          </a:p>
        </p:txBody>
      </p:sp>
      <p:sp>
        <p:nvSpPr>
          <p:cNvPr id="36" name="Shape 34"/>
          <p:cNvSpPr/>
          <p:nvPr/>
        </p:nvSpPr>
        <p:spPr>
          <a:xfrm>
            <a:off x="4057650" y="1952625"/>
            <a:ext cx="2038350" cy="495300"/>
          </a:xfrm>
          <a:prstGeom prst="roundRect">
            <a:avLst>
              <a:gd name="adj" fmla="val 15385"/>
            </a:avLst>
          </a:prstGeom>
          <a:solidFill>
            <a:srgbClr val="FFFFFF"/>
          </a:solidFill>
          <a:ln w="9525">
            <a:solidFill>
              <a:srgbClr val="E2E8F0"/>
            </a:solidFill>
            <a:prstDash val="solid"/>
          </a:ln>
        </p:spPr>
      </p:sp>
      <p:sp>
        <p:nvSpPr>
          <p:cNvPr id="37" name="Text 35"/>
          <p:cNvSpPr txBox="1"/>
          <p:nvPr/>
        </p:nvSpPr>
        <p:spPr>
          <a:xfrm>
            <a:off x="4171950" y="2038350"/>
            <a:ext cx="1809750" cy="152400"/>
          </a:xfrm>
          <a:prstGeom prst="rect">
            <a:avLst/>
          </a:prstGeom>
          <a:noFill/>
          <a:ln/>
        </p:spPr>
        <p:txBody>
          <a:bodyPr wrap="square" lIns="0" tIns="0" rIns="0" bIns="0" rtlCol="0" anchor="t"/>
          <a:lstStyle/>
          <a:p>
            <a:pPr algn="l" indent="0" marL="0">
              <a:lnSpc>
                <a:spcPct val="106000"/>
              </a:lnSpc>
              <a:buNone/>
            </a:pPr>
            <a:r>
              <a:rPr lang="en-US" sz="1020" b="1" dirty="0">
                <a:solidFill>
                  <a:srgbClr val="0F172A"/>
                </a:solidFill>
                <a:latin typeface="Segoe UI" pitchFamily="34" charset="0"/>
                <a:ea typeface="Segoe UI" pitchFamily="34" charset="-122"/>
                <a:cs typeface="Segoe UI" pitchFamily="34" charset="-120"/>
              </a:rPr>
              <a:t>2 ngân sách</a:t>
            </a:r>
            <a:endParaRPr lang="en-US" sz="1020" dirty="0"/>
          </a:p>
        </p:txBody>
      </p:sp>
      <p:sp>
        <p:nvSpPr>
          <p:cNvPr id="38" name="Text 36"/>
          <p:cNvSpPr txBox="1"/>
          <p:nvPr/>
        </p:nvSpPr>
        <p:spPr>
          <a:xfrm>
            <a:off x="4171950" y="222885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chờ duyệt</a:t>
            </a:r>
            <a:endParaRPr lang="en-US" sz="620" dirty="0"/>
          </a:p>
        </p:txBody>
      </p:sp>
      <p:sp>
        <p:nvSpPr>
          <p:cNvPr id="39" name="Shape 37"/>
          <p:cNvSpPr/>
          <p:nvPr/>
        </p:nvSpPr>
        <p:spPr>
          <a:xfrm>
            <a:off x="6172200" y="1952625"/>
            <a:ext cx="2038350" cy="495300"/>
          </a:xfrm>
          <a:prstGeom prst="roundRect">
            <a:avLst>
              <a:gd name="adj" fmla="val 15385"/>
            </a:avLst>
          </a:prstGeom>
          <a:solidFill>
            <a:srgbClr val="FFFFFF"/>
          </a:solidFill>
          <a:ln w="9525">
            <a:solidFill>
              <a:srgbClr val="E2E8F0"/>
            </a:solidFill>
            <a:prstDash val="solid"/>
          </a:ln>
        </p:spPr>
      </p:sp>
      <p:sp>
        <p:nvSpPr>
          <p:cNvPr id="40" name="Text 38"/>
          <p:cNvSpPr txBox="1"/>
          <p:nvPr/>
        </p:nvSpPr>
        <p:spPr>
          <a:xfrm>
            <a:off x="6286500" y="2038350"/>
            <a:ext cx="1809750" cy="152400"/>
          </a:xfrm>
          <a:prstGeom prst="rect">
            <a:avLst/>
          </a:prstGeom>
          <a:noFill/>
          <a:ln/>
        </p:spPr>
        <p:txBody>
          <a:bodyPr wrap="square" lIns="0" tIns="0" rIns="0" bIns="0" rtlCol="0" anchor="t"/>
          <a:lstStyle/>
          <a:p>
            <a:pPr algn="l" indent="0" marL="0">
              <a:lnSpc>
                <a:spcPct val="106000"/>
              </a:lnSpc>
              <a:buNone/>
            </a:pPr>
            <a:r>
              <a:rPr lang="en-US" sz="1020" b="1" dirty="0">
                <a:solidFill>
                  <a:srgbClr val="0F172A"/>
                </a:solidFill>
                <a:latin typeface="Segoe UI" pitchFamily="34" charset="0"/>
                <a:ea typeface="Segoe UI" pitchFamily="34" charset="-122"/>
                <a:cs typeface="Segoe UI" pitchFamily="34" charset="-120"/>
              </a:rPr>
              <a:t>1 cần chú ý</a:t>
            </a:r>
            <a:endParaRPr lang="en-US" sz="1020" dirty="0"/>
          </a:p>
        </p:txBody>
      </p:sp>
      <p:sp>
        <p:nvSpPr>
          <p:cNvPr id="41" name="Text 39"/>
          <p:cNvSpPr txBox="1"/>
          <p:nvPr/>
        </p:nvSpPr>
        <p:spPr>
          <a:xfrm>
            <a:off x="6286500" y="222885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tài khoản bị khoá</a:t>
            </a:r>
            <a:endParaRPr lang="en-US" sz="620" dirty="0"/>
          </a:p>
        </p:txBody>
      </p:sp>
      <p:sp>
        <p:nvSpPr>
          <p:cNvPr id="42" name="Shape 40"/>
          <p:cNvSpPr/>
          <p:nvPr/>
        </p:nvSpPr>
        <p:spPr>
          <a:xfrm>
            <a:off x="1943100" y="2638425"/>
            <a:ext cx="2476500" cy="266700"/>
          </a:xfrm>
          <a:prstGeom prst="roundRect">
            <a:avLst>
              <a:gd name="adj" fmla="val 21429"/>
            </a:avLst>
          </a:prstGeom>
          <a:solidFill>
            <a:srgbClr val="FFFFFF"/>
          </a:solidFill>
          <a:ln w="9525">
            <a:solidFill>
              <a:srgbClr val="E2E8F0"/>
            </a:solidFill>
            <a:prstDash val="solid"/>
          </a:ln>
        </p:spPr>
      </p:sp>
      <p:sp>
        <p:nvSpPr>
          <p:cNvPr id="43" name="Text 41"/>
          <p:cNvSpPr txBox="1"/>
          <p:nvPr/>
        </p:nvSpPr>
        <p:spPr>
          <a:xfrm>
            <a:off x="2057400" y="2714625"/>
            <a:ext cx="2286000" cy="1333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Tìm học viên...</a:t>
            </a:r>
            <a:endParaRPr lang="en-US" sz="660" dirty="0"/>
          </a:p>
        </p:txBody>
      </p:sp>
      <p:sp>
        <p:nvSpPr>
          <p:cNvPr id="44" name="Shape 42"/>
          <p:cNvSpPr/>
          <p:nvPr/>
        </p:nvSpPr>
        <p:spPr>
          <a:xfrm>
            <a:off x="4572000" y="2676525"/>
            <a:ext cx="590550" cy="190500"/>
          </a:xfrm>
          <a:prstGeom prst="roundRect">
            <a:avLst>
              <a:gd name="adj" fmla="val 50000"/>
            </a:avLst>
          </a:prstGeom>
          <a:solidFill>
            <a:srgbClr val="ECFDF5"/>
          </a:solidFill>
          <a:ln/>
        </p:spPr>
      </p:sp>
      <p:sp>
        <p:nvSpPr>
          <p:cNvPr id="45" name="Text 43"/>
          <p:cNvSpPr txBox="1"/>
          <p:nvPr/>
        </p:nvSpPr>
        <p:spPr>
          <a:xfrm>
            <a:off x="4600575" y="2676525"/>
            <a:ext cx="533400" cy="19050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Tất cả</a:t>
            </a:r>
            <a:endParaRPr lang="en-US" sz="600" dirty="0"/>
          </a:p>
        </p:txBody>
      </p:sp>
      <p:sp>
        <p:nvSpPr>
          <p:cNvPr id="46" name="Shape 44"/>
          <p:cNvSpPr/>
          <p:nvPr/>
        </p:nvSpPr>
        <p:spPr>
          <a:xfrm>
            <a:off x="5238750" y="2676525"/>
            <a:ext cx="1104900" cy="190500"/>
          </a:xfrm>
          <a:prstGeom prst="roundRect">
            <a:avLst>
              <a:gd name="adj" fmla="val 50000"/>
            </a:avLst>
          </a:prstGeom>
          <a:solidFill>
            <a:srgbClr val="FFFFFF"/>
          </a:solidFill>
          <a:ln w="9525">
            <a:solidFill>
              <a:srgbClr val="E2E8F0"/>
            </a:solidFill>
            <a:prstDash val="solid"/>
          </a:ln>
        </p:spPr>
      </p:sp>
      <p:sp>
        <p:nvSpPr>
          <p:cNvPr id="47" name="Text 45"/>
          <p:cNvSpPr txBox="1"/>
          <p:nvPr/>
        </p:nvSpPr>
        <p:spPr>
          <a:xfrm>
            <a:off x="5267325" y="2676525"/>
            <a:ext cx="1047750" cy="19050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Có ngân sách chờ</a:t>
            </a:r>
            <a:endParaRPr lang="en-US" sz="600" dirty="0"/>
          </a:p>
        </p:txBody>
      </p:sp>
      <p:sp>
        <p:nvSpPr>
          <p:cNvPr id="48" name="Shape 46"/>
          <p:cNvSpPr/>
          <p:nvPr/>
        </p:nvSpPr>
        <p:spPr>
          <a:xfrm>
            <a:off x="6419850" y="2676525"/>
            <a:ext cx="876300" cy="190500"/>
          </a:xfrm>
          <a:prstGeom prst="roundRect">
            <a:avLst>
              <a:gd name="adj" fmla="val 50000"/>
            </a:avLst>
          </a:prstGeom>
          <a:solidFill>
            <a:srgbClr val="FFFFFF"/>
          </a:solidFill>
          <a:ln w="9525">
            <a:solidFill>
              <a:srgbClr val="E2E8F0"/>
            </a:solidFill>
            <a:prstDash val="solid"/>
          </a:ln>
        </p:spPr>
      </p:sp>
      <p:sp>
        <p:nvSpPr>
          <p:cNvPr id="49" name="Text 47"/>
          <p:cNvSpPr txBox="1"/>
          <p:nvPr/>
        </p:nvSpPr>
        <p:spPr>
          <a:xfrm>
            <a:off x="6448425" y="2676525"/>
            <a:ext cx="819150" cy="19050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Cần chú ý</a:t>
            </a:r>
            <a:endParaRPr lang="en-US" sz="600" dirty="0"/>
          </a:p>
        </p:txBody>
      </p:sp>
      <p:sp>
        <p:nvSpPr>
          <p:cNvPr id="50" name="Shape 48"/>
          <p:cNvSpPr/>
          <p:nvPr/>
        </p:nvSpPr>
        <p:spPr>
          <a:xfrm>
            <a:off x="1943100" y="3000375"/>
            <a:ext cx="6305550" cy="1000125"/>
          </a:xfrm>
          <a:prstGeom prst="roundRect">
            <a:avLst>
              <a:gd name="adj" fmla="val 7619"/>
            </a:avLst>
          </a:prstGeom>
          <a:solidFill>
            <a:srgbClr val="FFFFFF"/>
          </a:solidFill>
          <a:ln w="9525">
            <a:solidFill>
              <a:srgbClr val="E2E8F0"/>
            </a:solidFill>
            <a:prstDash val="solid"/>
          </a:ln>
        </p:spPr>
      </p:sp>
      <p:sp>
        <p:nvSpPr>
          <p:cNvPr id="51" name="Shape 49"/>
          <p:cNvSpPr/>
          <p:nvPr/>
        </p:nvSpPr>
        <p:spPr>
          <a:xfrm>
            <a:off x="2057400" y="3190875"/>
            <a:ext cx="342900" cy="342900"/>
          </a:xfrm>
          <a:prstGeom prst="ellipse">
            <a:avLst/>
          </a:prstGeom>
          <a:solidFill>
            <a:srgbClr val="ECFDF5"/>
          </a:solidFill>
          <a:ln/>
        </p:spPr>
      </p:sp>
      <p:sp>
        <p:nvSpPr>
          <p:cNvPr id="52" name="Text 50"/>
          <p:cNvSpPr txBox="1"/>
          <p:nvPr/>
        </p:nvSpPr>
        <p:spPr>
          <a:xfrm>
            <a:off x="2057400" y="3190875"/>
            <a:ext cx="342900" cy="342900"/>
          </a:xfrm>
          <a:prstGeom prst="rect">
            <a:avLst/>
          </a:prstGeom>
          <a:noFill/>
          <a:ln/>
        </p:spPr>
        <p:txBody>
          <a:bodyPr wrap="square" lIns="0" tIns="0" rIns="0" bIns="0" rtlCol="0" anchor="ctr"/>
          <a:lstStyle/>
          <a:p>
            <a:pPr algn="ctr" indent="0" marL="0">
              <a:lnSpc>
                <a:spcPct val="106000"/>
              </a:lnSpc>
              <a:buNone/>
            </a:pPr>
            <a:r>
              <a:rPr lang="en-US" sz="800" b="1" dirty="0">
                <a:solidFill>
                  <a:srgbClr val="047857"/>
                </a:solidFill>
                <a:latin typeface="Segoe UI" pitchFamily="34" charset="0"/>
                <a:ea typeface="Segoe UI" pitchFamily="34" charset="-122"/>
                <a:cs typeface="Segoe UI" pitchFamily="34" charset="-120"/>
              </a:rPr>
              <a:t>MN</a:t>
            </a:r>
            <a:endParaRPr lang="en-US" sz="800" dirty="0"/>
          </a:p>
        </p:txBody>
      </p:sp>
      <p:sp>
        <p:nvSpPr>
          <p:cNvPr id="53" name="Text 51"/>
          <p:cNvSpPr txBox="1"/>
          <p:nvPr/>
        </p:nvSpPr>
        <p:spPr>
          <a:xfrm>
            <a:off x="2514600" y="3133725"/>
            <a:ext cx="247650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Nguyễn Văn Minh</a:t>
            </a:r>
            <a:endParaRPr lang="en-US" sz="920" dirty="0"/>
          </a:p>
        </p:txBody>
      </p:sp>
      <p:sp>
        <p:nvSpPr>
          <p:cNvPr id="54" name="Text 52"/>
          <p:cNvSpPr txBox="1"/>
          <p:nvPr/>
        </p:nvSpPr>
        <p:spPr>
          <a:xfrm>
            <a:off x="2514600" y="3305175"/>
            <a:ext cx="2476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minh@student.edu.vn</a:t>
            </a:r>
            <a:endParaRPr lang="en-US" sz="620" dirty="0"/>
          </a:p>
        </p:txBody>
      </p:sp>
      <p:sp>
        <p:nvSpPr>
          <p:cNvPr id="55" name="Text 53"/>
          <p:cNvSpPr txBox="1"/>
          <p:nvPr/>
        </p:nvSpPr>
        <p:spPr>
          <a:xfrm>
            <a:off x="2514600" y="3495675"/>
            <a:ext cx="314325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Thu 3.000.000 · Chi 1.620.000 · Tiết kiệm 6.500.000</a:t>
            </a:r>
            <a:endParaRPr lang="en-US" sz="640" dirty="0"/>
          </a:p>
        </p:txBody>
      </p:sp>
      <p:sp>
        <p:nvSpPr>
          <p:cNvPr id="56" name="Shape 54"/>
          <p:cNvSpPr/>
          <p:nvPr/>
        </p:nvSpPr>
        <p:spPr>
          <a:xfrm>
            <a:off x="5753100" y="3133725"/>
            <a:ext cx="628650" cy="152400"/>
          </a:xfrm>
          <a:prstGeom prst="roundRect">
            <a:avLst>
              <a:gd name="adj" fmla="val 50000"/>
            </a:avLst>
          </a:prstGeom>
          <a:solidFill>
            <a:srgbClr val="FFFFFF"/>
          </a:solidFill>
          <a:ln w="9525">
            <a:solidFill>
              <a:srgbClr val="E2E8F0"/>
            </a:solidFill>
            <a:prstDash val="solid"/>
          </a:ln>
        </p:spPr>
      </p:sp>
      <p:sp>
        <p:nvSpPr>
          <p:cNvPr id="57" name="Text 55"/>
          <p:cNvSpPr txBox="1"/>
          <p:nvPr/>
        </p:nvSpPr>
        <p:spPr>
          <a:xfrm>
            <a:off x="5781675" y="313372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475569"/>
                </a:solidFill>
                <a:latin typeface="Segoe UI" pitchFamily="34" charset="0"/>
                <a:ea typeface="Segoe UI" pitchFamily="34" charset="-122"/>
                <a:cs typeface="Segoe UI" pitchFamily="34" charset="-120"/>
              </a:rPr>
              <a:t>2 mục tiêu</a:t>
            </a:r>
            <a:endParaRPr lang="en-US" sz="540" dirty="0"/>
          </a:p>
        </p:txBody>
      </p:sp>
      <p:sp>
        <p:nvSpPr>
          <p:cNvPr id="58" name="Shape 56"/>
          <p:cNvSpPr/>
          <p:nvPr/>
        </p:nvSpPr>
        <p:spPr>
          <a:xfrm>
            <a:off x="6438900" y="3133725"/>
            <a:ext cx="628650" cy="152400"/>
          </a:xfrm>
          <a:prstGeom prst="roundRect">
            <a:avLst>
              <a:gd name="adj" fmla="val 50000"/>
            </a:avLst>
          </a:prstGeom>
          <a:solidFill>
            <a:srgbClr val="ECFDF5"/>
          </a:solidFill>
          <a:ln/>
        </p:spPr>
      </p:sp>
      <p:sp>
        <p:nvSpPr>
          <p:cNvPr id="59" name="Text 57"/>
          <p:cNvSpPr txBox="1"/>
          <p:nvPr/>
        </p:nvSpPr>
        <p:spPr>
          <a:xfrm>
            <a:off x="6467475" y="313372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1 chờ duyệt</a:t>
            </a:r>
            <a:endParaRPr lang="en-US" sz="540" dirty="0"/>
          </a:p>
        </p:txBody>
      </p:sp>
      <p:sp>
        <p:nvSpPr>
          <p:cNvPr id="60" name="Shape 58"/>
          <p:cNvSpPr/>
          <p:nvPr/>
        </p:nvSpPr>
        <p:spPr>
          <a:xfrm>
            <a:off x="7315200" y="3381375"/>
            <a:ext cx="819150" cy="228600"/>
          </a:xfrm>
          <a:prstGeom prst="roundRect">
            <a:avLst>
              <a:gd name="adj" fmla="val 20833"/>
            </a:avLst>
          </a:prstGeom>
          <a:solidFill>
            <a:srgbClr val="FFFFFF"/>
          </a:solidFill>
          <a:ln w="9525">
            <a:solidFill>
              <a:srgbClr val="E2E8F0"/>
            </a:solidFill>
            <a:prstDash val="solid"/>
          </a:ln>
        </p:spPr>
      </p:sp>
      <p:sp>
        <p:nvSpPr>
          <p:cNvPr id="61" name="Text 59"/>
          <p:cNvSpPr txBox="1"/>
          <p:nvPr/>
        </p:nvSpPr>
        <p:spPr>
          <a:xfrm>
            <a:off x="7315200" y="3381375"/>
            <a:ext cx="81915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Xem hồ sơ</a:t>
            </a:r>
            <a:endParaRPr lang="en-US" sz="600" dirty="0"/>
          </a:p>
        </p:txBody>
      </p:sp>
      <p:sp>
        <p:nvSpPr>
          <p:cNvPr id="62" name="Shape 60"/>
          <p:cNvSpPr/>
          <p:nvPr/>
        </p:nvSpPr>
        <p:spPr>
          <a:xfrm>
            <a:off x="1943100" y="4095750"/>
            <a:ext cx="6305550" cy="1000125"/>
          </a:xfrm>
          <a:prstGeom prst="roundRect">
            <a:avLst>
              <a:gd name="adj" fmla="val 7619"/>
            </a:avLst>
          </a:prstGeom>
          <a:solidFill>
            <a:srgbClr val="FFFFFF"/>
          </a:solidFill>
          <a:ln w="9525">
            <a:solidFill>
              <a:srgbClr val="E2E8F0"/>
            </a:solidFill>
            <a:prstDash val="solid"/>
          </a:ln>
        </p:spPr>
      </p:sp>
      <p:sp>
        <p:nvSpPr>
          <p:cNvPr id="63" name="Shape 61"/>
          <p:cNvSpPr/>
          <p:nvPr/>
        </p:nvSpPr>
        <p:spPr>
          <a:xfrm>
            <a:off x="2057400" y="4286250"/>
            <a:ext cx="342900" cy="342900"/>
          </a:xfrm>
          <a:prstGeom prst="ellipse">
            <a:avLst/>
          </a:prstGeom>
          <a:solidFill>
            <a:srgbClr val="ECFDF5"/>
          </a:solidFill>
          <a:ln/>
        </p:spPr>
      </p:sp>
      <p:sp>
        <p:nvSpPr>
          <p:cNvPr id="64" name="Text 62"/>
          <p:cNvSpPr txBox="1"/>
          <p:nvPr/>
        </p:nvSpPr>
        <p:spPr>
          <a:xfrm>
            <a:off x="2057400" y="4286250"/>
            <a:ext cx="342900" cy="342900"/>
          </a:xfrm>
          <a:prstGeom prst="rect">
            <a:avLst/>
          </a:prstGeom>
          <a:noFill/>
          <a:ln/>
        </p:spPr>
        <p:txBody>
          <a:bodyPr wrap="square" lIns="0" tIns="0" rIns="0" bIns="0" rtlCol="0" anchor="ctr"/>
          <a:lstStyle/>
          <a:p>
            <a:pPr algn="ctr" indent="0" marL="0">
              <a:lnSpc>
                <a:spcPct val="106000"/>
              </a:lnSpc>
              <a:buNone/>
            </a:pPr>
            <a:r>
              <a:rPr lang="en-US" sz="800" b="1" dirty="0">
                <a:solidFill>
                  <a:srgbClr val="047857"/>
                </a:solidFill>
                <a:latin typeface="Segoe UI" pitchFamily="34" charset="0"/>
                <a:ea typeface="Segoe UI" pitchFamily="34" charset="-122"/>
                <a:cs typeface="Segoe UI" pitchFamily="34" charset="-120"/>
              </a:rPr>
              <a:t>TH</a:t>
            </a:r>
            <a:endParaRPr lang="en-US" sz="800" dirty="0"/>
          </a:p>
        </p:txBody>
      </p:sp>
      <p:sp>
        <p:nvSpPr>
          <p:cNvPr id="65" name="Text 63"/>
          <p:cNvSpPr txBox="1"/>
          <p:nvPr/>
        </p:nvSpPr>
        <p:spPr>
          <a:xfrm>
            <a:off x="2514600" y="4229100"/>
            <a:ext cx="247650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Trần Thu Hà</a:t>
            </a:r>
            <a:endParaRPr lang="en-US" sz="920" dirty="0"/>
          </a:p>
        </p:txBody>
      </p:sp>
      <p:sp>
        <p:nvSpPr>
          <p:cNvPr id="66" name="Text 64"/>
          <p:cNvSpPr txBox="1"/>
          <p:nvPr/>
        </p:nvSpPr>
        <p:spPr>
          <a:xfrm>
            <a:off x="2514600" y="4400550"/>
            <a:ext cx="2476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ha@student.edu.vn</a:t>
            </a:r>
            <a:endParaRPr lang="en-US" sz="620" dirty="0"/>
          </a:p>
        </p:txBody>
      </p:sp>
      <p:sp>
        <p:nvSpPr>
          <p:cNvPr id="67" name="Text 65"/>
          <p:cNvSpPr txBox="1"/>
          <p:nvPr/>
        </p:nvSpPr>
        <p:spPr>
          <a:xfrm>
            <a:off x="2514600" y="4591050"/>
            <a:ext cx="314325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Thu 2.400.000 · Chi 1.150.000 · Tiết kiệm 1.800.000</a:t>
            </a:r>
            <a:endParaRPr lang="en-US" sz="640" dirty="0"/>
          </a:p>
        </p:txBody>
      </p:sp>
      <p:sp>
        <p:nvSpPr>
          <p:cNvPr id="68" name="Shape 66"/>
          <p:cNvSpPr/>
          <p:nvPr/>
        </p:nvSpPr>
        <p:spPr>
          <a:xfrm>
            <a:off x="5753100" y="4229100"/>
            <a:ext cx="628650" cy="152400"/>
          </a:xfrm>
          <a:prstGeom prst="roundRect">
            <a:avLst>
              <a:gd name="adj" fmla="val 50000"/>
            </a:avLst>
          </a:prstGeom>
          <a:solidFill>
            <a:srgbClr val="FFFFFF"/>
          </a:solidFill>
          <a:ln w="9525">
            <a:solidFill>
              <a:srgbClr val="E2E8F0"/>
            </a:solidFill>
            <a:prstDash val="solid"/>
          </a:ln>
        </p:spPr>
      </p:sp>
      <p:sp>
        <p:nvSpPr>
          <p:cNvPr id="69" name="Text 67"/>
          <p:cNvSpPr txBox="1"/>
          <p:nvPr/>
        </p:nvSpPr>
        <p:spPr>
          <a:xfrm>
            <a:off x="5781675" y="4229100"/>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475569"/>
                </a:solidFill>
                <a:latin typeface="Segoe UI" pitchFamily="34" charset="0"/>
                <a:ea typeface="Segoe UI" pitchFamily="34" charset="-122"/>
                <a:cs typeface="Segoe UI" pitchFamily="34" charset="-120"/>
              </a:rPr>
              <a:t>1 mục tiêu</a:t>
            </a:r>
            <a:endParaRPr lang="en-US" sz="540" dirty="0"/>
          </a:p>
        </p:txBody>
      </p:sp>
      <p:sp>
        <p:nvSpPr>
          <p:cNvPr id="70" name="Shape 68"/>
          <p:cNvSpPr/>
          <p:nvPr/>
        </p:nvSpPr>
        <p:spPr>
          <a:xfrm>
            <a:off x="6438900" y="4229100"/>
            <a:ext cx="628650" cy="152400"/>
          </a:xfrm>
          <a:prstGeom prst="roundRect">
            <a:avLst>
              <a:gd name="adj" fmla="val 50000"/>
            </a:avLst>
          </a:prstGeom>
          <a:solidFill>
            <a:srgbClr val="FFFBEB"/>
          </a:solidFill>
          <a:ln/>
        </p:spPr>
      </p:sp>
      <p:sp>
        <p:nvSpPr>
          <p:cNvPr id="71" name="Text 69"/>
          <p:cNvSpPr txBox="1"/>
          <p:nvPr/>
        </p:nvSpPr>
        <p:spPr>
          <a:xfrm>
            <a:off x="6467475" y="4229100"/>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B45309"/>
                </a:solidFill>
                <a:latin typeface="Segoe UI" pitchFamily="34" charset="0"/>
                <a:ea typeface="Segoe UI" pitchFamily="34" charset="-122"/>
                <a:cs typeface="Segoe UI" pitchFamily="34" charset="-120"/>
              </a:rPr>
              <a:t>2 chờ duyệt</a:t>
            </a:r>
            <a:endParaRPr lang="en-US" sz="540" dirty="0"/>
          </a:p>
        </p:txBody>
      </p:sp>
      <p:sp>
        <p:nvSpPr>
          <p:cNvPr id="72" name="Shape 70"/>
          <p:cNvSpPr/>
          <p:nvPr/>
        </p:nvSpPr>
        <p:spPr>
          <a:xfrm>
            <a:off x="7315200" y="4476750"/>
            <a:ext cx="819150" cy="228600"/>
          </a:xfrm>
          <a:prstGeom prst="roundRect">
            <a:avLst>
              <a:gd name="adj" fmla="val 20833"/>
            </a:avLst>
          </a:prstGeom>
          <a:solidFill>
            <a:srgbClr val="FFFFFF"/>
          </a:solidFill>
          <a:ln w="9525">
            <a:solidFill>
              <a:srgbClr val="E2E8F0"/>
            </a:solidFill>
            <a:prstDash val="solid"/>
          </a:ln>
        </p:spPr>
      </p:sp>
      <p:sp>
        <p:nvSpPr>
          <p:cNvPr id="73" name="Text 71"/>
          <p:cNvSpPr txBox="1"/>
          <p:nvPr/>
        </p:nvSpPr>
        <p:spPr>
          <a:xfrm>
            <a:off x="7315200" y="4476750"/>
            <a:ext cx="81915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Xem hồ sơ</a:t>
            </a:r>
            <a:endParaRPr lang="en-US" sz="600" dirty="0"/>
          </a:p>
        </p:txBody>
      </p:sp>
      <p:sp>
        <p:nvSpPr>
          <p:cNvPr id="74" name="Shape 72"/>
          <p:cNvSpPr/>
          <p:nvPr/>
        </p:nvSpPr>
        <p:spPr>
          <a:xfrm>
            <a:off x="1943100" y="5191125"/>
            <a:ext cx="6305550" cy="1000125"/>
          </a:xfrm>
          <a:prstGeom prst="roundRect">
            <a:avLst>
              <a:gd name="adj" fmla="val 7619"/>
            </a:avLst>
          </a:prstGeom>
          <a:solidFill>
            <a:srgbClr val="F8FAFC"/>
          </a:solidFill>
          <a:ln w="9525">
            <a:solidFill>
              <a:srgbClr val="E2E8F0"/>
            </a:solidFill>
            <a:prstDash val="solid"/>
          </a:ln>
        </p:spPr>
      </p:sp>
      <p:sp>
        <p:nvSpPr>
          <p:cNvPr id="75" name="Shape 73"/>
          <p:cNvSpPr/>
          <p:nvPr/>
        </p:nvSpPr>
        <p:spPr>
          <a:xfrm>
            <a:off x="2057400" y="5381625"/>
            <a:ext cx="342900" cy="342900"/>
          </a:xfrm>
          <a:prstGeom prst="ellipse">
            <a:avLst/>
          </a:prstGeom>
          <a:solidFill>
            <a:srgbClr val="F1F5F9"/>
          </a:solidFill>
          <a:ln/>
        </p:spPr>
      </p:sp>
      <p:sp>
        <p:nvSpPr>
          <p:cNvPr id="76" name="Text 74"/>
          <p:cNvSpPr txBox="1"/>
          <p:nvPr/>
        </p:nvSpPr>
        <p:spPr>
          <a:xfrm>
            <a:off x="2057400" y="5381625"/>
            <a:ext cx="342900" cy="342900"/>
          </a:xfrm>
          <a:prstGeom prst="rect">
            <a:avLst/>
          </a:prstGeom>
          <a:noFill/>
          <a:ln/>
        </p:spPr>
        <p:txBody>
          <a:bodyPr wrap="square" lIns="0" tIns="0" rIns="0" bIns="0" rtlCol="0" anchor="ctr"/>
          <a:lstStyle/>
          <a:p>
            <a:pPr algn="ctr" indent="0" marL="0">
              <a:lnSpc>
                <a:spcPct val="106000"/>
              </a:lnSpc>
              <a:buNone/>
            </a:pPr>
            <a:r>
              <a:rPr lang="en-US" sz="800" b="1" dirty="0">
                <a:solidFill>
                  <a:srgbClr val="94A3B8"/>
                </a:solidFill>
                <a:latin typeface="Segoe UI" pitchFamily="34" charset="0"/>
                <a:ea typeface="Segoe UI" pitchFamily="34" charset="-122"/>
                <a:cs typeface="Segoe UI" pitchFamily="34" charset="-120"/>
              </a:rPr>
              <a:t>QB</a:t>
            </a:r>
            <a:endParaRPr lang="en-US" sz="800" dirty="0"/>
          </a:p>
        </p:txBody>
      </p:sp>
      <p:sp>
        <p:nvSpPr>
          <p:cNvPr id="77" name="Text 75"/>
          <p:cNvSpPr txBox="1"/>
          <p:nvPr/>
        </p:nvSpPr>
        <p:spPr>
          <a:xfrm>
            <a:off x="2514600" y="5324475"/>
            <a:ext cx="2476500" cy="152400"/>
          </a:xfrm>
          <a:prstGeom prst="rect">
            <a:avLst/>
          </a:prstGeom>
          <a:noFill/>
          <a:ln/>
        </p:spPr>
        <p:txBody>
          <a:bodyPr wrap="square" lIns="0" tIns="0" rIns="0" bIns="0" rtlCol="0" anchor="t"/>
          <a:lstStyle/>
          <a:p>
            <a:pPr algn="l" indent="0" marL="0">
              <a:lnSpc>
                <a:spcPct val="106000"/>
              </a:lnSpc>
              <a:buNone/>
            </a:pPr>
            <a:r>
              <a:rPr lang="en-US" sz="920" b="1" dirty="0">
                <a:solidFill>
                  <a:srgbClr val="0F172A"/>
                </a:solidFill>
                <a:latin typeface="Segoe UI" pitchFamily="34" charset="0"/>
                <a:ea typeface="Segoe UI" pitchFamily="34" charset="-122"/>
                <a:cs typeface="Segoe UI" pitchFamily="34" charset="-120"/>
              </a:rPr>
              <a:t>Lê Quốc Bảo</a:t>
            </a:r>
            <a:endParaRPr lang="en-US" sz="920" dirty="0"/>
          </a:p>
        </p:txBody>
      </p:sp>
      <p:sp>
        <p:nvSpPr>
          <p:cNvPr id="78" name="Text 76"/>
          <p:cNvSpPr txBox="1"/>
          <p:nvPr/>
        </p:nvSpPr>
        <p:spPr>
          <a:xfrm>
            <a:off x="2514600" y="5495925"/>
            <a:ext cx="2476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bao@student.edu.vn</a:t>
            </a:r>
            <a:endParaRPr lang="en-US" sz="620" dirty="0"/>
          </a:p>
        </p:txBody>
      </p:sp>
      <p:sp>
        <p:nvSpPr>
          <p:cNvPr id="79" name="Text 77"/>
          <p:cNvSpPr txBox="1"/>
          <p:nvPr/>
        </p:nvSpPr>
        <p:spPr>
          <a:xfrm>
            <a:off x="2514600" y="5686425"/>
            <a:ext cx="3143250" cy="228600"/>
          </a:xfrm>
          <a:prstGeom prst="rect">
            <a:avLst/>
          </a:prstGeom>
          <a:noFill/>
          <a:ln/>
        </p:spPr>
        <p:txBody>
          <a:bodyPr wrap="square" lIns="0" tIns="0" rIns="0" bIns="0" rtlCol="0" anchor="t"/>
          <a:lstStyle/>
          <a:p>
            <a:pPr algn="l" indent="0" marL="0">
              <a:lnSpc>
                <a:spcPct val="106000"/>
              </a:lnSpc>
              <a:buNone/>
            </a:pPr>
            <a:r>
              <a:rPr lang="en-US" sz="640" dirty="0">
                <a:solidFill>
                  <a:srgbClr val="DC2626"/>
                </a:solidFill>
                <a:latin typeface="Segoe UI" pitchFamily="34" charset="0"/>
                <a:ea typeface="Segoe UI" pitchFamily="34" charset="-122"/>
                <a:cs typeface="Segoe UI" pitchFamily="34" charset="-120"/>
              </a:rPr>
              <a:t>Tài khoản bị khoá · không thể đăng nhập từ 18/10</a:t>
            </a:r>
            <a:endParaRPr lang="en-US" sz="640" dirty="0"/>
          </a:p>
        </p:txBody>
      </p:sp>
      <p:sp>
        <p:nvSpPr>
          <p:cNvPr id="80" name="Shape 78"/>
          <p:cNvSpPr/>
          <p:nvPr/>
        </p:nvSpPr>
        <p:spPr>
          <a:xfrm>
            <a:off x="5753100" y="5324475"/>
            <a:ext cx="628650" cy="152400"/>
          </a:xfrm>
          <a:prstGeom prst="roundRect">
            <a:avLst>
              <a:gd name="adj" fmla="val 50000"/>
            </a:avLst>
          </a:prstGeom>
          <a:solidFill>
            <a:srgbClr val="FFFFFF"/>
          </a:solidFill>
          <a:ln w="9525">
            <a:solidFill>
              <a:srgbClr val="E2E8F0"/>
            </a:solidFill>
            <a:prstDash val="solid"/>
          </a:ln>
        </p:spPr>
      </p:sp>
      <p:sp>
        <p:nvSpPr>
          <p:cNvPr id="81" name="Text 79"/>
          <p:cNvSpPr txBox="1"/>
          <p:nvPr/>
        </p:nvSpPr>
        <p:spPr>
          <a:xfrm>
            <a:off x="5781675" y="532447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475569"/>
                </a:solidFill>
                <a:latin typeface="Segoe UI" pitchFamily="34" charset="0"/>
                <a:ea typeface="Segoe UI" pitchFamily="34" charset="-122"/>
                <a:cs typeface="Segoe UI" pitchFamily="34" charset="-120"/>
              </a:rPr>
              <a:t>0 mục tiêu</a:t>
            </a:r>
            <a:endParaRPr lang="en-US" sz="540" dirty="0"/>
          </a:p>
        </p:txBody>
      </p:sp>
      <p:sp>
        <p:nvSpPr>
          <p:cNvPr id="82" name="Shape 80"/>
          <p:cNvSpPr/>
          <p:nvPr/>
        </p:nvSpPr>
        <p:spPr>
          <a:xfrm>
            <a:off x="6438900" y="5324475"/>
            <a:ext cx="628650" cy="152400"/>
          </a:xfrm>
          <a:prstGeom prst="roundRect">
            <a:avLst>
              <a:gd name="adj" fmla="val 50000"/>
            </a:avLst>
          </a:prstGeom>
          <a:solidFill>
            <a:srgbClr val="FEF2F2"/>
          </a:solidFill>
          <a:ln/>
        </p:spPr>
      </p:sp>
      <p:sp>
        <p:nvSpPr>
          <p:cNvPr id="83" name="Text 81"/>
          <p:cNvSpPr txBox="1"/>
          <p:nvPr/>
        </p:nvSpPr>
        <p:spPr>
          <a:xfrm>
            <a:off x="6467475" y="532447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DC2626"/>
                </a:solidFill>
                <a:latin typeface="Segoe UI" pitchFamily="34" charset="0"/>
                <a:ea typeface="Segoe UI" pitchFamily="34" charset="-122"/>
                <a:cs typeface="Segoe UI" pitchFamily="34" charset="-120"/>
              </a:rPr>
              <a:t>Cần hỗ trợ</a:t>
            </a:r>
            <a:endParaRPr lang="en-US" sz="540" dirty="0"/>
          </a:p>
        </p:txBody>
      </p:sp>
      <p:sp>
        <p:nvSpPr>
          <p:cNvPr id="84" name="Shape 82"/>
          <p:cNvSpPr/>
          <p:nvPr/>
        </p:nvSpPr>
        <p:spPr>
          <a:xfrm>
            <a:off x="7315200" y="5572125"/>
            <a:ext cx="819150" cy="228600"/>
          </a:xfrm>
          <a:prstGeom prst="roundRect">
            <a:avLst>
              <a:gd name="adj" fmla="val 20833"/>
            </a:avLst>
          </a:prstGeom>
          <a:solidFill>
            <a:srgbClr val="FFFFFF"/>
          </a:solidFill>
          <a:ln w="9525">
            <a:solidFill>
              <a:srgbClr val="E2E8F0"/>
            </a:solidFill>
            <a:prstDash val="solid"/>
          </a:ln>
        </p:spPr>
      </p:sp>
      <p:sp>
        <p:nvSpPr>
          <p:cNvPr id="85" name="Text 83"/>
          <p:cNvSpPr txBox="1"/>
          <p:nvPr/>
        </p:nvSpPr>
        <p:spPr>
          <a:xfrm>
            <a:off x="7315200" y="5572125"/>
            <a:ext cx="81915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94A3B8"/>
                </a:solidFill>
                <a:latin typeface="Segoe UI" pitchFamily="34" charset="0"/>
                <a:ea typeface="Segoe UI" pitchFamily="34" charset="-122"/>
                <a:cs typeface="Segoe UI" pitchFamily="34" charset="-120"/>
              </a:rPr>
              <a:t>Xem hồ sơ</a:t>
            </a:r>
            <a:endParaRPr lang="en-US" sz="600" dirty="0"/>
          </a:p>
        </p:txBody>
      </p:sp>
      <p:sp>
        <p:nvSpPr>
          <p:cNvPr id="86" name="Text 84"/>
          <p:cNvSpPr txBox="1"/>
          <p:nvPr/>
        </p:nvSpPr>
        <p:spPr>
          <a:xfrm>
            <a:off x="1943100" y="6305550"/>
            <a:ext cx="6305550" cy="2286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Dữ liệu chỉ đọc; coach không sửa giao dịch của học viên. Tài khoản bị khoá được đánh dấu đỏ để coach ưu tiên hỗ trợ.</a:t>
            </a:r>
            <a:endParaRPr lang="en-US" sz="720" dirty="0"/>
          </a:p>
        </p:txBody>
      </p:sp>
      <p:sp>
        <p:nvSpPr>
          <p:cNvPr id="87" name="Shape 85"/>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88" name="Text 86"/>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18 / 27</a:t>
            </a:r>
            <a:endParaRPr lang="en-US" sz="740" dirty="0"/>
          </a:p>
        </p:txBody>
      </p:sp>
      <p:sp>
        <p:nvSpPr>
          <p:cNvPr id="89" name="Text 87"/>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Danh sách học viên</a:t>
            </a:r>
            <a:endParaRPr lang="en-US" sz="1700" dirty="0"/>
          </a:p>
        </p:txBody>
      </p:sp>
      <p:sp>
        <p:nvSpPr>
          <p:cNvPr id="90" name="Text 88"/>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pages/coach-client-list.html</a:t>
            </a:r>
            <a:endParaRPr lang="en-US" sz="720" dirty="0"/>
          </a:p>
        </p:txBody>
      </p:sp>
      <p:sp>
        <p:nvSpPr>
          <p:cNvPr id="91" name="Shape 89"/>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92" name="Text 90"/>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93" name="Text 91"/>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Coach xem danh sách học viên, tín hiệu cần chú ý và lối vào hồ sơ hoặc ngân sách chờ duyệt.</a:t>
            </a:r>
            <a:endParaRPr lang="en-US" sz="920" dirty="0"/>
          </a:p>
        </p:txBody>
      </p:sp>
      <p:sp>
        <p:nvSpPr>
          <p:cNvPr id="94" name="Text 92"/>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95" name="Shape 93"/>
          <p:cNvSpPr/>
          <p:nvPr/>
        </p:nvSpPr>
        <p:spPr>
          <a:xfrm>
            <a:off x="8839200" y="3238500"/>
            <a:ext cx="209550" cy="190500"/>
          </a:xfrm>
          <a:prstGeom prst="roundRect">
            <a:avLst>
              <a:gd name="adj" fmla="val 25000"/>
            </a:avLst>
          </a:prstGeom>
          <a:solidFill>
            <a:srgbClr val="F1F5F9"/>
          </a:solidFill>
          <a:ln/>
        </p:spPr>
      </p:sp>
      <p:sp>
        <p:nvSpPr>
          <p:cNvPr id="96" name="Text 94"/>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97" name="Shape 95"/>
          <p:cNvSpPr/>
          <p:nvPr/>
        </p:nvSpPr>
        <p:spPr>
          <a:xfrm>
            <a:off x="9086850" y="3238500"/>
            <a:ext cx="209550" cy="190500"/>
          </a:xfrm>
          <a:prstGeom prst="roundRect">
            <a:avLst>
              <a:gd name="adj" fmla="val 25000"/>
            </a:avLst>
          </a:prstGeom>
          <a:solidFill>
            <a:srgbClr val="059669"/>
          </a:solidFill>
          <a:ln/>
        </p:spPr>
      </p:sp>
      <p:sp>
        <p:nvSpPr>
          <p:cNvPr id="98" name="Text 96"/>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99" name="Shape 97"/>
          <p:cNvSpPr/>
          <p:nvPr/>
        </p:nvSpPr>
        <p:spPr>
          <a:xfrm>
            <a:off x="9334500" y="3238500"/>
            <a:ext cx="209550" cy="190500"/>
          </a:xfrm>
          <a:prstGeom prst="roundRect">
            <a:avLst>
              <a:gd name="adj" fmla="val 25000"/>
            </a:avLst>
          </a:prstGeom>
          <a:solidFill>
            <a:srgbClr val="F1F5F9"/>
          </a:solidFill>
          <a:ln/>
        </p:spPr>
      </p:sp>
      <p:sp>
        <p:nvSpPr>
          <p:cNvPr id="100" name="Text 98"/>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101" name="Shape 99"/>
          <p:cNvSpPr/>
          <p:nvPr/>
        </p:nvSpPr>
        <p:spPr>
          <a:xfrm>
            <a:off x="9582150" y="3238500"/>
            <a:ext cx="209550" cy="190500"/>
          </a:xfrm>
          <a:prstGeom prst="roundRect">
            <a:avLst>
              <a:gd name="adj" fmla="val 25000"/>
            </a:avLst>
          </a:prstGeom>
          <a:solidFill>
            <a:srgbClr val="F1F5F9"/>
          </a:solidFill>
          <a:ln/>
        </p:spPr>
      </p:sp>
      <p:sp>
        <p:nvSpPr>
          <p:cNvPr id="102" name="Text 100"/>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103" name="Text 101"/>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Đang tải · rỗng · học viên bị khoá · lỗi tải.</a:t>
            </a:r>
            <a:endParaRPr lang="en-US" sz="900" dirty="0"/>
          </a:p>
        </p:txBody>
      </p:sp>
      <p:sp>
        <p:nvSpPr>
          <p:cNvPr id="104" name="Text 102"/>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05" name="Text 103"/>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Tìm kiếm; lọc có ngân sách chờ / cần chú ý; mở hồ sơ; breadcrumb.</a:t>
            </a:r>
            <a:endParaRPr lang="en-US" sz="900" dirty="0"/>
          </a:p>
        </p:txBody>
      </p:sp>
      <p:sp>
        <p:nvSpPr>
          <p:cNvPr id="106" name="Text 104"/>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07" name="Text 105"/>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Chỉ đọc dữ liệu tổng hợp; không hiển thị ghi chú riêng tư của học viên khác.</a:t>
            </a:r>
            <a:endParaRPr lang="en-US" sz="900" dirty="0"/>
          </a:p>
        </p:txBody>
      </p:sp>
      <p:sp>
        <p:nvSpPr>
          <p:cNvPr id="108" name="Shape 106"/>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09" name="Text 107"/>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SV2-01-clients</a:t>
            </a:r>
            <a:endParaRPr lang="en-US" sz="840" dirty="0"/>
          </a:p>
        </p:txBody>
      </p:sp>
      <p:sp>
        <p:nvSpPr>
          <p:cNvPr id="110" name="Text 108"/>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HUẤN LUYỆN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19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Duyệt ngân sách học viên</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pages/coach-budget-review.html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spendwise.app/pages/coach-budget-review.html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Huấn luyện viên</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Học viên</a:t>
            </a:r>
            <a:endParaRPr lang="en-US" sz="820" dirty="0"/>
          </a:p>
        </p:txBody>
      </p:sp>
      <p:sp>
        <p:nvSpPr>
          <p:cNvPr id="22" name="Shape 20"/>
          <p:cNvSpPr/>
          <p:nvPr/>
        </p:nvSpPr>
        <p:spPr>
          <a:xfrm>
            <a:off x="495300" y="2343150"/>
            <a:ext cx="1181100" cy="209550"/>
          </a:xfrm>
          <a:prstGeom prst="roundRect">
            <a:avLst>
              <a:gd name="adj" fmla="val 27273"/>
            </a:avLst>
          </a:prstGeom>
          <a:solidFill>
            <a:srgbClr val="ECFDF5"/>
          </a:solidFill>
          <a:ln/>
        </p:spPr>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Duyệt ngân sách</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Tài nguyên</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Duyệt ngân sách học viên</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Phạm Thị Lan</a:t>
            </a:r>
            <a:endParaRPr lang="en-US" sz="700" dirty="0"/>
          </a:p>
        </p:txBody>
      </p:sp>
      <p:sp>
        <p:nvSpPr>
          <p:cNvPr id="33" name="Shape 31"/>
          <p:cNvSpPr/>
          <p:nvPr/>
        </p:nvSpPr>
        <p:spPr>
          <a:xfrm>
            <a:off x="1943100" y="1952625"/>
            <a:ext cx="838200" cy="228600"/>
          </a:xfrm>
          <a:prstGeom prst="roundRect">
            <a:avLst>
              <a:gd name="adj" fmla="val 50000"/>
            </a:avLst>
          </a:prstGeom>
          <a:solidFill>
            <a:srgbClr val="ECFDF5"/>
          </a:solidFill>
          <a:ln/>
        </p:spPr>
      </p:sp>
      <p:sp>
        <p:nvSpPr>
          <p:cNvPr id="34" name="Text 32"/>
          <p:cNvSpPr txBox="1"/>
          <p:nvPr/>
        </p:nvSpPr>
        <p:spPr>
          <a:xfrm>
            <a:off x="1971675" y="1952625"/>
            <a:ext cx="781050" cy="228600"/>
          </a:xfrm>
          <a:prstGeom prst="rect">
            <a:avLst/>
          </a:prstGeom>
          <a:noFill/>
          <a:ln/>
        </p:spPr>
        <p:txBody>
          <a:bodyPr wrap="square" lIns="0" tIns="0" rIns="0" bIns="0" rtlCol="0" anchor="ctr"/>
          <a:lstStyle/>
          <a:p>
            <a:pPr algn="ctr" indent="0" marL="0">
              <a:lnSpc>
                <a:spcPct val="106000"/>
              </a:lnSpc>
              <a:buNone/>
            </a:pPr>
            <a:r>
              <a:rPr lang="en-US" sz="660" b="1" dirty="0">
                <a:solidFill>
                  <a:srgbClr val="047857"/>
                </a:solidFill>
                <a:latin typeface="Segoe UI" pitchFamily="34" charset="0"/>
                <a:ea typeface="Segoe UI" pitchFamily="34" charset="-122"/>
                <a:cs typeface="Segoe UI" pitchFamily="34" charset="-120"/>
              </a:rPr>
              <a:t>Chờ duyệt 2</a:t>
            </a:r>
            <a:endParaRPr lang="en-US" sz="660" dirty="0"/>
          </a:p>
        </p:txBody>
      </p:sp>
      <p:sp>
        <p:nvSpPr>
          <p:cNvPr id="35" name="Shape 33"/>
          <p:cNvSpPr/>
          <p:nvPr/>
        </p:nvSpPr>
        <p:spPr>
          <a:xfrm>
            <a:off x="2857500" y="1952625"/>
            <a:ext cx="1047750" cy="228600"/>
          </a:xfrm>
          <a:prstGeom prst="roundRect">
            <a:avLst>
              <a:gd name="adj" fmla="val 50000"/>
            </a:avLst>
          </a:prstGeom>
          <a:solidFill>
            <a:srgbClr val="FFFBEB"/>
          </a:solidFill>
          <a:ln/>
        </p:spPr>
      </p:sp>
      <p:sp>
        <p:nvSpPr>
          <p:cNvPr id="36" name="Text 34"/>
          <p:cNvSpPr txBox="1"/>
          <p:nvPr/>
        </p:nvSpPr>
        <p:spPr>
          <a:xfrm>
            <a:off x="2886075" y="1952625"/>
            <a:ext cx="990600" cy="228600"/>
          </a:xfrm>
          <a:prstGeom prst="rect">
            <a:avLst/>
          </a:prstGeom>
          <a:noFill/>
          <a:ln/>
        </p:spPr>
        <p:txBody>
          <a:bodyPr wrap="square" lIns="0" tIns="0" rIns="0" bIns="0" rtlCol="0" anchor="ctr"/>
          <a:lstStyle/>
          <a:p>
            <a:pPr algn="ctr" indent="0" marL="0">
              <a:lnSpc>
                <a:spcPct val="106000"/>
              </a:lnSpc>
              <a:buNone/>
            </a:pPr>
            <a:r>
              <a:rPr lang="en-US" sz="660" b="1" dirty="0">
                <a:solidFill>
                  <a:srgbClr val="B45309"/>
                </a:solidFill>
                <a:latin typeface="Segoe UI" pitchFamily="34" charset="0"/>
                <a:ea typeface="Segoe UI" pitchFamily="34" charset="-122"/>
                <a:cs typeface="Segoe UI" pitchFamily="34" charset="-120"/>
              </a:rPr>
              <a:t>Cần chỉnh sửa 1</a:t>
            </a:r>
            <a:endParaRPr lang="en-US" sz="660" dirty="0"/>
          </a:p>
        </p:txBody>
      </p:sp>
      <p:sp>
        <p:nvSpPr>
          <p:cNvPr id="37" name="Shape 35"/>
          <p:cNvSpPr/>
          <p:nvPr/>
        </p:nvSpPr>
        <p:spPr>
          <a:xfrm>
            <a:off x="3981450" y="1952625"/>
            <a:ext cx="876300" cy="228600"/>
          </a:xfrm>
          <a:prstGeom prst="roundRect">
            <a:avLst>
              <a:gd name="adj" fmla="val 50000"/>
            </a:avLst>
          </a:prstGeom>
          <a:solidFill>
            <a:srgbClr val="F1F5F9"/>
          </a:solidFill>
          <a:ln/>
        </p:spPr>
      </p:sp>
      <p:sp>
        <p:nvSpPr>
          <p:cNvPr id="38" name="Text 36"/>
          <p:cNvSpPr txBox="1"/>
          <p:nvPr/>
        </p:nvSpPr>
        <p:spPr>
          <a:xfrm>
            <a:off x="4010025" y="1952625"/>
            <a:ext cx="819150" cy="228600"/>
          </a:xfrm>
          <a:prstGeom prst="rect">
            <a:avLst/>
          </a:prstGeom>
          <a:noFill/>
          <a:ln/>
        </p:spPr>
        <p:txBody>
          <a:bodyPr wrap="square" lIns="0" tIns="0" rIns="0" bIns="0" rtlCol="0" anchor="ctr"/>
          <a:lstStyle/>
          <a:p>
            <a:pPr algn="ctr" indent="0" marL="0">
              <a:lnSpc>
                <a:spcPct val="106000"/>
              </a:lnSpc>
              <a:buNone/>
            </a:pPr>
            <a:r>
              <a:rPr lang="en-US" sz="660" b="1" dirty="0">
                <a:solidFill>
                  <a:srgbClr val="64748B"/>
                </a:solidFill>
                <a:latin typeface="Segoe UI" pitchFamily="34" charset="0"/>
                <a:ea typeface="Segoe UI" pitchFamily="34" charset="-122"/>
                <a:cs typeface="Segoe UI" pitchFamily="34" charset="-120"/>
              </a:rPr>
              <a:t>Đã duyệt 1</a:t>
            </a:r>
            <a:endParaRPr lang="en-US" sz="660" dirty="0"/>
          </a:p>
        </p:txBody>
      </p:sp>
      <p:sp>
        <p:nvSpPr>
          <p:cNvPr id="39" name="Text 37"/>
          <p:cNvSpPr txBox="1"/>
          <p:nvPr/>
        </p:nvSpPr>
        <p:spPr>
          <a:xfrm>
            <a:off x="7391400" y="2000250"/>
            <a:ext cx="857250" cy="133350"/>
          </a:xfrm>
          <a:prstGeom prst="rect">
            <a:avLst/>
          </a:prstGeom>
          <a:noFill/>
          <a:ln/>
        </p:spPr>
        <p:txBody>
          <a:bodyPr wrap="square" lIns="0" tIns="0" rIns="0" bIns="0" rtlCol="0" anchor="t"/>
          <a:lstStyle/>
          <a:p>
            <a:pPr algn="r" indent="0" marL="0">
              <a:lnSpc>
                <a:spcPct val="106000"/>
              </a:lnSpc>
              <a:buNone/>
            </a:pPr>
            <a:r>
              <a:rPr lang="en-US" sz="660" dirty="0">
                <a:solidFill>
                  <a:srgbClr val="475569"/>
                </a:solidFill>
                <a:latin typeface="Segoe UI" pitchFamily="34" charset="0"/>
                <a:ea typeface="Segoe UI" pitchFamily="34" charset="-122"/>
                <a:cs typeface="Segoe UI" pitchFamily="34" charset="-120"/>
              </a:rPr>
              <a:t>Tháng 10/2026</a:t>
            </a:r>
            <a:endParaRPr lang="en-US" sz="660" dirty="0"/>
          </a:p>
        </p:txBody>
      </p:sp>
      <p:sp>
        <p:nvSpPr>
          <p:cNvPr id="40" name="Shape 38"/>
          <p:cNvSpPr/>
          <p:nvPr/>
        </p:nvSpPr>
        <p:spPr>
          <a:xfrm>
            <a:off x="1943100" y="2333625"/>
            <a:ext cx="4114800" cy="1476375"/>
          </a:xfrm>
          <a:prstGeom prst="roundRect">
            <a:avLst>
              <a:gd name="adj" fmla="val 5161"/>
            </a:avLst>
          </a:prstGeom>
          <a:solidFill>
            <a:srgbClr val="FFFFFF"/>
          </a:solidFill>
          <a:ln w="9525">
            <a:solidFill>
              <a:srgbClr val="E2E8F0"/>
            </a:solidFill>
            <a:prstDash val="solid"/>
          </a:ln>
        </p:spPr>
      </p:sp>
      <p:sp>
        <p:nvSpPr>
          <p:cNvPr id="41" name="Text 39"/>
          <p:cNvSpPr txBox="1"/>
          <p:nvPr/>
        </p:nvSpPr>
        <p:spPr>
          <a:xfrm>
            <a:off x="2076450" y="2466975"/>
            <a:ext cx="285750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Nguyễn Văn Minh · Ăn uống</a:t>
            </a:r>
            <a:endParaRPr lang="en-US" sz="900" dirty="0"/>
          </a:p>
        </p:txBody>
      </p:sp>
      <p:sp>
        <p:nvSpPr>
          <p:cNvPr id="42" name="Text 40"/>
          <p:cNvSpPr txBox="1"/>
          <p:nvPr/>
        </p:nvSpPr>
        <p:spPr>
          <a:xfrm>
            <a:off x="2076450" y="2638425"/>
            <a:ext cx="2476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Hạn mức tháng 10 · gửi 2 giờ trước</a:t>
            </a:r>
            <a:endParaRPr lang="en-US" sz="620" dirty="0"/>
          </a:p>
        </p:txBody>
      </p:sp>
      <p:sp>
        <p:nvSpPr>
          <p:cNvPr id="43" name="Text 41"/>
          <p:cNvSpPr txBox="1"/>
          <p:nvPr/>
        </p:nvSpPr>
        <p:spPr>
          <a:xfrm>
            <a:off x="2076450" y="2847975"/>
            <a:ext cx="1905000" cy="22860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2.000.000 ₫</a:t>
            </a:r>
            <a:endParaRPr lang="en-US" sz="1300" dirty="0"/>
          </a:p>
        </p:txBody>
      </p:sp>
      <p:sp>
        <p:nvSpPr>
          <p:cNvPr id="44" name="Text 42"/>
          <p:cNvSpPr txBox="1"/>
          <p:nvPr/>
        </p:nvSpPr>
        <p:spPr>
          <a:xfrm>
            <a:off x="2076450" y="3114675"/>
            <a:ext cx="36195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Lý do: tăng do học nhóm và đi chợ tuần.</a:t>
            </a:r>
            <a:endParaRPr lang="en-US" sz="640" dirty="0"/>
          </a:p>
        </p:txBody>
      </p:sp>
      <p:sp>
        <p:nvSpPr>
          <p:cNvPr id="45" name="Shape 43"/>
          <p:cNvSpPr/>
          <p:nvPr/>
        </p:nvSpPr>
        <p:spPr>
          <a:xfrm>
            <a:off x="4972050" y="2466975"/>
            <a:ext cx="666750" cy="152400"/>
          </a:xfrm>
          <a:prstGeom prst="roundRect">
            <a:avLst>
              <a:gd name="adj" fmla="val 50000"/>
            </a:avLst>
          </a:prstGeom>
          <a:solidFill>
            <a:srgbClr val="FFFBEB"/>
          </a:solidFill>
          <a:ln/>
        </p:spPr>
      </p:sp>
      <p:sp>
        <p:nvSpPr>
          <p:cNvPr id="46" name="Text 44"/>
          <p:cNvSpPr txBox="1"/>
          <p:nvPr/>
        </p:nvSpPr>
        <p:spPr>
          <a:xfrm>
            <a:off x="5000625" y="2466975"/>
            <a:ext cx="609600" cy="152400"/>
          </a:xfrm>
          <a:prstGeom prst="rect">
            <a:avLst/>
          </a:prstGeom>
          <a:noFill/>
          <a:ln/>
        </p:spPr>
        <p:txBody>
          <a:bodyPr wrap="square" lIns="0" tIns="0" rIns="0" bIns="0" rtlCol="0" anchor="ctr"/>
          <a:lstStyle/>
          <a:p>
            <a:pPr algn="ctr" indent="0" marL="0">
              <a:lnSpc>
                <a:spcPct val="106000"/>
              </a:lnSpc>
              <a:buNone/>
            </a:pPr>
            <a:r>
              <a:rPr lang="en-US" sz="560" b="1" dirty="0">
                <a:solidFill>
                  <a:srgbClr val="B45309"/>
                </a:solidFill>
                <a:latin typeface="Segoe UI" pitchFamily="34" charset="0"/>
                <a:ea typeface="Segoe UI" pitchFamily="34" charset="-122"/>
                <a:cs typeface="Segoe UI" pitchFamily="34" charset="-120"/>
              </a:rPr>
              <a:t>Chờ duyệt</a:t>
            </a:r>
            <a:endParaRPr lang="en-US" sz="560" dirty="0"/>
          </a:p>
        </p:txBody>
      </p:sp>
      <p:sp>
        <p:nvSpPr>
          <p:cNvPr id="47" name="Shape 45"/>
          <p:cNvSpPr/>
          <p:nvPr/>
        </p:nvSpPr>
        <p:spPr>
          <a:xfrm>
            <a:off x="2076450" y="3400425"/>
            <a:ext cx="666750" cy="247650"/>
          </a:xfrm>
          <a:prstGeom prst="roundRect">
            <a:avLst>
              <a:gd name="adj" fmla="val 19231"/>
            </a:avLst>
          </a:prstGeom>
          <a:solidFill>
            <a:srgbClr val="059669"/>
          </a:solidFill>
          <a:ln/>
        </p:spPr>
      </p:sp>
      <p:sp>
        <p:nvSpPr>
          <p:cNvPr id="48" name="Text 46"/>
          <p:cNvSpPr txBox="1"/>
          <p:nvPr/>
        </p:nvSpPr>
        <p:spPr>
          <a:xfrm>
            <a:off x="2076450" y="3400425"/>
            <a:ext cx="666750" cy="247650"/>
          </a:xfrm>
          <a:prstGeom prst="rect">
            <a:avLst/>
          </a:prstGeom>
          <a:noFill/>
          <a:ln/>
        </p:spPr>
        <p:txBody>
          <a:bodyPr wrap="square" lIns="0" tIns="0" rIns="0" bIns="0" rtlCol="0" anchor="ctr"/>
          <a:lstStyle/>
          <a:p>
            <a:pPr algn="ctr" indent="0" marL="0">
              <a:lnSpc>
                <a:spcPct val="106000"/>
              </a:lnSpc>
              <a:buNone/>
            </a:pPr>
            <a:r>
              <a:rPr lang="en-US" sz="640" b="1" dirty="0">
                <a:solidFill>
                  <a:srgbClr val="FFFFFF"/>
                </a:solidFill>
                <a:latin typeface="Segoe UI" pitchFamily="34" charset="0"/>
                <a:ea typeface="Segoe UI" pitchFamily="34" charset="-122"/>
                <a:cs typeface="Segoe UI" pitchFamily="34" charset="-120"/>
              </a:rPr>
              <a:t>Duyệt</a:t>
            </a:r>
            <a:endParaRPr lang="en-US" sz="640" dirty="0"/>
          </a:p>
        </p:txBody>
      </p:sp>
      <p:sp>
        <p:nvSpPr>
          <p:cNvPr id="49" name="Shape 47"/>
          <p:cNvSpPr/>
          <p:nvPr/>
        </p:nvSpPr>
        <p:spPr>
          <a:xfrm>
            <a:off x="2819400" y="3400425"/>
            <a:ext cx="1200150" cy="247650"/>
          </a:xfrm>
          <a:prstGeom prst="roundRect">
            <a:avLst>
              <a:gd name="adj" fmla="val 19231"/>
            </a:avLst>
          </a:prstGeom>
          <a:solidFill>
            <a:srgbClr val="FFFFFF"/>
          </a:solidFill>
          <a:ln w="9525">
            <a:solidFill>
              <a:srgbClr val="E2E8F0"/>
            </a:solidFill>
            <a:prstDash val="solid"/>
          </a:ln>
        </p:spPr>
      </p:sp>
      <p:sp>
        <p:nvSpPr>
          <p:cNvPr id="50" name="Text 48"/>
          <p:cNvSpPr txBox="1"/>
          <p:nvPr/>
        </p:nvSpPr>
        <p:spPr>
          <a:xfrm>
            <a:off x="2819400" y="3400425"/>
            <a:ext cx="1200150" cy="247650"/>
          </a:xfrm>
          <a:prstGeom prst="rect">
            <a:avLst/>
          </a:prstGeom>
          <a:noFill/>
          <a:ln/>
        </p:spPr>
        <p:txBody>
          <a:bodyPr wrap="square" lIns="0" tIns="0" rIns="0" bIns="0" rtlCol="0" anchor="ctr"/>
          <a:lstStyle/>
          <a:p>
            <a:pPr algn="ctr" indent="0" marL="0">
              <a:lnSpc>
                <a:spcPct val="106000"/>
              </a:lnSpc>
              <a:buNone/>
            </a:pPr>
            <a:r>
              <a:rPr lang="en-US" sz="640" dirty="0">
                <a:solidFill>
                  <a:srgbClr val="475569"/>
                </a:solidFill>
                <a:latin typeface="Segoe UI" pitchFamily="34" charset="0"/>
                <a:ea typeface="Segoe UI" pitchFamily="34" charset="-122"/>
                <a:cs typeface="Segoe UI" pitchFamily="34" charset="-120"/>
              </a:rPr>
              <a:t>Yêu cầu chỉnh sửa</a:t>
            </a:r>
            <a:endParaRPr lang="en-US" sz="640" dirty="0"/>
          </a:p>
        </p:txBody>
      </p:sp>
      <p:sp>
        <p:nvSpPr>
          <p:cNvPr id="51" name="Shape 49"/>
          <p:cNvSpPr/>
          <p:nvPr/>
        </p:nvSpPr>
        <p:spPr>
          <a:xfrm>
            <a:off x="1943100" y="3924300"/>
            <a:ext cx="4114800" cy="1476375"/>
          </a:xfrm>
          <a:prstGeom prst="roundRect">
            <a:avLst>
              <a:gd name="adj" fmla="val 5161"/>
            </a:avLst>
          </a:prstGeom>
          <a:solidFill>
            <a:srgbClr val="FFFFFF"/>
          </a:solidFill>
          <a:ln w="9525">
            <a:solidFill>
              <a:srgbClr val="E2E8F0"/>
            </a:solidFill>
            <a:prstDash val="solid"/>
          </a:ln>
        </p:spPr>
      </p:sp>
      <p:sp>
        <p:nvSpPr>
          <p:cNvPr id="52" name="Text 50"/>
          <p:cNvSpPr txBox="1"/>
          <p:nvPr/>
        </p:nvSpPr>
        <p:spPr>
          <a:xfrm>
            <a:off x="2076450" y="4057650"/>
            <a:ext cx="2857500" cy="152400"/>
          </a:xfrm>
          <a:prstGeom prst="rect">
            <a:avLst/>
          </a:prstGeom>
          <a:noFill/>
          <a:ln/>
        </p:spPr>
        <p:txBody>
          <a:bodyPr wrap="square" lIns="0" tIns="0" rIns="0" bIns="0" rtlCol="0" anchor="t"/>
          <a:lstStyle/>
          <a:p>
            <a:pPr algn="l" indent="0" marL="0">
              <a:lnSpc>
                <a:spcPct val="106000"/>
              </a:lnSpc>
              <a:buNone/>
            </a:pPr>
            <a:r>
              <a:rPr lang="en-US" sz="900" b="1" dirty="0">
                <a:solidFill>
                  <a:srgbClr val="0F172A"/>
                </a:solidFill>
                <a:latin typeface="Segoe UI" pitchFamily="34" charset="0"/>
                <a:ea typeface="Segoe UI" pitchFamily="34" charset="-122"/>
                <a:cs typeface="Segoe UI" pitchFamily="34" charset="-120"/>
              </a:rPr>
              <a:t>Trần Thu Hà · Mua sắm</a:t>
            </a:r>
            <a:endParaRPr lang="en-US" sz="900" dirty="0"/>
          </a:p>
        </p:txBody>
      </p:sp>
      <p:sp>
        <p:nvSpPr>
          <p:cNvPr id="53" name="Text 51"/>
          <p:cNvSpPr txBox="1"/>
          <p:nvPr/>
        </p:nvSpPr>
        <p:spPr>
          <a:xfrm>
            <a:off x="2076450" y="4229100"/>
            <a:ext cx="247650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Hạn mức tháng 10 · gửi 5 giờ trước</a:t>
            </a:r>
            <a:endParaRPr lang="en-US" sz="620" dirty="0"/>
          </a:p>
        </p:txBody>
      </p:sp>
      <p:sp>
        <p:nvSpPr>
          <p:cNvPr id="54" name="Text 52"/>
          <p:cNvSpPr txBox="1"/>
          <p:nvPr/>
        </p:nvSpPr>
        <p:spPr>
          <a:xfrm>
            <a:off x="2076450" y="4438650"/>
            <a:ext cx="1905000" cy="22860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500.000 ₫</a:t>
            </a:r>
            <a:endParaRPr lang="en-US" sz="1300" dirty="0"/>
          </a:p>
        </p:txBody>
      </p:sp>
      <p:sp>
        <p:nvSpPr>
          <p:cNvPr id="55" name="Text 53"/>
          <p:cNvSpPr txBox="1"/>
          <p:nvPr/>
        </p:nvSpPr>
        <p:spPr>
          <a:xfrm>
            <a:off x="2076450" y="4705350"/>
            <a:ext cx="36195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Lý do: mua đồ dùng học tập cho học kỳ mới.</a:t>
            </a:r>
            <a:endParaRPr lang="en-US" sz="640" dirty="0"/>
          </a:p>
        </p:txBody>
      </p:sp>
      <p:sp>
        <p:nvSpPr>
          <p:cNvPr id="56" name="Shape 54"/>
          <p:cNvSpPr/>
          <p:nvPr/>
        </p:nvSpPr>
        <p:spPr>
          <a:xfrm>
            <a:off x="4972050" y="4057650"/>
            <a:ext cx="666750" cy="152400"/>
          </a:xfrm>
          <a:prstGeom prst="roundRect">
            <a:avLst>
              <a:gd name="adj" fmla="val 50000"/>
            </a:avLst>
          </a:prstGeom>
          <a:solidFill>
            <a:srgbClr val="FFFBEB"/>
          </a:solidFill>
          <a:ln/>
        </p:spPr>
      </p:sp>
      <p:sp>
        <p:nvSpPr>
          <p:cNvPr id="57" name="Text 55"/>
          <p:cNvSpPr txBox="1"/>
          <p:nvPr/>
        </p:nvSpPr>
        <p:spPr>
          <a:xfrm>
            <a:off x="5000625" y="4057650"/>
            <a:ext cx="609600" cy="152400"/>
          </a:xfrm>
          <a:prstGeom prst="rect">
            <a:avLst/>
          </a:prstGeom>
          <a:noFill/>
          <a:ln/>
        </p:spPr>
        <p:txBody>
          <a:bodyPr wrap="square" lIns="0" tIns="0" rIns="0" bIns="0" rtlCol="0" anchor="ctr"/>
          <a:lstStyle/>
          <a:p>
            <a:pPr algn="ctr" indent="0" marL="0">
              <a:lnSpc>
                <a:spcPct val="106000"/>
              </a:lnSpc>
              <a:buNone/>
            </a:pPr>
            <a:r>
              <a:rPr lang="en-US" sz="560" b="1" dirty="0">
                <a:solidFill>
                  <a:srgbClr val="B45309"/>
                </a:solidFill>
                <a:latin typeface="Segoe UI" pitchFamily="34" charset="0"/>
                <a:ea typeface="Segoe UI" pitchFamily="34" charset="-122"/>
                <a:cs typeface="Segoe UI" pitchFamily="34" charset="-120"/>
              </a:rPr>
              <a:t>Chờ duyệt</a:t>
            </a:r>
            <a:endParaRPr lang="en-US" sz="560" dirty="0"/>
          </a:p>
        </p:txBody>
      </p:sp>
      <p:sp>
        <p:nvSpPr>
          <p:cNvPr id="58" name="Shape 56"/>
          <p:cNvSpPr/>
          <p:nvPr/>
        </p:nvSpPr>
        <p:spPr>
          <a:xfrm>
            <a:off x="2076450" y="4991100"/>
            <a:ext cx="666750" cy="247650"/>
          </a:xfrm>
          <a:prstGeom prst="roundRect">
            <a:avLst>
              <a:gd name="adj" fmla="val 19231"/>
            </a:avLst>
          </a:prstGeom>
          <a:solidFill>
            <a:srgbClr val="059669"/>
          </a:solidFill>
          <a:ln/>
        </p:spPr>
      </p:sp>
      <p:sp>
        <p:nvSpPr>
          <p:cNvPr id="59" name="Text 57"/>
          <p:cNvSpPr txBox="1"/>
          <p:nvPr/>
        </p:nvSpPr>
        <p:spPr>
          <a:xfrm>
            <a:off x="2076450" y="4991100"/>
            <a:ext cx="666750" cy="247650"/>
          </a:xfrm>
          <a:prstGeom prst="rect">
            <a:avLst/>
          </a:prstGeom>
          <a:noFill/>
          <a:ln/>
        </p:spPr>
        <p:txBody>
          <a:bodyPr wrap="square" lIns="0" tIns="0" rIns="0" bIns="0" rtlCol="0" anchor="ctr"/>
          <a:lstStyle/>
          <a:p>
            <a:pPr algn="ctr" indent="0" marL="0">
              <a:lnSpc>
                <a:spcPct val="106000"/>
              </a:lnSpc>
              <a:buNone/>
            </a:pPr>
            <a:r>
              <a:rPr lang="en-US" sz="640" b="1" dirty="0">
                <a:solidFill>
                  <a:srgbClr val="FFFFFF"/>
                </a:solidFill>
                <a:latin typeface="Segoe UI" pitchFamily="34" charset="0"/>
                <a:ea typeface="Segoe UI" pitchFamily="34" charset="-122"/>
                <a:cs typeface="Segoe UI" pitchFamily="34" charset="-120"/>
              </a:rPr>
              <a:t>Duyệt</a:t>
            </a:r>
            <a:endParaRPr lang="en-US" sz="640" dirty="0"/>
          </a:p>
        </p:txBody>
      </p:sp>
      <p:sp>
        <p:nvSpPr>
          <p:cNvPr id="60" name="Shape 58"/>
          <p:cNvSpPr/>
          <p:nvPr/>
        </p:nvSpPr>
        <p:spPr>
          <a:xfrm>
            <a:off x="2819400" y="4991100"/>
            <a:ext cx="1200150" cy="247650"/>
          </a:xfrm>
          <a:prstGeom prst="roundRect">
            <a:avLst>
              <a:gd name="adj" fmla="val 19231"/>
            </a:avLst>
          </a:prstGeom>
          <a:solidFill>
            <a:srgbClr val="FFFFFF"/>
          </a:solidFill>
          <a:ln w="9525">
            <a:solidFill>
              <a:srgbClr val="E2E8F0"/>
            </a:solidFill>
            <a:prstDash val="solid"/>
          </a:ln>
        </p:spPr>
      </p:sp>
      <p:sp>
        <p:nvSpPr>
          <p:cNvPr id="61" name="Text 59"/>
          <p:cNvSpPr txBox="1"/>
          <p:nvPr/>
        </p:nvSpPr>
        <p:spPr>
          <a:xfrm>
            <a:off x="2819400" y="4991100"/>
            <a:ext cx="1200150" cy="247650"/>
          </a:xfrm>
          <a:prstGeom prst="rect">
            <a:avLst/>
          </a:prstGeom>
          <a:noFill/>
          <a:ln/>
        </p:spPr>
        <p:txBody>
          <a:bodyPr wrap="square" lIns="0" tIns="0" rIns="0" bIns="0" rtlCol="0" anchor="ctr"/>
          <a:lstStyle/>
          <a:p>
            <a:pPr algn="ctr" indent="0" marL="0">
              <a:lnSpc>
                <a:spcPct val="106000"/>
              </a:lnSpc>
              <a:buNone/>
            </a:pPr>
            <a:r>
              <a:rPr lang="en-US" sz="640" dirty="0">
                <a:solidFill>
                  <a:srgbClr val="475569"/>
                </a:solidFill>
                <a:latin typeface="Segoe UI" pitchFamily="34" charset="0"/>
                <a:ea typeface="Segoe UI" pitchFamily="34" charset="-122"/>
                <a:cs typeface="Segoe UI" pitchFamily="34" charset="-120"/>
              </a:rPr>
              <a:t>Yêu cầu chỉnh sửa</a:t>
            </a:r>
            <a:endParaRPr lang="en-US" sz="640" dirty="0"/>
          </a:p>
        </p:txBody>
      </p:sp>
      <p:sp>
        <p:nvSpPr>
          <p:cNvPr id="62" name="Shape 60"/>
          <p:cNvSpPr/>
          <p:nvPr/>
        </p:nvSpPr>
        <p:spPr>
          <a:xfrm>
            <a:off x="6172200" y="2333625"/>
            <a:ext cx="2076450" cy="3762375"/>
          </a:xfrm>
          <a:prstGeom prst="roundRect">
            <a:avLst>
              <a:gd name="adj" fmla="val 3670"/>
            </a:avLst>
          </a:prstGeom>
          <a:solidFill>
            <a:srgbClr val="FFFFFF"/>
          </a:solidFill>
          <a:ln w="9525">
            <a:solidFill>
              <a:srgbClr val="E2E8F0"/>
            </a:solidFill>
            <a:prstDash val="solid"/>
          </a:ln>
        </p:spPr>
      </p:sp>
      <p:sp>
        <p:nvSpPr>
          <p:cNvPr id="63" name="Text 61"/>
          <p:cNvSpPr txBox="1"/>
          <p:nvPr/>
        </p:nvSpPr>
        <p:spPr>
          <a:xfrm>
            <a:off x="6305550" y="2447925"/>
            <a:ext cx="180975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Ghi chú tư vấn</a:t>
            </a:r>
            <a:endParaRPr lang="en-US" sz="860" dirty="0"/>
          </a:p>
        </p:txBody>
      </p:sp>
      <p:sp>
        <p:nvSpPr>
          <p:cNvPr id="64" name="Text 62"/>
          <p:cNvSpPr txBox="1"/>
          <p:nvPr/>
        </p:nvSpPr>
        <p:spPr>
          <a:xfrm>
            <a:off x="6305550" y="2667000"/>
            <a:ext cx="180975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Minh · Ăn uống</a:t>
            </a:r>
            <a:endParaRPr lang="en-US" sz="620" dirty="0"/>
          </a:p>
        </p:txBody>
      </p:sp>
      <p:sp>
        <p:nvSpPr>
          <p:cNvPr id="65" name="Text 63"/>
          <p:cNvSpPr txBox="1"/>
          <p:nvPr/>
        </p:nvSpPr>
        <p:spPr>
          <a:xfrm>
            <a:off x="6305550" y="2790825"/>
            <a:ext cx="1809750" cy="209550"/>
          </a:xfrm>
          <a:prstGeom prst="rect">
            <a:avLst/>
          </a:prstGeom>
          <a:noFill/>
          <a:ln/>
        </p:spPr>
        <p:txBody>
          <a:bodyPr wrap="square" lIns="0" tIns="0" rIns="0" bIns="0" rtlCol="0" anchor="t"/>
          <a:lstStyle/>
          <a:p>
            <a:pPr algn="l" indent="0" marL="0">
              <a:lnSpc>
                <a:spcPct val="106000"/>
              </a:lnSpc>
              <a:buNone/>
            </a:pPr>
            <a:r>
              <a:rPr lang="en-US" sz="580" dirty="0">
                <a:solidFill>
                  <a:srgbClr val="475569"/>
                </a:solidFill>
                <a:latin typeface="Segoe UI" pitchFamily="34" charset="0"/>
                <a:ea typeface="Segoe UI" pitchFamily="34" charset="-122"/>
                <a:cs typeface="Segoe UI" pitchFamily="34" charset="-120"/>
              </a:rPr>
              <a:t>Giảm 2 bữa ăn ngoài mỗi tuần sẽ tiết kiệm khoảng 120.000 ₫.</a:t>
            </a:r>
            <a:endParaRPr lang="en-US" sz="580" dirty="0"/>
          </a:p>
        </p:txBody>
      </p:sp>
      <p:sp>
        <p:nvSpPr>
          <p:cNvPr id="66" name="Text 64"/>
          <p:cNvSpPr txBox="1"/>
          <p:nvPr/>
        </p:nvSpPr>
        <p:spPr>
          <a:xfrm>
            <a:off x="6305550" y="2971800"/>
            <a:ext cx="1809750" cy="95250"/>
          </a:xfrm>
          <a:prstGeom prst="rect">
            <a:avLst/>
          </a:prstGeom>
          <a:noFill/>
          <a:ln/>
        </p:spPr>
        <p:txBody>
          <a:bodyPr wrap="square" lIns="0" tIns="0" rIns="0" bIns="0" rtlCol="0" anchor="t"/>
          <a:lstStyle/>
          <a:p>
            <a:pPr algn="r" indent="0" marL="0">
              <a:lnSpc>
                <a:spcPct val="106000"/>
              </a:lnSpc>
              <a:buNone/>
            </a:pPr>
            <a:r>
              <a:rPr lang="en-US" sz="540" dirty="0">
                <a:solidFill>
                  <a:srgbClr val="94A3B8"/>
                </a:solidFill>
                <a:latin typeface="Segoe UI" pitchFamily="34" charset="0"/>
                <a:ea typeface="Segoe UI" pitchFamily="34" charset="-122"/>
                <a:cs typeface="Segoe UI" pitchFamily="34" charset="-120"/>
              </a:rPr>
              <a:t>18/10</a:t>
            </a:r>
            <a:endParaRPr lang="en-US" sz="540" dirty="0"/>
          </a:p>
        </p:txBody>
      </p:sp>
      <p:sp>
        <p:nvSpPr>
          <p:cNvPr id="67" name="Text 65"/>
          <p:cNvSpPr txBox="1"/>
          <p:nvPr/>
        </p:nvSpPr>
        <p:spPr>
          <a:xfrm>
            <a:off x="6305550" y="3048000"/>
            <a:ext cx="180975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Hà · Mua sắm</a:t>
            </a:r>
            <a:endParaRPr lang="en-US" sz="620" dirty="0"/>
          </a:p>
        </p:txBody>
      </p:sp>
      <p:sp>
        <p:nvSpPr>
          <p:cNvPr id="68" name="Text 66"/>
          <p:cNvSpPr txBox="1"/>
          <p:nvPr/>
        </p:nvSpPr>
        <p:spPr>
          <a:xfrm>
            <a:off x="6305550" y="3171825"/>
            <a:ext cx="1809750" cy="209550"/>
          </a:xfrm>
          <a:prstGeom prst="rect">
            <a:avLst/>
          </a:prstGeom>
          <a:noFill/>
          <a:ln/>
        </p:spPr>
        <p:txBody>
          <a:bodyPr wrap="square" lIns="0" tIns="0" rIns="0" bIns="0" rtlCol="0" anchor="t"/>
          <a:lstStyle/>
          <a:p>
            <a:pPr algn="l" indent="0" marL="0">
              <a:lnSpc>
                <a:spcPct val="106000"/>
              </a:lnSpc>
              <a:buNone/>
            </a:pPr>
            <a:r>
              <a:rPr lang="en-US" sz="580" dirty="0">
                <a:solidFill>
                  <a:srgbClr val="475569"/>
                </a:solidFill>
                <a:latin typeface="Segoe UI" pitchFamily="34" charset="0"/>
                <a:ea typeface="Segoe UI" pitchFamily="34" charset="-122"/>
                <a:cs typeface="Segoe UI" pitchFamily="34" charset="-120"/>
              </a:rPr>
              <a:t>Chờ giải trình thêm trước khi duyệt 500.000 ₫.</a:t>
            </a:r>
            <a:endParaRPr lang="en-US" sz="580" dirty="0"/>
          </a:p>
        </p:txBody>
      </p:sp>
      <p:sp>
        <p:nvSpPr>
          <p:cNvPr id="69" name="Text 67"/>
          <p:cNvSpPr txBox="1"/>
          <p:nvPr/>
        </p:nvSpPr>
        <p:spPr>
          <a:xfrm>
            <a:off x="6305550" y="3352800"/>
            <a:ext cx="1809750" cy="95250"/>
          </a:xfrm>
          <a:prstGeom prst="rect">
            <a:avLst/>
          </a:prstGeom>
          <a:noFill/>
          <a:ln/>
        </p:spPr>
        <p:txBody>
          <a:bodyPr wrap="square" lIns="0" tIns="0" rIns="0" bIns="0" rtlCol="0" anchor="t"/>
          <a:lstStyle/>
          <a:p>
            <a:pPr algn="r" indent="0" marL="0">
              <a:lnSpc>
                <a:spcPct val="106000"/>
              </a:lnSpc>
              <a:buNone/>
            </a:pPr>
            <a:r>
              <a:rPr lang="en-US" sz="540" dirty="0">
                <a:solidFill>
                  <a:srgbClr val="94A3B8"/>
                </a:solidFill>
                <a:latin typeface="Segoe UI" pitchFamily="34" charset="0"/>
                <a:ea typeface="Segoe UI" pitchFamily="34" charset="-122"/>
                <a:cs typeface="Segoe UI" pitchFamily="34" charset="-120"/>
              </a:rPr>
              <a:t>16/10</a:t>
            </a:r>
            <a:endParaRPr lang="en-US" sz="540" dirty="0"/>
          </a:p>
        </p:txBody>
      </p:sp>
      <p:sp>
        <p:nvSpPr>
          <p:cNvPr id="70" name="Text 68"/>
          <p:cNvSpPr txBox="1"/>
          <p:nvPr/>
        </p:nvSpPr>
        <p:spPr>
          <a:xfrm>
            <a:off x="6305550" y="3429000"/>
            <a:ext cx="180975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Bảo · Tài khoản</a:t>
            </a:r>
            <a:endParaRPr lang="en-US" sz="620" dirty="0"/>
          </a:p>
        </p:txBody>
      </p:sp>
      <p:sp>
        <p:nvSpPr>
          <p:cNvPr id="71" name="Text 69"/>
          <p:cNvSpPr txBox="1"/>
          <p:nvPr/>
        </p:nvSpPr>
        <p:spPr>
          <a:xfrm>
            <a:off x="6305550" y="3552825"/>
            <a:ext cx="1809750" cy="209550"/>
          </a:xfrm>
          <a:prstGeom prst="rect">
            <a:avLst/>
          </a:prstGeom>
          <a:noFill/>
          <a:ln/>
        </p:spPr>
        <p:txBody>
          <a:bodyPr wrap="square" lIns="0" tIns="0" rIns="0" bIns="0" rtlCol="0" anchor="t"/>
          <a:lstStyle/>
          <a:p>
            <a:pPr algn="l" indent="0" marL="0">
              <a:lnSpc>
                <a:spcPct val="106000"/>
              </a:lnSpc>
              <a:buNone/>
            </a:pPr>
            <a:r>
              <a:rPr lang="en-US" sz="580" dirty="0">
                <a:solidFill>
                  <a:srgbClr val="475569"/>
                </a:solidFill>
                <a:latin typeface="Segoe UI" pitchFamily="34" charset="0"/>
                <a:ea typeface="Segoe UI" pitchFamily="34" charset="-122"/>
                <a:cs typeface="Segoe UI" pitchFamily="34" charset="-120"/>
              </a:rPr>
              <a:t>Đã nhắc mở khoá và đặt lại mục tiêu.</a:t>
            </a:r>
            <a:endParaRPr lang="en-US" sz="580" dirty="0"/>
          </a:p>
        </p:txBody>
      </p:sp>
      <p:sp>
        <p:nvSpPr>
          <p:cNvPr id="72" name="Text 70"/>
          <p:cNvSpPr txBox="1"/>
          <p:nvPr/>
        </p:nvSpPr>
        <p:spPr>
          <a:xfrm>
            <a:off x="6305550" y="3733800"/>
            <a:ext cx="1809750" cy="95250"/>
          </a:xfrm>
          <a:prstGeom prst="rect">
            <a:avLst/>
          </a:prstGeom>
          <a:noFill/>
          <a:ln/>
        </p:spPr>
        <p:txBody>
          <a:bodyPr wrap="square" lIns="0" tIns="0" rIns="0" bIns="0" rtlCol="0" anchor="t"/>
          <a:lstStyle/>
          <a:p>
            <a:pPr algn="r" indent="0" marL="0">
              <a:lnSpc>
                <a:spcPct val="106000"/>
              </a:lnSpc>
              <a:buNone/>
            </a:pPr>
            <a:r>
              <a:rPr lang="en-US" sz="540" dirty="0">
                <a:solidFill>
                  <a:srgbClr val="94A3B8"/>
                </a:solidFill>
                <a:latin typeface="Segoe UI" pitchFamily="34" charset="0"/>
                <a:ea typeface="Segoe UI" pitchFamily="34" charset="-122"/>
                <a:cs typeface="Segoe UI" pitchFamily="34" charset="-120"/>
              </a:rPr>
              <a:t>15/10</a:t>
            </a:r>
            <a:endParaRPr lang="en-US" sz="540" dirty="0"/>
          </a:p>
        </p:txBody>
      </p:sp>
      <p:sp>
        <p:nvSpPr>
          <p:cNvPr id="73" name="Shape 71"/>
          <p:cNvSpPr/>
          <p:nvPr/>
        </p:nvSpPr>
        <p:spPr>
          <a:xfrm>
            <a:off x="6305550" y="3829050"/>
            <a:ext cx="1809750" cy="9525"/>
          </a:xfrm>
          <a:prstGeom prst="line">
            <a:avLst/>
          </a:prstGeom>
          <a:solidFill>
            <a:srgbClr val="FFFFFF">
              <a:alpha val="0"/>
            </a:srgbClr>
          </a:solidFill>
          <a:ln w="9525">
            <a:solidFill>
              <a:srgbClr val="E2E8F0"/>
            </a:solidFill>
            <a:prstDash val="solid"/>
          </a:ln>
        </p:spPr>
      </p:sp>
      <p:sp>
        <p:nvSpPr>
          <p:cNvPr id="74" name="Text 72"/>
          <p:cNvSpPr txBox="1"/>
          <p:nvPr/>
        </p:nvSpPr>
        <p:spPr>
          <a:xfrm>
            <a:off x="6305550" y="3943350"/>
            <a:ext cx="1809750" cy="133350"/>
          </a:xfrm>
          <a:prstGeom prst="rect">
            <a:avLst/>
          </a:prstGeom>
          <a:noFill/>
          <a:ln/>
        </p:spPr>
        <p:txBody>
          <a:bodyPr wrap="square" lIns="0" tIns="0" rIns="0" bIns="0" rtlCol="0" anchor="t"/>
          <a:lstStyle/>
          <a:p>
            <a:pPr algn="l" indent="0" marL="0">
              <a:lnSpc>
                <a:spcPct val="106000"/>
              </a:lnSpc>
              <a:buNone/>
            </a:pPr>
            <a:r>
              <a:rPr lang="en-US" sz="760" b="1" dirty="0">
                <a:solidFill>
                  <a:srgbClr val="0F172A"/>
                </a:solidFill>
                <a:latin typeface="Segoe UI" pitchFamily="34" charset="0"/>
                <a:ea typeface="Segoe UI" pitchFamily="34" charset="-122"/>
                <a:cs typeface="Segoe UI" pitchFamily="34" charset="-120"/>
              </a:rPr>
              <a:t>Gửi yêu cầu chỉnh sửa</a:t>
            </a:r>
            <a:endParaRPr lang="en-US" sz="760" dirty="0"/>
          </a:p>
        </p:txBody>
      </p:sp>
      <p:sp>
        <p:nvSpPr>
          <p:cNvPr id="75" name="Shape 73"/>
          <p:cNvSpPr/>
          <p:nvPr/>
        </p:nvSpPr>
        <p:spPr>
          <a:xfrm>
            <a:off x="6305550" y="4114800"/>
            <a:ext cx="1809750" cy="742950"/>
          </a:xfrm>
          <a:prstGeom prst="roundRect">
            <a:avLst>
              <a:gd name="adj" fmla="val 7692"/>
            </a:avLst>
          </a:prstGeom>
          <a:solidFill>
            <a:srgbClr val="FFFFFF"/>
          </a:solidFill>
          <a:ln w="9525">
            <a:solidFill>
              <a:srgbClr val="E2E8F0"/>
            </a:solidFill>
            <a:prstDash val="solid"/>
          </a:ln>
        </p:spPr>
      </p:sp>
      <p:sp>
        <p:nvSpPr>
          <p:cNvPr id="76" name="Text 74"/>
          <p:cNvSpPr txBox="1"/>
          <p:nvPr/>
        </p:nvSpPr>
        <p:spPr>
          <a:xfrm>
            <a:off x="6400800" y="4191000"/>
            <a:ext cx="1619250" cy="5334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VD: Giải trí 300k hơi cao so với thu nhập, đề xuất giảm còn 200k...</a:t>
            </a:r>
            <a:endParaRPr lang="en-US" sz="620" dirty="0"/>
          </a:p>
        </p:txBody>
      </p:sp>
      <p:sp>
        <p:nvSpPr>
          <p:cNvPr id="77" name="Text 75"/>
          <p:cNvSpPr txBox="1"/>
          <p:nvPr/>
        </p:nvSpPr>
        <p:spPr>
          <a:xfrm>
            <a:off x="7734300" y="4895850"/>
            <a:ext cx="381000" cy="95250"/>
          </a:xfrm>
          <a:prstGeom prst="rect">
            <a:avLst/>
          </a:prstGeom>
          <a:noFill/>
          <a:ln/>
        </p:spPr>
        <p:txBody>
          <a:bodyPr wrap="square" lIns="0" tIns="0" rIns="0" bIns="0" rtlCol="0" anchor="t"/>
          <a:lstStyle/>
          <a:p>
            <a:pPr algn="r" indent="0" marL="0">
              <a:lnSpc>
                <a:spcPct val="106000"/>
              </a:lnSpc>
              <a:buNone/>
            </a:pPr>
            <a:r>
              <a:rPr lang="en-US" sz="540" dirty="0">
                <a:solidFill>
                  <a:srgbClr val="94A3B8"/>
                </a:solidFill>
                <a:latin typeface="Segoe UI" pitchFamily="34" charset="0"/>
                <a:ea typeface="Segoe UI" pitchFamily="34" charset="-122"/>
                <a:cs typeface="Segoe UI" pitchFamily="34" charset="-120"/>
              </a:rPr>
              <a:t>0 / 200</a:t>
            </a:r>
            <a:endParaRPr lang="en-US" sz="540" dirty="0"/>
          </a:p>
        </p:txBody>
      </p:sp>
      <p:sp>
        <p:nvSpPr>
          <p:cNvPr id="78" name="Shape 76"/>
          <p:cNvSpPr/>
          <p:nvPr/>
        </p:nvSpPr>
        <p:spPr>
          <a:xfrm>
            <a:off x="6305550" y="5048250"/>
            <a:ext cx="1809750" cy="266700"/>
          </a:xfrm>
          <a:prstGeom prst="roundRect">
            <a:avLst>
              <a:gd name="adj" fmla="val 17857"/>
            </a:avLst>
          </a:prstGeom>
          <a:solidFill>
            <a:srgbClr val="059669"/>
          </a:solidFill>
          <a:ln/>
        </p:spPr>
      </p:sp>
      <p:sp>
        <p:nvSpPr>
          <p:cNvPr id="79" name="Text 77"/>
          <p:cNvSpPr txBox="1"/>
          <p:nvPr/>
        </p:nvSpPr>
        <p:spPr>
          <a:xfrm>
            <a:off x="6305550" y="5048250"/>
            <a:ext cx="1809750" cy="266700"/>
          </a:xfrm>
          <a:prstGeom prst="rect">
            <a:avLst/>
          </a:prstGeom>
          <a:noFill/>
          <a:ln/>
        </p:spPr>
        <p:txBody>
          <a:bodyPr wrap="square" lIns="0" tIns="0" rIns="0" bIns="0" rtlCol="0" anchor="ctr"/>
          <a:lstStyle/>
          <a:p>
            <a:pPr algn="ctr" indent="0" marL="0">
              <a:lnSpc>
                <a:spcPct val="106000"/>
              </a:lnSpc>
              <a:buNone/>
            </a:pPr>
            <a:r>
              <a:rPr lang="en-US" sz="660" b="1" dirty="0">
                <a:solidFill>
                  <a:srgbClr val="FFFFFF"/>
                </a:solidFill>
                <a:latin typeface="Segoe UI" pitchFamily="34" charset="0"/>
                <a:ea typeface="Segoe UI" pitchFamily="34" charset="-122"/>
                <a:cs typeface="Segoe UI" pitchFamily="34" charset="-120"/>
              </a:rPr>
              <a:t>Gửi kèm lý do</a:t>
            </a:r>
            <a:endParaRPr lang="en-US" sz="660" dirty="0"/>
          </a:p>
        </p:txBody>
      </p:sp>
      <p:sp>
        <p:nvSpPr>
          <p:cNvPr id="80" name="Text 78"/>
          <p:cNvSpPr txBox="1"/>
          <p:nvPr/>
        </p:nvSpPr>
        <p:spPr>
          <a:xfrm>
            <a:off x="6305550" y="5372100"/>
            <a:ext cx="1809750" cy="114300"/>
          </a:xfrm>
          <a:prstGeom prst="rect">
            <a:avLst/>
          </a:prstGeom>
          <a:noFill/>
          <a:ln/>
        </p:spPr>
        <p:txBody>
          <a:bodyPr wrap="square" lIns="0" tIns="0" rIns="0" bIns="0" rtlCol="0" anchor="t"/>
          <a:lstStyle/>
          <a:p>
            <a:pPr algn="l" indent="0" marL="0">
              <a:lnSpc>
                <a:spcPct val="106000"/>
              </a:lnSpc>
              <a:buNone/>
            </a:pPr>
            <a:r>
              <a:rPr lang="en-US" sz="560" dirty="0">
                <a:solidFill>
                  <a:srgbClr val="B45309"/>
                </a:solidFill>
                <a:latin typeface="Segoe UI" pitchFamily="34" charset="0"/>
                <a:ea typeface="Segoe UI" pitchFamily="34" charset="-122"/>
                <a:cs typeface="Segoe UI" pitchFamily="34" charset="-120"/>
              </a:rPr>
              <a:t>Bắt buộc tối thiểu 10 ký tự.</a:t>
            </a:r>
            <a:endParaRPr lang="en-US" sz="560" dirty="0"/>
          </a:p>
        </p:txBody>
      </p:sp>
      <p:sp>
        <p:nvSpPr>
          <p:cNvPr id="81" name="Shape 79"/>
          <p:cNvSpPr/>
          <p:nvPr/>
        </p:nvSpPr>
        <p:spPr>
          <a:xfrm>
            <a:off x="1943100" y="5562600"/>
            <a:ext cx="4114800" cy="533400"/>
          </a:xfrm>
          <a:prstGeom prst="roundRect">
            <a:avLst>
              <a:gd name="adj" fmla="val 12500"/>
            </a:avLst>
          </a:prstGeom>
          <a:solidFill>
            <a:srgbClr val="ECFDF5"/>
          </a:solidFill>
          <a:ln/>
        </p:spPr>
      </p:sp>
      <p:sp>
        <p:nvSpPr>
          <p:cNvPr id="82" name="Text 80"/>
          <p:cNvSpPr txBox="1"/>
          <p:nvPr/>
        </p:nvSpPr>
        <p:spPr>
          <a:xfrm>
            <a:off x="2076450" y="5695950"/>
            <a:ext cx="3848100" cy="304800"/>
          </a:xfrm>
          <a:prstGeom prst="rect">
            <a:avLst/>
          </a:prstGeom>
          <a:noFill/>
          <a:ln/>
        </p:spPr>
        <p:txBody>
          <a:bodyPr wrap="square" lIns="0" tIns="0" rIns="0" bIns="0" rtlCol="0" anchor="t"/>
          <a:lstStyle/>
          <a:p>
            <a:pPr algn="l" indent="0" marL="0">
              <a:lnSpc>
                <a:spcPct val="106000"/>
              </a:lnSpc>
              <a:buNone/>
            </a:pPr>
            <a:r>
              <a:rPr lang="en-US" sz="680" dirty="0">
                <a:solidFill>
                  <a:srgbClr val="065F46"/>
                </a:solidFill>
                <a:latin typeface="Segoe UI" pitchFamily="34" charset="0"/>
                <a:ea typeface="Segoe UI" pitchFamily="34" charset="-122"/>
                <a:cs typeface="Segoe UI" pitchFamily="34" charset="-120"/>
              </a:rPr>
              <a:t>Duyệt → budgets.status = approved.  Yêu cầu sửa → changes_requested + tạo coachNote.</a:t>
            </a:r>
            <a:endParaRPr lang="en-US" sz="680" dirty="0"/>
          </a:p>
        </p:txBody>
      </p:sp>
      <p:sp>
        <p:nvSpPr>
          <p:cNvPr id="83" name="Shape 81"/>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84" name="Text 82"/>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19 / 27</a:t>
            </a:r>
            <a:endParaRPr lang="en-US" sz="740" dirty="0"/>
          </a:p>
        </p:txBody>
      </p:sp>
      <p:sp>
        <p:nvSpPr>
          <p:cNvPr id="85" name="Text 83"/>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Duyệt ngân sách học viên</a:t>
            </a:r>
            <a:endParaRPr lang="en-US" sz="1700" dirty="0"/>
          </a:p>
        </p:txBody>
      </p:sp>
      <p:sp>
        <p:nvSpPr>
          <p:cNvPr id="86" name="Text 84"/>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pages/coach-budget-review.html</a:t>
            </a:r>
            <a:endParaRPr lang="en-US" sz="720" dirty="0"/>
          </a:p>
        </p:txBody>
      </p:sp>
      <p:sp>
        <p:nvSpPr>
          <p:cNvPr id="87" name="Shape 85"/>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88" name="Text 86"/>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89" name="Text 87"/>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Duyệt hoặc yêu cầu chỉnh sửa ngân sách, gửi ghi chú tư vấn và cập nhật trạng thái cho học viên.</a:t>
            </a:r>
            <a:endParaRPr lang="en-US" sz="920" dirty="0"/>
          </a:p>
        </p:txBody>
      </p:sp>
      <p:sp>
        <p:nvSpPr>
          <p:cNvPr id="90" name="Text 88"/>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91" name="Shape 89"/>
          <p:cNvSpPr/>
          <p:nvPr/>
        </p:nvSpPr>
        <p:spPr>
          <a:xfrm>
            <a:off x="8839200" y="3238500"/>
            <a:ext cx="209550" cy="190500"/>
          </a:xfrm>
          <a:prstGeom prst="roundRect">
            <a:avLst>
              <a:gd name="adj" fmla="val 25000"/>
            </a:avLst>
          </a:prstGeom>
          <a:solidFill>
            <a:srgbClr val="059669"/>
          </a:solidFill>
          <a:ln/>
        </p:spPr>
      </p:sp>
      <p:sp>
        <p:nvSpPr>
          <p:cNvPr id="92" name="Text 90"/>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93" name="Shape 91"/>
          <p:cNvSpPr/>
          <p:nvPr/>
        </p:nvSpPr>
        <p:spPr>
          <a:xfrm>
            <a:off x="9086850" y="3238500"/>
            <a:ext cx="209550" cy="190500"/>
          </a:xfrm>
          <a:prstGeom prst="roundRect">
            <a:avLst>
              <a:gd name="adj" fmla="val 25000"/>
            </a:avLst>
          </a:prstGeom>
          <a:solidFill>
            <a:srgbClr val="059669"/>
          </a:solidFill>
          <a:ln/>
        </p:spPr>
      </p:sp>
      <p:sp>
        <p:nvSpPr>
          <p:cNvPr id="94" name="Text 92"/>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95" name="Shape 93"/>
          <p:cNvSpPr/>
          <p:nvPr/>
        </p:nvSpPr>
        <p:spPr>
          <a:xfrm>
            <a:off x="9334500" y="3238500"/>
            <a:ext cx="209550" cy="190500"/>
          </a:xfrm>
          <a:prstGeom prst="roundRect">
            <a:avLst>
              <a:gd name="adj" fmla="val 25000"/>
            </a:avLst>
          </a:prstGeom>
          <a:solidFill>
            <a:srgbClr val="059669"/>
          </a:solidFill>
          <a:ln/>
        </p:spPr>
      </p:sp>
      <p:sp>
        <p:nvSpPr>
          <p:cNvPr id="96" name="Text 94"/>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97" name="Shape 95"/>
          <p:cNvSpPr/>
          <p:nvPr/>
        </p:nvSpPr>
        <p:spPr>
          <a:xfrm>
            <a:off x="9582150" y="3238500"/>
            <a:ext cx="209550" cy="190500"/>
          </a:xfrm>
          <a:prstGeom prst="roundRect">
            <a:avLst>
              <a:gd name="adj" fmla="val 25000"/>
            </a:avLst>
          </a:prstGeom>
          <a:solidFill>
            <a:srgbClr val="F1F5F9"/>
          </a:solidFill>
          <a:ln/>
        </p:spPr>
      </p:sp>
      <p:sp>
        <p:nvSpPr>
          <p:cNvPr id="98" name="Text 96"/>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99" name="Text 97"/>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Chờ duyệt · cần chỉnh sửa · đã duyệt · gửi ghi chú thành công · lỗi.</a:t>
            </a:r>
            <a:endParaRPr lang="en-US" sz="900" dirty="0"/>
          </a:p>
        </p:txBody>
      </p:sp>
      <p:sp>
        <p:nvSpPr>
          <p:cNvPr id="100" name="Text 98"/>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01" name="Text 99"/>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Duyệt cập nhật status; modal yêu cầu sửa; validate ghi chú ≥10 ký tự; toast; lọc tháng.</a:t>
            </a:r>
            <a:endParaRPr lang="en-US" sz="900" dirty="0"/>
          </a:p>
        </p:txBody>
      </p:sp>
      <p:sp>
        <p:nvSpPr>
          <p:cNvPr id="102" name="Text 100"/>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03" name="Text 101"/>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ghi chú coach lưu vào coachNotes và hiển thị cho học viên.</a:t>
            </a:r>
            <a:endParaRPr lang="en-US" sz="900" dirty="0"/>
          </a:p>
        </p:txBody>
      </p:sp>
      <p:sp>
        <p:nvSpPr>
          <p:cNvPr id="104" name="Shape 102"/>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05" name="Text 103"/>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SV2-02-budget-review</a:t>
            </a:r>
            <a:endParaRPr lang="en-US" sz="840" dirty="0"/>
          </a:p>
        </p:txBody>
      </p:sp>
      <p:sp>
        <p:nvSpPr>
          <p:cNvPr id="106" name="Text 104"/>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ECFDF5"/>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047857"/>
                </a:solidFill>
                <a:latin typeface="Segoe UI" pitchFamily="34" charset="0"/>
                <a:ea typeface="Segoe UI" pitchFamily="34" charset="-122"/>
                <a:cs typeface="Segoe UI" pitchFamily="34" charset="-120"/>
              </a:rPr>
              <a:t>HUẤN LUYỆN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20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Tài nguyên giáo dục</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pages/coach-resource-management.html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spendwise.app/pages/coach-resource-management.html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Huấn luyện viên</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Học viên</a:t>
            </a:r>
            <a:endParaRPr lang="en-US" sz="820" dirty="0"/>
          </a:p>
        </p:txBody>
      </p:sp>
      <p:sp>
        <p:nvSpPr>
          <p:cNvPr id="22" name="Text 20"/>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Duyệt ngân sách</a:t>
            </a:r>
            <a:endParaRPr lang="en-US" sz="820" dirty="0"/>
          </a:p>
        </p:txBody>
      </p:sp>
      <p:sp>
        <p:nvSpPr>
          <p:cNvPr id="23" name="Shape 21"/>
          <p:cNvSpPr/>
          <p:nvPr/>
        </p:nvSpPr>
        <p:spPr>
          <a:xfrm>
            <a:off x="495300" y="2600325"/>
            <a:ext cx="1181100" cy="209550"/>
          </a:xfrm>
          <a:prstGeom prst="roundRect">
            <a:avLst>
              <a:gd name="adj" fmla="val 27273"/>
            </a:avLst>
          </a:prstGeom>
          <a:solidFill>
            <a:srgbClr val="ECFDF5"/>
          </a:solidFill>
          <a:ln/>
        </p:spPr>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Tài nguyên</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Tài nguyên giáo dục</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Phạm Thị Lan</a:t>
            </a:r>
            <a:endParaRPr lang="en-US" sz="700" dirty="0"/>
          </a:p>
        </p:txBody>
      </p:sp>
      <p:sp>
        <p:nvSpPr>
          <p:cNvPr id="33" name="Shape 31"/>
          <p:cNvSpPr/>
          <p:nvPr/>
        </p:nvSpPr>
        <p:spPr>
          <a:xfrm>
            <a:off x="1943100" y="1952625"/>
            <a:ext cx="2381250" cy="266700"/>
          </a:xfrm>
          <a:prstGeom prst="roundRect">
            <a:avLst>
              <a:gd name="adj" fmla="val 21429"/>
            </a:avLst>
          </a:prstGeom>
          <a:solidFill>
            <a:srgbClr val="FFFFFF"/>
          </a:solidFill>
          <a:ln w="9525">
            <a:solidFill>
              <a:srgbClr val="E2E8F0"/>
            </a:solidFill>
            <a:prstDash val="solid"/>
          </a:ln>
        </p:spPr>
      </p:sp>
      <p:sp>
        <p:nvSpPr>
          <p:cNvPr id="34" name="Text 32"/>
          <p:cNvSpPr txBox="1"/>
          <p:nvPr/>
        </p:nvSpPr>
        <p:spPr>
          <a:xfrm>
            <a:off x="2057400" y="2028825"/>
            <a:ext cx="2190750" cy="1333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Tìm tài nguyên...</a:t>
            </a:r>
            <a:endParaRPr lang="en-US" sz="660" dirty="0"/>
          </a:p>
        </p:txBody>
      </p:sp>
      <p:sp>
        <p:nvSpPr>
          <p:cNvPr id="35" name="Shape 33"/>
          <p:cNvSpPr/>
          <p:nvPr/>
        </p:nvSpPr>
        <p:spPr>
          <a:xfrm>
            <a:off x="4400550" y="1952625"/>
            <a:ext cx="1066800" cy="266700"/>
          </a:xfrm>
          <a:prstGeom prst="roundRect">
            <a:avLst>
              <a:gd name="adj" fmla="val 21429"/>
            </a:avLst>
          </a:prstGeom>
          <a:solidFill>
            <a:srgbClr val="FFFFFF"/>
          </a:solidFill>
          <a:ln w="9525">
            <a:solidFill>
              <a:srgbClr val="E2E8F0"/>
            </a:solidFill>
            <a:prstDash val="solid"/>
          </a:ln>
        </p:spPr>
      </p:sp>
      <p:sp>
        <p:nvSpPr>
          <p:cNvPr id="36" name="Text 34"/>
          <p:cNvSpPr txBox="1"/>
          <p:nvPr/>
        </p:nvSpPr>
        <p:spPr>
          <a:xfrm>
            <a:off x="4495800" y="2028825"/>
            <a:ext cx="89535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Tất cả loại</a:t>
            </a:r>
            <a:endParaRPr lang="en-US" sz="660" dirty="0"/>
          </a:p>
        </p:txBody>
      </p:sp>
      <p:sp>
        <p:nvSpPr>
          <p:cNvPr id="37" name="Shape 35"/>
          <p:cNvSpPr/>
          <p:nvPr/>
        </p:nvSpPr>
        <p:spPr>
          <a:xfrm>
            <a:off x="6591300" y="1952625"/>
            <a:ext cx="1657350" cy="266700"/>
          </a:xfrm>
          <a:prstGeom prst="roundRect">
            <a:avLst>
              <a:gd name="adj" fmla="val 21429"/>
            </a:avLst>
          </a:prstGeom>
          <a:solidFill>
            <a:srgbClr val="059669"/>
          </a:solidFill>
          <a:ln/>
        </p:spPr>
      </p:sp>
      <p:sp>
        <p:nvSpPr>
          <p:cNvPr id="38" name="Text 36"/>
          <p:cNvSpPr txBox="1"/>
          <p:nvPr/>
        </p:nvSpPr>
        <p:spPr>
          <a:xfrm>
            <a:off x="6591300" y="1952625"/>
            <a:ext cx="1657350" cy="26670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 Tạo tài nguyên</a:t>
            </a:r>
            <a:endParaRPr lang="en-US" sz="720" dirty="0"/>
          </a:p>
        </p:txBody>
      </p:sp>
      <p:sp>
        <p:nvSpPr>
          <p:cNvPr id="39" name="Shape 37"/>
          <p:cNvSpPr/>
          <p:nvPr/>
        </p:nvSpPr>
        <p:spPr>
          <a:xfrm>
            <a:off x="1943100" y="2333625"/>
            <a:ext cx="1047750" cy="209550"/>
          </a:xfrm>
          <a:prstGeom prst="roundRect">
            <a:avLst>
              <a:gd name="adj" fmla="val 50000"/>
            </a:avLst>
          </a:prstGeom>
          <a:solidFill>
            <a:srgbClr val="ECFDF5"/>
          </a:solidFill>
          <a:ln/>
        </p:spPr>
      </p:sp>
      <p:sp>
        <p:nvSpPr>
          <p:cNvPr id="40" name="Text 38"/>
          <p:cNvSpPr txBox="1"/>
          <p:nvPr/>
        </p:nvSpPr>
        <p:spPr>
          <a:xfrm>
            <a:off x="1971675" y="2333625"/>
            <a:ext cx="990600" cy="2095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4 tài nguyên</a:t>
            </a:r>
            <a:endParaRPr lang="en-US" sz="620" dirty="0"/>
          </a:p>
        </p:txBody>
      </p:sp>
      <p:sp>
        <p:nvSpPr>
          <p:cNvPr id="41" name="Shape 39"/>
          <p:cNvSpPr/>
          <p:nvPr/>
        </p:nvSpPr>
        <p:spPr>
          <a:xfrm>
            <a:off x="3067050" y="2333625"/>
            <a:ext cx="1047750" cy="209550"/>
          </a:xfrm>
          <a:prstGeom prst="roundRect">
            <a:avLst>
              <a:gd name="adj" fmla="val 50000"/>
            </a:avLst>
          </a:prstGeom>
          <a:solidFill>
            <a:srgbClr val="FFFFFF"/>
          </a:solidFill>
          <a:ln w="9525">
            <a:solidFill>
              <a:srgbClr val="E2E8F0"/>
            </a:solidFill>
            <a:prstDash val="solid"/>
          </a:ln>
        </p:spPr>
      </p:sp>
      <p:sp>
        <p:nvSpPr>
          <p:cNvPr id="42" name="Text 40"/>
          <p:cNvSpPr txBox="1"/>
          <p:nvPr/>
        </p:nvSpPr>
        <p:spPr>
          <a:xfrm>
            <a:off x="3095625" y="2333625"/>
            <a:ext cx="990600" cy="209550"/>
          </a:xfrm>
          <a:prstGeom prst="rect">
            <a:avLst/>
          </a:prstGeom>
          <a:noFill/>
          <a:ln/>
        </p:spPr>
        <p:txBody>
          <a:bodyPr wrap="square" lIns="0" tIns="0" rIns="0" bIns="0" rtlCol="0" anchor="ctr"/>
          <a:lstStyle/>
          <a:p>
            <a:pPr algn="ctr"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1 xuất bản</a:t>
            </a:r>
            <a:endParaRPr lang="en-US" sz="620" dirty="0"/>
          </a:p>
        </p:txBody>
      </p:sp>
      <p:sp>
        <p:nvSpPr>
          <p:cNvPr id="43" name="Shape 41"/>
          <p:cNvSpPr/>
          <p:nvPr/>
        </p:nvSpPr>
        <p:spPr>
          <a:xfrm>
            <a:off x="4191000" y="2333625"/>
            <a:ext cx="1047750" cy="209550"/>
          </a:xfrm>
          <a:prstGeom prst="roundRect">
            <a:avLst>
              <a:gd name="adj" fmla="val 50000"/>
            </a:avLst>
          </a:prstGeom>
          <a:solidFill>
            <a:srgbClr val="FFFFFF"/>
          </a:solidFill>
          <a:ln w="9525">
            <a:solidFill>
              <a:srgbClr val="E2E8F0"/>
            </a:solidFill>
            <a:prstDash val="solid"/>
          </a:ln>
        </p:spPr>
      </p:sp>
      <p:sp>
        <p:nvSpPr>
          <p:cNvPr id="44" name="Text 42"/>
          <p:cNvSpPr txBox="1"/>
          <p:nvPr/>
        </p:nvSpPr>
        <p:spPr>
          <a:xfrm>
            <a:off x="4219575" y="2333625"/>
            <a:ext cx="990600" cy="209550"/>
          </a:xfrm>
          <a:prstGeom prst="rect">
            <a:avLst/>
          </a:prstGeom>
          <a:noFill/>
          <a:ln/>
        </p:spPr>
        <p:txBody>
          <a:bodyPr wrap="square" lIns="0" tIns="0" rIns="0" bIns="0" rtlCol="0" anchor="ctr"/>
          <a:lstStyle/>
          <a:p>
            <a:pPr algn="ctr"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1 chờ duyệt</a:t>
            </a:r>
            <a:endParaRPr lang="en-US" sz="620" dirty="0"/>
          </a:p>
        </p:txBody>
      </p:sp>
      <p:sp>
        <p:nvSpPr>
          <p:cNvPr id="45" name="Shape 43"/>
          <p:cNvSpPr/>
          <p:nvPr/>
        </p:nvSpPr>
        <p:spPr>
          <a:xfrm>
            <a:off x="5314950" y="2333625"/>
            <a:ext cx="1047750" cy="209550"/>
          </a:xfrm>
          <a:prstGeom prst="roundRect">
            <a:avLst>
              <a:gd name="adj" fmla="val 50000"/>
            </a:avLst>
          </a:prstGeom>
          <a:solidFill>
            <a:srgbClr val="F1F5F9"/>
          </a:solidFill>
          <a:ln/>
        </p:spPr>
      </p:sp>
      <p:sp>
        <p:nvSpPr>
          <p:cNvPr id="46" name="Text 44"/>
          <p:cNvSpPr txBox="1"/>
          <p:nvPr/>
        </p:nvSpPr>
        <p:spPr>
          <a:xfrm>
            <a:off x="5343525" y="2333625"/>
            <a:ext cx="990600" cy="209550"/>
          </a:xfrm>
          <a:prstGeom prst="rect">
            <a:avLst/>
          </a:prstGeom>
          <a:noFill/>
          <a:ln/>
        </p:spPr>
        <p:txBody>
          <a:bodyPr wrap="square" lIns="0" tIns="0" rIns="0" bIns="0" rtlCol="0" anchor="ctr"/>
          <a:lstStyle/>
          <a:p>
            <a:pPr algn="ctr" indent="0" marL="0">
              <a:lnSpc>
                <a:spcPct val="106000"/>
              </a:lnSpc>
              <a:buNone/>
            </a:pPr>
            <a:r>
              <a:rPr lang="en-US" sz="620" b="1" dirty="0">
                <a:solidFill>
                  <a:srgbClr val="64748B"/>
                </a:solidFill>
                <a:latin typeface="Segoe UI" pitchFamily="34" charset="0"/>
                <a:ea typeface="Segoe UI" pitchFamily="34" charset="-122"/>
                <a:cs typeface="Segoe UI" pitchFamily="34" charset="-120"/>
              </a:rPr>
              <a:t>1 nháp</a:t>
            </a:r>
            <a:endParaRPr lang="en-US" sz="620" dirty="0"/>
          </a:p>
        </p:txBody>
      </p:sp>
      <p:sp>
        <p:nvSpPr>
          <p:cNvPr id="47" name="Text 45"/>
          <p:cNvSpPr txBox="1"/>
          <p:nvPr/>
        </p:nvSpPr>
        <p:spPr>
          <a:xfrm>
            <a:off x="7486650" y="2381250"/>
            <a:ext cx="762000" cy="114300"/>
          </a:xfrm>
          <a:prstGeom prst="rect">
            <a:avLst/>
          </a:prstGeom>
          <a:noFill/>
          <a:ln/>
        </p:spPr>
        <p:txBody>
          <a:bodyPr wrap="square" lIns="0" tIns="0" rIns="0" bIns="0" rtlCol="0" anchor="t"/>
          <a:lstStyle/>
          <a:p>
            <a:pPr algn="r" indent="0" marL="0">
              <a:lnSpc>
                <a:spcPct val="106000"/>
              </a:lnSpc>
              <a:buNone/>
            </a:pPr>
            <a:r>
              <a:rPr lang="en-US" sz="620" dirty="0">
                <a:solidFill>
                  <a:srgbClr val="047857"/>
                </a:solidFill>
                <a:latin typeface="Segoe UI" pitchFamily="34" charset="0"/>
                <a:ea typeface="Segoe UI" pitchFamily="34" charset="-122"/>
                <a:cs typeface="Segoe UI" pitchFamily="34" charset="-120"/>
              </a:rPr>
              <a:t>Xem tất cả 4 →</a:t>
            </a:r>
            <a:endParaRPr lang="en-US" sz="620" dirty="0"/>
          </a:p>
        </p:txBody>
      </p:sp>
      <p:sp>
        <p:nvSpPr>
          <p:cNvPr id="48" name="Shape 46"/>
          <p:cNvSpPr/>
          <p:nvPr/>
        </p:nvSpPr>
        <p:spPr>
          <a:xfrm>
            <a:off x="1943100" y="2714625"/>
            <a:ext cx="6305550" cy="933450"/>
          </a:xfrm>
          <a:prstGeom prst="roundRect">
            <a:avLst>
              <a:gd name="adj" fmla="val 8163"/>
            </a:avLst>
          </a:prstGeom>
          <a:solidFill>
            <a:srgbClr val="FFFFFF"/>
          </a:solidFill>
          <a:ln w="9525">
            <a:solidFill>
              <a:srgbClr val="E2E8F0"/>
            </a:solidFill>
            <a:prstDash val="solid"/>
          </a:ln>
        </p:spPr>
      </p:sp>
      <p:sp>
        <p:nvSpPr>
          <p:cNvPr id="49" name="Shape 47"/>
          <p:cNvSpPr/>
          <p:nvPr/>
        </p:nvSpPr>
        <p:spPr>
          <a:xfrm>
            <a:off x="2057400" y="2847975"/>
            <a:ext cx="533400" cy="171450"/>
          </a:xfrm>
          <a:prstGeom prst="roundRect">
            <a:avLst>
              <a:gd name="adj" fmla="val 50000"/>
            </a:avLst>
          </a:prstGeom>
          <a:solidFill>
            <a:srgbClr val="ECFDF5"/>
          </a:solidFill>
          <a:ln/>
        </p:spPr>
      </p:sp>
      <p:sp>
        <p:nvSpPr>
          <p:cNvPr id="50" name="Text 48"/>
          <p:cNvSpPr txBox="1"/>
          <p:nvPr/>
        </p:nvSpPr>
        <p:spPr>
          <a:xfrm>
            <a:off x="2085975" y="2847975"/>
            <a:ext cx="476250" cy="1714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Bài viết</a:t>
            </a:r>
            <a:endParaRPr lang="en-US" sz="580" dirty="0"/>
          </a:p>
        </p:txBody>
      </p:sp>
      <p:sp>
        <p:nvSpPr>
          <p:cNvPr id="51" name="Text 49"/>
          <p:cNvSpPr txBox="1"/>
          <p:nvPr/>
        </p:nvSpPr>
        <p:spPr>
          <a:xfrm>
            <a:off x="2705100" y="2828925"/>
            <a:ext cx="371475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5 bước lập ngân sách cho sinh viên</a:t>
            </a:r>
            <a:endParaRPr lang="en-US" sz="880" dirty="0"/>
          </a:p>
        </p:txBody>
      </p:sp>
      <p:sp>
        <p:nvSpPr>
          <p:cNvPr id="52" name="Text 50"/>
          <p:cNvSpPr txBox="1"/>
          <p:nvPr/>
        </p:nvSpPr>
        <p:spPr>
          <a:xfrm>
            <a:off x="2705100" y="3019425"/>
            <a:ext cx="371475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Từ ghi chép đến chia 50/30/20 trong 4 tuần.</a:t>
            </a:r>
            <a:endParaRPr lang="en-US" sz="640" dirty="0"/>
          </a:p>
        </p:txBody>
      </p:sp>
      <p:sp>
        <p:nvSpPr>
          <p:cNvPr id="53" name="Text 51"/>
          <p:cNvSpPr txBox="1"/>
          <p:nvPr/>
        </p:nvSpPr>
        <p:spPr>
          <a:xfrm>
            <a:off x="2705100" y="3248025"/>
            <a:ext cx="3714750" cy="1333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Cập nhật 20/09 · 1.245 lượt xem</a:t>
            </a:r>
            <a:endParaRPr lang="en-US" sz="580" dirty="0"/>
          </a:p>
        </p:txBody>
      </p:sp>
      <p:sp>
        <p:nvSpPr>
          <p:cNvPr id="54" name="Shape 52"/>
          <p:cNvSpPr/>
          <p:nvPr/>
        </p:nvSpPr>
        <p:spPr>
          <a:xfrm>
            <a:off x="6667500" y="2847975"/>
            <a:ext cx="628650" cy="152400"/>
          </a:xfrm>
          <a:prstGeom prst="roundRect">
            <a:avLst>
              <a:gd name="adj" fmla="val 50000"/>
            </a:avLst>
          </a:prstGeom>
          <a:solidFill>
            <a:srgbClr val="ECFDF5"/>
          </a:solidFill>
          <a:ln/>
        </p:spPr>
      </p:sp>
      <p:sp>
        <p:nvSpPr>
          <p:cNvPr id="55" name="Text 53"/>
          <p:cNvSpPr txBox="1"/>
          <p:nvPr/>
        </p:nvSpPr>
        <p:spPr>
          <a:xfrm>
            <a:off x="6696075" y="284797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Xuất bản</a:t>
            </a:r>
            <a:endParaRPr lang="en-US" sz="540" dirty="0"/>
          </a:p>
        </p:txBody>
      </p:sp>
      <p:sp>
        <p:nvSpPr>
          <p:cNvPr id="56" name="Text 54"/>
          <p:cNvSpPr txBox="1"/>
          <p:nvPr/>
        </p:nvSpPr>
        <p:spPr>
          <a:xfrm>
            <a:off x="6667500" y="3209925"/>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57" name="Text 55"/>
          <p:cNvSpPr txBox="1"/>
          <p:nvPr/>
        </p:nvSpPr>
        <p:spPr>
          <a:xfrm>
            <a:off x="7029450" y="3209925"/>
            <a:ext cx="571500" cy="114300"/>
          </a:xfrm>
          <a:prstGeom prst="rect">
            <a:avLst/>
          </a:prstGeom>
          <a:noFill/>
          <a:ln/>
        </p:spPr>
        <p:txBody>
          <a:bodyPr wrap="square" lIns="0" tIns="0" rIns="0" bIns="0" rtlCol="0" anchor="t"/>
          <a:lstStyle/>
          <a:p>
            <a:pPr algn="l" indent="0" marL="0">
              <a:lnSpc>
                <a:spcPct val="106000"/>
              </a:lnSpc>
              <a:buNone/>
            </a:pPr>
            <a:r>
              <a:rPr lang="en-US" sz="600" b="1" dirty="0">
                <a:solidFill>
                  <a:srgbClr val="94A3B8"/>
                </a:solidFill>
                <a:latin typeface="Segoe UI" pitchFamily="34" charset="0"/>
                <a:ea typeface="Segoe UI" pitchFamily="34" charset="-122"/>
                <a:cs typeface="Segoe UI" pitchFamily="34" charset="-120"/>
              </a:rPr>
              <a:t>Xem</a:t>
            </a:r>
            <a:endParaRPr lang="en-US" sz="600" dirty="0"/>
          </a:p>
        </p:txBody>
      </p:sp>
      <p:sp>
        <p:nvSpPr>
          <p:cNvPr id="58" name="Text 56"/>
          <p:cNvSpPr txBox="1"/>
          <p:nvPr/>
        </p:nvSpPr>
        <p:spPr>
          <a:xfrm>
            <a:off x="7620000" y="3209925"/>
            <a:ext cx="4762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59" name="Shape 57"/>
          <p:cNvSpPr/>
          <p:nvPr/>
        </p:nvSpPr>
        <p:spPr>
          <a:xfrm>
            <a:off x="1943100" y="3743325"/>
            <a:ext cx="6305550" cy="933450"/>
          </a:xfrm>
          <a:prstGeom prst="roundRect">
            <a:avLst>
              <a:gd name="adj" fmla="val 8163"/>
            </a:avLst>
          </a:prstGeom>
          <a:solidFill>
            <a:srgbClr val="FFFFFF"/>
          </a:solidFill>
          <a:ln w="9525">
            <a:solidFill>
              <a:srgbClr val="E2E8F0"/>
            </a:solidFill>
            <a:prstDash val="solid"/>
          </a:ln>
        </p:spPr>
      </p:sp>
      <p:sp>
        <p:nvSpPr>
          <p:cNvPr id="60" name="Shape 58"/>
          <p:cNvSpPr/>
          <p:nvPr/>
        </p:nvSpPr>
        <p:spPr>
          <a:xfrm>
            <a:off x="2057400" y="3876675"/>
            <a:ext cx="533400" cy="171450"/>
          </a:xfrm>
          <a:prstGeom prst="roundRect">
            <a:avLst>
              <a:gd name="adj" fmla="val 50000"/>
            </a:avLst>
          </a:prstGeom>
          <a:solidFill>
            <a:srgbClr val="ECFDF5"/>
          </a:solidFill>
          <a:ln/>
        </p:spPr>
      </p:sp>
      <p:sp>
        <p:nvSpPr>
          <p:cNvPr id="61" name="Text 59"/>
          <p:cNvSpPr txBox="1"/>
          <p:nvPr/>
        </p:nvSpPr>
        <p:spPr>
          <a:xfrm>
            <a:off x="2085975" y="3876675"/>
            <a:ext cx="476250" cy="1714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Bài viết</a:t>
            </a:r>
            <a:endParaRPr lang="en-US" sz="580" dirty="0"/>
          </a:p>
        </p:txBody>
      </p:sp>
      <p:sp>
        <p:nvSpPr>
          <p:cNvPr id="62" name="Text 60"/>
          <p:cNvSpPr txBox="1"/>
          <p:nvPr/>
        </p:nvSpPr>
        <p:spPr>
          <a:xfrm>
            <a:off x="2705100" y="3857625"/>
            <a:ext cx="371475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Checklist chi tiêu đầu tháng</a:t>
            </a:r>
            <a:endParaRPr lang="en-US" sz="880" dirty="0"/>
          </a:p>
        </p:txBody>
      </p:sp>
      <p:sp>
        <p:nvSpPr>
          <p:cNvPr id="63" name="Text 61"/>
          <p:cNvSpPr txBox="1"/>
          <p:nvPr/>
        </p:nvSpPr>
        <p:spPr>
          <a:xfrm>
            <a:off x="2705100" y="4048125"/>
            <a:ext cx="371475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Danh sách kiểm tra nhanh trước khi bước vào tháng mới.</a:t>
            </a:r>
            <a:endParaRPr lang="en-US" sz="640" dirty="0"/>
          </a:p>
        </p:txBody>
      </p:sp>
      <p:sp>
        <p:nvSpPr>
          <p:cNvPr id="64" name="Text 62"/>
          <p:cNvSpPr txBox="1"/>
          <p:nvPr/>
        </p:nvSpPr>
        <p:spPr>
          <a:xfrm>
            <a:off x="2705100" y="4276725"/>
            <a:ext cx="3714750" cy="1333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Gửi duyệt 16/10 · chờ kiểm duyệt</a:t>
            </a:r>
            <a:endParaRPr lang="en-US" sz="580" dirty="0"/>
          </a:p>
        </p:txBody>
      </p:sp>
      <p:sp>
        <p:nvSpPr>
          <p:cNvPr id="65" name="Shape 63"/>
          <p:cNvSpPr/>
          <p:nvPr/>
        </p:nvSpPr>
        <p:spPr>
          <a:xfrm>
            <a:off x="6667500" y="3876675"/>
            <a:ext cx="628650" cy="152400"/>
          </a:xfrm>
          <a:prstGeom prst="roundRect">
            <a:avLst>
              <a:gd name="adj" fmla="val 50000"/>
            </a:avLst>
          </a:prstGeom>
          <a:solidFill>
            <a:srgbClr val="FFFBEB"/>
          </a:solidFill>
          <a:ln/>
        </p:spPr>
      </p:sp>
      <p:sp>
        <p:nvSpPr>
          <p:cNvPr id="66" name="Text 64"/>
          <p:cNvSpPr txBox="1"/>
          <p:nvPr/>
        </p:nvSpPr>
        <p:spPr>
          <a:xfrm>
            <a:off x="6696075" y="387667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B45309"/>
                </a:solidFill>
                <a:latin typeface="Segoe UI" pitchFamily="34" charset="0"/>
                <a:ea typeface="Segoe UI" pitchFamily="34" charset="-122"/>
                <a:cs typeface="Segoe UI" pitchFamily="34" charset="-120"/>
              </a:rPr>
              <a:t>Chờ duyệt</a:t>
            </a:r>
            <a:endParaRPr lang="en-US" sz="540" dirty="0"/>
          </a:p>
        </p:txBody>
      </p:sp>
      <p:sp>
        <p:nvSpPr>
          <p:cNvPr id="67" name="Text 65"/>
          <p:cNvSpPr txBox="1"/>
          <p:nvPr/>
        </p:nvSpPr>
        <p:spPr>
          <a:xfrm>
            <a:off x="6667500" y="4238625"/>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68" name="Text 66"/>
          <p:cNvSpPr txBox="1"/>
          <p:nvPr/>
        </p:nvSpPr>
        <p:spPr>
          <a:xfrm>
            <a:off x="7029450" y="4238625"/>
            <a:ext cx="571500" cy="114300"/>
          </a:xfrm>
          <a:prstGeom prst="rect">
            <a:avLst/>
          </a:prstGeom>
          <a:noFill/>
          <a:ln/>
        </p:spPr>
        <p:txBody>
          <a:bodyPr wrap="square" lIns="0" tIns="0" rIns="0" bIns="0" rtlCol="0" anchor="t"/>
          <a:lstStyle/>
          <a:p>
            <a:pPr algn="l" indent="0" marL="0">
              <a:lnSpc>
                <a:spcPct val="106000"/>
              </a:lnSpc>
              <a:buNone/>
            </a:pPr>
            <a:r>
              <a:rPr lang="en-US" sz="600" b="1" dirty="0">
                <a:solidFill>
                  <a:srgbClr val="DC2626"/>
                </a:solidFill>
                <a:latin typeface="Segoe UI" pitchFamily="34" charset="0"/>
                <a:ea typeface="Segoe UI" pitchFamily="34" charset="-122"/>
                <a:cs typeface="Segoe UI" pitchFamily="34" charset="-120"/>
              </a:rPr>
              <a:t>Thu hồi</a:t>
            </a:r>
            <a:endParaRPr lang="en-US" sz="600" dirty="0"/>
          </a:p>
        </p:txBody>
      </p:sp>
      <p:sp>
        <p:nvSpPr>
          <p:cNvPr id="69" name="Text 67"/>
          <p:cNvSpPr txBox="1"/>
          <p:nvPr/>
        </p:nvSpPr>
        <p:spPr>
          <a:xfrm>
            <a:off x="7620000" y="4238625"/>
            <a:ext cx="4762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70" name="Shape 68"/>
          <p:cNvSpPr/>
          <p:nvPr/>
        </p:nvSpPr>
        <p:spPr>
          <a:xfrm>
            <a:off x="1943100" y="4772025"/>
            <a:ext cx="6305550" cy="933450"/>
          </a:xfrm>
          <a:prstGeom prst="roundRect">
            <a:avLst>
              <a:gd name="adj" fmla="val 8163"/>
            </a:avLst>
          </a:prstGeom>
          <a:solidFill>
            <a:srgbClr val="FFFFFF"/>
          </a:solidFill>
          <a:ln w="9525">
            <a:solidFill>
              <a:srgbClr val="E2E8F0"/>
            </a:solidFill>
            <a:prstDash val="solid"/>
          </a:ln>
        </p:spPr>
      </p:sp>
      <p:sp>
        <p:nvSpPr>
          <p:cNvPr id="71" name="Shape 69"/>
          <p:cNvSpPr/>
          <p:nvPr/>
        </p:nvSpPr>
        <p:spPr>
          <a:xfrm>
            <a:off x="2057400" y="4905375"/>
            <a:ext cx="533400" cy="171450"/>
          </a:xfrm>
          <a:prstGeom prst="roundRect">
            <a:avLst>
              <a:gd name="adj" fmla="val 50000"/>
            </a:avLst>
          </a:prstGeom>
          <a:solidFill>
            <a:srgbClr val="ECFDF5"/>
          </a:solidFill>
          <a:ln/>
        </p:spPr>
      </p:sp>
      <p:sp>
        <p:nvSpPr>
          <p:cNvPr id="72" name="Text 70"/>
          <p:cNvSpPr txBox="1"/>
          <p:nvPr/>
        </p:nvSpPr>
        <p:spPr>
          <a:xfrm>
            <a:off x="2085975" y="4905375"/>
            <a:ext cx="476250" cy="1714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Video</a:t>
            </a:r>
            <a:endParaRPr lang="en-US" sz="580" dirty="0"/>
          </a:p>
        </p:txBody>
      </p:sp>
      <p:sp>
        <p:nvSpPr>
          <p:cNvPr id="73" name="Text 71"/>
          <p:cNvSpPr txBox="1"/>
          <p:nvPr/>
        </p:nvSpPr>
        <p:spPr>
          <a:xfrm>
            <a:off x="2705100" y="4886325"/>
            <a:ext cx="3714750" cy="152400"/>
          </a:xfrm>
          <a:prstGeom prst="rect">
            <a:avLst/>
          </a:prstGeom>
          <a:noFill/>
          <a:ln/>
        </p:spPr>
        <p:txBody>
          <a:bodyPr wrap="square" lIns="0" tIns="0" rIns="0" bIns="0" rtlCol="0" anchor="t"/>
          <a:lstStyle/>
          <a:p>
            <a:pPr algn="l" indent="0" marL="0">
              <a:lnSpc>
                <a:spcPct val="106000"/>
              </a:lnSpc>
              <a:buNone/>
            </a:pPr>
            <a:r>
              <a:rPr lang="en-US" sz="880" b="1" dirty="0">
                <a:solidFill>
                  <a:srgbClr val="0F172A"/>
                </a:solidFill>
                <a:latin typeface="Segoe UI" pitchFamily="34" charset="0"/>
                <a:ea typeface="Segoe UI" pitchFamily="34" charset="-122"/>
                <a:cs typeface="Segoe UI" pitchFamily="34" charset="-120"/>
              </a:rPr>
              <a:t>Video: cách đọc sao kê</a:t>
            </a:r>
            <a:endParaRPr lang="en-US" sz="880" dirty="0"/>
          </a:p>
        </p:txBody>
      </p:sp>
      <p:sp>
        <p:nvSpPr>
          <p:cNvPr id="74" name="Text 72"/>
          <p:cNvSpPr txBox="1"/>
          <p:nvPr/>
        </p:nvSpPr>
        <p:spPr>
          <a:xfrm>
            <a:off x="2705100" y="5076825"/>
            <a:ext cx="371475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Kịch bản 5 phút hướng dẫn đọc sao kê ngân hàng.</a:t>
            </a:r>
            <a:endParaRPr lang="en-US" sz="640" dirty="0"/>
          </a:p>
        </p:txBody>
      </p:sp>
      <p:sp>
        <p:nvSpPr>
          <p:cNvPr id="75" name="Text 73"/>
          <p:cNvSpPr txBox="1"/>
          <p:nvPr/>
        </p:nvSpPr>
        <p:spPr>
          <a:xfrm>
            <a:off x="2705100" y="5305425"/>
            <a:ext cx="3714750" cy="1333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Cập nhật 17/10 · bản nháp</a:t>
            </a:r>
            <a:endParaRPr lang="en-US" sz="580" dirty="0"/>
          </a:p>
        </p:txBody>
      </p:sp>
      <p:sp>
        <p:nvSpPr>
          <p:cNvPr id="76" name="Shape 74"/>
          <p:cNvSpPr/>
          <p:nvPr/>
        </p:nvSpPr>
        <p:spPr>
          <a:xfrm>
            <a:off x="6667500" y="4905375"/>
            <a:ext cx="628650" cy="152400"/>
          </a:xfrm>
          <a:prstGeom prst="roundRect">
            <a:avLst>
              <a:gd name="adj" fmla="val 50000"/>
            </a:avLst>
          </a:prstGeom>
          <a:solidFill>
            <a:srgbClr val="F1F5F9"/>
          </a:solidFill>
          <a:ln/>
        </p:spPr>
      </p:sp>
      <p:sp>
        <p:nvSpPr>
          <p:cNvPr id="77" name="Text 75"/>
          <p:cNvSpPr txBox="1"/>
          <p:nvPr/>
        </p:nvSpPr>
        <p:spPr>
          <a:xfrm>
            <a:off x="6696075" y="490537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64748B"/>
                </a:solidFill>
                <a:latin typeface="Segoe UI" pitchFamily="34" charset="0"/>
                <a:ea typeface="Segoe UI" pitchFamily="34" charset="-122"/>
                <a:cs typeface="Segoe UI" pitchFamily="34" charset="-120"/>
              </a:rPr>
              <a:t>Nháp</a:t>
            </a:r>
            <a:endParaRPr lang="en-US" sz="540" dirty="0"/>
          </a:p>
        </p:txBody>
      </p:sp>
      <p:sp>
        <p:nvSpPr>
          <p:cNvPr id="78" name="Text 76"/>
          <p:cNvSpPr txBox="1"/>
          <p:nvPr/>
        </p:nvSpPr>
        <p:spPr>
          <a:xfrm>
            <a:off x="6667500" y="5267325"/>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79" name="Text 77"/>
          <p:cNvSpPr txBox="1"/>
          <p:nvPr/>
        </p:nvSpPr>
        <p:spPr>
          <a:xfrm>
            <a:off x="7029450" y="5267325"/>
            <a:ext cx="571500" cy="114300"/>
          </a:xfrm>
          <a:prstGeom prst="rect">
            <a:avLst/>
          </a:prstGeom>
          <a:noFill/>
          <a:ln/>
        </p:spPr>
        <p:txBody>
          <a:bodyPr wrap="square" lIns="0" tIns="0" rIns="0" bIns="0" rtlCol="0" anchor="t"/>
          <a:lstStyle/>
          <a:p>
            <a:pPr algn="l" indent="0" marL="0">
              <a:lnSpc>
                <a:spcPct val="106000"/>
              </a:lnSpc>
              <a:buNone/>
            </a:pPr>
            <a:r>
              <a:rPr lang="en-US" sz="600" b="1" dirty="0">
                <a:solidFill>
                  <a:srgbClr val="B45309"/>
                </a:solidFill>
                <a:latin typeface="Segoe UI" pitchFamily="34" charset="0"/>
                <a:ea typeface="Segoe UI" pitchFamily="34" charset="-122"/>
                <a:cs typeface="Segoe UI" pitchFamily="34" charset="-120"/>
              </a:rPr>
              <a:t>Gửi duyệt</a:t>
            </a:r>
            <a:endParaRPr lang="en-US" sz="600" dirty="0"/>
          </a:p>
        </p:txBody>
      </p:sp>
      <p:sp>
        <p:nvSpPr>
          <p:cNvPr id="80" name="Text 78"/>
          <p:cNvSpPr txBox="1"/>
          <p:nvPr/>
        </p:nvSpPr>
        <p:spPr>
          <a:xfrm>
            <a:off x="7620000" y="5267325"/>
            <a:ext cx="4762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81" name="Shape 79"/>
          <p:cNvSpPr/>
          <p:nvPr/>
        </p:nvSpPr>
        <p:spPr>
          <a:xfrm>
            <a:off x="1943100" y="5905500"/>
            <a:ext cx="6305550" cy="476250"/>
          </a:xfrm>
          <a:prstGeom prst="roundRect">
            <a:avLst>
              <a:gd name="adj" fmla="val 14000"/>
            </a:avLst>
          </a:prstGeom>
          <a:solidFill>
            <a:srgbClr val="0F172A"/>
          </a:solidFill>
          <a:ln/>
        </p:spPr>
      </p:sp>
      <p:sp>
        <p:nvSpPr>
          <p:cNvPr id="82" name="Text 80"/>
          <p:cNvSpPr txBox="1"/>
          <p:nvPr/>
        </p:nvSpPr>
        <p:spPr>
          <a:xfrm>
            <a:off x="2076450" y="6057900"/>
            <a:ext cx="476250" cy="152400"/>
          </a:xfrm>
          <a:prstGeom prst="rect">
            <a:avLst/>
          </a:prstGeom>
          <a:noFill/>
          <a:ln/>
        </p:spPr>
        <p:txBody>
          <a:bodyPr wrap="square" lIns="0" tIns="0" rIns="0" bIns="0" rtlCol="0" anchor="t"/>
          <a:lstStyle/>
          <a:p>
            <a:pPr algn="l" indent="0" marL="0">
              <a:lnSpc>
                <a:spcPct val="106000"/>
              </a:lnSpc>
              <a:buNone/>
            </a:pPr>
            <a:r>
              <a:rPr lang="en-US" sz="700" b="1" dirty="0">
                <a:solidFill>
                  <a:srgbClr val="FFFFFF"/>
                </a:solidFill>
                <a:latin typeface="Segoe UI" pitchFamily="34" charset="0"/>
                <a:ea typeface="Segoe UI" pitchFamily="34" charset="-122"/>
                <a:cs typeface="Segoe UI" pitchFamily="34" charset="-120"/>
              </a:rPr>
              <a:t>Nháp</a:t>
            </a:r>
            <a:endParaRPr lang="en-US" sz="700" dirty="0"/>
          </a:p>
        </p:txBody>
      </p:sp>
      <p:sp>
        <p:nvSpPr>
          <p:cNvPr id="83" name="Text 81"/>
          <p:cNvSpPr txBox="1"/>
          <p:nvPr/>
        </p:nvSpPr>
        <p:spPr>
          <a:xfrm>
            <a:off x="2609850" y="6038850"/>
            <a:ext cx="190500" cy="152400"/>
          </a:xfrm>
          <a:prstGeom prst="rect">
            <a:avLst/>
          </a:prstGeom>
          <a:noFill/>
          <a:ln/>
        </p:spPr>
        <p:txBody>
          <a:bodyPr wrap="square" lIns="0" tIns="0" rIns="0" bIns="0" rtlCol="0" anchor="t"/>
          <a:lstStyle/>
          <a:p>
            <a:pPr algn="l" indent="0" marL="0">
              <a:lnSpc>
                <a:spcPct val="106000"/>
              </a:lnSpc>
              <a:buNone/>
            </a:pPr>
            <a:r>
              <a:rPr lang="en-US" sz="900" b="1" dirty="0">
                <a:solidFill>
                  <a:srgbClr val="6EE7B7"/>
                </a:solidFill>
                <a:latin typeface="Segoe UI" pitchFamily="34" charset="0"/>
                <a:ea typeface="Segoe UI" pitchFamily="34" charset="-122"/>
                <a:cs typeface="Segoe UI" pitchFamily="34" charset="-120"/>
              </a:rPr>
              <a:t>→</a:t>
            </a:r>
            <a:endParaRPr lang="en-US" sz="900" dirty="0"/>
          </a:p>
        </p:txBody>
      </p:sp>
      <p:sp>
        <p:nvSpPr>
          <p:cNvPr id="84" name="Text 82"/>
          <p:cNvSpPr txBox="1"/>
          <p:nvPr/>
        </p:nvSpPr>
        <p:spPr>
          <a:xfrm>
            <a:off x="2838450" y="6057900"/>
            <a:ext cx="952500" cy="152400"/>
          </a:xfrm>
          <a:prstGeom prst="rect">
            <a:avLst/>
          </a:prstGeom>
          <a:noFill/>
          <a:ln/>
        </p:spPr>
        <p:txBody>
          <a:bodyPr wrap="square" lIns="0" tIns="0" rIns="0" bIns="0" rtlCol="0" anchor="t"/>
          <a:lstStyle/>
          <a:p>
            <a:pPr algn="l" indent="0" marL="0">
              <a:lnSpc>
                <a:spcPct val="106000"/>
              </a:lnSpc>
              <a:buNone/>
            </a:pPr>
            <a:r>
              <a:rPr lang="en-US" sz="700" b="1" dirty="0">
                <a:solidFill>
                  <a:srgbClr val="FFFFFF"/>
                </a:solidFill>
                <a:latin typeface="Segoe UI" pitchFamily="34" charset="0"/>
                <a:ea typeface="Segoe UI" pitchFamily="34" charset="-122"/>
                <a:cs typeface="Segoe UI" pitchFamily="34" charset="-120"/>
              </a:rPr>
              <a:t>Chờ kiểm duyệt</a:t>
            </a:r>
            <a:endParaRPr lang="en-US" sz="700" dirty="0"/>
          </a:p>
        </p:txBody>
      </p:sp>
      <p:sp>
        <p:nvSpPr>
          <p:cNvPr id="85" name="Text 83"/>
          <p:cNvSpPr txBox="1"/>
          <p:nvPr/>
        </p:nvSpPr>
        <p:spPr>
          <a:xfrm>
            <a:off x="3829050" y="6038850"/>
            <a:ext cx="190500" cy="152400"/>
          </a:xfrm>
          <a:prstGeom prst="rect">
            <a:avLst/>
          </a:prstGeom>
          <a:noFill/>
          <a:ln/>
        </p:spPr>
        <p:txBody>
          <a:bodyPr wrap="square" lIns="0" tIns="0" rIns="0" bIns="0" rtlCol="0" anchor="t"/>
          <a:lstStyle/>
          <a:p>
            <a:pPr algn="l" indent="0" marL="0">
              <a:lnSpc>
                <a:spcPct val="106000"/>
              </a:lnSpc>
              <a:buNone/>
            </a:pPr>
            <a:r>
              <a:rPr lang="en-US" sz="900" b="1" dirty="0">
                <a:solidFill>
                  <a:srgbClr val="6EE7B7"/>
                </a:solidFill>
                <a:latin typeface="Segoe UI" pitchFamily="34" charset="0"/>
                <a:ea typeface="Segoe UI" pitchFamily="34" charset="-122"/>
                <a:cs typeface="Segoe UI" pitchFamily="34" charset="-120"/>
              </a:rPr>
              <a:t>→</a:t>
            </a:r>
            <a:endParaRPr lang="en-US" sz="900" dirty="0"/>
          </a:p>
        </p:txBody>
      </p:sp>
      <p:sp>
        <p:nvSpPr>
          <p:cNvPr id="86" name="Text 84"/>
          <p:cNvSpPr txBox="1"/>
          <p:nvPr/>
        </p:nvSpPr>
        <p:spPr>
          <a:xfrm>
            <a:off x="4057650" y="6057900"/>
            <a:ext cx="762000" cy="152400"/>
          </a:xfrm>
          <a:prstGeom prst="rect">
            <a:avLst/>
          </a:prstGeom>
          <a:noFill/>
          <a:ln/>
        </p:spPr>
        <p:txBody>
          <a:bodyPr wrap="square" lIns="0" tIns="0" rIns="0" bIns="0" rtlCol="0" anchor="t"/>
          <a:lstStyle/>
          <a:p>
            <a:pPr algn="l" indent="0" marL="0">
              <a:lnSpc>
                <a:spcPct val="106000"/>
              </a:lnSpc>
              <a:buNone/>
            </a:pPr>
            <a:r>
              <a:rPr lang="en-US" sz="700" b="1" dirty="0">
                <a:solidFill>
                  <a:srgbClr val="FFFFFF"/>
                </a:solidFill>
                <a:latin typeface="Segoe UI" pitchFamily="34" charset="0"/>
                <a:ea typeface="Segoe UI" pitchFamily="34" charset="-122"/>
                <a:cs typeface="Segoe UI" pitchFamily="34" charset="-120"/>
              </a:rPr>
              <a:t>Xuất bản</a:t>
            </a:r>
            <a:endParaRPr lang="en-US" sz="700" dirty="0"/>
          </a:p>
        </p:txBody>
      </p:sp>
      <p:sp>
        <p:nvSpPr>
          <p:cNvPr id="87" name="Text 85"/>
          <p:cNvSpPr txBox="1"/>
          <p:nvPr/>
        </p:nvSpPr>
        <p:spPr>
          <a:xfrm>
            <a:off x="5715000" y="6057900"/>
            <a:ext cx="2381250" cy="152400"/>
          </a:xfrm>
          <a:prstGeom prst="rect">
            <a:avLst/>
          </a:prstGeom>
          <a:noFill/>
          <a:ln/>
        </p:spPr>
        <p:txBody>
          <a:bodyPr wrap="square" lIns="0" tIns="0" rIns="0" bIns="0" rtlCol="0" anchor="t"/>
          <a:lstStyle/>
          <a:p>
            <a:pPr algn="r" indent="0" marL="0">
              <a:lnSpc>
                <a:spcPct val="106000"/>
              </a:lnSpc>
              <a:buNone/>
            </a:pPr>
            <a:r>
              <a:rPr lang="en-US" sz="640" dirty="0">
                <a:solidFill>
                  <a:srgbClr val="A7F3D0"/>
                </a:solidFill>
                <a:latin typeface="Segoe UI" pitchFamily="34" charset="0"/>
                <a:ea typeface="Segoe UI" pitchFamily="34" charset="-122"/>
                <a:cs typeface="Segoe UI" pitchFamily="34" charset="-120"/>
              </a:rPr>
              <a:t>Kiểm duyệt viên là người chuyển trạng thái cuối.</a:t>
            </a:r>
            <a:endParaRPr lang="en-US" sz="640" dirty="0"/>
          </a:p>
        </p:txBody>
      </p:sp>
      <p:sp>
        <p:nvSpPr>
          <p:cNvPr id="88" name="Shape 86"/>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89" name="Text 87"/>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20 / 27</a:t>
            </a:r>
            <a:endParaRPr lang="en-US" sz="740" dirty="0"/>
          </a:p>
        </p:txBody>
      </p:sp>
      <p:sp>
        <p:nvSpPr>
          <p:cNvPr id="90" name="Text 88"/>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Tài nguyên giáo dục</a:t>
            </a:r>
            <a:endParaRPr lang="en-US" sz="1700" dirty="0"/>
          </a:p>
        </p:txBody>
      </p:sp>
      <p:sp>
        <p:nvSpPr>
          <p:cNvPr id="91" name="Text 89"/>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pages/coach-resource-management.html</a:t>
            </a:r>
            <a:endParaRPr lang="en-US" sz="720" dirty="0"/>
          </a:p>
        </p:txBody>
      </p:sp>
      <p:sp>
        <p:nvSpPr>
          <p:cNvPr id="92" name="Shape 90"/>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93" name="Text 91"/>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94" name="Text 92"/>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Tạo, sửa, gửi kiểm duyệt và lưu trữ tài nguyên giáo dục của huấn luyện viên.</a:t>
            </a:r>
            <a:endParaRPr lang="en-US" sz="920" dirty="0"/>
          </a:p>
        </p:txBody>
      </p:sp>
      <p:sp>
        <p:nvSpPr>
          <p:cNvPr id="95" name="Text 93"/>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96" name="Shape 94"/>
          <p:cNvSpPr/>
          <p:nvPr/>
        </p:nvSpPr>
        <p:spPr>
          <a:xfrm>
            <a:off x="8839200" y="3238500"/>
            <a:ext cx="209550" cy="190500"/>
          </a:xfrm>
          <a:prstGeom prst="roundRect">
            <a:avLst>
              <a:gd name="adj" fmla="val 25000"/>
            </a:avLst>
          </a:prstGeom>
          <a:solidFill>
            <a:srgbClr val="059669"/>
          </a:solidFill>
          <a:ln/>
        </p:spPr>
      </p:sp>
      <p:sp>
        <p:nvSpPr>
          <p:cNvPr id="97" name="Text 95"/>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98" name="Shape 96"/>
          <p:cNvSpPr/>
          <p:nvPr/>
        </p:nvSpPr>
        <p:spPr>
          <a:xfrm>
            <a:off x="9086850" y="3238500"/>
            <a:ext cx="209550" cy="190500"/>
          </a:xfrm>
          <a:prstGeom prst="roundRect">
            <a:avLst>
              <a:gd name="adj" fmla="val 25000"/>
            </a:avLst>
          </a:prstGeom>
          <a:solidFill>
            <a:srgbClr val="059669"/>
          </a:solidFill>
          <a:ln/>
        </p:spPr>
      </p:sp>
      <p:sp>
        <p:nvSpPr>
          <p:cNvPr id="99" name="Text 97"/>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00" name="Shape 98"/>
          <p:cNvSpPr/>
          <p:nvPr/>
        </p:nvSpPr>
        <p:spPr>
          <a:xfrm>
            <a:off x="9334500" y="3238500"/>
            <a:ext cx="209550" cy="190500"/>
          </a:xfrm>
          <a:prstGeom prst="roundRect">
            <a:avLst>
              <a:gd name="adj" fmla="val 25000"/>
            </a:avLst>
          </a:prstGeom>
          <a:solidFill>
            <a:srgbClr val="059669"/>
          </a:solidFill>
          <a:ln/>
        </p:spPr>
      </p:sp>
      <p:sp>
        <p:nvSpPr>
          <p:cNvPr id="101" name="Text 99"/>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02" name="Shape 100"/>
          <p:cNvSpPr/>
          <p:nvPr/>
        </p:nvSpPr>
        <p:spPr>
          <a:xfrm>
            <a:off x="9582150" y="3238500"/>
            <a:ext cx="209550" cy="190500"/>
          </a:xfrm>
          <a:prstGeom prst="roundRect">
            <a:avLst>
              <a:gd name="adj" fmla="val 25000"/>
            </a:avLst>
          </a:prstGeom>
          <a:solidFill>
            <a:srgbClr val="059669"/>
          </a:solidFill>
          <a:ln/>
        </p:spPr>
      </p:sp>
      <p:sp>
        <p:nvSpPr>
          <p:cNvPr id="103" name="Text 101"/>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D</a:t>
            </a:r>
            <a:endParaRPr lang="en-US" sz="740" dirty="0"/>
          </a:p>
        </p:txBody>
      </p:sp>
      <p:sp>
        <p:nvSpPr>
          <p:cNvPr id="104" name="Text 102"/>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Nháp · chờ duyệt · xuất bản · bị từ chối · rỗng.</a:t>
            </a:r>
            <a:endParaRPr lang="en-US" sz="900" dirty="0"/>
          </a:p>
        </p:txBody>
      </p:sp>
      <p:sp>
        <p:nvSpPr>
          <p:cNvPr id="105" name="Text 103"/>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06" name="Text 104"/>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Tìm/lọc loại; modal soạn; validate tiêu đề/nội dung; gửi duyệt; lưu trữ.</a:t>
            </a:r>
            <a:endParaRPr lang="en-US" sz="900" dirty="0"/>
          </a:p>
        </p:txBody>
      </p:sp>
      <p:sp>
        <p:nvSpPr>
          <p:cNvPr id="107" name="Text 105"/>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08" name="Text 106"/>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trạng thái tài nguyên do kiểm duyệt viên cập nhật.</a:t>
            </a:r>
            <a:endParaRPr lang="en-US" sz="900" dirty="0"/>
          </a:p>
        </p:txBody>
      </p:sp>
      <p:sp>
        <p:nvSpPr>
          <p:cNvPr id="109" name="Shape 107"/>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10" name="Text 108"/>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SV2-03-resources</a:t>
            </a:r>
            <a:endParaRPr lang="en-US" sz="840" dirty="0"/>
          </a:p>
        </p:txBody>
      </p:sp>
      <p:sp>
        <p:nvSpPr>
          <p:cNvPr id="111" name="Text 109"/>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FFBEB"/>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B45309"/>
                </a:solidFill>
                <a:latin typeface="Segoe UI" pitchFamily="34" charset="0"/>
                <a:ea typeface="Segoe UI" pitchFamily="34" charset="-122"/>
                <a:cs typeface="Segoe UI" pitchFamily="34" charset="-120"/>
              </a:rPr>
              <a:t>KIỂM DUYỆT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21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Duyệt tài nguyên</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pages/moderator-resource-review.html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spendwise.app/pages/moderator-resource-review.html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Kiểm duyệt viên</a:t>
            </a:r>
            <a:endParaRPr lang="en-US" sz="640" dirty="0"/>
          </a:p>
        </p:txBody>
      </p:sp>
      <p:sp>
        <p:nvSpPr>
          <p:cNvPr id="21" name="Shape 19"/>
          <p:cNvSpPr/>
          <p:nvPr/>
        </p:nvSpPr>
        <p:spPr>
          <a:xfrm>
            <a:off x="495300" y="2085975"/>
            <a:ext cx="1181100" cy="209550"/>
          </a:xfrm>
          <a:prstGeom prst="roundRect">
            <a:avLst>
              <a:gd name="adj" fmla="val 27273"/>
            </a:avLst>
          </a:prstGeom>
          <a:solidFill>
            <a:srgbClr val="ECFDF5"/>
          </a:solidFill>
          <a:ln/>
        </p:spPr>
      </p:sp>
      <p:sp>
        <p:nvSpPr>
          <p:cNvPr id="22" name="Text 20"/>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Duyệt tài nguyên</a:t>
            </a:r>
            <a:endParaRPr lang="en-US" sz="820" dirty="0"/>
          </a:p>
        </p:txBody>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Mẫu AI</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Phản hồi</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Duyệt tài nguyên</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Kiểm duyệt viên</a:t>
            </a:r>
            <a:endParaRPr lang="en-US" sz="700" dirty="0"/>
          </a:p>
        </p:txBody>
      </p:sp>
      <p:sp>
        <p:nvSpPr>
          <p:cNvPr id="33" name="Shape 31"/>
          <p:cNvSpPr/>
          <p:nvPr/>
        </p:nvSpPr>
        <p:spPr>
          <a:xfrm>
            <a:off x="1943100" y="1952625"/>
            <a:ext cx="781050" cy="228600"/>
          </a:xfrm>
          <a:prstGeom prst="roundRect">
            <a:avLst>
              <a:gd name="adj" fmla="val 50000"/>
            </a:avLst>
          </a:prstGeom>
          <a:solidFill>
            <a:srgbClr val="ECFDF5"/>
          </a:solidFill>
          <a:ln/>
        </p:spPr>
      </p:sp>
      <p:sp>
        <p:nvSpPr>
          <p:cNvPr id="34" name="Text 32"/>
          <p:cNvSpPr txBox="1"/>
          <p:nvPr/>
        </p:nvSpPr>
        <p:spPr>
          <a:xfrm>
            <a:off x="1971675" y="1952625"/>
            <a:ext cx="723900" cy="22860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Chờ duyệt 1</a:t>
            </a:r>
            <a:endParaRPr lang="en-US" sz="640" dirty="0"/>
          </a:p>
        </p:txBody>
      </p:sp>
      <p:sp>
        <p:nvSpPr>
          <p:cNvPr id="35" name="Shape 33"/>
          <p:cNvSpPr/>
          <p:nvPr/>
        </p:nvSpPr>
        <p:spPr>
          <a:xfrm>
            <a:off x="2800350" y="1952625"/>
            <a:ext cx="876300" cy="228600"/>
          </a:xfrm>
          <a:prstGeom prst="roundRect">
            <a:avLst>
              <a:gd name="adj" fmla="val 50000"/>
            </a:avLst>
          </a:prstGeom>
          <a:solidFill>
            <a:srgbClr val="F1F5F9"/>
          </a:solidFill>
          <a:ln/>
        </p:spPr>
      </p:sp>
      <p:sp>
        <p:nvSpPr>
          <p:cNvPr id="36" name="Text 34"/>
          <p:cNvSpPr txBox="1"/>
          <p:nvPr/>
        </p:nvSpPr>
        <p:spPr>
          <a:xfrm>
            <a:off x="2828925" y="1952625"/>
            <a:ext cx="819150" cy="228600"/>
          </a:xfrm>
          <a:prstGeom prst="rect">
            <a:avLst/>
          </a:prstGeom>
          <a:noFill/>
          <a:ln/>
        </p:spPr>
        <p:txBody>
          <a:bodyPr wrap="square" lIns="0" tIns="0" rIns="0" bIns="0" rtlCol="0" anchor="ctr"/>
          <a:lstStyle/>
          <a:p>
            <a:pPr algn="ctr" indent="0" marL="0">
              <a:lnSpc>
                <a:spcPct val="106000"/>
              </a:lnSpc>
              <a:buNone/>
            </a:pPr>
            <a:r>
              <a:rPr lang="en-US" sz="640" b="1" dirty="0">
                <a:solidFill>
                  <a:srgbClr val="64748B"/>
                </a:solidFill>
                <a:latin typeface="Segoe UI" pitchFamily="34" charset="0"/>
                <a:ea typeface="Segoe UI" pitchFamily="34" charset="-122"/>
                <a:cs typeface="Segoe UI" pitchFamily="34" charset="-120"/>
              </a:rPr>
              <a:t>Đã duyệt 1</a:t>
            </a:r>
            <a:endParaRPr lang="en-US" sz="640" dirty="0"/>
          </a:p>
        </p:txBody>
      </p:sp>
      <p:sp>
        <p:nvSpPr>
          <p:cNvPr id="37" name="Shape 35"/>
          <p:cNvSpPr/>
          <p:nvPr/>
        </p:nvSpPr>
        <p:spPr>
          <a:xfrm>
            <a:off x="3752850" y="1952625"/>
            <a:ext cx="800100" cy="228600"/>
          </a:xfrm>
          <a:prstGeom prst="roundRect">
            <a:avLst>
              <a:gd name="adj" fmla="val 50000"/>
            </a:avLst>
          </a:prstGeom>
          <a:solidFill>
            <a:srgbClr val="FFFFFF"/>
          </a:solidFill>
          <a:ln w="9525">
            <a:solidFill>
              <a:srgbClr val="E2E8F0"/>
            </a:solidFill>
            <a:prstDash val="solid"/>
          </a:ln>
        </p:spPr>
      </p:sp>
      <p:sp>
        <p:nvSpPr>
          <p:cNvPr id="38" name="Text 36"/>
          <p:cNvSpPr txBox="1"/>
          <p:nvPr/>
        </p:nvSpPr>
        <p:spPr>
          <a:xfrm>
            <a:off x="3781425" y="1952625"/>
            <a:ext cx="742950" cy="228600"/>
          </a:xfrm>
          <a:prstGeom prst="rect">
            <a:avLst/>
          </a:prstGeom>
          <a:noFill/>
          <a:ln/>
        </p:spPr>
        <p:txBody>
          <a:bodyPr wrap="square" lIns="0" tIns="0" rIns="0" bIns="0" rtlCol="0" anchor="ctr"/>
          <a:lstStyle/>
          <a:p>
            <a:pPr algn="ctr" indent="0" marL="0">
              <a:lnSpc>
                <a:spcPct val="106000"/>
              </a:lnSpc>
              <a:buNone/>
            </a:pPr>
            <a:r>
              <a:rPr lang="en-US" sz="640" b="1" dirty="0">
                <a:solidFill>
                  <a:srgbClr val="475569"/>
                </a:solidFill>
                <a:latin typeface="Segoe UI" pitchFamily="34" charset="0"/>
                <a:ea typeface="Segoe UI" pitchFamily="34" charset="-122"/>
                <a:cs typeface="Segoe UI" pitchFamily="34" charset="-120"/>
              </a:rPr>
              <a:t>Từ chối 1</a:t>
            </a:r>
            <a:endParaRPr lang="en-US" sz="640" dirty="0"/>
          </a:p>
        </p:txBody>
      </p:sp>
      <p:sp>
        <p:nvSpPr>
          <p:cNvPr id="39" name="Shape 37"/>
          <p:cNvSpPr/>
          <p:nvPr/>
        </p:nvSpPr>
        <p:spPr>
          <a:xfrm>
            <a:off x="1943100" y="2333625"/>
            <a:ext cx="4095750" cy="3762375"/>
          </a:xfrm>
          <a:prstGeom prst="roundRect">
            <a:avLst>
              <a:gd name="adj" fmla="val 2025"/>
            </a:avLst>
          </a:prstGeom>
          <a:solidFill>
            <a:srgbClr val="FFFFFF"/>
          </a:solidFill>
          <a:ln w="9525">
            <a:solidFill>
              <a:srgbClr val="E2E8F0"/>
            </a:solidFill>
            <a:prstDash val="solid"/>
          </a:ln>
        </p:spPr>
      </p:sp>
      <p:sp>
        <p:nvSpPr>
          <p:cNvPr id="40" name="Shape 38"/>
          <p:cNvSpPr/>
          <p:nvPr/>
        </p:nvSpPr>
        <p:spPr>
          <a:xfrm>
            <a:off x="2076450" y="2447925"/>
            <a:ext cx="533400" cy="152400"/>
          </a:xfrm>
          <a:prstGeom prst="roundRect">
            <a:avLst>
              <a:gd name="adj" fmla="val 50000"/>
            </a:avLst>
          </a:prstGeom>
          <a:solidFill>
            <a:srgbClr val="ECFDF5"/>
          </a:solidFill>
          <a:ln/>
        </p:spPr>
      </p:sp>
      <p:sp>
        <p:nvSpPr>
          <p:cNvPr id="41" name="Text 39"/>
          <p:cNvSpPr txBox="1"/>
          <p:nvPr/>
        </p:nvSpPr>
        <p:spPr>
          <a:xfrm>
            <a:off x="2105025" y="2447925"/>
            <a:ext cx="4762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047857"/>
                </a:solidFill>
                <a:latin typeface="Segoe UI" pitchFamily="34" charset="0"/>
                <a:ea typeface="Segoe UI" pitchFamily="34" charset="-122"/>
                <a:cs typeface="Segoe UI" pitchFamily="34" charset="-120"/>
              </a:rPr>
              <a:t>Bài viết</a:t>
            </a:r>
            <a:endParaRPr lang="en-US" sz="540" dirty="0"/>
          </a:p>
        </p:txBody>
      </p:sp>
      <p:sp>
        <p:nvSpPr>
          <p:cNvPr id="42" name="Shape 40"/>
          <p:cNvSpPr/>
          <p:nvPr/>
        </p:nvSpPr>
        <p:spPr>
          <a:xfrm>
            <a:off x="5429250" y="2447925"/>
            <a:ext cx="628650" cy="152400"/>
          </a:xfrm>
          <a:prstGeom prst="roundRect">
            <a:avLst>
              <a:gd name="adj" fmla="val 50000"/>
            </a:avLst>
          </a:prstGeom>
          <a:solidFill>
            <a:srgbClr val="FFFBEB"/>
          </a:solidFill>
          <a:ln/>
        </p:spPr>
      </p:sp>
      <p:sp>
        <p:nvSpPr>
          <p:cNvPr id="43" name="Text 41"/>
          <p:cNvSpPr txBox="1"/>
          <p:nvPr/>
        </p:nvSpPr>
        <p:spPr>
          <a:xfrm>
            <a:off x="5457825" y="2447925"/>
            <a:ext cx="57150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B45309"/>
                </a:solidFill>
                <a:latin typeface="Segoe UI" pitchFamily="34" charset="0"/>
                <a:ea typeface="Segoe UI" pitchFamily="34" charset="-122"/>
                <a:cs typeface="Segoe UI" pitchFamily="34" charset="-120"/>
              </a:rPr>
              <a:t>Chờ duyệt</a:t>
            </a:r>
            <a:endParaRPr lang="en-US" sz="540" dirty="0"/>
          </a:p>
        </p:txBody>
      </p:sp>
      <p:sp>
        <p:nvSpPr>
          <p:cNvPr id="44" name="Text 42"/>
          <p:cNvSpPr txBox="1"/>
          <p:nvPr/>
        </p:nvSpPr>
        <p:spPr>
          <a:xfrm>
            <a:off x="2076450" y="2695575"/>
            <a:ext cx="3714750" cy="190500"/>
          </a:xfrm>
          <a:prstGeom prst="rect">
            <a:avLst/>
          </a:prstGeom>
          <a:noFill/>
          <a:ln/>
        </p:spPr>
        <p:txBody>
          <a:bodyPr wrap="square" lIns="0" tIns="0" rIns="0" bIns="0" rtlCol="0" anchor="t"/>
          <a:lstStyle/>
          <a:p>
            <a:pPr algn="l" indent="0" marL="0">
              <a:lnSpc>
                <a:spcPct val="106000"/>
              </a:lnSpc>
              <a:buNone/>
            </a:pPr>
            <a:r>
              <a:rPr lang="en-US" sz="1120" b="1" dirty="0">
                <a:solidFill>
                  <a:srgbClr val="0F172A"/>
                </a:solidFill>
                <a:latin typeface="Segoe UI" pitchFamily="34" charset="0"/>
                <a:ea typeface="Segoe UI" pitchFamily="34" charset="-122"/>
                <a:cs typeface="Segoe UI" pitchFamily="34" charset="-120"/>
              </a:rPr>
              <a:t>Checklist chi tiêu đầu tháng</a:t>
            </a:r>
            <a:endParaRPr lang="en-US" sz="1120" dirty="0"/>
          </a:p>
        </p:txBody>
      </p:sp>
      <p:sp>
        <p:nvSpPr>
          <p:cNvPr id="45" name="Text 43"/>
          <p:cNvSpPr txBox="1"/>
          <p:nvPr/>
        </p:nvSpPr>
        <p:spPr>
          <a:xfrm>
            <a:off x="2076450" y="2971800"/>
            <a:ext cx="3714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Phạm Thị Lan · gửi 16/10/2026 · tag thói quen</a:t>
            </a:r>
            <a:endParaRPr lang="en-US" sz="620" dirty="0"/>
          </a:p>
        </p:txBody>
      </p:sp>
      <p:sp>
        <p:nvSpPr>
          <p:cNvPr id="46" name="Shape 44"/>
          <p:cNvSpPr/>
          <p:nvPr/>
        </p:nvSpPr>
        <p:spPr>
          <a:xfrm>
            <a:off x="2076450" y="3200400"/>
            <a:ext cx="3829050" cy="1409700"/>
          </a:xfrm>
          <a:prstGeom prst="roundRect">
            <a:avLst>
              <a:gd name="adj" fmla="val 4054"/>
            </a:avLst>
          </a:prstGeom>
          <a:solidFill>
            <a:srgbClr val="F8FAFC"/>
          </a:solidFill>
          <a:ln w="9525">
            <a:solidFill>
              <a:srgbClr val="E2E8F0"/>
            </a:solidFill>
            <a:prstDash val="solid"/>
          </a:ln>
        </p:spPr>
      </p:sp>
      <p:sp>
        <p:nvSpPr>
          <p:cNvPr id="47" name="Text 45"/>
          <p:cNvSpPr txBox="1"/>
          <p:nvPr/>
        </p:nvSpPr>
        <p:spPr>
          <a:xfrm>
            <a:off x="2209800" y="3314700"/>
            <a:ext cx="3562350" cy="1200150"/>
          </a:xfrm>
          <a:prstGeom prst="rect">
            <a:avLst/>
          </a:prstGeom>
          <a:noFill/>
          <a:ln/>
        </p:spPr>
        <p:txBody>
          <a:bodyPr wrap="square" lIns="0" tIns="0" rIns="0" bIns="0" rtlCol="0" anchor="t"/>
          <a:lstStyle/>
          <a:p>
            <a:pPr algn="l" indent="0" marL="0">
              <a:lnSpc>
                <a:spcPct val="135000"/>
              </a:lnSpc>
              <a:buNone/>
            </a:pPr>
            <a:r>
              <a:rPr lang="en-US" sz="740" dirty="0">
                <a:solidFill>
                  <a:srgbClr val="475569"/>
                </a:solidFill>
                <a:latin typeface="Segoe UI" pitchFamily="34" charset="0"/>
                <a:ea typeface="Segoe UI" pitchFamily="34" charset="-122"/>
                <a:cs typeface="Segoe UI" pitchFamily="34" charset="-120"/>
              </a:rPr>
              <a:t>- Ghi lại thu nhập của tháng</a:t>
            </a:r>
            <a:endParaRPr lang="en-US" sz="740" dirty="0"/>
          </a:p>
          <a:p>
            <a:pPr algn="l" indent="0" marL="0">
              <a:lnSpc>
                <a:spcPct val="135000"/>
              </a:lnSpc>
              <a:buNone/>
            </a:pPr>
            <a:r>
              <a:rPr lang="en-US" sz="740" dirty="0">
                <a:solidFill>
                  <a:srgbClr val="475569"/>
                </a:solidFill>
                <a:latin typeface="Segoe UI" pitchFamily="34" charset="0"/>
                <a:ea typeface="Segoe UI" pitchFamily="34" charset="-122"/>
                <a:cs typeface="Segoe UI" pitchFamily="34" charset="-120"/>
              </a:rPr>
              <a:t>- Chia thu nhập theo 50/30/20</a:t>
            </a:r>
            <a:endParaRPr lang="en-US" sz="740" dirty="0"/>
          </a:p>
          <a:p>
            <a:pPr algn="l" indent="0" marL="0">
              <a:lnSpc>
                <a:spcPct val="135000"/>
              </a:lnSpc>
              <a:buNone/>
            </a:pPr>
            <a:r>
              <a:rPr lang="en-US" sz="740" dirty="0">
                <a:solidFill>
                  <a:srgbClr val="475569"/>
                </a:solidFill>
                <a:latin typeface="Segoe UI" pitchFamily="34" charset="0"/>
                <a:ea typeface="Segoe UI" pitchFamily="34" charset="-122"/>
                <a:cs typeface="Segoe UI" pitchFamily="34" charset="-120"/>
              </a:rPr>
              <a:t>- Đặt hạn mức cho từng danh mục</a:t>
            </a:r>
            <a:endParaRPr lang="en-US" sz="740" dirty="0"/>
          </a:p>
          <a:p>
            <a:pPr algn="l" indent="0" marL="0">
              <a:lnSpc>
                <a:spcPct val="135000"/>
              </a:lnSpc>
              <a:buNone/>
            </a:pPr>
            <a:r>
              <a:rPr lang="en-US" sz="740" dirty="0">
                <a:solidFill>
                  <a:srgbClr val="475569"/>
                </a:solidFill>
                <a:latin typeface="Segoe UI" pitchFamily="34" charset="0"/>
                <a:ea typeface="Segoe UI" pitchFamily="34" charset="-122"/>
                <a:cs typeface="Segoe UI" pitchFamily="34" charset="-120"/>
              </a:rPr>
              <a:t>- Cuối tháng đối chiếu và điều chỉnh</a:t>
            </a:r>
            <a:endParaRPr lang="en-US" sz="740" dirty="0"/>
          </a:p>
        </p:txBody>
      </p:sp>
      <p:sp>
        <p:nvSpPr>
          <p:cNvPr id="48" name="Shape 46"/>
          <p:cNvSpPr/>
          <p:nvPr/>
        </p:nvSpPr>
        <p:spPr>
          <a:xfrm>
            <a:off x="2076450" y="4762500"/>
            <a:ext cx="609600" cy="152400"/>
          </a:xfrm>
          <a:prstGeom prst="roundRect">
            <a:avLst>
              <a:gd name="adj" fmla="val 50000"/>
            </a:avLst>
          </a:prstGeom>
          <a:solidFill>
            <a:srgbClr val="FFFFFF"/>
          </a:solidFill>
          <a:ln w="9525">
            <a:solidFill>
              <a:srgbClr val="E2E8F0"/>
            </a:solidFill>
            <a:prstDash val="solid"/>
          </a:ln>
        </p:spPr>
      </p:sp>
      <p:sp>
        <p:nvSpPr>
          <p:cNvPr id="49" name="Text 47"/>
          <p:cNvSpPr txBox="1"/>
          <p:nvPr/>
        </p:nvSpPr>
        <p:spPr>
          <a:xfrm>
            <a:off x="2105025" y="4762500"/>
            <a:ext cx="5524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475569"/>
                </a:solidFill>
                <a:latin typeface="Segoe UI" pitchFamily="34" charset="0"/>
                <a:ea typeface="Segoe UI" pitchFamily="34" charset="-122"/>
                <a:cs typeface="Segoe UI" pitchFamily="34" charset="-120"/>
              </a:rPr>
              <a:t>Thói quen</a:t>
            </a:r>
            <a:endParaRPr lang="en-US" sz="540" dirty="0"/>
          </a:p>
        </p:txBody>
      </p:sp>
      <p:sp>
        <p:nvSpPr>
          <p:cNvPr id="50" name="Shape 48"/>
          <p:cNvSpPr/>
          <p:nvPr/>
        </p:nvSpPr>
        <p:spPr>
          <a:xfrm>
            <a:off x="2743200" y="4762500"/>
            <a:ext cx="609600" cy="152400"/>
          </a:xfrm>
          <a:prstGeom prst="roundRect">
            <a:avLst>
              <a:gd name="adj" fmla="val 50000"/>
            </a:avLst>
          </a:prstGeom>
          <a:solidFill>
            <a:srgbClr val="FFFFFF"/>
          </a:solidFill>
          <a:ln w="9525">
            <a:solidFill>
              <a:srgbClr val="E2E8F0"/>
            </a:solidFill>
            <a:prstDash val="solid"/>
          </a:ln>
        </p:spPr>
      </p:sp>
      <p:sp>
        <p:nvSpPr>
          <p:cNvPr id="51" name="Text 49"/>
          <p:cNvSpPr txBox="1"/>
          <p:nvPr/>
        </p:nvSpPr>
        <p:spPr>
          <a:xfrm>
            <a:off x="2771775" y="4762500"/>
            <a:ext cx="5524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475569"/>
                </a:solidFill>
                <a:latin typeface="Segoe UI" pitchFamily="34" charset="0"/>
                <a:ea typeface="Segoe UI" pitchFamily="34" charset="-122"/>
                <a:cs typeface="Segoe UI" pitchFamily="34" charset="-120"/>
              </a:rPr>
              <a:t>Ngân sách</a:t>
            </a:r>
            <a:endParaRPr lang="en-US" sz="540" dirty="0"/>
          </a:p>
        </p:txBody>
      </p:sp>
      <p:sp>
        <p:nvSpPr>
          <p:cNvPr id="52" name="Shape 50"/>
          <p:cNvSpPr/>
          <p:nvPr/>
        </p:nvSpPr>
        <p:spPr>
          <a:xfrm>
            <a:off x="3409950" y="4762500"/>
            <a:ext cx="609600" cy="152400"/>
          </a:xfrm>
          <a:prstGeom prst="roundRect">
            <a:avLst>
              <a:gd name="adj" fmla="val 50000"/>
            </a:avLst>
          </a:prstGeom>
          <a:solidFill>
            <a:srgbClr val="FFFFFF"/>
          </a:solidFill>
          <a:ln w="9525">
            <a:solidFill>
              <a:srgbClr val="E2E8F0"/>
            </a:solidFill>
            <a:prstDash val="solid"/>
          </a:ln>
        </p:spPr>
      </p:sp>
      <p:sp>
        <p:nvSpPr>
          <p:cNvPr id="53" name="Text 51"/>
          <p:cNvSpPr txBox="1"/>
          <p:nvPr/>
        </p:nvSpPr>
        <p:spPr>
          <a:xfrm>
            <a:off x="3438525" y="4762500"/>
            <a:ext cx="552450" cy="152400"/>
          </a:xfrm>
          <a:prstGeom prst="rect">
            <a:avLst/>
          </a:prstGeom>
          <a:noFill/>
          <a:ln/>
        </p:spPr>
        <p:txBody>
          <a:bodyPr wrap="square" lIns="0" tIns="0" rIns="0" bIns="0" rtlCol="0" anchor="ctr"/>
          <a:lstStyle/>
          <a:p>
            <a:pPr algn="ctr" indent="0" marL="0">
              <a:lnSpc>
                <a:spcPct val="106000"/>
              </a:lnSpc>
              <a:buNone/>
            </a:pPr>
            <a:r>
              <a:rPr lang="en-US" sz="540" b="1" dirty="0">
                <a:solidFill>
                  <a:srgbClr val="475569"/>
                </a:solidFill>
                <a:latin typeface="Segoe UI" pitchFamily="34" charset="0"/>
                <a:ea typeface="Segoe UI" pitchFamily="34" charset="-122"/>
                <a:cs typeface="Segoe UI" pitchFamily="34" charset="-120"/>
              </a:rPr>
              <a:t>Sinh viên</a:t>
            </a:r>
            <a:endParaRPr lang="en-US" sz="540" dirty="0"/>
          </a:p>
        </p:txBody>
      </p:sp>
      <p:sp>
        <p:nvSpPr>
          <p:cNvPr id="54" name="Shape 52"/>
          <p:cNvSpPr/>
          <p:nvPr/>
        </p:nvSpPr>
        <p:spPr>
          <a:xfrm>
            <a:off x="2076450" y="5143500"/>
            <a:ext cx="781050" cy="266700"/>
          </a:xfrm>
          <a:prstGeom prst="roundRect">
            <a:avLst>
              <a:gd name="adj" fmla="val 17857"/>
            </a:avLst>
          </a:prstGeom>
          <a:solidFill>
            <a:srgbClr val="059669"/>
          </a:solidFill>
          <a:ln/>
        </p:spPr>
      </p:sp>
      <p:sp>
        <p:nvSpPr>
          <p:cNvPr id="55" name="Text 53"/>
          <p:cNvSpPr txBox="1"/>
          <p:nvPr/>
        </p:nvSpPr>
        <p:spPr>
          <a:xfrm>
            <a:off x="2076450" y="5143500"/>
            <a:ext cx="781050" cy="266700"/>
          </a:xfrm>
          <a:prstGeom prst="rect">
            <a:avLst/>
          </a:prstGeom>
          <a:noFill/>
          <a:ln/>
        </p:spPr>
        <p:txBody>
          <a:bodyPr wrap="square" lIns="0" tIns="0" rIns="0" bIns="0" rtlCol="0" anchor="ctr"/>
          <a:lstStyle/>
          <a:p>
            <a:pPr algn="ctr" indent="0" marL="0">
              <a:lnSpc>
                <a:spcPct val="106000"/>
              </a:lnSpc>
              <a:buNone/>
            </a:pPr>
            <a:r>
              <a:rPr lang="en-US" sz="660" b="1" dirty="0">
                <a:solidFill>
                  <a:srgbClr val="FFFFFF"/>
                </a:solidFill>
                <a:latin typeface="Segoe UI" pitchFamily="34" charset="0"/>
                <a:ea typeface="Segoe UI" pitchFamily="34" charset="-122"/>
                <a:cs typeface="Segoe UI" pitchFamily="34" charset="-120"/>
              </a:rPr>
              <a:t>Duyệt</a:t>
            </a:r>
            <a:endParaRPr lang="en-US" sz="660" dirty="0"/>
          </a:p>
        </p:txBody>
      </p:sp>
      <p:sp>
        <p:nvSpPr>
          <p:cNvPr id="56" name="Shape 54"/>
          <p:cNvSpPr/>
          <p:nvPr/>
        </p:nvSpPr>
        <p:spPr>
          <a:xfrm>
            <a:off x="2933700" y="5143500"/>
            <a:ext cx="781050" cy="266700"/>
          </a:xfrm>
          <a:prstGeom prst="roundRect">
            <a:avLst>
              <a:gd name="adj" fmla="val 17857"/>
            </a:avLst>
          </a:prstGeom>
          <a:solidFill>
            <a:srgbClr val="FFFFFF"/>
          </a:solidFill>
          <a:ln w="9525">
            <a:solidFill>
              <a:srgbClr val="DC2626"/>
            </a:solidFill>
            <a:prstDash val="solid"/>
          </a:ln>
        </p:spPr>
      </p:sp>
      <p:sp>
        <p:nvSpPr>
          <p:cNvPr id="57" name="Text 55"/>
          <p:cNvSpPr txBox="1"/>
          <p:nvPr/>
        </p:nvSpPr>
        <p:spPr>
          <a:xfrm>
            <a:off x="2933700" y="5143500"/>
            <a:ext cx="781050" cy="266700"/>
          </a:xfrm>
          <a:prstGeom prst="rect">
            <a:avLst/>
          </a:prstGeom>
          <a:noFill/>
          <a:ln/>
        </p:spPr>
        <p:txBody>
          <a:bodyPr wrap="square" lIns="0" tIns="0" rIns="0" bIns="0" rtlCol="0" anchor="ctr"/>
          <a:lstStyle/>
          <a:p>
            <a:pPr algn="ctr" indent="0" marL="0">
              <a:lnSpc>
                <a:spcPct val="106000"/>
              </a:lnSpc>
              <a:buNone/>
            </a:pPr>
            <a:r>
              <a:rPr lang="en-US" sz="660" b="1" dirty="0">
                <a:solidFill>
                  <a:srgbClr val="DC2626"/>
                </a:solidFill>
                <a:latin typeface="Segoe UI" pitchFamily="34" charset="0"/>
                <a:ea typeface="Segoe UI" pitchFamily="34" charset="-122"/>
                <a:cs typeface="Segoe UI" pitchFamily="34" charset="-120"/>
              </a:rPr>
              <a:t>Từ chối</a:t>
            </a:r>
            <a:endParaRPr lang="en-US" sz="660" dirty="0"/>
          </a:p>
        </p:txBody>
      </p:sp>
      <p:sp>
        <p:nvSpPr>
          <p:cNvPr id="58" name="Shape 56"/>
          <p:cNvSpPr/>
          <p:nvPr/>
        </p:nvSpPr>
        <p:spPr>
          <a:xfrm>
            <a:off x="3790950" y="5143500"/>
            <a:ext cx="876300" cy="266700"/>
          </a:xfrm>
          <a:prstGeom prst="roundRect">
            <a:avLst>
              <a:gd name="adj" fmla="val 17857"/>
            </a:avLst>
          </a:prstGeom>
          <a:solidFill>
            <a:srgbClr val="FFFFFF"/>
          </a:solidFill>
          <a:ln w="9525">
            <a:solidFill>
              <a:srgbClr val="E2E8F0"/>
            </a:solidFill>
            <a:prstDash val="solid"/>
          </a:ln>
        </p:spPr>
      </p:sp>
      <p:sp>
        <p:nvSpPr>
          <p:cNvPr id="59" name="Text 57"/>
          <p:cNvSpPr txBox="1"/>
          <p:nvPr/>
        </p:nvSpPr>
        <p:spPr>
          <a:xfrm>
            <a:off x="3790950" y="5143500"/>
            <a:ext cx="876300" cy="266700"/>
          </a:xfrm>
          <a:prstGeom prst="rect">
            <a:avLst/>
          </a:prstGeom>
          <a:noFill/>
          <a:ln/>
        </p:spPr>
        <p:txBody>
          <a:bodyPr wrap="square" lIns="0" tIns="0" rIns="0" bIns="0" rtlCol="0" anchor="ctr"/>
          <a:lstStyle/>
          <a:p>
            <a:pPr algn="ctr" indent="0" marL="0">
              <a:lnSpc>
                <a:spcPct val="106000"/>
              </a:lnSpc>
              <a:buNone/>
            </a:pPr>
            <a:r>
              <a:rPr lang="en-US" sz="640" dirty="0">
                <a:solidFill>
                  <a:srgbClr val="475569"/>
                </a:solidFill>
                <a:latin typeface="Segoe UI" pitchFamily="34" charset="0"/>
                <a:ea typeface="Segoe UI" pitchFamily="34" charset="-122"/>
                <a:cs typeface="Segoe UI" pitchFamily="34" charset="-120"/>
              </a:rPr>
              <a:t>Xem toàn văn</a:t>
            </a:r>
            <a:endParaRPr lang="en-US" sz="640" dirty="0"/>
          </a:p>
        </p:txBody>
      </p:sp>
      <p:sp>
        <p:nvSpPr>
          <p:cNvPr id="60" name="Text 58"/>
          <p:cNvSpPr txBox="1"/>
          <p:nvPr/>
        </p:nvSpPr>
        <p:spPr>
          <a:xfrm>
            <a:off x="2076450" y="5581650"/>
            <a:ext cx="3714750" cy="13335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Nội dung đã được coach gửi duyệt, chưa xuất bản.</a:t>
            </a:r>
            <a:endParaRPr lang="en-US" sz="620" dirty="0"/>
          </a:p>
        </p:txBody>
      </p:sp>
      <p:sp>
        <p:nvSpPr>
          <p:cNvPr id="61" name="Shape 59"/>
          <p:cNvSpPr/>
          <p:nvPr/>
        </p:nvSpPr>
        <p:spPr>
          <a:xfrm>
            <a:off x="6172200" y="2333625"/>
            <a:ext cx="2076450" cy="3762375"/>
          </a:xfrm>
          <a:prstGeom prst="roundRect">
            <a:avLst>
              <a:gd name="adj" fmla="val 3670"/>
            </a:avLst>
          </a:prstGeom>
          <a:solidFill>
            <a:srgbClr val="FFFFFF"/>
          </a:solidFill>
          <a:ln w="9525">
            <a:solidFill>
              <a:srgbClr val="E2E8F0"/>
            </a:solidFill>
            <a:prstDash val="solid"/>
          </a:ln>
        </p:spPr>
      </p:sp>
      <p:sp>
        <p:nvSpPr>
          <p:cNvPr id="62" name="Text 60"/>
          <p:cNvSpPr txBox="1"/>
          <p:nvPr/>
        </p:nvSpPr>
        <p:spPr>
          <a:xfrm>
            <a:off x="6305550" y="2447925"/>
            <a:ext cx="1809750" cy="152400"/>
          </a:xfrm>
          <a:prstGeom prst="rect">
            <a:avLst/>
          </a:prstGeom>
          <a:noFill/>
          <a:ln/>
        </p:spPr>
        <p:txBody>
          <a:bodyPr wrap="square" lIns="0" tIns="0" rIns="0" bIns="0" rtlCol="0" anchor="t"/>
          <a:lstStyle/>
          <a:p>
            <a:pPr algn="l" indent="0" marL="0">
              <a:lnSpc>
                <a:spcPct val="106000"/>
              </a:lnSpc>
              <a:buNone/>
            </a:pPr>
            <a:r>
              <a:rPr lang="en-US" sz="840" b="1" dirty="0">
                <a:solidFill>
                  <a:srgbClr val="0F172A"/>
                </a:solidFill>
                <a:latin typeface="Segoe UI" pitchFamily="34" charset="0"/>
                <a:ea typeface="Segoe UI" pitchFamily="34" charset="-122"/>
                <a:cs typeface="Segoe UI" pitchFamily="34" charset="-120"/>
              </a:rPr>
              <a:t>Quyết định kiểm duyệt</a:t>
            </a:r>
            <a:endParaRPr lang="en-US" sz="840" dirty="0"/>
          </a:p>
        </p:txBody>
      </p:sp>
      <p:sp>
        <p:nvSpPr>
          <p:cNvPr id="63" name="Shape 61"/>
          <p:cNvSpPr/>
          <p:nvPr/>
        </p:nvSpPr>
        <p:spPr>
          <a:xfrm>
            <a:off x="6305550" y="2733675"/>
            <a:ext cx="95250" cy="95250"/>
          </a:xfrm>
          <a:prstGeom prst="ellipse">
            <a:avLst/>
          </a:prstGeom>
          <a:solidFill>
            <a:srgbClr val="FFFFFF"/>
          </a:solidFill>
          <a:ln w="9525">
            <a:solidFill>
              <a:srgbClr val="94A3B8"/>
            </a:solidFill>
            <a:prstDash val="solid"/>
          </a:ln>
        </p:spPr>
      </p:sp>
      <p:sp>
        <p:nvSpPr>
          <p:cNvPr id="64" name="Text 62"/>
          <p:cNvSpPr txBox="1"/>
          <p:nvPr/>
        </p:nvSpPr>
        <p:spPr>
          <a:xfrm>
            <a:off x="6477000" y="2724150"/>
            <a:ext cx="1676400" cy="2095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Nội dung chưa được kiểm chứng</a:t>
            </a:r>
            <a:endParaRPr lang="en-US" sz="640" dirty="0"/>
          </a:p>
        </p:txBody>
      </p:sp>
      <p:sp>
        <p:nvSpPr>
          <p:cNvPr id="65" name="Shape 63"/>
          <p:cNvSpPr/>
          <p:nvPr/>
        </p:nvSpPr>
        <p:spPr>
          <a:xfrm>
            <a:off x="6305550" y="3000375"/>
            <a:ext cx="95250" cy="95250"/>
          </a:xfrm>
          <a:prstGeom prst="ellipse">
            <a:avLst/>
          </a:prstGeom>
          <a:solidFill>
            <a:srgbClr val="FFFFFF"/>
          </a:solidFill>
          <a:ln w="9525">
            <a:solidFill>
              <a:srgbClr val="94A3B8"/>
            </a:solidFill>
            <a:prstDash val="solid"/>
          </a:ln>
        </p:spPr>
      </p:sp>
      <p:sp>
        <p:nvSpPr>
          <p:cNvPr id="66" name="Text 64"/>
          <p:cNvSpPr txBox="1"/>
          <p:nvPr/>
        </p:nvSpPr>
        <p:spPr>
          <a:xfrm>
            <a:off x="6477000" y="2990850"/>
            <a:ext cx="1676400" cy="2095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Ngôn ngữ chưa phù hợp</a:t>
            </a:r>
            <a:endParaRPr lang="en-US" sz="640" dirty="0"/>
          </a:p>
        </p:txBody>
      </p:sp>
      <p:sp>
        <p:nvSpPr>
          <p:cNvPr id="67" name="Shape 65"/>
          <p:cNvSpPr/>
          <p:nvPr/>
        </p:nvSpPr>
        <p:spPr>
          <a:xfrm>
            <a:off x="6305550" y="3267075"/>
            <a:ext cx="95250" cy="95250"/>
          </a:xfrm>
          <a:prstGeom prst="ellipse">
            <a:avLst/>
          </a:prstGeom>
          <a:solidFill>
            <a:srgbClr val="FFFFFF"/>
          </a:solidFill>
          <a:ln w="9525">
            <a:solidFill>
              <a:srgbClr val="94A3B8"/>
            </a:solidFill>
            <a:prstDash val="solid"/>
          </a:ln>
        </p:spPr>
      </p:sp>
      <p:sp>
        <p:nvSpPr>
          <p:cNvPr id="68" name="Text 66"/>
          <p:cNvSpPr txBox="1"/>
          <p:nvPr/>
        </p:nvSpPr>
        <p:spPr>
          <a:xfrm>
            <a:off x="6477000" y="3257550"/>
            <a:ext cx="1676400" cy="2095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Thiếu nguồn tham khảo</a:t>
            </a:r>
            <a:endParaRPr lang="en-US" sz="640" dirty="0"/>
          </a:p>
        </p:txBody>
      </p:sp>
      <p:sp>
        <p:nvSpPr>
          <p:cNvPr id="69" name="Text 67"/>
          <p:cNvSpPr txBox="1"/>
          <p:nvPr/>
        </p:nvSpPr>
        <p:spPr>
          <a:xfrm>
            <a:off x="6305550" y="3600450"/>
            <a:ext cx="180975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Lý do gửi tác giả</a:t>
            </a:r>
            <a:endParaRPr lang="en-US" sz="660" dirty="0"/>
          </a:p>
        </p:txBody>
      </p:sp>
      <p:sp>
        <p:nvSpPr>
          <p:cNvPr id="70" name="Shape 68"/>
          <p:cNvSpPr/>
          <p:nvPr/>
        </p:nvSpPr>
        <p:spPr>
          <a:xfrm>
            <a:off x="6305550" y="3752850"/>
            <a:ext cx="1809750" cy="819150"/>
          </a:xfrm>
          <a:prstGeom prst="roundRect">
            <a:avLst>
              <a:gd name="adj" fmla="val 6977"/>
            </a:avLst>
          </a:prstGeom>
          <a:solidFill>
            <a:srgbClr val="FFFFFF"/>
          </a:solidFill>
          <a:ln w="9525">
            <a:solidFill>
              <a:srgbClr val="E2E8F0"/>
            </a:solidFill>
            <a:prstDash val="solid"/>
          </a:ln>
        </p:spPr>
      </p:sp>
      <p:sp>
        <p:nvSpPr>
          <p:cNvPr id="71" name="Text 69"/>
          <p:cNvSpPr txBox="1"/>
          <p:nvPr/>
        </p:nvSpPr>
        <p:spPr>
          <a:xfrm>
            <a:off x="6400800" y="3829050"/>
            <a:ext cx="1619250" cy="5334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Bài viết cần thêm nguồn cho số liệu 50/30/20...</a:t>
            </a:r>
            <a:endParaRPr lang="en-US" sz="620" dirty="0"/>
          </a:p>
        </p:txBody>
      </p:sp>
      <p:sp>
        <p:nvSpPr>
          <p:cNvPr id="72" name="Text 70"/>
          <p:cNvSpPr txBox="1"/>
          <p:nvPr/>
        </p:nvSpPr>
        <p:spPr>
          <a:xfrm>
            <a:off x="6305550" y="4629150"/>
            <a:ext cx="1809750" cy="114300"/>
          </a:xfrm>
          <a:prstGeom prst="rect">
            <a:avLst/>
          </a:prstGeom>
          <a:noFill/>
          <a:ln/>
        </p:spPr>
        <p:txBody>
          <a:bodyPr wrap="square" lIns="0" tIns="0" rIns="0" bIns="0" rtlCol="0" anchor="t"/>
          <a:lstStyle/>
          <a:p>
            <a:pPr algn="l" indent="0" marL="0">
              <a:lnSpc>
                <a:spcPct val="106000"/>
              </a:lnSpc>
              <a:buNone/>
            </a:pPr>
            <a:r>
              <a:rPr lang="en-US" sz="560" dirty="0">
                <a:solidFill>
                  <a:srgbClr val="B45309"/>
                </a:solidFill>
                <a:latin typeface="Segoe UI" pitchFamily="34" charset="0"/>
                <a:ea typeface="Segoe UI" pitchFamily="34" charset="-122"/>
                <a:cs typeface="Segoe UI" pitchFamily="34" charset="-120"/>
              </a:rPr>
              <a:t>Bắt buộc khi từ chối.</a:t>
            </a:r>
            <a:endParaRPr lang="en-US" sz="560" dirty="0"/>
          </a:p>
        </p:txBody>
      </p:sp>
      <p:sp>
        <p:nvSpPr>
          <p:cNvPr id="73" name="Shape 71"/>
          <p:cNvSpPr/>
          <p:nvPr/>
        </p:nvSpPr>
        <p:spPr>
          <a:xfrm>
            <a:off x="6305550" y="4819650"/>
            <a:ext cx="1809750" cy="266700"/>
          </a:xfrm>
          <a:prstGeom prst="roundRect">
            <a:avLst>
              <a:gd name="adj" fmla="val 17857"/>
            </a:avLst>
          </a:prstGeom>
          <a:solidFill>
            <a:srgbClr val="059669"/>
          </a:solidFill>
          <a:ln/>
        </p:spPr>
      </p:sp>
      <p:sp>
        <p:nvSpPr>
          <p:cNvPr id="74" name="Text 72"/>
          <p:cNvSpPr txBox="1"/>
          <p:nvPr/>
        </p:nvSpPr>
        <p:spPr>
          <a:xfrm>
            <a:off x="6305550" y="4819650"/>
            <a:ext cx="1809750" cy="266700"/>
          </a:xfrm>
          <a:prstGeom prst="rect">
            <a:avLst/>
          </a:prstGeom>
          <a:noFill/>
          <a:ln/>
        </p:spPr>
        <p:txBody>
          <a:bodyPr wrap="square" lIns="0" tIns="0" rIns="0" bIns="0" rtlCol="0" anchor="ctr"/>
          <a:lstStyle/>
          <a:p>
            <a:pPr algn="ctr" indent="0" marL="0">
              <a:lnSpc>
                <a:spcPct val="106000"/>
              </a:lnSpc>
              <a:buNone/>
            </a:pPr>
            <a:r>
              <a:rPr lang="en-US" sz="660" b="1" dirty="0">
                <a:solidFill>
                  <a:srgbClr val="FFFFFF"/>
                </a:solidFill>
                <a:latin typeface="Segoe UI" pitchFamily="34" charset="0"/>
                <a:ea typeface="Segoe UI" pitchFamily="34" charset="-122"/>
                <a:cs typeface="Segoe UI" pitchFamily="34" charset="-120"/>
              </a:rPr>
              <a:t>Gửi quyết định</a:t>
            </a:r>
            <a:endParaRPr lang="en-US" sz="660" dirty="0"/>
          </a:p>
        </p:txBody>
      </p:sp>
      <p:sp>
        <p:nvSpPr>
          <p:cNvPr id="75" name="Text 73"/>
          <p:cNvSpPr txBox="1"/>
          <p:nvPr/>
        </p:nvSpPr>
        <p:spPr>
          <a:xfrm>
            <a:off x="6305550" y="5181600"/>
            <a:ext cx="1809750" cy="114300"/>
          </a:xfrm>
          <a:prstGeom prst="rect">
            <a:avLst/>
          </a:prstGeom>
          <a:noFill/>
          <a:ln/>
        </p:spPr>
        <p:txBody>
          <a:bodyPr wrap="square" lIns="0" tIns="0" rIns="0" bIns="0" rtlCol="0" anchor="t"/>
          <a:lstStyle/>
          <a:p>
            <a:pPr algn="l" indent="0" marL="0">
              <a:lnSpc>
                <a:spcPct val="106000"/>
              </a:lnSpc>
              <a:buNone/>
            </a:pPr>
            <a:r>
              <a:rPr lang="en-US" sz="560" dirty="0">
                <a:solidFill>
                  <a:srgbClr val="94A3B8"/>
                </a:solidFill>
                <a:latin typeface="Segoe UI" pitchFamily="34" charset="0"/>
                <a:ea typeface="Segoe UI" pitchFamily="34" charset="-122"/>
                <a:cs typeface="Segoe UI" pitchFamily="34" charset="-120"/>
              </a:rPr>
              <a:t>Lần kiểm duyệt gần nhất: 20/10</a:t>
            </a:r>
            <a:endParaRPr lang="en-US" sz="560" dirty="0"/>
          </a:p>
        </p:txBody>
      </p:sp>
      <p:sp>
        <p:nvSpPr>
          <p:cNvPr id="76" name="Shape 74"/>
          <p:cNvSpPr/>
          <p:nvPr/>
        </p:nvSpPr>
        <p:spPr>
          <a:xfrm>
            <a:off x="1943100" y="6210300"/>
            <a:ext cx="6305550" cy="342900"/>
          </a:xfrm>
          <a:prstGeom prst="roundRect">
            <a:avLst>
              <a:gd name="adj" fmla="val 16667"/>
            </a:avLst>
          </a:prstGeom>
          <a:solidFill>
            <a:srgbClr val="F8FAFC"/>
          </a:solidFill>
          <a:ln/>
        </p:spPr>
      </p:sp>
      <p:sp>
        <p:nvSpPr>
          <p:cNvPr id="77" name="Text 75"/>
          <p:cNvSpPr txBox="1"/>
          <p:nvPr/>
        </p:nvSpPr>
        <p:spPr>
          <a:xfrm>
            <a:off x="2057400" y="6305550"/>
            <a:ext cx="60579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Hàng chờ:  r2 Chờ duyệt  ·  r3 Nháp  ·  r4 Đã từ chối (lý do: nội dung đầu tư rủi ro)</a:t>
            </a:r>
            <a:endParaRPr lang="en-US" sz="660" dirty="0"/>
          </a:p>
        </p:txBody>
      </p:sp>
      <p:sp>
        <p:nvSpPr>
          <p:cNvPr id="78" name="Shape 76"/>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79" name="Text 77"/>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21 / 27</a:t>
            </a:r>
            <a:endParaRPr lang="en-US" sz="740" dirty="0"/>
          </a:p>
        </p:txBody>
      </p:sp>
      <p:sp>
        <p:nvSpPr>
          <p:cNvPr id="80" name="Text 78"/>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Duyệt tài nguyên</a:t>
            </a:r>
            <a:endParaRPr lang="en-US" sz="1700" dirty="0"/>
          </a:p>
        </p:txBody>
      </p:sp>
      <p:sp>
        <p:nvSpPr>
          <p:cNvPr id="81" name="Text 79"/>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pages/moderator-resource-review.html</a:t>
            </a:r>
            <a:endParaRPr lang="en-US" sz="720" dirty="0"/>
          </a:p>
        </p:txBody>
      </p:sp>
      <p:sp>
        <p:nvSpPr>
          <p:cNvPr id="82" name="Shape 80"/>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83" name="Text 81"/>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84" name="Text 82"/>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Kiểm duyệt tài nguyên: duyệt hoặc từ chối kèm lý do bắt buộc gửi lại tác giả.</a:t>
            </a:r>
            <a:endParaRPr lang="en-US" sz="920" dirty="0"/>
          </a:p>
        </p:txBody>
      </p:sp>
      <p:sp>
        <p:nvSpPr>
          <p:cNvPr id="85" name="Text 83"/>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86" name="Shape 84"/>
          <p:cNvSpPr/>
          <p:nvPr/>
        </p:nvSpPr>
        <p:spPr>
          <a:xfrm>
            <a:off x="8839200" y="3238500"/>
            <a:ext cx="209550" cy="190500"/>
          </a:xfrm>
          <a:prstGeom prst="roundRect">
            <a:avLst>
              <a:gd name="adj" fmla="val 25000"/>
            </a:avLst>
          </a:prstGeom>
          <a:solidFill>
            <a:srgbClr val="F1F5F9"/>
          </a:solidFill>
          <a:ln/>
        </p:spPr>
      </p:sp>
      <p:sp>
        <p:nvSpPr>
          <p:cNvPr id="87" name="Text 85"/>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C</a:t>
            </a:r>
            <a:endParaRPr lang="en-US" sz="740" dirty="0"/>
          </a:p>
        </p:txBody>
      </p:sp>
      <p:sp>
        <p:nvSpPr>
          <p:cNvPr id="88" name="Shape 86"/>
          <p:cNvSpPr/>
          <p:nvPr/>
        </p:nvSpPr>
        <p:spPr>
          <a:xfrm>
            <a:off x="9086850" y="3238500"/>
            <a:ext cx="209550" cy="190500"/>
          </a:xfrm>
          <a:prstGeom prst="roundRect">
            <a:avLst>
              <a:gd name="adj" fmla="val 25000"/>
            </a:avLst>
          </a:prstGeom>
          <a:solidFill>
            <a:srgbClr val="059669"/>
          </a:solidFill>
          <a:ln/>
        </p:spPr>
      </p:sp>
      <p:sp>
        <p:nvSpPr>
          <p:cNvPr id="89" name="Text 87"/>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90" name="Shape 88"/>
          <p:cNvSpPr/>
          <p:nvPr/>
        </p:nvSpPr>
        <p:spPr>
          <a:xfrm>
            <a:off x="9334500" y="3238500"/>
            <a:ext cx="209550" cy="190500"/>
          </a:xfrm>
          <a:prstGeom prst="roundRect">
            <a:avLst>
              <a:gd name="adj" fmla="val 25000"/>
            </a:avLst>
          </a:prstGeom>
          <a:solidFill>
            <a:srgbClr val="059669"/>
          </a:solidFill>
          <a:ln/>
        </p:spPr>
      </p:sp>
      <p:sp>
        <p:nvSpPr>
          <p:cNvPr id="91" name="Text 89"/>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92" name="Shape 90"/>
          <p:cNvSpPr/>
          <p:nvPr/>
        </p:nvSpPr>
        <p:spPr>
          <a:xfrm>
            <a:off x="9582150" y="3238500"/>
            <a:ext cx="209550" cy="190500"/>
          </a:xfrm>
          <a:prstGeom prst="roundRect">
            <a:avLst>
              <a:gd name="adj" fmla="val 25000"/>
            </a:avLst>
          </a:prstGeom>
          <a:solidFill>
            <a:srgbClr val="F1F5F9"/>
          </a:solidFill>
          <a:ln/>
        </p:spPr>
      </p:sp>
      <p:sp>
        <p:nvSpPr>
          <p:cNvPr id="93" name="Text 91"/>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94" name="Text 92"/>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Chờ duyệt · đã duyệt · từ chối · lý do trống (lỗi) · đang xử lý.</a:t>
            </a:r>
            <a:endParaRPr lang="en-US" sz="900" dirty="0"/>
          </a:p>
        </p:txBody>
      </p:sp>
      <p:sp>
        <p:nvSpPr>
          <p:cNvPr id="95" name="Text 93"/>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96" name="Text 94"/>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Xem trước; chọn lý do; validate lý do; gửi quyết định; hàng chờ bên dưới.</a:t>
            </a:r>
            <a:endParaRPr lang="en-US" sz="900" dirty="0"/>
          </a:p>
        </p:txBody>
      </p:sp>
      <p:sp>
        <p:nvSpPr>
          <p:cNvPr id="97" name="Text 95"/>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98" name="Text 96"/>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quyết định và lý do lưu vào resources, hiển thị cho coach.</a:t>
            </a:r>
            <a:endParaRPr lang="en-US" sz="900" dirty="0"/>
          </a:p>
        </p:txBody>
      </p:sp>
      <p:sp>
        <p:nvSpPr>
          <p:cNvPr id="99" name="Shape 97"/>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00" name="Text 98"/>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SV3-03-resource-review</a:t>
            </a:r>
            <a:endParaRPr lang="en-US" sz="840" dirty="0"/>
          </a:p>
        </p:txBody>
      </p:sp>
      <p:sp>
        <p:nvSpPr>
          <p:cNvPr id="101" name="Text 99"/>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FFBEB"/>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B45309"/>
                </a:solidFill>
                <a:latin typeface="Segoe UI" pitchFamily="34" charset="0"/>
                <a:ea typeface="Segoe UI" pitchFamily="34" charset="-122"/>
                <a:cs typeface="Segoe UI" pitchFamily="34" charset="-120"/>
              </a:rPr>
              <a:t>KIỂM DUYỆT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22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Quản lý mẫu AI</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pages/moderator-ai-template-management.html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spendwise.app/pages/moderator-ai-template-management.html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Kiểm duyệt viên</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Duyệt tài nguyên</a:t>
            </a:r>
            <a:endParaRPr lang="en-US" sz="820" dirty="0"/>
          </a:p>
        </p:txBody>
      </p:sp>
      <p:sp>
        <p:nvSpPr>
          <p:cNvPr id="22" name="Shape 20"/>
          <p:cNvSpPr/>
          <p:nvPr/>
        </p:nvSpPr>
        <p:spPr>
          <a:xfrm>
            <a:off x="495300" y="2343150"/>
            <a:ext cx="1181100" cy="209550"/>
          </a:xfrm>
          <a:prstGeom prst="roundRect">
            <a:avLst>
              <a:gd name="adj" fmla="val 27273"/>
            </a:avLst>
          </a:prstGeom>
          <a:solidFill>
            <a:srgbClr val="ECFDF5"/>
          </a:solidFill>
          <a:ln/>
        </p:spPr>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Mẫu AI</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Phản hồi</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Quản lý mẫu AI</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Kiểm duyệt viên</a:t>
            </a:r>
            <a:endParaRPr lang="en-US" sz="700" dirty="0"/>
          </a:p>
        </p:txBody>
      </p:sp>
      <p:sp>
        <p:nvSpPr>
          <p:cNvPr id="33" name="Shape 31"/>
          <p:cNvSpPr/>
          <p:nvPr/>
        </p:nvSpPr>
        <p:spPr>
          <a:xfrm>
            <a:off x="1943100" y="1952625"/>
            <a:ext cx="1809750" cy="3143250"/>
          </a:xfrm>
          <a:prstGeom prst="roundRect">
            <a:avLst>
              <a:gd name="adj" fmla="val 4211"/>
            </a:avLst>
          </a:prstGeom>
          <a:solidFill>
            <a:srgbClr val="FFFFFF"/>
          </a:solidFill>
          <a:ln w="9525">
            <a:solidFill>
              <a:srgbClr val="E2E8F0"/>
            </a:solidFill>
            <a:prstDash val="solid"/>
          </a:ln>
        </p:spPr>
      </p:sp>
      <p:sp>
        <p:nvSpPr>
          <p:cNvPr id="34" name="Text 32"/>
          <p:cNvSpPr txBox="1"/>
          <p:nvPr/>
        </p:nvSpPr>
        <p:spPr>
          <a:xfrm>
            <a:off x="2057400" y="2057400"/>
            <a:ext cx="1524000" cy="133350"/>
          </a:xfrm>
          <a:prstGeom prst="rect">
            <a:avLst/>
          </a:prstGeom>
          <a:noFill/>
          <a:ln/>
        </p:spPr>
        <p:txBody>
          <a:bodyPr wrap="square" lIns="0" tIns="0" rIns="0" bIns="0" rtlCol="0" anchor="t"/>
          <a:lstStyle/>
          <a:p>
            <a:pPr algn="l" indent="0" marL="0">
              <a:lnSpc>
                <a:spcPct val="106000"/>
              </a:lnSpc>
              <a:buNone/>
            </a:pPr>
            <a:r>
              <a:rPr lang="en-US" sz="720" b="1" dirty="0">
                <a:solidFill>
                  <a:srgbClr val="475569"/>
                </a:solidFill>
                <a:latin typeface="Segoe UI" pitchFamily="34" charset="0"/>
                <a:ea typeface="Segoe UI" pitchFamily="34" charset="-122"/>
                <a:cs typeface="Segoe UI" pitchFamily="34" charset="-120"/>
              </a:rPr>
              <a:t>5 mẫu</a:t>
            </a:r>
            <a:endParaRPr lang="en-US" sz="720" dirty="0"/>
          </a:p>
        </p:txBody>
      </p:sp>
      <p:sp>
        <p:nvSpPr>
          <p:cNvPr id="35" name="Shape 33"/>
          <p:cNvSpPr/>
          <p:nvPr/>
        </p:nvSpPr>
        <p:spPr>
          <a:xfrm>
            <a:off x="2019300" y="2228850"/>
            <a:ext cx="1657350" cy="457200"/>
          </a:xfrm>
          <a:prstGeom prst="roundRect">
            <a:avLst>
              <a:gd name="adj" fmla="val 12500"/>
            </a:avLst>
          </a:prstGeom>
          <a:solidFill>
            <a:srgbClr val="ECFDF5"/>
          </a:solidFill>
          <a:ln/>
        </p:spPr>
      </p:sp>
      <p:sp>
        <p:nvSpPr>
          <p:cNvPr id="36" name="Text 34"/>
          <p:cNvSpPr txBox="1"/>
          <p:nvPr/>
        </p:nvSpPr>
        <p:spPr>
          <a:xfrm>
            <a:off x="2114550" y="2286000"/>
            <a:ext cx="1428750" cy="247650"/>
          </a:xfrm>
          <a:prstGeom prst="rect">
            <a:avLst/>
          </a:prstGeom>
          <a:noFill/>
          <a:ln/>
        </p:spPr>
        <p:txBody>
          <a:bodyPr wrap="square" lIns="0" tIns="0" rIns="0" bIns="0" rtlCol="0" anchor="t"/>
          <a:lstStyle/>
          <a:p>
            <a:pPr algn="l" indent="0" marL="0">
              <a:lnSpc>
                <a:spcPct val="106000"/>
              </a:lnSpc>
              <a:buNone/>
            </a:pPr>
            <a:r>
              <a:rPr lang="en-US" sz="680" b="1" dirty="0">
                <a:solidFill>
                  <a:srgbClr val="047857"/>
                </a:solidFill>
                <a:latin typeface="Segoe UI" pitchFamily="34" charset="0"/>
                <a:ea typeface="Segoe UI" pitchFamily="34" charset="-122"/>
                <a:cs typeface="Segoe UI" pitchFamily="34" charset="-120"/>
              </a:rPr>
              <a:t>Gợi ý danh mục</a:t>
            </a:r>
            <a:endParaRPr lang="en-US" sz="680" dirty="0"/>
          </a:p>
        </p:txBody>
      </p:sp>
      <p:sp>
        <p:nvSpPr>
          <p:cNvPr id="37" name="Text 35"/>
          <p:cNvSpPr txBox="1"/>
          <p:nvPr/>
        </p:nvSpPr>
        <p:spPr>
          <a:xfrm>
            <a:off x="2114550" y="2533650"/>
            <a:ext cx="762000" cy="114300"/>
          </a:xfrm>
          <a:prstGeom prst="rect">
            <a:avLst/>
          </a:prstGeom>
          <a:noFill/>
          <a:ln/>
        </p:spPr>
        <p:txBody>
          <a:bodyPr wrap="square" lIns="0" tIns="0" rIns="0" bIns="0" rtlCol="0" anchor="t"/>
          <a:lstStyle/>
          <a:p>
            <a:pPr algn="l" indent="0" marL="0">
              <a:lnSpc>
                <a:spcPct val="106000"/>
              </a:lnSpc>
              <a:buNone/>
            </a:pPr>
            <a:r>
              <a:rPr lang="en-US" sz="560" dirty="0">
                <a:solidFill>
                  <a:srgbClr val="047857"/>
                </a:solidFill>
                <a:latin typeface="Segoe UI" pitchFamily="34" charset="0"/>
                <a:ea typeface="Segoe UI" pitchFamily="34" charset="-122"/>
                <a:cs typeface="Segoe UI" pitchFamily="34" charset="-120"/>
              </a:rPr>
              <a:t>Hoạt động</a:t>
            </a:r>
            <a:endParaRPr lang="en-US" sz="560" dirty="0"/>
          </a:p>
        </p:txBody>
      </p:sp>
      <p:sp>
        <p:nvSpPr>
          <p:cNvPr id="38" name="Text 36"/>
          <p:cNvSpPr txBox="1"/>
          <p:nvPr/>
        </p:nvSpPr>
        <p:spPr>
          <a:xfrm>
            <a:off x="2114550" y="2819400"/>
            <a:ext cx="1428750" cy="247650"/>
          </a:xfrm>
          <a:prstGeom prst="rect">
            <a:avLst/>
          </a:prstGeom>
          <a:noFill/>
          <a:ln/>
        </p:spPr>
        <p:txBody>
          <a:bodyPr wrap="square" lIns="0" tIns="0" rIns="0" bIns="0" rtlCol="0" anchor="t"/>
          <a:lstStyle/>
          <a:p>
            <a:pPr algn="l" indent="0" marL="0">
              <a:lnSpc>
                <a:spcPct val="106000"/>
              </a:lnSpc>
              <a:buNone/>
            </a:pPr>
            <a:r>
              <a:rPr lang="en-US" sz="680" dirty="0">
                <a:solidFill>
                  <a:srgbClr val="0F172A"/>
                </a:solidFill>
                <a:latin typeface="Segoe UI" pitchFamily="34" charset="0"/>
                <a:ea typeface="Segoe UI" pitchFamily="34" charset="-122"/>
                <a:cs typeface="Segoe UI" pitchFamily="34" charset="-120"/>
              </a:rPr>
              <a:t>Phân tích pattern</a:t>
            </a:r>
            <a:endParaRPr lang="en-US" sz="680" dirty="0"/>
          </a:p>
        </p:txBody>
      </p:sp>
      <p:sp>
        <p:nvSpPr>
          <p:cNvPr id="39" name="Text 37"/>
          <p:cNvSpPr txBox="1"/>
          <p:nvPr/>
        </p:nvSpPr>
        <p:spPr>
          <a:xfrm>
            <a:off x="2114550" y="3067050"/>
            <a:ext cx="762000" cy="114300"/>
          </a:xfrm>
          <a:prstGeom prst="rect">
            <a:avLst/>
          </a:prstGeom>
          <a:noFill/>
          <a:ln/>
        </p:spPr>
        <p:txBody>
          <a:bodyPr wrap="square" lIns="0" tIns="0" rIns="0" bIns="0" rtlCol="0" anchor="t"/>
          <a:lstStyle/>
          <a:p>
            <a:pPr algn="l" indent="0" marL="0">
              <a:lnSpc>
                <a:spcPct val="106000"/>
              </a:lnSpc>
              <a:buNone/>
            </a:pPr>
            <a:r>
              <a:rPr lang="en-US" sz="560" dirty="0">
                <a:solidFill>
                  <a:srgbClr val="047857"/>
                </a:solidFill>
                <a:latin typeface="Segoe UI" pitchFamily="34" charset="0"/>
                <a:ea typeface="Segoe UI" pitchFamily="34" charset="-122"/>
                <a:cs typeface="Segoe UI" pitchFamily="34" charset="-120"/>
              </a:rPr>
              <a:t>Hoạt động</a:t>
            </a:r>
            <a:endParaRPr lang="en-US" sz="560" dirty="0"/>
          </a:p>
        </p:txBody>
      </p:sp>
      <p:sp>
        <p:nvSpPr>
          <p:cNvPr id="40" name="Text 38"/>
          <p:cNvSpPr txBox="1"/>
          <p:nvPr/>
        </p:nvSpPr>
        <p:spPr>
          <a:xfrm>
            <a:off x="2114550" y="3352800"/>
            <a:ext cx="1428750" cy="247650"/>
          </a:xfrm>
          <a:prstGeom prst="rect">
            <a:avLst/>
          </a:prstGeom>
          <a:noFill/>
          <a:ln/>
        </p:spPr>
        <p:txBody>
          <a:bodyPr wrap="square" lIns="0" tIns="0" rIns="0" bIns="0" rtlCol="0" anchor="t"/>
          <a:lstStyle/>
          <a:p>
            <a:pPr algn="l" indent="0" marL="0">
              <a:lnSpc>
                <a:spcPct val="106000"/>
              </a:lnSpc>
              <a:buNone/>
            </a:pPr>
            <a:r>
              <a:rPr lang="en-US" sz="680" dirty="0">
                <a:solidFill>
                  <a:srgbClr val="0F172A"/>
                </a:solidFill>
                <a:latin typeface="Segoe UI" pitchFamily="34" charset="0"/>
                <a:ea typeface="Segoe UI" pitchFamily="34" charset="-122"/>
                <a:cs typeface="Segoe UI" pitchFamily="34" charset="-120"/>
              </a:rPr>
              <a:t>Huấn luyện mục tiêu</a:t>
            </a:r>
            <a:endParaRPr lang="en-US" sz="680" dirty="0"/>
          </a:p>
        </p:txBody>
      </p:sp>
      <p:sp>
        <p:nvSpPr>
          <p:cNvPr id="41" name="Text 39"/>
          <p:cNvSpPr txBox="1"/>
          <p:nvPr/>
        </p:nvSpPr>
        <p:spPr>
          <a:xfrm>
            <a:off x="2114550" y="3600450"/>
            <a:ext cx="762000" cy="114300"/>
          </a:xfrm>
          <a:prstGeom prst="rect">
            <a:avLst/>
          </a:prstGeom>
          <a:noFill/>
          <a:ln/>
        </p:spPr>
        <p:txBody>
          <a:bodyPr wrap="square" lIns="0" tIns="0" rIns="0" bIns="0" rtlCol="0" anchor="t"/>
          <a:lstStyle/>
          <a:p>
            <a:pPr algn="l" indent="0" marL="0">
              <a:lnSpc>
                <a:spcPct val="106000"/>
              </a:lnSpc>
              <a:buNone/>
            </a:pPr>
            <a:r>
              <a:rPr lang="en-US" sz="560" dirty="0">
                <a:solidFill>
                  <a:srgbClr val="047857"/>
                </a:solidFill>
                <a:latin typeface="Segoe UI" pitchFamily="34" charset="0"/>
                <a:ea typeface="Segoe UI" pitchFamily="34" charset="-122"/>
                <a:cs typeface="Segoe UI" pitchFamily="34" charset="-120"/>
              </a:rPr>
              <a:t>Hoạt động</a:t>
            </a:r>
            <a:endParaRPr lang="en-US" sz="560" dirty="0"/>
          </a:p>
        </p:txBody>
      </p:sp>
      <p:sp>
        <p:nvSpPr>
          <p:cNvPr id="42" name="Text 40"/>
          <p:cNvSpPr txBox="1"/>
          <p:nvPr/>
        </p:nvSpPr>
        <p:spPr>
          <a:xfrm>
            <a:off x="2114550" y="3886200"/>
            <a:ext cx="1428750" cy="247650"/>
          </a:xfrm>
          <a:prstGeom prst="rect">
            <a:avLst/>
          </a:prstGeom>
          <a:noFill/>
          <a:ln/>
        </p:spPr>
        <p:txBody>
          <a:bodyPr wrap="square" lIns="0" tIns="0" rIns="0" bIns="0" rtlCol="0" anchor="t"/>
          <a:lstStyle/>
          <a:p>
            <a:pPr algn="l" indent="0" marL="0">
              <a:lnSpc>
                <a:spcPct val="106000"/>
              </a:lnSpc>
              <a:buNone/>
            </a:pPr>
            <a:r>
              <a:rPr lang="en-US" sz="680" dirty="0">
                <a:solidFill>
                  <a:srgbClr val="0F172A"/>
                </a:solidFill>
                <a:latin typeface="Segoe UI" pitchFamily="34" charset="0"/>
                <a:ea typeface="Segoe UI" pitchFamily="34" charset="-122"/>
                <a:cs typeface="Segoe UI" pitchFamily="34" charset="-120"/>
              </a:rPr>
              <a:t>Mẫu thử nghiệm</a:t>
            </a:r>
            <a:endParaRPr lang="en-US" sz="680" dirty="0"/>
          </a:p>
        </p:txBody>
      </p:sp>
      <p:sp>
        <p:nvSpPr>
          <p:cNvPr id="43" name="Text 41"/>
          <p:cNvSpPr txBox="1"/>
          <p:nvPr/>
        </p:nvSpPr>
        <p:spPr>
          <a:xfrm>
            <a:off x="2114550" y="4133850"/>
            <a:ext cx="762000" cy="114300"/>
          </a:xfrm>
          <a:prstGeom prst="rect">
            <a:avLst/>
          </a:prstGeom>
          <a:noFill/>
          <a:ln/>
        </p:spPr>
        <p:txBody>
          <a:bodyPr wrap="square" lIns="0" tIns="0" rIns="0" bIns="0" rtlCol="0" anchor="t"/>
          <a:lstStyle/>
          <a:p>
            <a:pPr algn="l" indent="0" marL="0">
              <a:lnSpc>
                <a:spcPct val="106000"/>
              </a:lnSpc>
              <a:buNone/>
            </a:pPr>
            <a:r>
              <a:rPr lang="en-US" sz="560" dirty="0">
                <a:solidFill>
                  <a:srgbClr val="94A3B8"/>
                </a:solidFill>
                <a:latin typeface="Segoe UI" pitchFamily="34" charset="0"/>
                <a:ea typeface="Segoe UI" pitchFamily="34" charset="-122"/>
                <a:cs typeface="Segoe UI" pitchFamily="34" charset="-120"/>
              </a:rPr>
              <a:t>Nháp</a:t>
            </a:r>
            <a:endParaRPr lang="en-US" sz="560" dirty="0"/>
          </a:p>
        </p:txBody>
      </p:sp>
      <p:sp>
        <p:nvSpPr>
          <p:cNvPr id="44" name="Text 42"/>
          <p:cNvSpPr txBox="1"/>
          <p:nvPr/>
        </p:nvSpPr>
        <p:spPr>
          <a:xfrm>
            <a:off x="2114550" y="4419600"/>
            <a:ext cx="1428750" cy="247650"/>
          </a:xfrm>
          <a:prstGeom prst="rect">
            <a:avLst/>
          </a:prstGeom>
          <a:noFill/>
          <a:ln/>
        </p:spPr>
        <p:txBody>
          <a:bodyPr wrap="square" lIns="0" tIns="0" rIns="0" bIns="0" rtlCol="0" anchor="t"/>
          <a:lstStyle/>
          <a:p>
            <a:pPr algn="l" indent="0" marL="0">
              <a:lnSpc>
                <a:spcPct val="106000"/>
              </a:lnSpc>
              <a:buNone/>
            </a:pPr>
            <a:r>
              <a:rPr lang="en-US" sz="680" dirty="0">
                <a:solidFill>
                  <a:srgbClr val="0F172A"/>
                </a:solidFill>
                <a:latin typeface="Segoe UI" pitchFamily="34" charset="0"/>
                <a:ea typeface="Segoe UI" pitchFamily="34" charset="-122"/>
                <a:cs typeface="Segoe UI" pitchFamily="34" charset="-120"/>
              </a:rPr>
              <a:t>Mẫu đã tắt</a:t>
            </a:r>
            <a:endParaRPr lang="en-US" sz="680" dirty="0"/>
          </a:p>
        </p:txBody>
      </p:sp>
      <p:sp>
        <p:nvSpPr>
          <p:cNvPr id="45" name="Text 43"/>
          <p:cNvSpPr txBox="1"/>
          <p:nvPr/>
        </p:nvSpPr>
        <p:spPr>
          <a:xfrm>
            <a:off x="2114550" y="4667250"/>
            <a:ext cx="762000" cy="114300"/>
          </a:xfrm>
          <a:prstGeom prst="rect">
            <a:avLst/>
          </a:prstGeom>
          <a:noFill/>
          <a:ln/>
        </p:spPr>
        <p:txBody>
          <a:bodyPr wrap="square" lIns="0" tIns="0" rIns="0" bIns="0" rtlCol="0" anchor="t"/>
          <a:lstStyle/>
          <a:p>
            <a:pPr algn="l" indent="0" marL="0">
              <a:lnSpc>
                <a:spcPct val="106000"/>
              </a:lnSpc>
              <a:buNone/>
            </a:pPr>
            <a:r>
              <a:rPr lang="en-US" sz="560" dirty="0">
                <a:solidFill>
                  <a:srgbClr val="DC2626"/>
                </a:solidFill>
                <a:latin typeface="Segoe UI" pitchFamily="34" charset="0"/>
                <a:ea typeface="Segoe UI" pitchFamily="34" charset="-122"/>
                <a:cs typeface="Segoe UI" pitchFamily="34" charset="-120"/>
              </a:rPr>
              <a:t>Đã tắt</a:t>
            </a:r>
            <a:endParaRPr lang="en-US" sz="560" dirty="0"/>
          </a:p>
        </p:txBody>
      </p:sp>
      <p:sp>
        <p:nvSpPr>
          <p:cNvPr id="46" name="Shape 44"/>
          <p:cNvSpPr/>
          <p:nvPr/>
        </p:nvSpPr>
        <p:spPr>
          <a:xfrm>
            <a:off x="3867150" y="1952625"/>
            <a:ext cx="4381500" cy="2381250"/>
          </a:xfrm>
          <a:prstGeom prst="roundRect">
            <a:avLst>
              <a:gd name="adj" fmla="val 3200"/>
            </a:avLst>
          </a:prstGeom>
          <a:solidFill>
            <a:srgbClr val="FFFFFF"/>
          </a:solidFill>
          <a:ln w="9525">
            <a:solidFill>
              <a:srgbClr val="E2E8F0"/>
            </a:solidFill>
            <a:prstDash val="solid"/>
          </a:ln>
        </p:spPr>
      </p:sp>
      <p:sp>
        <p:nvSpPr>
          <p:cNvPr id="47" name="Text 45"/>
          <p:cNvSpPr txBox="1"/>
          <p:nvPr/>
        </p:nvSpPr>
        <p:spPr>
          <a:xfrm>
            <a:off x="4000500" y="2057400"/>
            <a:ext cx="1905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Tên mẫu</a:t>
            </a:r>
            <a:endParaRPr lang="en-US" sz="620" dirty="0"/>
          </a:p>
        </p:txBody>
      </p:sp>
      <p:sp>
        <p:nvSpPr>
          <p:cNvPr id="48" name="Shape 46"/>
          <p:cNvSpPr/>
          <p:nvPr/>
        </p:nvSpPr>
        <p:spPr>
          <a:xfrm>
            <a:off x="4000500" y="2190750"/>
            <a:ext cx="4114800" cy="247650"/>
          </a:xfrm>
          <a:prstGeom prst="roundRect">
            <a:avLst>
              <a:gd name="adj" fmla="val 19231"/>
            </a:avLst>
          </a:prstGeom>
          <a:solidFill>
            <a:srgbClr val="FFFFFF"/>
          </a:solidFill>
          <a:ln w="9525">
            <a:solidFill>
              <a:srgbClr val="E2E8F0"/>
            </a:solidFill>
            <a:prstDash val="solid"/>
          </a:ln>
        </p:spPr>
      </p:sp>
      <p:sp>
        <p:nvSpPr>
          <p:cNvPr id="49" name="Text 47"/>
          <p:cNvSpPr txBox="1"/>
          <p:nvPr/>
        </p:nvSpPr>
        <p:spPr>
          <a:xfrm>
            <a:off x="4095750" y="2257425"/>
            <a:ext cx="3905250" cy="114300"/>
          </a:xfrm>
          <a:prstGeom prst="rect">
            <a:avLst/>
          </a:prstGeom>
          <a:noFill/>
          <a:ln/>
        </p:spPr>
        <p:txBody>
          <a:bodyPr wrap="square" lIns="0" tIns="0" rIns="0" bIns="0" rtlCol="0" anchor="t"/>
          <a:lstStyle/>
          <a:p>
            <a:pPr algn="l" indent="0" marL="0">
              <a:lnSpc>
                <a:spcPct val="106000"/>
              </a:lnSpc>
              <a:buNone/>
            </a:pPr>
            <a:r>
              <a:rPr lang="en-US" sz="680" dirty="0">
                <a:solidFill>
                  <a:srgbClr val="0F172A"/>
                </a:solidFill>
                <a:latin typeface="Segoe UI" pitchFamily="34" charset="0"/>
                <a:ea typeface="Segoe UI" pitchFamily="34" charset="-122"/>
                <a:cs typeface="Segoe UI" pitchFamily="34" charset="-120"/>
              </a:rPr>
              <a:t>Gợi ý danh mục giao dịch</a:t>
            </a:r>
            <a:endParaRPr lang="en-US" sz="680" dirty="0"/>
          </a:p>
        </p:txBody>
      </p:sp>
      <p:sp>
        <p:nvSpPr>
          <p:cNvPr id="50" name="Text 48"/>
          <p:cNvSpPr txBox="1"/>
          <p:nvPr/>
        </p:nvSpPr>
        <p:spPr>
          <a:xfrm>
            <a:off x="4000500" y="2533650"/>
            <a:ext cx="190500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Prompt</a:t>
            </a:r>
            <a:endParaRPr lang="en-US" sz="620" dirty="0"/>
          </a:p>
        </p:txBody>
      </p:sp>
      <p:sp>
        <p:nvSpPr>
          <p:cNvPr id="51" name="Shape 49"/>
          <p:cNvSpPr/>
          <p:nvPr/>
        </p:nvSpPr>
        <p:spPr>
          <a:xfrm>
            <a:off x="4000500" y="2667000"/>
            <a:ext cx="4114800" cy="590550"/>
          </a:xfrm>
          <a:prstGeom prst="roundRect">
            <a:avLst>
              <a:gd name="adj" fmla="val 8065"/>
            </a:avLst>
          </a:prstGeom>
          <a:solidFill>
            <a:srgbClr val="FFFFFF"/>
          </a:solidFill>
          <a:ln w="9525">
            <a:solidFill>
              <a:srgbClr val="E2E8F0"/>
            </a:solidFill>
            <a:prstDash val="solid"/>
          </a:ln>
        </p:spPr>
      </p:sp>
      <p:sp>
        <p:nvSpPr>
          <p:cNvPr id="52" name="Text 50"/>
          <p:cNvSpPr txBox="1"/>
          <p:nvPr/>
        </p:nvSpPr>
        <p:spPr>
          <a:xfrm>
            <a:off x="4095750" y="2743200"/>
            <a:ext cx="3924300" cy="4572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Dựa trên tên giao dịch và số tiền, chọn 1 trong các danh mục có sẵn,</a:t>
            </a:r>
            <a:endParaRPr lang="en-US" sz="620" dirty="0"/>
          </a:p>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trả về danh mục + độ tin cậy + lý do ngắn gọn.</a:t>
            </a:r>
            <a:endParaRPr lang="en-US" sz="620" dirty="0"/>
          </a:p>
        </p:txBody>
      </p:sp>
      <p:sp>
        <p:nvSpPr>
          <p:cNvPr id="53" name="Text 51"/>
          <p:cNvSpPr txBox="1"/>
          <p:nvPr/>
        </p:nvSpPr>
        <p:spPr>
          <a:xfrm>
            <a:off x="4000500" y="3333750"/>
            <a:ext cx="95250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Tone</a:t>
            </a:r>
            <a:endParaRPr lang="en-US" sz="620" dirty="0"/>
          </a:p>
        </p:txBody>
      </p:sp>
      <p:sp>
        <p:nvSpPr>
          <p:cNvPr id="54" name="Shape 52"/>
          <p:cNvSpPr/>
          <p:nvPr/>
        </p:nvSpPr>
        <p:spPr>
          <a:xfrm>
            <a:off x="4000500" y="3467100"/>
            <a:ext cx="1905000" cy="228600"/>
          </a:xfrm>
          <a:prstGeom prst="roundRect">
            <a:avLst>
              <a:gd name="adj" fmla="val 20833"/>
            </a:avLst>
          </a:prstGeom>
          <a:solidFill>
            <a:srgbClr val="FFFFFF"/>
          </a:solidFill>
          <a:ln w="9525">
            <a:solidFill>
              <a:srgbClr val="E2E8F0"/>
            </a:solidFill>
            <a:prstDash val="solid"/>
          </a:ln>
        </p:spPr>
      </p:sp>
      <p:sp>
        <p:nvSpPr>
          <p:cNvPr id="55" name="Text 53"/>
          <p:cNvSpPr txBox="1"/>
          <p:nvPr/>
        </p:nvSpPr>
        <p:spPr>
          <a:xfrm>
            <a:off x="4095750" y="3514725"/>
            <a:ext cx="17145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Thân thiện, ngắn</a:t>
            </a:r>
            <a:endParaRPr lang="en-US" sz="640" dirty="0"/>
          </a:p>
        </p:txBody>
      </p:sp>
      <p:sp>
        <p:nvSpPr>
          <p:cNvPr id="56" name="Text 54"/>
          <p:cNvSpPr txBox="1"/>
          <p:nvPr/>
        </p:nvSpPr>
        <p:spPr>
          <a:xfrm>
            <a:off x="6000750" y="3333750"/>
            <a:ext cx="952500" cy="114300"/>
          </a:xfrm>
          <a:prstGeom prst="rect">
            <a:avLst/>
          </a:prstGeom>
          <a:noFill/>
          <a:ln/>
        </p:spPr>
        <p:txBody>
          <a:bodyPr wrap="square" lIns="0" tIns="0" rIns="0" bIns="0" rtlCol="0" anchor="t"/>
          <a:lstStyle/>
          <a:p>
            <a:pPr algn="l"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Đầu ra</a:t>
            </a:r>
            <a:endParaRPr lang="en-US" sz="620" dirty="0"/>
          </a:p>
        </p:txBody>
      </p:sp>
      <p:sp>
        <p:nvSpPr>
          <p:cNvPr id="57" name="Shape 55"/>
          <p:cNvSpPr/>
          <p:nvPr/>
        </p:nvSpPr>
        <p:spPr>
          <a:xfrm>
            <a:off x="6000750" y="3467100"/>
            <a:ext cx="2114550" cy="228600"/>
          </a:xfrm>
          <a:prstGeom prst="roundRect">
            <a:avLst>
              <a:gd name="adj" fmla="val 20833"/>
            </a:avLst>
          </a:prstGeom>
          <a:solidFill>
            <a:srgbClr val="FFFFFF"/>
          </a:solidFill>
          <a:ln w="9525">
            <a:solidFill>
              <a:srgbClr val="E2E8F0"/>
            </a:solidFill>
            <a:prstDash val="solid"/>
          </a:ln>
        </p:spPr>
      </p:sp>
      <p:sp>
        <p:nvSpPr>
          <p:cNvPr id="58" name="Text 56"/>
          <p:cNvSpPr txBox="1"/>
          <p:nvPr/>
        </p:nvSpPr>
        <p:spPr>
          <a:xfrm>
            <a:off x="6096000" y="3514725"/>
            <a:ext cx="1905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Danh mục + độ tin cậy</a:t>
            </a:r>
            <a:endParaRPr lang="en-US" sz="640" dirty="0"/>
          </a:p>
        </p:txBody>
      </p:sp>
      <p:sp>
        <p:nvSpPr>
          <p:cNvPr id="59" name="Shape 57"/>
          <p:cNvSpPr/>
          <p:nvPr/>
        </p:nvSpPr>
        <p:spPr>
          <a:xfrm>
            <a:off x="4000500" y="3790950"/>
            <a:ext cx="857250" cy="247650"/>
          </a:xfrm>
          <a:prstGeom prst="roundRect">
            <a:avLst>
              <a:gd name="adj" fmla="val 19231"/>
            </a:avLst>
          </a:prstGeom>
          <a:solidFill>
            <a:srgbClr val="059669"/>
          </a:solidFill>
          <a:ln/>
        </p:spPr>
      </p:sp>
      <p:sp>
        <p:nvSpPr>
          <p:cNvPr id="60" name="Text 58"/>
          <p:cNvSpPr txBox="1"/>
          <p:nvPr/>
        </p:nvSpPr>
        <p:spPr>
          <a:xfrm>
            <a:off x="4000500" y="3790950"/>
            <a:ext cx="857250" cy="247650"/>
          </a:xfrm>
          <a:prstGeom prst="rect">
            <a:avLst/>
          </a:prstGeom>
          <a:noFill/>
          <a:ln/>
        </p:spPr>
        <p:txBody>
          <a:bodyPr wrap="square" lIns="0" tIns="0" rIns="0" bIns="0" rtlCol="0" anchor="ctr"/>
          <a:lstStyle/>
          <a:p>
            <a:pPr algn="ctr" indent="0" marL="0">
              <a:lnSpc>
                <a:spcPct val="106000"/>
              </a:lnSpc>
              <a:buNone/>
            </a:pPr>
            <a:r>
              <a:rPr lang="en-US" sz="660" b="1" dirty="0">
                <a:solidFill>
                  <a:srgbClr val="FFFFFF"/>
                </a:solidFill>
                <a:latin typeface="Segoe UI" pitchFamily="34" charset="0"/>
                <a:ea typeface="Segoe UI" pitchFamily="34" charset="-122"/>
                <a:cs typeface="Segoe UI" pitchFamily="34" charset="-120"/>
              </a:rPr>
              <a:t>Chạy thử</a:t>
            </a:r>
            <a:endParaRPr lang="en-US" sz="660" dirty="0"/>
          </a:p>
        </p:txBody>
      </p:sp>
      <p:sp>
        <p:nvSpPr>
          <p:cNvPr id="61" name="Shape 59"/>
          <p:cNvSpPr/>
          <p:nvPr/>
        </p:nvSpPr>
        <p:spPr>
          <a:xfrm>
            <a:off x="4953000" y="3790950"/>
            <a:ext cx="857250" cy="247650"/>
          </a:xfrm>
          <a:prstGeom prst="roundRect">
            <a:avLst>
              <a:gd name="adj" fmla="val 19231"/>
            </a:avLst>
          </a:prstGeom>
          <a:solidFill>
            <a:srgbClr val="FFFFFF"/>
          </a:solidFill>
          <a:ln w="9525">
            <a:solidFill>
              <a:srgbClr val="E2E8F0"/>
            </a:solidFill>
            <a:prstDash val="solid"/>
          </a:ln>
        </p:spPr>
      </p:sp>
      <p:sp>
        <p:nvSpPr>
          <p:cNvPr id="62" name="Text 60"/>
          <p:cNvSpPr txBox="1"/>
          <p:nvPr/>
        </p:nvSpPr>
        <p:spPr>
          <a:xfrm>
            <a:off x="4953000" y="3790950"/>
            <a:ext cx="857250" cy="247650"/>
          </a:xfrm>
          <a:prstGeom prst="rect">
            <a:avLst/>
          </a:prstGeom>
          <a:noFill/>
          <a:ln/>
        </p:spPr>
        <p:txBody>
          <a:bodyPr wrap="square" lIns="0" tIns="0" rIns="0" bIns="0" rtlCol="0" anchor="ctr"/>
          <a:lstStyle/>
          <a:p>
            <a:pPr algn="ctr" indent="0" marL="0">
              <a:lnSpc>
                <a:spcPct val="106000"/>
              </a:lnSpc>
              <a:buNone/>
            </a:pPr>
            <a:r>
              <a:rPr lang="en-US" sz="660" dirty="0">
                <a:solidFill>
                  <a:srgbClr val="475569"/>
                </a:solidFill>
                <a:latin typeface="Segoe UI" pitchFamily="34" charset="0"/>
                <a:ea typeface="Segoe UI" pitchFamily="34" charset="-122"/>
                <a:cs typeface="Segoe UI" pitchFamily="34" charset="-120"/>
              </a:rPr>
              <a:t>Lưu mẫu</a:t>
            </a:r>
            <a:endParaRPr lang="en-US" sz="660" dirty="0"/>
          </a:p>
        </p:txBody>
      </p:sp>
      <p:sp>
        <p:nvSpPr>
          <p:cNvPr id="63" name="Shape 61"/>
          <p:cNvSpPr/>
          <p:nvPr/>
        </p:nvSpPr>
        <p:spPr>
          <a:xfrm>
            <a:off x="7143750" y="3800475"/>
            <a:ext cx="857250" cy="228600"/>
          </a:xfrm>
          <a:prstGeom prst="roundRect">
            <a:avLst>
              <a:gd name="adj" fmla="val 50000"/>
            </a:avLst>
          </a:prstGeom>
          <a:solidFill>
            <a:srgbClr val="ECFDF5"/>
          </a:solidFill>
          <a:ln/>
        </p:spPr>
      </p:sp>
      <p:sp>
        <p:nvSpPr>
          <p:cNvPr id="64" name="Text 62"/>
          <p:cNvSpPr txBox="1"/>
          <p:nvPr/>
        </p:nvSpPr>
        <p:spPr>
          <a:xfrm>
            <a:off x="7172325" y="3800475"/>
            <a:ext cx="800100" cy="228600"/>
          </a:xfrm>
          <a:prstGeom prst="rect">
            <a:avLst/>
          </a:prstGeom>
          <a:noFill/>
          <a:ln/>
        </p:spPr>
        <p:txBody>
          <a:bodyPr wrap="square" lIns="0" tIns="0" rIns="0" bIns="0" rtlCol="0" anchor="ctr"/>
          <a:lstStyle/>
          <a:p>
            <a:pPr algn="ctr" indent="0" marL="0">
              <a:lnSpc>
                <a:spcPct val="106000"/>
              </a:lnSpc>
              <a:buNone/>
            </a:pPr>
            <a:r>
              <a:rPr lang="en-US" sz="560" b="1" dirty="0">
                <a:solidFill>
                  <a:srgbClr val="047857"/>
                </a:solidFill>
                <a:latin typeface="Segoe UI" pitchFamily="34" charset="0"/>
                <a:ea typeface="Segoe UI" pitchFamily="34" charset="-122"/>
                <a:cs typeface="Segoe UI" pitchFamily="34" charset="-120"/>
              </a:rPr>
              <a:t>Đang hoạt động</a:t>
            </a:r>
            <a:endParaRPr lang="en-US" sz="560" dirty="0"/>
          </a:p>
        </p:txBody>
      </p:sp>
      <p:sp>
        <p:nvSpPr>
          <p:cNvPr id="65" name="Shape 63"/>
          <p:cNvSpPr/>
          <p:nvPr/>
        </p:nvSpPr>
        <p:spPr>
          <a:xfrm>
            <a:off x="3867150" y="4448175"/>
            <a:ext cx="4381500" cy="1647825"/>
          </a:xfrm>
          <a:prstGeom prst="roundRect">
            <a:avLst>
              <a:gd name="adj" fmla="val 4624"/>
            </a:avLst>
          </a:prstGeom>
          <a:solidFill>
            <a:srgbClr val="FFFFFF"/>
          </a:solidFill>
          <a:ln w="9525">
            <a:solidFill>
              <a:srgbClr val="E2E8F0"/>
            </a:solidFill>
            <a:prstDash val="solid"/>
          </a:ln>
        </p:spPr>
      </p:sp>
      <p:sp>
        <p:nvSpPr>
          <p:cNvPr id="66" name="Text 64"/>
          <p:cNvSpPr txBox="1"/>
          <p:nvPr/>
        </p:nvSpPr>
        <p:spPr>
          <a:xfrm>
            <a:off x="4000500" y="4543425"/>
            <a:ext cx="1905000" cy="114300"/>
          </a:xfrm>
          <a:prstGeom prst="rect">
            <a:avLst/>
          </a:prstGeom>
          <a:noFill/>
          <a:ln/>
        </p:spPr>
        <p:txBody>
          <a:bodyPr wrap="square" lIns="0" tIns="0" rIns="0" bIns="0" rtlCol="0" anchor="t"/>
          <a:lstStyle/>
          <a:p>
            <a:pPr algn="l" indent="0" marL="0">
              <a:lnSpc>
                <a:spcPct val="106000"/>
              </a:lnSpc>
              <a:buNone/>
            </a:pPr>
            <a:r>
              <a:rPr lang="en-US" sz="640" b="1" spc="40" kern="0" dirty="0">
                <a:solidFill>
                  <a:srgbClr val="047857"/>
                </a:solidFill>
                <a:latin typeface="Segoe UI" pitchFamily="34" charset="0"/>
                <a:ea typeface="Segoe UI" pitchFamily="34" charset="-122"/>
                <a:cs typeface="Segoe UI" pitchFamily="34" charset="-120"/>
              </a:rPr>
              <a:t>KẾT QUẢ CHẠY THỬ</a:t>
            </a:r>
            <a:endParaRPr lang="en-US" sz="640" dirty="0"/>
          </a:p>
        </p:txBody>
      </p:sp>
      <p:sp>
        <p:nvSpPr>
          <p:cNvPr id="67" name="Text 65"/>
          <p:cNvSpPr txBox="1"/>
          <p:nvPr/>
        </p:nvSpPr>
        <p:spPr>
          <a:xfrm>
            <a:off x="7239000" y="4543425"/>
            <a:ext cx="876300" cy="114300"/>
          </a:xfrm>
          <a:prstGeom prst="rect">
            <a:avLst/>
          </a:prstGeom>
          <a:noFill/>
          <a:ln/>
        </p:spPr>
        <p:txBody>
          <a:bodyPr wrap="square" lIns="0" tIns="0" rIns="0" bIns="0" rtlCol="0" anchor="t"/>
          <a:lstStyle/>
          <a:p>
            <a:pPr algn="r" indent="0" marL="0">
              <a:lnSpc>
                <a:spcPct val="106000"/>
              </a:lnSpc>
              <a:buNone/>
            </a:pPr>
            <a:r>
              <a:rPr lang="en-US" sz="580" dirty="0">
                <a:solidFill>
                  <a:srgbClr val="047857"/>
                </a:solidFill>
                <a:latin typeface="Segoe UI" pitchFamily="34" charset="0"/>
                <a:ea typeface="Segoe UI" pitchFamily="34" charset="-122"/>
                <a:cs typeface="Segoe UI" pitchFamily="34" charset="-120"/>
              </a:rPr>
              <a:t>Độ tin cậy 92%</a:t>
            </a:r>
            <a:endParaRPr lang="en-US" sz="580" dirty="0"/>
          </a:p>
        </p:txBody>
      </p:sp>
      <p:sp>
        <p:nvSpPr>
          <p:cNvPr id="68" name="Text 66"/>
          <p:cNvSpPr txBox="1"/>
          <p:nvPr/>
        </p:nvSpPr>
        <p:spPr>
          <a:xfrm>
            <a:off x="4000500" y="4705350"/>
            <a:ext cx="28575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Đầu vào: “Trà sữa với bạn”</a:t>
            </a:r>
            <a:endParaRPr lang="en-US" sz="640" dirty="0"/>
          </a:p>
        </p:txBody>
      </p:sp>
      <p:sp>
        <p:nvSpPr>
          <p:cNvPr id="69" name="Text 67"/>
          <p:cNvSpPr txBox="1"/>
          <p:nvPr/>
        </p:nvSpPr>
        <p:spPr>
          <a:xfrm>
            <a:off x="4000500" y="4895850"/>
            <a:ext cx="2857500" cy="171450"/>
          </a:xfrm>
          <a:prstGeom prst="rect">
            <a:avLst/>
          </a:prstGeom>
          <a:noFill/>
          <a:ln/>
        </p:spPr>
        <p:txBody>
          <a:bodyPr wrap="square" lIns="0" tIns="0" rIns="0" bIns="0" rtlCol="0" anchor="t"/>
          <a:lstStyle/>
          <a:p>
            <a:pPr algn="l" indent="0" marL="0">
              <a:lnSpc>
                <a:spcPct val="106000"/>
              </a:lnSpc>
              <a:buNone/>
            </a:pPr>
            <a:r>
              <a:rPr lang="en-US" sz="1000" b="1" dirty="0">
                <a:solidFill>
                  <a:srgbClr val="0F172A"/>
                </a:solidFill>
                <a:latin typeface="Segoe UI" pitchFamily="34" charset="0"/>
                <a:ea typeface="Segoe UI" pitchFamily="34" charset="-122"/>
                <a:cs typeface="Segoe UI" pitchFamily="34" charset="-120"/>
              </a:rPr>
              <a:t>Kết quả: Ăn uống</a:t>
            </a:r>
            <a:endParaRPr lang="en-US" sz="1000" dirty="0"/>
          </a:p>
        </p:txBody>
      </p:sp>
      <p:sp>
        <p:nvSpPr>
          <p:cNvPr id="70" name="Text 68"/>
          <p:cNvSpPr txBox="1"/>
          <p:nvPr/>
        </p:nvSpPr>
        <p:spPr>
          <a:xfrm>
            <a:off x="4000500" y="5105400"/>
            <a:ext cx="4114800" cy="24765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Lý do: từ khoá “trà sữa” thuộc nhóm đồ uống; số tiền 45.000 ₫ phù hợp thói quen ăn uống.</a:t>
            </a:r>
            <a:endParaRPr lang="en-US" sz="620" dirty="0"/>
          </a:p>
        </p:txBody>
      </p:sp>
      <p:sp>
        <p:nvSpPr>
          <p:cNvPr id="71" name="Shape 69"/>
          <p:cNvSpPr/>
          <p:nvPr/>
        </p:nvSpPr>
        <p:spPr>
          <a:xfrm>
            <a:off x="4000500" y="5391150"/>
            <a:ext cx="723900" cy="209550"/>
          </a:xfrm>
          <a:prstGeom prst="roundRect">
            <a:avLst>
              <a:gd name="adj" fmla="val 50000"/>
            </a:avLst>
          </a:prstGeom>
          <a:solidFill>
            <a:srgbClr val="ECFDF5"/>
          </a:solidFill>
          <a:ln/>
        </p:spPr>
      </p:sp>
      <p:sp>
        <p:nvSpPr>
          <p:cNvPr id="72" name="Text 70"/>
          <p:cNvSpPr txBox="1"/>
          <p:nvPr/>
        </p:nvSpPr>
        <p:spPr>
          <a:xfrm>
            <a:off x="4029075" y="5391150"/>
            <a:ext cx="666750" cy="2095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Áp dụng mẫu</a:t>
            </a:r>
            <a:endParaRPr lang="en-US" sz="580" dirty="0"/>
          </a:p>
        </p:txBody>
      </p:sp>
      <p:sp>
        <p:nvSpPr>
          <p:cNvPr id="73" name="Shape 71"/>
          <p:cNvSpPr/>
          <p:nvPr/>
        </p:nvSpPr>
        <p:spPr>
          <a:xfrm>
            <a:off x="4800600" y="5391150"/>
            <a:ext cx="552450" cy="209550"/>
          </a:xfrm>
          <a:prstGeom prst="roundRect">
            <a:avLst>
              <a:gd name="adj" fmla="val 50000"/>
            </a:avLst>
          </a:prstGeom>
          <a:solidFill>
            <a:srgbClr val="FFFFFF"/>
          </a:solidFill>
          <a:ln w="9525">
            <a:solidFill>
              <a:srgbClr val="E2E8F0"/>
            </a:solidFill>
            <a:prstDash val="solid"/>
          </a:ln>
        </p:spPr>
      </p:sp>
      <p:sp>
        <p:nvSpPr>
          <p:cNvPr id="74" name="Text 72"/>
          <p:cNvSpPr txBox="1"/>
          <p:nvPr/>
        </p:nvSpPr>
        <p:spPr>
          <a:xfrm>
            <a:off x="4829175" y="5391150"/>
            <a:ext cx="495300" cy="209550"/>
          </a:xfrm>
          <a:prstGeom prst="rect">
            <a:avLst/>
          </a:prstGeom>
          <a:noFill/>
          <a:ln/>
        </p:spPr>
        <p:txBody>
          <a:bodyPr wrap="square" lIns="0" tIns="0" rIns="0" bIns="0" rtlCol="0" anchor="ctr"/>
          <a:lstStyle/>
          <a:p>
            <a:pPr algn="ctr" indent="0" marL="0">
              <a:lnSpc>
                <a:spcPct val="106000"/>
              </a:lnSpc>
              <a:buNone/>
            </a:pPr>
            <a:r>
              <a:rPr lang="en-US" sz="580" b="1" dirty="0">
                <a:solidFill>
                  <a:srgbClr val="475569"/>
                </a:solidFill>
                <a:latin typeface="Segoe UI" pitchFamily="34" charset="0"/>
                <a:ea typeface="Segoe UI" pitchFamily="34" charset="-122"/>
                <a:cs typeface="Segoe UI" pitchFamily="34" charset="-120"/>
              </a:rPr>
              <a:t>Tạo lại</a:t>
            </a:r>
            <a:endParaRPr lang="en-US" sz="580" dirty="0"/>
          </a:p>
        </p:txBody>
      </p:sp>
      <p:sp>
        <p:nvSpPr>
          <p:cNvPr id="75" name="Shape 73"/>
          <p:cNvSpPr/>
          <p:nvPr/>
        </p:nvSpPr>
        <p:spPr>
          <a:xfrm>
            <a:off x="5429250" y="5391150"/>
            <a:ext cx="552450" cy="209550"/>
          </a:xfrm>
          <a:prstGeom prst="roundRect">
            <a:avLst>
              <a:gd name="adj" fmla="val 50000"/>
            </a:avLst>
          </a:prstGeom>
          <a:solidFill>
            <a:srgbClr val="FFFFFF"/>
          </a:solidFill>
          <a:ln w="9525">
            <a:solidFill>
              <a:srgbClr val="E2E8F0"/>
            </a:solidFill>
            <a:prstDash val="solid"/>
          </a:ln>
        </p:spPr>
      </p:sp>
      <p:sp>
        <p:nvSpPr>
          <p:cNvPr id="76" name="Text 74"/>
          <p:cNvSpPr txBox="1"/>
          <p:nvPr/>
        </p:nvSpPr>
        <p:spPr>
          <a:xfrm>
            <a:off x="5457825" y="5391150"/>
            <a:ext cx="495300" cy="209550"/>
          </a:xfrm>
          <a:prstGeom prst="rect">
            <a:avLst/>
          </a:prstGeom>
          <a:noFill/>
          <a:ln/>
        </p:spPr>
        <p:txBody>
          <a:bodyPr wrap="square" lIns="0" tIns="0" rIns="0" bIns="0" rtlCol="0" anchor="ctr"/>
          <a:lstStyle/>
          <a:p>
            <a:pPr algn="ctr" indent="0" marL="0">
              <a:lnSpc>
                <a:spcPct val="106000"/>
              </a:lnSpc>
              <a:buNone/>
            </a:pPr>
            <a:r>
              <a:rPr lang="en-US" sz="580" b="1" dirty="0">
                <a:solidFill>
                  <a:srgbClr val="475569"/>
                </a:solidFill>
                <a:latin typeface="Segoe UI" pitchFamily="34" charset="0"/>
                <a:ea typeface="Segoe UI" pitchFamily="34" charset="-122"/>
                <a:cs typeface="Segoe UI" pitchFamily="34" charset="-120"/>
              </a:rPr>
              <a:t>Báo cáo</a:t>
            </a:r>
            <a:endParaRPr lang="en-US" sz="580" dirty="0"/>
          </a:p>
        </p:txBody>
      </p:sp>
      <p:sp>
        <p:nvSpPr>
          <p:cNvPr id="77" name="Text 75"/>
          <p:cNvSpPr txBox="1"/>
          <p:nvPr/>
        </p:nvSpPr>
        <p:spPr>
          <a:xfrm>
            <a:off x="4000500" y="5734050"/>
            <a:ext cx="4114800" cy="228600"/>
          </a:xfrm>
          <a:prstGeom prst="rect">
            <a:avLst/>
          </a:prstGeom>
          <a:noFill/>
          <a:ln/>
        </p:spPr>
        <p:txBody>
          <a:bodyPr wrap="square" lIns="0" tIns="0" rIns="0" bIns="0" rtlCol="0" anchor="t"/>
          <a:lstStyle/>
          <a:p>
            <a:pPr algn="l" indent="0" marL="0">
              <a:lnSpc>
                <a:spcPct val="106000"/>
              </a:lnSpc>
              <a:buNone/>
            </a:pPr>
            <a:r>
              <a:rPr lang="en-US" sz="600" dirty="0">
                <a:solidFill>
                  <a:srgbClr val="B45309"/>
                </a:solidFill>
                <a:latin typeface="Segoe UI" pitchFamily="34" charset="0"/>
                <a:ea typeface="Segoe UI" pitchFamily="34" charset="-122"/>
                <a:cs typeface="Segoe UI" pitchFamily="34" charset="-120"/>
              </a:rPr>
              <a:t>Thử với prompt rỗng → “Không đủ dữ liệu để đưa ra đề xuất.”</a:t>
            </a:r>
            <a:endParaRPr lang="en-US" sz="600" dirty="0"/>
          </a:p>
        </p:txBody>
      </p:sp>
      <p:sp>
        <p:nvSpPr>
          <p:cNvPr id="78" name="Shape 76"/>
          <p:cNvSpPr/>
          <p:nvPr/>
        </p:nvSpPr>
        <p:spPr>
          <a:xfrm>
            <a:off x="1943100" y="5219700"/>
            <a:ext cx="1809750" cy="876300"/>
          </a:xfrm>
          <a:prstGeom prst="roundRect">
            <a:avLst>
              <a:gd name="adj" fmla="val 7609"/>
            </a:avLst>
          </a:prstGeom>
          <a:solidFill>
            <a:srgbClr val="FFFBEB"/>
          </a:solidFill>
          <a:ln/>
        </p:spPr>
      </p:sp>
      <p:sp>
        <p:nvSpPr>
          <p:cNvPr id="79" name="Text 77"/>
          <p:cNvSpPr txBox="1"/>
          <p:nvPr/>
        </p:nvSpPr>
        <p:spPr>
          <a:xfrm>
            <a:off x="2057400" y="5314950"/>
            <a:ext cx="1581150" cy="114300"/>
          </a:xfrm>
          <a:prstGeom prst="rect">
            <a:avLst/>
          </a:prstGeom>
          <a:noFill/>
          <a:ln/>
        </p:spPr>
        <p:txBody>
          <a:bodyPr wrap="square" lIns="0" tIns="0" rIns="0" bIns="0" rtlCol="0" anchor="t"/>
          <a:lstStyle/>
          <a:p>
            <a:pPr algn="l" indent="0" marL="0">
              <a:lnSpc>
                <a:spcPct val="106000"/>
              </a:lnSpc>
              <a:buNone/>
            </a:pPr>
            <a:r>
              <a:rPr lang="en-US" sz="640" b="1" dirty="0">
                <a:solidFill>
                  <a:srgbClr val="B45309"/>
                </a:solidFill>
                <a:latin typeface="Segoe UI" pitchFamily="34" charset="0"/>
                <a:ea typeface="Segoe UI" pitchFamily="34" charset="-122"/>
                <a:cs typeface="Segoe UI" pitchFamily="34" charset="-120"/>
              </a:rPr>
              <a:t>Lưu ý</a:t>
            </a:r>
            <a:endParaRPr lang="en-US" sz="640" dirty="0"/>
          </a:p>
        </p:txBody>
      </p:sp>
      <p:sp>
        <p:nvSpPr>
          <p:cNvPr id="80" name="Text 78"/>
          <p:cNvSpPr txBox="1"/>
          <p:nvPr/>
        </p:nvSpPr>
        <p:spPr>
          <a:xfrm>
            <a:off x="2057400" y="5467350"/>
            <a:ext cx="1581150" cy="476250"/>
          </a:xfrm>
          <a:prstGeom prst="rect">
            <a:avLst/>
          </a:prstGeom>
          <a:noFill/>
          <a:ln/>
        </p:spPr>
        <p:txBody>
          <a:bodyPr wrap="square" lIns="0" tIns="0" rIns="0" bIns="0" rtlCol="0" anchor="t"/>
          <a:lstStyle/>
          <a:p>
            <a:pPr algn="l" indent="0" marL="0">
              <a:lnSpc>
                <a:spcPct val="106000"/>
              </a:lnSpc>
              <a:buNone/>
            </a:pPr>
            <a:r>
              <a:rPr lang="en-US" sz="600" dirty="0">
                <a:solidFill>
                  <a:srgbClr val="78350F"/>
                </a:solidFill>
                <a:latin typeface="Segoe UI" pitchFamily="34" charset="0"/>
                <a:ea typeface="Segoe UI" pitchFamily="34" charset="-122"/>
                <a:cs typeface="Segoe UI" pitchFamily="34" charset="-120"/>
              </a:rPr>
              <a:t>Mẫu AI chỉ là cấu hình. Kết quả chạy thử không tự ghi vào giao dịch thật.</a:t>
            </a:r>
            <a:endParaRPr lang="en-US" sz="600" dirty="0"/>
          </a:p>
        </p:txBody>
      </p:sp>
      <p:sp>
        <p:nvSpPr>
          <p:cNvPr id="81" name="Shape 79"/>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82" name="Text 80"/>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22 / 27</a:t>
            </a:r>
            <a:endParaRPr lang="en-US" sz="740" dirty="0"/>
          </a:p>
        </p:txBody>
      </p:sp>
      <p:sp>
        <p:nvSpPr>
          <p:cNvPr id="83" name="Text 81"/>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Quản lý mẫu AI</a:t>
            </a:r>
            <a:endParaRPr lang="en-US" sz="1700" dirty="0"/>
          </a:p>
        </p:txBody>
      </p:sp>
      <p:sp>
        <p:nvSpPr>
          <p:cNvPr id="84" name="Text 82"/>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pages/moderator-ai-template-management.html</a:t>
            </a:r>
            <a:endParaRPr lang="en-US" sz="720" dirty="0"/>
          </a:p>
        </p:txBody>
      </p:sp>
      <p:sp>
        <p:nvSpPr>
          <p:cNvPr id="85" name="Shape 83"/>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86" name="Text 84"/>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87" name="Text 85"/>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Quản lý mẫu AI: tạo, sửa, bật/tắt và chạy thử với dữ liệu mẫu trước khi đưa vào sử dụng.</a:t>
            </a:r>
            <a:endParaRPr lang="en-US" sz="920" dirty="0"/>
          </a:p>
        </p:txBody>
      </p:sp>
      <p:sp>
        <p:nvSpPr>
          <p:cNvPr id="88" name="Text 86"/>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89" name="Shape 87"/>
          <p:cNvSpPr/>
          <p:nvPr/>
        </p:nvSpPr>
        <p:spPr>
          <a:xfrm>
            <a:off x="8839200" y="3238500"/>
            <a:ext cx="209550" cy="190500"/>
          </a:xfrm>
          <a:prstGeom prst="roundRect">
            <a:avLst>
              <a:gd name="adj" fmla="val 25000"/>
            </a:avLst>
          </a:prstGeom>
          <a:solidFill>
            <a:srgbClr val="059669"/>
          </a:solidFill>
          <a:ln/>
        </p:spPr>
      </p:sp>
      <p:sp>
        <p:nvSpPr>
          <p:cNvPr id="90" name="Text 88"/>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91" name="Shape 89"/>
          <p:cNvSpPr/>
          <p:nvPr/>
        </p:nvSpPr>
        <p:spPr>
          <a:xfrm>
            <a:off x="9086850" y="3238500"/>
            <a:ext cx="209550" cy="190500"/>
          </a:xfrm>
          <a:prstGeom prst="roundRect">
            <a:avLst>
              <a:gd name="adj" fmla="val 25000"/>
            </a:avLst>
          </a:prstGeom>
          <a:solidFill>
            <a:srgbClr val="059669"/>
          </a:solidFill>
          <a:ln/>
        </p:spPr>
      </p:sp>
      <p:sp>
        <p:nvSpPr>
          <p:cNvPr id="92" name="Text 90"/>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93" name="Shape 91"/>
          <p:cNvSpPr/>
          <p:nvPr/>
        </p:nvSpPr>
        <p:spPr>
          <a:xfrm>
            <a:off x="9334500" y="3238500"/>
            <a:ext cx="209550" cy="190500"/>
          </a:xfrm>
          <a:prstGeom prst="roundRect">
            <a:avLst>
              <a:gd name="adj" fmla="val 25000"/>
            </a:avLst>
          </a:prstGeom>
          <a:solidFill>
            <a:srgbClr val="059669"/>
          </a:solidFill>
          <a:ln/>
        </p:spPr>
      </p:sp>
      <p:sp>
        <p:nvSpPr>
          <p:cNvPr id="94" name="Text 92"/>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95" name="Shape 93"/>
          <p:cNvSpPr/>
          <p:nvPr/>
        </p:nvSpPr>
        <p:spPr>
          <a:xfrm>
            <a:off x="9582150" y="3238500"/>
            <a:ext cx="209550" cy="190500"/>
          </a:xfrm>
          <a:prstGeom prst="roundRect">
            <a:avLst>
              <a:gd name="adj" fmla="val 25000"/>
            </a:avLst>
          </a:prstGeom>
          <a:solidFill>
            <a:srgbClr val="F1F5F9"/>
          </a:solidFill>
          <a:ln/>
        </p:spPr>
      </p:sp>
      <p:sp>
        <p:nvSpPr>
          <p:cNvPr id="96" name="Text 94"/>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97" name="Text 95"/>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Nháp · hoạt động · đã tắt · chạy thử đang xử lý · kết quả · lỗi.</a:t>
            </a:r>
            <a:endParaRPr lang="en-US" sz="900" dirty="0"/>
          </a:p>
        </p:txBody>
      </p:sp>
      <p:sp>
        <p:nvSpPr>
          <p:cNvPr id="98" name="Text 96"/>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99" name="Text 97"/>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Chọn mẫu; sửa prompt; chạy thử; lưu; tạo lại; báo cáo; validate prompt.</a:t>
            </a:r>
            <a:endParaRPr lang="en-US" sz="900" dirty="0"/>
          </a:p>
        </p:txBody>
      </p:sp>
      <p:sp>
        <p:nvSpPr>
          <p:cNvPr id="100" name="Text 98"/>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01" name="Text 99"/>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AI-1 test: danh mục + 92% + lý do; prompt rỗng → “Không đủ dữ liệu để đưa ra đề xuất.”</a:t>
            </a:r>
            <a:endParaRPr lang="en-US" sz="900" dirty="0"/>
          </a:p>
        </p:txBody>
      </p:sp>
      <p:sp>
        <p:nvSpPr>
          <p:cNvPr id="102" name="Shape 100"/>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03" name="Text 101"/>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SV3-04-ai-templates</a:t>
            </a:r>
            <a:endParaRPr lang="en-US" sz="840" dirty="0"/>
          </a:p>
        </p:txBody>
      </p:sp>
      <p:sp>
        <p:nvSpPr>
          <p:cNvPr id="104" name="Text 102"/>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FFBEB"/>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B45309"/>
                </a:solidFill>
                <a:latin typeface="Segoe UI" pitchFamily="34" charset="0"/>
                <a:ea typeface="Segoe UI" pitchFamily="34" charset="-122"/>
                <a:cs typeface="Segoe UI" pitchFamily="34" charset="-120"/>
              </a:rPr>
              <a:t>KIỂM DUYỆT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23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Trung tâm phản hồi</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pages/moderator-feedback-center.html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spendwise.app/pages/moderator-feedback-center.html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Kiểm duyệt viên</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Duyệt tài nguyên</a:t>
            </a:r>
            <a:endParaRPr lang="en-US" sz="820" dirty="0"/>
          </a:p>
        </p:txBody>
      </p:sp>
      <p:sp>
        <p:nvSpPr>
          <p:cNvPr id="22" name="Text 20"/>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Mẫu AI</a:t>
            </a:r>
            <a:endParaRPr lang="en-US" sz="820" dirty="0"/>
          </a:p>
        </p:txBody>
      </p:sp>
      <p:sp>
        <p:nvSpPr>
          <p:cNvPr id="23" name="Shape 21"/>
          <p:cNvSpPr/>
          <p:nvPr/>
        </p:nvSpPr>
        <p:spPr>
          <a:xfrm>
            <a:off x="495300" y="2600325"/>
            <a:ext cx="1181100" cy="209550"/>
          </a:xfrm>
          <a:prstGeom prst="roundRect">
            <a:avLst>
              <a:gd name="adj" fmla="val 27273"/>
            </a:avLst>
          </a:prstGeom>
          <a:solidFill>
            <a:srgbClr val="ECFDF5"/>
          </a:solidFill>
          <a:ln/>
        </p:spPr>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Phản hồi</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Trung tâm phản hồi</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Kiểm duyệt viên</a:t>
            </a:r>
            <a:endParaRPr lang="en-US" sz="700" dirty="0"/>
          </a:p>
        </p:txBody>
      </p:sp>
      <p:sp>
        <p:nvSpPr>
          <p:cNvPr id="33" name="Shape 31"/>
          <p:cNvSpPr/>
          <p:nvPr/>
        </p:nvSpPr>
        <p:spPr>
          <a:xfrm>
            <a:off x="1943100" y="1952625"/>
            <a:ext cx="819150" cy="228600"/>
          </a:xfrm>
          <a:prstGeom prst="roundRect">
            <a:avLst>
              <a:gd name="adj" fmla="val 50000"/>
            </a:avLst>
          </a:prstGeom>
          <a:solidFill>
            <a:srgbClr val="ECFDF5"/>
          </a:solidFill>
          <a:ln/>
        </p:spPr>
      </p:sp>
      <p:sp>
        <p:nvSpPr>
          <p:cNvPr id="34" name="Text 32"/>
          <p:cNvSpPr txBox="1"/>
          <p:nvPr/>
        </p:nvSpPr>
        <p:spPr>
          <a:xfrm>
            <a:off x="1971675" y="1952625"/>
            <a:ext cx="76200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Tất cả 3</a:t>
            </a:r>
            <a:endParaRPr lang="en-US" sz="600" dirty="0"/>
          </a:p>
        </p:txBody>
      </p:sp>
      <p:sp>
        <p:nvSpPr>
          <p:cNvPr id="35" name="Shape 33"/>
          <p:cNvSpPr/>
          <p:nvPr/>
        </p:nvSpPr>
        <p:spPr>
          <a:xfrm>
            <a:off x="2838450" y="1952625"/>
            <a:ext cx="590550" cy="228600"/>
          </a:xfrm>
          <a:prstGeom prst="roundRect">
            <a:avLst>
              <a:gd name="adj" fmla="val 50000"/>
            </a:avLst>
          </a:prstGeom>
          <a:solidFill>
            <a:srgbClr val="FFFFFF"/>
          </a:solidFill>
          <a:ln w="9525">
            <a:solidFill>
              <a:srgbClr val="E2E8F0"/>
            </a:solidFill>
            <a:prstDash val="solid"/>
          </a:ln>
        </p:spPr>
      </p:sp>
      <p:sp>
        <p:nvSpPr>
          <p:cNvPr id="36" name="Text 34"/>
          <p:cNvSpPr txBox="1"/>
          <p:nvPr/>
        </p:nvSpPr>
        <p:spPr>
          <a:xfrm>
            <a:off x="2867025" y="1952625"/>
            <a:ext cx="53340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Mới 1</a:t>
            </a:r>
            <a:endParaRPr lang="en-US" sz="600" dirty="0"/>
          </a:p>
        </p:txBody>
      </p:sp>
      <p:sp>
        <p:nvSpPr>
          <p:cNvPr id="37" name="Shape 35"/>
          <p:cNvSpPr/>
          <p:nvPr/>
        </p:nvSpPr>
        <p:spPr>
          <a:xfrm>
            <a:off x="3505200" y="1952625"/>
            <a:ext cx="876300" cy="228600"/>
          </a:xfrm>
          <a:prstGeom prst="roundRect">
            <a:avLst>
              <a:gd name="adj" fmla="val 50000"/>
            </a:avLst>
          </a:prstGeom>
          <a:solidFill>
            <a:srgbClr val="FFFFFF"/>
          </a:solidFill>
          <a:ln w="9525">
            <a:solidFill>
              <a:srgbClr val="E2E8F0"/>
            </a:solidFill>
            <a:prstDash val="solid"/>
          </a:ln>
        </p:spPr>
      </p:sp>
      <p:sp>
        <p:nvSpPr>
          <p:cNvPr id="38" name="Text 36"/>
          <p:cNvSpPr txBox="1"/>
          <p:nvPr/>
        </p:nvSpPr>
        <p:spPr>
          <a:xfrm>
            <a:off x="3533775" y="1952625"/>
            <a:ext cx="81915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Đang xử lý 1</a:t>
            </a:r>
            <a:endParaRPr lang="en-US" sz="600" dirty="0"/>
          </a:p>
        </p:txBody>
      </p:sp>
      <p:sp>
        <p:nvSpPr>
          <p:cNvPr id="39" name="Shape 37"/>
          <p:cNvSpPr/>
          <p:nvPr/>
        </p:nvSpPr>
        <p:spPr>
          <a:xfrm>
            <a:off x="4457700" y="1952625"/>
            <a:ext cx="762000" cy="228600"/>
          </a:xfrm>
          <a:prstGeom prst="roundRect">
            <a:avLst>
              <a:gd name="adj" fmla="val 50000"/>
            </a:avLst>
          </a:prstGeom>
          <a:solidFill>
            <a:srgbClr val="FFFFFF"/>
          </a:solidFill>
          <a:ln w="9525">
            <a:solidFill>
              <a:srgbClr val="E2E8F0"/>
            </a:solidFill>
            <a:prstDash val="solid"/>
          </a:ln>
        </p:spPr>
      </p:sp>
      <p:sp>
        <p:nvSpPr>
          <p:cNvPr id="40" name="Text 38"/>
          <p:cNvSpPr txBox="1"/>
          <p:nvPr/>
        </p:nvSpPr>
        <p:spPr>
          <a:xfrm>
            <a:off x="4486275" y="1952625"/>
            <a:ext cx="70485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Đã xử lý 1</a:t>
            </a:r>
            <a:endParaRPr lang="en-US" sz="600" dirty="0"/>
          </a:p>
        </p:txBody>
      </p:sp>
      <p:sp>
        <p:nvSpPr>
          <p:cNvPr id="41" name="Shape 39"/>
          <p:cNvSpPr/>
          <p:nvPr/>
        </p:nvSpPr>
        <p:spPr>
          <a:xfrm>
            <a:off x="5295900" y="1952625"/>
            <a:ext cx="647700" cy="228600"/>
          </a:xfrm>
          <a:prstGeom prst="roundRect">
            <a:avLst>
              <a:gd name="adj" fmla="val 50000"/>
            </a:avLst>
          </a:prstGeom>
          <a:solidFill>
            <a:srgbClr val="FFFFFF"/>
          </a:solidFill>
          <a:ln w="9525">
            <a:solidFill>
              <a:srgbClr val="E2E8F0"/>
            </a:solidFill>
            <a:prstDash val="solid"/>
          </a:ln>
        </p:spPr>
      </p:sp>
      <p:sp>
        <p:nvSpPr>
          <p:cNvPr id="42" name="Text 40"/>
          <p:cNvSpPr txBox="1"/>
          <p:nvPr/>
        </p:nvSpPr>
        <p:spPr>
          <a:xfrm>
            <a:off x="5324475" y="1952625"/>
            <a:ext cx="59055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Lưu trữ</a:t>
            </a:r>
            <a:endParaRPr lang="en-US" sz="600" dirty="0"/>
          </a:p>
        </p:txBody>
      </p:sp>
      <p:sp>
        <p:nvSpPr>
          <p:cNvPr id="43" name="Shape 41"/>
          <p:cNvSpPr/>
          <p:nvPr/>
        </p:nvSpPr>
        <p:spPr>
          <a:xfrm>
            <a:off x="1943100" y="2333625"/>
            <a:ext cx="3905250" cy="1123950"/>
          </a:xfrm>
          <a:prstGeom prst="roundRect">
            <a:avLst>
              <a:gd name="adj" fmla="val 6780"/>
            </a:avLst>
          </a:prstGeom>
          <a:solidFill>
            <a:srgbClr val="FFFFFF"/>
          </a:solidFill>
          <a:ln w="9525">
            <a:solidFill>
              <a:srgbClr val="E2E8F0"/>
            </a:solidFill>
            <a:prstDash val="solid"/>
          </a:ln>
        </p:spPr>
      </p:sp>
      <p:sp>
        <p:nvSpPr>
          <p:cNvPr id="44" name="Shape 42"/>
          <p:cNvSpPr/>
          <p:nvPr/>
        </p:nvSpPr>
        <p:spPr>
          <a:xfrm>
            <a:off x="2057400" y="2447925"/>
            <a:ext cx="590550" cy="142875"/>
          </a:xfrm>
          <a:prstGeom prst="roundRect">
            <a:avLst>
              <a:gd name="adj" fmla="val 50000"/>
            </a:avLst>
          </a:prstGeom>
          <a:solidFill>
            <a:srgbClr val="FEF2F2"/>
          </a:solidFill>
          <a:ln/>
        </p:spPr>
      </p:sp>
      <p:sp>
        <p:nvSpPr>
          <p:cNvPr id="45" name="Text 43"/>
          <p:cNvSpPr txBox="1"/>
          <p:nvPr/>
        </p:nvSpPr>
        <p:spPr>
          <a:xfrm>
            <a:off x="2085975" y="244792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DC2626"/>
                </a:solidFill>
                <a:latin typeface="Segoe UI" pitchFamily="34" charset="0"/>
                <a:ea typeface="Segoe UI" pitchFamily="34" charset="-122"/>
                <a:cs typeface="Segoe UI" pitchFamily="34" charset="-120"/>
              </a:rPr>
              <a:t>Lỗi dữ liệu</a:t>
            </a:r>
            <a:endParaRPr lang="en-US" sz="520" dirty="0"/>
          </a:p>
        </p:txBody>
      </p:sp>
      <p:sp>
        <p:nvSpPr>
          <p:cNvPr id="46" name="Shape 44"/>
          <p:cNvSpPr/>
          <p:nvPr/>
        </p:nvSpPr>
        <p:spPr>
          <a:xfrm>
            <a:off x="2724150" y="2447925"/>
            <a:ext cx="476250" cy="142875"/>
          </a:xfrm>
          <a:prstGeom prst="roundRect">
            <a:avLst>
              <a:gd name="adj" fmla="val 50000"/>
            </a:avLst>
          </a:prstGeom>
          <a:solidFill>
            <a:srgbClr val="FFFBEB"/>
          </a:solidFill>
          <a:ln/>
        </p:spPr>
      </p:sp>
      <p:sp>
        <p:nvSpPr>
          <p:cNvPr id="47" name="Text 45"/>
          <p:cNvSpPr txBox="1"/>
          <p:nvPr/>
        </p:nvSpPr>
        <p:spPr>
          <a:xfrm>
            <a:off x="2752725" y="2447925"/>
            <a:ext cx="4191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B45309"/>
                </a:solidFill>
                <a:latin typeface="Segoe UI" pitchFamily="34" charset="0"/>
                <a:ea typeface="Segoe UI" pitchFamily="34" charset="-122"/>
                <a:cs typeface="Segoe UI" pitchFamily="34" charset="-120"/>
              </a:rPr>
              <a:t>Cao</a:t>
            </a:r>
            <a:endParaRPr lang="en-US" sz="520" dirty="0"/>
          </a:p>
        </p:txBody>
      </p:sp>
      <p:sp>
        <p:nvSpPr>
          <p:cNvPr id="48" name="Shape 46"/>
          <p:cNvSpPr/>
          <p:nvPr/>
        </p:nvSpPr>
        <p:spPr>
          <a:xfrm>
            <a:off x="5048250" y="2447925"/>
            <a:ext cx="628650" cy="142875"/>
          </a:xfrm>
          <a:prstGeom prst="roundRect">
            <a:avLst>
              <a:gd name="adj" fmla="val 50000"/>
            </a:avLst>
          </a:prstGeom>
          <a:solidFill>
            <a:srgbClr val="ECFDF5"/>
          </a:solidFill>
          <a:ln/>
        </p:spPr>
      </p:sp>
      <p:sp>
        <p:nvSpPr>
          <p:cNvPr id="49" name="Text 47"/>
          <p:cNvSpPr txBox="1"/>
          <p:nvPr/>
        </p:nvSpPr>
        <p:spPr>
          <a:xfrm>
            <a:off x="5076825" y="2447925"/>
            <a:ext cx="5715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Mới</a:t>
            </a:r>
            <a:endParaRPr lang="en-US" sz="520" dirty="0"/>
          </a:p>
        </p:txBody>
      </p:sp>
      <p:sp>
        <p:nvSpPr>
          <p:cNvPr id="50" name="Text 48"/>
          <p:cNvSpPr txBox="1"/>
          <p:nvPr/>
        </p:nvSpPr>
        <p:spPr>
          <a:xfrm>
            <a:off x="2057400" y="2657475"/>
            <a:ext cx="36195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Nút Lưu giao dịch không ăn trên điện thoại</a:t>
            </a:r>
            <a:endParaRPr lang="en-US" sz="860" dirty="0"/>
          </a:p>
        </p:txBody>
      </p:sp>
      <p:sp>
        <p:nvSpPr>
          <p:cNvPr id="51" name="Text 49"/>
          <p:cNvSpPr txBox="1"/>
          <p:nvPr/>
        </p:nvSpPr>
        <p:spPr>
          <a:xfrm>
            <a:off x="2057400" y="2828925"/>
            <a:ext cx="3619500" cy="11430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Nguyễn Văn Minh · 17/10</a:t>
            </a:r>
            <a:endParaRPr lang="en-US" sz="580" dirty="0"/>
          </a:p>
        </p:txBody>
      </p:sp>
      <p:sp>
        <p:nvSpPr>
          <p:cNvPr id="52" name="Text 50"/>
          <p:cNvSpPr txBox="1"/>
          <p:nvPr/>
        </p:nvSpPr>
        <p:spPr>
          <a:xfrm>
            <a:off x="2057400" y="2981325"/>
            <a:ext cx="3619500" cy="2286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Nút Lưu đôi khi bấm không ăn trên điện thoại.</a:t>
            </a:r>
            <a:endParaRPr lang="en-US" sz="620" dirty="0"/>
          </a:p>
        </p:txBody>
      </p:sp>
      <p:sp>
        <p:nvSpPr>
          <p:cNvPr id="53" name="Shape 51"/>
          <p:cNvSpPr/>
          <p:nvPr/>
        </p:nvSpPr>
        <p:spPr>
          <a:xfrm>
            <a:off x="4972050" y="3114675"/>
            <a:ext cx="723900" cy="209550"/>
          </a:xfrm>
          <a:prstGeom prst="roundRect">
            <a:avLst>
              <a:gd name="adj" fmla="val 22727"/>
            </a:avLst>
          </a:prstGeom>
          <a:solidFill>
            <a:srgbClr val="FFFFFF"/>
          </a:solidFill>
          <a:ln w="9525">
            <a:solidFill>
              <a:srgbClr val="E2E8F0"/>
            </a:solidFill>
            <a:prstDash val="solid"/>
          </a:ln>
        </p:spPr>
      </p:sp>
      <p:sp>
        <p:nvSpPr>
          <p:cNvPr id="54" name="Text 52"/>
          <p:cNvSpPr txBox="1"/>
          <p:nvPr/>
        </p:nvSpPr>
        <p:spPr>
          <a:xfrm>
            <a:off x="4972050" y="3114675"/>
            <a:ext cx="723900" cy="2095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Nhận xử lý</a:t>
            </a:r>
            <a:endParaRPr lang="en-US" sz="580" dirty="0"/>
          </a:p>
        </p:txBody>
      </p:sp>
      <p:sp>
        <p:nvSpPr>
          <p:cNvPr id="55" name="Shape 53"/>
          <p:cNvSpPr/>
          <p:nvPr/>
        </p:nvSpPr>
        <p:spPr>
          <a:xfrm>
            <a:off x="1943100" y="3600450"/>
            <a:ext cx="3905250" cy="1123950"/>
          </a:xfrm>
          <a:prstGeom prst="roundRect">
            <a:avLst>
              <a:gd name="adj" fmla="val 6780"/>
            </a:avLst>
          </a:prstGeom>
          <a:solidFill>
            <a:srgbClr val="FFFFFF"/>
          </a:solidFill>
          <a:ln w="9525">
            <a:solidFill>
              <a:srgbClr val="E2E8F0"/>
            </a:solidFill>
            <a:prstDash val="solid"/>
          </a:ln>
        </p:spPr>
      </p:sp>
      <p:sp>
        <p:nvSpPr>
          <p:cNvPr id="56" name="Shape 54"/>
          <p:cNvSpPr/>
          <p:nvPr/>
        </p:nvSpPr>
        <p:spPr>
          <a:xfrm>
            <a:off x="2057400" y="3714750"/>
            <a:ext cx="590550" cy="142875"/>
          </a:xfrm>
          <a:prstGeom prst="roundRect">
            <a:avLst>
              <a:gd name="adj" fmla="val 50000"/>
            </a:avLst>
          </a:prstGeom>
          <a:solidFill>
            <a:srgbClr val="FFFFFF"/>
          </a:solidFill>
          <a:ln w="9525">
            <a:solidFill>
              <a:srgbClr val="E2E8F0"/>
            </a:solidFill>
            <a:prstDash val="solid"/>
          </a:ln>
        </p:spPr>
      </p:sp>
      <p:sp>
        <p:nvSpPr>
          <p:cNvPr id="57" name="Text 55"/>
          <p:cNvSpPr txBox="1"/>
          <p:nvPr/>
        </p:nvSpPr>
        <p:spPr>
          <a:xfrm>
            <a:off x="2085975" y="3714750"/>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475569"/>
                </a:solidFill>
                <a:latin typeface="Segoe UI" pitchFamily="34" charset="0"/>
                <a:ea typeface="Segoe UI" pitchFamily="34" charset="-122"/>
                <a:cs typeface="Segoe UI" pitchFamily="34" charset="-120"/>
              </a:rPr>
              <a:t>Góp ý</a:t>
            </a:r>
            <a:endParaRPr lang="en-US" sz="520" dirty="0"/>
          </a:p>
        </p:txBody>
      </p:sp>
      <p:sp>
        <p:nvSpPr>
          <p:cNvPr id="58" name="Shape 56"/>
          <p:cNvSpPr/>
          <p:nvPr/>
        </p:nvSpPr>
        <p:spPr>
          <a:xfrm>
            <a:off x="2724150" y="3714750"/>
            <a:ext cx="476250" cy="142875"/>
          </a:xfrm>
          <a:prstGeom prst="roundRect">
            <a:avLst>
              <a:gd name="adj" fmla="val 50000"/>
            </a:avLst>
          </a:prstGeom>
          <a:solidFill>
            <a:srgbClr val="F1F5F9"/>
          </a:solidFill>
          <a:ln/>
        </p:spPr>
      </p:sp>
      <p:sp>
        <p:nvSpPr>
          <p:cNvPr id="59" name="Text 57"/>
          <p:cNvSpPr txBox="1"/>
          <p:nvPr/>
        </p:nvSpPr>
        <p:spPr>
          <a:xfrm>
            <a:off x="2752725" y="3714750"/>
            <a:ext cx="4191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64748B"/>
                </a:solidFill>
                <a:latin typeface="Segoe UI" pitchFamily="34" charset="0"/>
                <a:ea typeface="Segoe UI" pitchFamily="34" charset="-122"/>
                <a:cs typeface="Segoe UI" pitchFamily="34" charset="-120"/>
              </a:rPr>
              <a:t>Trung bình</a:t>
            </a:r>
            <a:endParaRPr lang="en-US" sz="520" dirty="0"/>
          </a:p>
        </p:txBody>
      </p:sp>
      <p:sp>
        <p:nvSpPr>
          <p:cNvPr id="60" name="Shape 58"/>
          <p:cNvSpPr/>
          <p:nvPr/>
        </p:nvSpPr>
        <p:spPr>
          <a:xfrm>
            <a:off x="5048250" y="3714750"/>
            <a:ext cx="628650" cy="142875"/>
          </a:xfrm>
          <a:prstGeom prst="roundRect">
            <a:avLst>
              <a:gd name="adj" fmla="val 50000"/>
            </a:avLst>
          </a:prstGeom>
          <a:solidFill>
            <a:srgbClr val="FFFBEB"/>
          </a:solidFill>
          <a:ln/>
        </p:spPr>
      </p:sp>
      <p:sp>
        <p:nvSpPr>
          <p:cNvPr id="61" name="Text 59"/>
          <p:cNvSpPr txBox="1"/>
          <p:nvPr/>
        </p:nvSpPr>
        <p:spPr>
          <a:xfrm>
            <a:off x="5076825" y="3714750"/>
            <a:ext cx="5715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B45309"/>
                </a:solidFill>
                <a:latin typeface="Segoe UI" pitchFamily="34" charset="0"/>
                <a:ea typeface="Segoe UI" pitchFamily="34" charset="-122"/>
                <a:cs typeface="Segoe UI" pitchFamily="34" charset="-120"/>
              </a:rPr>
              <a:t>Đang xử lý</a:t>
            </a:r>
            <a:endParaRPr lang="en-US" sz="520" dirty="0"/>
          </a:p>
        </p:txBody>
      </p:sp>
      <p:sp>
        <p:nvSpPr>
          <p:cNvPr id="62" name="Text 60"/>
          <p:cNvSpPr txBox="1"/>
          <p:nvPr/>
        </p:nvSpPr>
        <p:spPr>
          <a:xfrm>
            <a:off x="2057400" y="3924300"/>
            <a:ext cx="36195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Muốn có biểu đồ so sánh 2 tháng</a:t>
            </a:r>
            <a:endParaRPr lang="en-US" sz="860" dirty="0"/>
          </a:p>
        </p:txBody>
      </p:sp>
      <p:sp>
        <p:nvSpPr>
          <p:cNvPr id="63" name="Text 61"/>
          <p:cNvSpPr txBox="1"/>
          <p:nvPr/>
        </p:nvSpPr>
        <p:spPr>
          <a:xfrm>
            <a:off x="2057400" y="4095750"/>
            <a:ext cx="3619500" cy="11430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Trần Thu Hà · 15/10</a:t>
            </a:r>
            <a:endParaRPr lang="en-US" sz="580" dirty="0"/>
          </a:p>
        </p:txBody>
      </p:sp>
      <p:sp>
        <p:nvSpPr>
          <p:cNvPr id="64" name="Text 62"/>
          <p:cNvSpPr txBox="1"/>
          <p:nvPr/>
        </p:nvSpPr>
        <p:spPr>
          <a:xfrm>
            <a:off x="2057400" y="4248150"/>
            <a:ext cx="3619500" cy="2286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Muốn có biểu đồ so sánh tháng này với tháng trước.</a:t>
            </a:r>
            <a:endParaRPr lang="en-US" sz="620" dirty="0"/>
          </a:p>
        </p:txBody>
      </p:sp>
      <p:sp>
        <p:nvSpPr>
          <p:cNvPr id="65" name="Shape 63"/>
          <p:cNvSpPr/>
          <p:nvPr/>
        </p:nvSpPr>
        <p:spPr>
          <a:xfrm>
            <a:off x="4972050" y="4381500"/>
            <a:ext cx="723900" cy="209550"/>
          </a:xfrm>
          <a:prstGeom prst="roundRect">
            <a:avLst>
              <a:gd name="adj" fmla="val 22727"/>
            </a:avLst>
          </a:prstGeom>
          <a:solidFill>
            <a:srgbClr val="FFFFFF"/>
          </a:solidFill>
          <a:ln w="9525">
            <a:solidFill>
              <a:srgbClr val="E2E8F0"/>
            </a:solidFill>
            <a:prstDash val="solid"/>
          </a:ln>
        </p:spPr>
      </p:sp>
      <p:sp>
        <p:nvSpPr>
          <p:cNvPr id="66" name="Text 64"/>
          <p:cNvSpPr txBox="1"/>
          <p:nvPr/>
        </p:nvSpPr>
        <p:spPr>
          <a:xfrm>
            <a:off x="4972050" y="4381500"/>
            <a:ext cx="723900" cy="2095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Phản hồi</a:t>
            </a:r>
            <a:endParaRPr lang="en-US" sz="580" dirty="0"/>
          </a:p>
        </p:txBody>
      </p:sp>
      <p:sp>
        <p:nvSpPr>
          <p:cNvPr id="67" name="Shape 65"/>
          <p:cNvSpPr/>
          <p:nvPr/>
        </p:nvSpPr>
        <p:spPr>
          <a:xfrm>
            <a:off x="1943100" y="4867275"/>
            <a:ext cx="3905250" cy="1123950"/>
          </a:xfrm>
          <a:prstGeom prst="roundRect">
            <a:avLst>
              <a:gd name="adj" fmla="val 6780"/>
            </a:avLst>
          </a:prstGeom>
          <a:solidFill>
            <a:srgbClr val="FFFFFF"/>
          </a:solidFill>
          <a:ln w="9525">
            <a:solidFill>
              <a:srgbClr val="E2E8F0"/>
            </a:solidFill>
            <a:prstDash val="solid"/>
          </a:ln>
        </p:spPr>
      </p:sp>
      <p:sp>
        <p:nvSpPr>
          <p:cNvPr id="68" name="Shape 66"/>
          <p:cNvSpPr/>
          <p:nvPr/>
        </p:nvSpPr>
        <p:spPr>
          <a:xfrm>
            <a:off x="2057400" y="4981575"/>
            <a:ext cx="590550" cy="142875"/>
          </a:xfrm>
          <a:prstGeom prst="roundRect">
            <a:avLst>
              <a:gd name="adj" fmla="val 50000"/>
            </a:avLst>
          </a:prstGeom>
          <a:solidFill>
            <a:srgbClr val="FFFFFF"/>
          </a:solidFill>
          <a:ln w="9525">
            <a:solidFill>
              <a:srgbClr val="E2E8F0"/>
            </a:solidFill>
            <a:prstDash val="solid"/>
          </a:ln>
        </p:spPr>
      </p:sp>
      <p:sp>
        <p:nvSpPr>
          <p:cNvPr id="69" name="Text 67"/>
          <p:cNvSpPr txBox="1"/>
          <p:nvPr/>
        </p:nvSpPr>
        <p:spPr>
          <a:xfrm>
            <a:off x="2085975" y="498157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475569"/>
                </a:solidFill>
                <a:latin typeface="Segoe UI" pitchFamily="34" charset="0"/>
                <a:ea typeface="Segoe UI" pitchFamily="34" charset="-122"/>
                <a:cs typeface="Segoe UI" pitchFamily="34" charset="-120"/>
              </a:rPr>
              <a:t>Nội dung</a:t>
            </a:r>
            <a:endParaRPr lang="en-US" sz="520" dirty="0"/>
          </a:p>
        </p:txBody>
      </p:sp>
      <p:sp>
        <p:nvSpPr>
          <p:cNvPr id="70" name="Shape 68"/>
          <p:cNvSpPr/>
          <p:nvPr/>
        </p:nvSpPr>
        <p:spPr>
          <a:xfrm>
            <a:off x="2724150" y="4981575"/>
            <a:ext cx="476250" cy="142875"/>
          </a:xfrm>
          <a:prstGeom prst="roundRect">
            <a:avLst>
              <a:gd name="adj" fmla="val 50000"/>
            </a:avLst>
          </a:prstGeom>
          <a:solidFill>
            <a:srgbClr val="F1F5F9"/>
          </a:solidFill>
          <a:ln/>
        </p:spPr>
      </p:sp>
      <p:sp>
        <p:nvSpPr>
          <p:cNvPr id="71" name="Text 69"/>
          <p:cNvSpPr txBox="1"/>
          <p:nvPr/>
        </p:nvSpPr>
        <p:spPr>
          <a:xfrm>
            <a:off x="2752725" y="4981575"/>
            <a:ext cx="4191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64748B"/>
                </a:solidFill>
                <a:latin typeface="Segoe UI" pitchFamily="34" charset="0"/>
                <a:ea typeface="Segoe UI" pitchFamily="34" charset="-122"/>
                <a:cs typeface="Segoe UI" pitchFamily="34" charset="-120"/>
              </a:rPr>
              <a:t>Thấp</a:t>
            </a:r>
            <a:endParaRPr lang="en-US" sz="520" dirty="0"/>
          </a:p>
        </p:txBody>
      </p:sp>
      <p:sp>
        <p:nvSpPr>
          <p:cNvPr id="72" name="Shape 70"/>
          <p:cNvSpPr/>
          <p:nvPr/>
        </p:nvSpPr>
        <p:spPr>
          <a:xfrm>
            <a:off x="5048250" y="4981575"/>
            <a:ext cx="628650" cy="142875"/>
          </a:xfrm>
          <a:prstGeom prst="roundRect">
            <a:avLst>
              <a:gd name="adj" fmla="val 50000"/>
            </a:avLst>
          </a:prstGeom>
          <a:solidFill>
            <a:srgbClr val="ECFDF5"/>
          </a:solidFill>
          <a:ln/>
        </p:spPr>
      </p:sp>
      <p:sp>
        <p:nvSpPr>
          <p:cNvPr id="73" name="Text 71"/>
          <p:cNvSpPr txBox="1"/>
          <p:nvPr/>
        </p:nvSpPr>
        <p:spPr>
          <a:xfrm>
            <a:off x="5076825" y="4981575"/>
            <a:ext cx="5715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Đã xử lý</a:t>
            </a:r>
            <a:endParaRPr lang="en-US" sz="520" dirty="0"/>
          </a:p>
        </p:txBody>
      </p:sp>
      <p:sp>
        <p:nvSpPr>
          <p:cNvPr id="74" name="Text 72"/>
          <p:cNvSpPr txBox="1"/>
          <p:nvPr/>
        </p:nvSpPr>
        <p:spPr>
          <a:xfrm>
            <a:off x="2057400" y="5191125"/>
            <a:ext cx="36195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Bài viết của HLV nên có tóm tắt</a:t>
            </a:r>
            <a:endParaRPr lang="en-US" sz="860" dirty="0"/>
          </a:p>
        </p:txBody>
      </p:sp>
      <p:sp>
        <p:nvSpPr>
          <p:cNvPr id="75" name="Text 73"/>
          <p:cNvSpPr txBox="1"/>
          <p:nvPr/>
        </p:nvSpPr>
        <p:spPr>
          <a:xfrm>
            <a:off x="2057400" y="5362575"/>
            <a:ext cx="3619500" cy="11430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Trần Thu Hà · 12/10</a:t>
            </a:r>
            <a:endParaRPr lang="en-US" sz="580" dirty="0"/>
          </a:p>
        </p:txBody>
      </p:sp>
      <p:sp>
        <p:nvSpPr>
          <p:cNvPr id="76" name="Text 74"/>
          <p:cNvSpPr txBox="1"/>
          <p:nvPr/>
        </p:nvSpPr>
        <p:spPr>
          <a:xfrm>
            <a:off x="2057400" y="5514975"/>
            <a:ext cx="3619500" cy="2286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Bài viết của HLV nên có tóm tắt ngắn đầu bài.</a:t>
            </a:r>
            <a:endParaRPr lang="en-US" sz="620" dirty="0"/>
          </a:p>
        </p:txBody>
      </p:sp>
      <p:sp>
        <p:nvSpPr>
          <p:cNvPr id="77" name="Shape 75"/>
          <p:cNvSpPr/>
          <p:nvPr/>
        </p:nvSpPr>
        <p:spPr>
          <a:xfrm>
            <a:off x="4972050" y="5648325"/>
            <a:ext cx="723900" cy="209550"/>
          </a:xfrm>
          <a:prstGeom prst="roundRect">
            <a:avLst>
              <a:gd name="adj" fmla="val 22727"/>
            </a:avLst>
          </a:prstGeom>
          <a:solidFill>
            <a:srgbClr val="FFFFFF"/>
          </a:solidFill>
          <a:ln w="9525">
            <a:solidFill>
              <a:srgbClr val="E2E8F0"/>
            </a:solidFill>
            <a:prstDash val="solid"/>
          </a:ln>
        </p:spPr>
      </p:sp>
      <p:sp>
        <p:nvSpPr>
          <p:cNvPr id="78" name="Text 76"/>
          <p:cNvSpPr txBox="1"/>
          <p:nvPr/>
        </p:nvSpPr>
        <p:spPr>
          <a:xfrm>
            <a:off x="4972050" y="5648325"/>
            <a:ext cx="723900" cy="20955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Xem</a:t>
            </a:r>
            <a:endParaRPr lang="en-US" sz="580" dirty="0"/>
          </a:p>
        </p:txBody>
      </p:sp>
      <p:sp>
        <p:nvSpPr>
          <p:cNvPr id="79" name="Shape 77"/>
          <p:cNvSpPr/>
          <p:nvPr/>
        </p:nvSpPr>
        <p:spPr>
          <a:xfrm>
            <a:off x="6000750" y="2333625"/>
            <a:ext cx="2247900" cy="3762375"/>
          </a:xfrm>
          <a:prstGeom prst="roundRect">
            <a:avLst>
              <a:gd name="adj" fmla="val 3390"/>
            </a:avLst>
          </a:prstGeom>
          <a:solidFill>
            <a:srgbClr val="FFFFFF"/>
          </a:solidFill>
          <a:ln w="9525">
            <a:solidFill>
              <a:srgbClr val="E2E8F0"/>
            </a:solidFill>
            <a:prstDash val="solid"/>
          </a:ln>
        </p:spPr>
      </p:sp>
      <p:sp>
        <p:nvSpPr>
          <p:cNvPr id="80" name="Text 78"/>
          <p:cNvSpPr txBox="1"/>
          <p:nvPr/>
        </p:nvSpPr>
        <p:spPr>
          <a:xfrm>
            <a:off x="6134100" y="2447925"/>
            <a:ext cx="1905000" cy="152400"/>
          </a:xfrm>
          <a:prstGeom prst="rect">
            <a:avLst/>
          </a:prstGeom>
          <a:noFill/>
          <a:ln/>
        </p:spPr>
        <p:txBody>
          <a:bodyPr wrap="square" lIns="0" tIns="0" rIns="0" bIns="0" rtlCol="0" anchor="t"/>
          <a:lstStyle/>
          <a:p>
            <a:pPr algn="l" indent="0" marL="0">
              <a:lnSpc>
                <a:spcPct val="106000"/>
              </a:lnSpc>
              <a:buNone/>
            </a:pPr>
            <a:r>
              <a:rPr lang="en-US" sz="840" b="1" dirty="0">
                <a:solidFill>
                  <a:srgbClr val="0F172A"/>
                </a:solidFill>
                <a:latin typeface="Segoe UI" pitchFamily="34" charset="0"/>
                <a:ea typeface="Segoe UI" pitchFamily="34" charset="-122"/>
                <a:cs typeface="Segoe UI" pitchFamily="34" charset="-120"/>
              </a:rPr>
              <a:t>Phiếu #f1</a:t>
            </a:r>
            <a:endParaRPr lang="en-US" sz="840" dirty="0"/>
          </a:p>
        </p:txBody>
      </p:sp>
      <p:sp>
        <p:nvSpPr>
          <p:cNvPr id="81" name="Shape 79"/>
          <p:cNvSpPr/>
          <p:nvPr/>
        </p:nvSpPr>
        <p:spPr>
          <a:xfrm>
            <a:off x="6134100" y="2647950"/>
            <a:ext cx="419100" cy="142875"/>
          </a:xfrm>
          <a:prstGeom prst="roundRect">
            <a:avLst>
              <a:gd name="adj" fmla="val 50000"/>
            </a:avLst>
          </a:prstGeom>
          <a:solidFill>
            <a:srgbClr val="ECFDF5"/>
          </a:solidFill>
          <a:ln/>
        </p:spPr>
      </p:sp>
      <p:sp>
        <p:nvSpPr>
          <p:cNvPr id="82" name="Text 80"/>
          <p:cNvSpPr txBox="1"/>
          <p:nvPr/>
        </p:nvSpPr>
        <p:spPr>
          <a:xfrm>
            <a:off x="6162675" y="2647950"/>
            <a:ext cx="36195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Mới</a:t>
            </a:r>
            <a:endParaRPr lang="en-US" sz="520" dirty="0"/>
          </a:p>
        </p:txBody>
      </p:sp>
      <p:sp>
        <p:nvSpPr>
          <p:cNvPr id="83" name="Text 81"/>
          <p:cNvSpPr txBox="1"/>
          <p:nvPr/>
        </p:nvSpPr>
        <p:spPr>
          <a:xfrm>
            <a:off x="6591300" y="2647950"/>
            <a:ext cx="114300" cy="13335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a:t>
            </a:r>
            <a:endParaRPr lang="en-US" sz="640" dirty="0"/>
          </a:p>
        </p:txBody>
      </p:sp>
      <p:sp>
        <p:nvSpPr>
          <p:cNvPr id="84" name="Shape 82"/>
          <p:cNvSpPr/>
          <p:nvPr/>
        </p:nvSpPr>
        <p:spPr>
          <a:xfrm>
            <a:off x="6705600" y="2647950"/>
            <a:ext cx="552450" cy="142875"/>
          </a:xfrm>
          <a:prstGeom prst="roundRect">
            <a:avLst>
              <a:gd name="adj" fmla="val 50000"/>
            </a:avLst>
          </a:prstGeom>
          <a:solidFill>
            <a:srgbClr val="F1F5F9"/>
          </a:solidFill>
          <a:ln/>
        </p:spPr>
      </p:sp>
      <p:sp>
        <p:nvSpPr>
          <p:cNvPr id="85" name="Text 83"/>
          <p:cNvSpPr txBox="1"/>
          <p:nvPr/>
        </p:nvSpPr>
        <p:spPr>
          <a:xfrm>
            <a:off x="6734175" y="2647950"/>
            <a:ext cx="4953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64748B"/>
                </a:solidFill>
                <a:latin typeface="Segoe UI" pitchFamily="34" charset="0"/>
                <a:ea typeface="Segoe UI" pitchFamily="34" charset="-122"/>
                <a:cs typeface="Segoe UI" pitchFamily="34" charset="-120"/>
              </a:rPr>
              <a:t>Đang xử lý</a:t>
            </a:r>
            <a:endParaRPr lang="en-US" sz="520" dirty="0"/>
          </a:p>
        </p:txBody>
      </p:sp>
      <p:sp>
        <p:nvSpPr>
          <p:cNvPr id="86" name="Text 84"/>
          <p:cNvSpPr txBox="1"/>
          <p:nvPr/>
        </p:nvSpPr>
        <p:spPr>
          <a:xfrm>
            <a:off x="7296150" y="2647950"/>
            <a:ext cx="114300" cy="13335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a:t>
            </a:r>
            <a:endParaRPr lang="en-US" sz="640" dirty="0"/>
          </a:p>
        </p:txBody>
      </p:sp>
      <p:sp>
        <p:nvSpPr>
          <p:cNvPr id="87" name="Shape 85"/>
          <p:cNvSpPr/>
          <p:nvPr/>
        </p:nvSpPr>
        <p:spPr>
          <a:xfrm>
            <a:off x="7410450" y="2647950"/>
            <a:ext cx="552450" cy="142875"/>
          </a:xfrm>
          <a:prstGeom prst="roundRect">
            <a:avLst>
              <a:gd name="adj" fmla="val 50000"/>
            </a:avLst>
          </a:prstGeom>
          <a:solidFill>
            <a:srgbClr val="F1F5F9"/>
          </a:solidFill>
          <a:ln/>
        </p:spPr>
      </p:sp>
      <p:sp>
        <p:nvSpPr>
          <p:cNvPr id="88" name="Text 86"/>
          <p:cNvSpPr txBox="1"/>
          <p:nvPr/>
        </p:nvSpPr>
        <p:spPr>
          <a:xfrm>
            <a:off x="7439025" y="2647950"/>
            <a:ext cx="4953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64748B"/>
                </a:solidFill>
                <a:latin typeface="Segoe UI" pitchFamily="34" charset="0"/>
                <a:ea typeface="Segoe UI" pitchFamily="34" charset="-122"/>
                <a:cs typeface="Segoe UI" pitchFamily="34" charset="-120"/>
              </a:rPr>
              <a:t>Đã xử lý</a:t>
            </a:r>
            <a:endParaRPr lang="en-US" sz="520" dirty="0"/>
          </a:p>
        </p:txBody>
      </p:sp>
      <p:sp>
        <p:nvSpPr>
          <p:cNvPr id="89" name="Shape 87"/>
          <p:cNvSpPr/>
          <p:nvPr/>
        </p:nvSpPr>
        <p:spPr>
          <a:xfrm>
            <a:off x="6134100" y="2895600"/>
            <a:ext cx="1981200" cy="800100"/>
          </a:xfrm>
          <a:prstGeom prst="roundRect">
            <a:avLst>
              <a:gd name="adj" fmla="val 7143"/>
            </a:avLst>
          </a:prstGeom>
          <a:solidFill>
            <a:srgbClr val="F8FAFC"/>
          </a:solidFill>
          <a:ln w="9525">
            <a:solidFill>
              <a:srgbClr val="E2E8F0"/>
            </a:solidFill>
            <a:prstDash val="solid"/>
          </a:ln>
        </p:spPr>
      </p:sp>
      <p:sp>
        <p:nvSpPr>
          <p:cNvPr id="90" name="Text 88"/>
          <p:cNvSpPr txBox="1"/>
          <p:nvPr/>
        </p:nvSpPr>
        <p:spPr>
          <a:xfrm>
            <a:off x="6229350" y="2971800"/>
            <a:ext cx="1790700" cy="647700"/>
          </a:xfrm>
          <a:prstGeom prst="rect">
            <a:avLst/>
          </a:prstGeom>
          <a:noFill/>
          <a:ln/>
        </p:spPr>
        <p:txBody>
          <a:bodyPr wrap="square" lIns="0" tIns="0" rIns="0" bIns="0" rtlCol="0" anchor="t"/>
          <a:lstStyle/>
          <a:p>
            <a:pPr algn="l" indent="0" marL="0">
              <a:lnSpc>
                <a:spcPct val="106000"/>
              </a:lnSpc>
              <a:buNone/>
            </a:pPr>
            <a:r>
              <a:rPr lang="en-US" sz="620" dirty="0">
                <a:solidFill>
                  <a:srgbClr val="475569"/>
                </a:solidFill>
                <a:latin typeface="Segoe UI" pitchFamily="34" charset="0"/>
                <a:ea typeface="Segoe UI" pitchFamily="34" charset="-122"/>
                <a:cs typeface="Segoe UI" pitchFamily="34" charset="-120"/>
              </a:rPr>
              <a:t>Nút Lưu giao dịch đôi khi bấm không ăn trên điện thoại. Mình dùng Chrome trên Android.</a:t>
            </a:r>
            <a:endParaRPr lang="en-US" sz="620" dirty="0"/>
          </a:p>
        </p:txBody>
      </p:sp>
      <p:sp>
        <p:nvSpPr>
          <p:cNvPr id="91" name="Text 89"/>
          <p:cNvSpPr txBox="1"/>
          <p:nvPr/>
        </p:nvSpPr>
        <p:spPr>
          <a:xfrm>
            <a:off x="6134100" y="3829050"/>
            <a:ext cx="1905000" cy="114300"/>
          </a:xfrm>
          <a:prstGeom prst="rect">
            <a:avLst/>
          </a:prstGeom>
          <a:noFill/>
          <a:ln/>
        </p:spPr>
        <p:txBody>
          <a:bodyPr wrap="square" lIns="0" tIns="0" rIns="0" bIns="0" rtlCol="0" anchor="t"/>
          <a:lstStyle/>
          <a:p>
            <a:pPr algn="l" indent="0" marL="0">
              <a:lnSpc>
                <a:spcPct val="106000"/>
              </a:lnSpc>
              <a:buNone/>
            </a:pPr>
            <a:r>
              <a:rPr lang="en-US" sz="660" b="1" dirty="0">
                <a:solidFill>
                  <a:srgbClr val="0F172A"/>
                </a:solidFill>
                <a:latin typeface="Segoe UI" pitchFamily="34" charset="0"/>
                <a:ea typeface="Segoe UI" pitchFamily="34" charset="-122"/>
                <a:cs typeface="Segoe UI" pitchFamily="34" charset="-120"/>
              </a:rPr>
              <a:t>Phản hồi</a:t>
            </a:r>
            <a:endParaRPr lang="en-US" sz="660" dirty="0"/>
          </a:p>
        </p:txBody>
      </p:sp>
      <p:sp>
        <p:nvSpPr>
          <p:cNvPr id="92" name="Shape 90"/>
          <p:cNvSpPr/>
          <p:nvPr/>
        </p:nvSpPr>
        <p:spPr>
          <a:xfrm>
            <a:off x="6134100" y="3981450"/>
            <a:ext cx="1981200" cy="742950"/>
          </a:xfrm>
          <a:prstGeom prst="roundRect">
            <a:avLst>
              <a:gd name="adj" fmla="val 7692"/>
            </a:avLst>
          </a:prstGeom>
          <a:solidFill>
            <a:srgbClr val="FFFFFF"/>
          </a:solidFill>
          <a:ln w="9525">
            <a:solidFill>
              <a:srgbClr val="E2E8F0"/>
            </a:solidFill>
            <a:prstDash val="solid"/>
          </a:ln>
        </p:spPr>
      </p:sp>
      <p:sp>
        <p:nvSpPr>
          <p:cNvPr id="93" name="Text 91"/>
          <p:cNvSpPr txBox="1"/>
          <p:nvPr/>
        </p:nvSpPr>
        <p:spPr>
          <a:xfrm>
            <a:off x="6229350" y="4057650"/>
            <a:ext cx="1790700" cy="5334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Đã ghi nhận lỗi, chuyển bộ phận kỹ thuật...</a:t>
            </a:r>
            <a:endParaRPr lang="en-US" sz="620" dirty="0"/>
          </a:p>
        </p:txBody>
      </p:sp>
      <p:sp>
        <p:nvSpPr>
          <p:cNvPr id="94" name="Shape 92"/>
          <p:cNvSpPr/>
          <p:nvPr/>
        </p:nvSpPr>
        <p:spPr>
          <a:xfrm>
            <a:off x="6134100" y="4819650"/>
            <a:ext cx="1981200" cy="266700"/>
          </a:xfrm>
          <a:prstGeom prst="roundRect">
            <a:avLst>
              <a:gd name="adj" fmla="val 17857"/>
            </a:avLst>
          </a:prstGeom>
          <a:solidFill>
            <a:srgbClr val="059669"/>
          </a:solidFill>
          <a:ln/>
        </p:spPr>
      </p:sp>
      <p:sp>
        <p:nvSpPr>
          <p:cNvPr id="95" name="Text 93"/>
          <p:cNvSpPr txBox="1"/>
          <p:nvPr/>
        </p:nvSpPr>
        <p:spPr>
          <a:xfrm>
            <a:off x="6134100" y="4819650"/>
            <a:ext cx="1981200" cy="266700"/>
          </a:xfrm>
          <a:prstGeom prst="rect">
            <a:avLst/>
          </a:prstGeom>
          <a:noFill/>
          <a:ln/>
        </p:spPr>
        <p:txBody>
          <a:bodyPr wrap="square" lIns="0" tIns="0" rIns="0" bIns="0" rtlCol="0" anchor="ctr"/>
          <a:lstStyle/>
          <a:p>
            <a:pPr algn="ctr" indent="0" marL="0">
              <a:lnSpc>
                <a:spcPct val="106000"/>
              </a:lnSpc>
              <a:buNone/>
            </a:pPr>
            <a:r>
              <a:rPr lang="en-US" sz="660" b="1" dirty="0">
                <a:solidFill>
                  <a:srgbClr val="FFFFFF"/>
                </a:solidFill>
                <a:latin typeface="Segoe UI" pitchFamily="34" charset="0"/>
                <a:ea typeface="Segoe UI" pitchFamily="34" charset="-122"/>
                <a:cs typeface="Segoe UI" pitchFamily="34" charset="-120"/>
              </a:rPr>
              <a:t>Gửi phản hồi</a:t>
            </a:r>
            <a:endParaRPr lang="en-US" sz="660" dirty="0"/>
          </a:p>
        </p:txBody>
      </p:sp>
      <p:sp>
        <p:nvSpPr>
          <p:cNvPr id="96" name="Text 94"/>
          <p:cNvSpPr txBox="1"/>
          <p:nvPr/>
        </p:nvSpPr>
        <p:spPr>
          <a:xfrm>
            <a:off x="6134100" y="5181600"/>
            <a:ext cx="1981200" cy="114300"/>
          </a:xfrm>
          <a:prstGeom prst="rect">
            <a:avLst/>
          </a:prstGeom>
          <a:noFill/>
          <a:ln/>
        </p:spPr>
        <p:txBody>
          <a:bodyPr wrap="square" lIns="0" tIns="0" rIns="0" bIns="0" rtlCol="0" anchor="t"/>
          <a:lstStyle/>
          <a:p>
            <a:pPr algn="ctr" indent="0" marL="0">
              <a:lnSpc>
                <a:spcPct val="106000"/>
              </a:lnSpc>
              <a:buNone/>
            </a:pPr>
            <a:r>
              <a:rPr lang="en-US" sz="620" dirty="0">
                <a:solidFill>
                  <a:srgbClr val="94A3B8"/>
                </a:solidFill>
                <a:latin typeface="Segoe UI" pitchFamily="34" charset="0"/>
                <a:ea typeface="Segoe UI" pitchFamily="34" charset="-122"/>
                <a:cs typeface="Segoe UI" pitchFamily="34" charset="-120"/>
              </a:rPr>
              <a:t>Lưu trữ phiếu</a:t>
            </a:r>
            <a:endParaRPr lang="en-US" sz="620" dirty="0"/>
          </a:p>
        </p:txBody>
      </p:sp>
      <p:sp>
        <p:nvSpPr>
          <p:cNvPr id="97" name="Text 95"/>
          <p:cNvSpPr txBox="1"/>
          <p:nvPr/>
        </p:nvSpPr>
        <p:spPr>
          <a:xfrm>
            <a:off x="1943100" y="6229350"/>
            <a:ext cx="6305550" cy="19050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C/R/U/D: tạo phiếu, nhận xử lý, phản hồi, lưu trữ. Không xoá cứng để giữ lịch sử.</a:t>
            </a:r>
            <a:endParaRPr lang="en-US" sz="720" dirty="0"/>
          </a:p>
        </p:txBody>
      </p:sp>
      <p:sp>
        <p:nvSpPr>
          <p:cNvPr id="98" name="Shape 96"/>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99" name="Text 97"/>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23 / 27</a:t>
            </a:r>
            <a:endParaRPr lang="en-US" sz="740" dirty="0"/>
          </a:p>
        </p:txBody>
      </p:sp>
      <p:sp>
        <p:nvSpPr>
          <p:cNvPr id="100" name="Text 98"/>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Trung tâm phản hồi</a:t>
            </a:r>
            <a:endParaRPr lang="en-US" sz="1700" dirty="0"/>
          </a:p>
        </p:txBody>
      </p:sp>
      <p:sp>
        <p:nvSpPr>
          <p:cNvPr id="101" name="Text 99"/>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pages/moderator-feedback-center.html</a:t>
            </a:r>
            <a:endParaRPr lang="en-US" sz="720" dirty="0"/>
          </a:p>
        </p:txBody>
      </p:sp>
      <p:sp>
        <p:nvSpPr>
          <p:cNvPr id="102" name="Shape 100"/>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03" name="Text 101"/>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04" name="Text 102"/>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Tiếp nhận, phân loại, phản hồi và lưu trữ phản hồi của người dùng với trạng thái rõ ràng.</a:t>
            </a:r>
            <a:endParaRPr lang="en-US" sz="920" dirty="0"/>
          </a:p>
        </p:txBody>
      </p:sp>
      <p:sp>
        <p:nvSpPr>
          <p:cNvPr id="105" name="Text 103"/>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06" name="Shape 104"/>
          <p:cNvSpPr/>
          <p:nvPr/>
        </p:nvSpPr>
        <p:spPr>
          <a:xfrm>
            <a:off x="8839200" y="3238500"/>
            <a:ext cx="209550" cy="190500"/>
          </a:xfrm>
          <a:prstGeom prst="roundRect">
            <a:avLst>
              <a:gd name="adj" fmla="val 25000"/>
            </a:avLst>
          </a:prstGeom>
          <a:solidFill>
            <a:srgbClr val="059669"/>
          </a:solidFill>
          <a:ln/>
        </p:spPr>
      </p:sp>
      <p:sp>
        <p:nvSpPr>
          <p:cNvPr id="107" name="Text 105"/>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108" name="Shape 106"/>
          <p:cNvSpPr/>
          <p:nvPr/>
        </p:nvSpPr>
        <p:spPr>
          <a:xfrm>
            <a:off x="9086850" y="3238500"/>
            <a:ext cx="209550" cy="190500"/>
          </a:xfrm>
          <a:prstGeom prst="roundRect">
            <a:avLst>
              <a:gd name="adj" fmla="val 25000"/>
            </a:avLst>
          </a:prstGeom>
          <a:solidFill>
            <a:srgbClr val="059669"/>
          </a:solidFill>
          <a:ln/>
        </p:spPr>
      </p:sp>
      <p:sp>
        <p:nvSpPr>
          <p:cNvPr id="109" name="Text 107"/>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10" name="Shape 108"/>
          <p:cNvSpPr/>
          <p:nvPr/>
        </p:nvSpPr>
        <p:spPr>
          <a:xfrm>
            <a:off x="9334500" y="3238500"/>
            <a:ext cx="209550" cy="190500"/>
          </a:xfrm>
          <a:prstGeom prst="roundRect">
            <a:avLst>
              <a:gd name="adj" fmla="val 25000"/>
            </a:avLst>
          </a:prstGeom>
          <a:solidFill>
            <a:srgbClr val="059669"/>
          </a:solidFill>
          <a:ln/>
        </p:spPr>
      </p:sp>
      <p:sp>
        <p:nvSpPr>
          <p:cNvPr id="111" name="Text 109"/>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12" name="Shape 110"/>
          <p:cNvSpPr/>
          <p:nvPr/>
        </p:nvSpPr>
        <p:spPr>
          <a:xfrm>
            <a:off x="9582150" y="3238500"/>
            <a:ext cx="209550" cy="190500"/>
          </a:xfrm>
          <a:prstGeom prst="roundRect">
            <a:avLst>
              <a:gd name="adj" fmla="val 25000"/>
            </a:avLst>
          </a:prstGeom>
          <a:solidFill>
            <a:srgbClr val="059669"/>
          </a:solidFill>
          <a:ln/>
        </p:spPr>
      </p:sp>
      <p:sp>
        <p:nvSpPr>
          <p:cNvPr id="113" name="Text 111"/>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D</a:t>
            </a:r>
            <a:endParaRPr lang="en-US" sz="740" dirty="0"/>
          </a:p>
        </p:txBody>
      </p:sp>
      <p:sp>
        <p:nvSpPr>
          <p:cNvPr id="114" name="Text 112"/>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Mới · đang xử lý · đã xử lý · lưu trữ · phản hồi rỗng.</a:t>
            </a:r>
            <a:endParaRPr lang="en-US" sz="900" dirty="0"/>
          </a:p>
        </p:txBody>
      </p:sp>
      <p:sp>
        <p:nvSpPr>
          <p:cNvPr id="115" name="Text 113"/>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16" name="Text 114"/>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Lọc tab; nhận xử lý; modal phản hồi; validate; lưu trữ; toast.</a:t>
            </a:r>
            <a:endParaRPr lang="en-US" sz="900" dirty="0"/>
          </a:p>
        </p:txBody>
      </p:sp>
      <p:sp>
        <p:nvSpPr>
          <p:cNvPr id="117" name="Text 115"/>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18" name="Text 116"/>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phản hồi lưu vào feedbacks, trạng thái đổi theo thao tác.</a:t>
            </a:r>
            <a:endParaRPr lang="en-US" sz="900" dirty="0"/>
          </a:p>
        </p:txBody>
      </p:sp>
      <p:sp>
        <p:nvSpPr>
          <p:cNvPr id="119" name="Shape 117"/>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20" name="Text 118"/>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SV3-05-feedback</a:t>
            </a:r>
            <a:endParaRPr lang="en-US" sz="840" dirty="0"/>
          </a:p>
        </p:txBody>
      </p:sp>
      <p:sp>
        <p:nvSpPr>
          <p:cNvPr id="121" name="Text 119"/>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FFBEB"/>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B45309"/>
                </a:solidFill>
                <a:latin typeface="Segoe UI" pitchFamily="34" charset="0"/>
                <a:ea typeface="Segoe UI" pitchFamily="34" charset="-122"/>
                <a:cs typeface="Segoe UI" pitchFamily="34" charset="-120"/>
              </a:rPr>
              <a:t>QUẢN TRỊ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24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Quản lý danh mục chi</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pages/admin-expense-category-management.html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spendwise.app/pages/admin-expense-category-management.html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Quản trị viên</a:t>
            </a:r>
            <a:endParaRPr lang="en-US" sz="640" dirty="0"/>
          </a:p>
        </p:txBody>
      </p:sp>
      <p:sp>
        <p:nvSpPr>
          <p:cNvPr id="21" name="Shape 19"/>
          <p:cNvSpPr/>
          <p:nvPr/>
        </p:nvSpPr>
        <p:spPr>
          <a:xfrm>
            <a:off x="495300" y="2085975"/>
            <a:ext cx="1181100" cy="209550"/>
          </a:xfrm>
          <a:prstGeom prst="roundRect">
            <a:avLst>
              <a:gd name="adj" fmla="val 27273"/>
            </a:avLst>
          </a:prstGeom>
          <a:solidFill>
            <a:srgbClr val="ECFDF5"/>
          </a:solidFill>
          <a:ln/>
        </p:spPr>
      </p:sp>
      <p:sp>
        <p:nvSpPr>
          <p:cNvPr id="22" name="Text 20"/>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Danh mục chi</a:t>
            </a:r>
            <a:endParaRPr lang="en-US" sz="820" dirty="0"/>
          </a:p>
        </p:txBody>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Người dùng</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Hệ thống</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Quản lý danh mục chi</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Quản trị hệ thống</a:t>
            </a:r>
            <a:endParaRPr lang="en-US" sz="700" dirty="0"/>
          </a:p>
        </p:txBody>
      </p:sp>
      <p:sp>
        <p:nvSpPr>
          <p:cNvPr id="33" name="Shape 31"/>
          <p:cNvSpPr/>
          <p:nvPr/>
        </p:nvSpPr>
        <p:spPr>
          <a:xfrm>
            <a:off x="1943100" y="1952625"/>
            <a:ext cx="2381250" cy="266700"/>
          </a:xfrm>
          <a:prstGeom prst="roundRect">
            <a:avLst>
              <a:gd name="adj" fmla="val 21429"/>
            </a:avLst>
          </a:prstGeom>
          <a:solidFill>
            <a:srgbClr val="FFFFFF"/>
          </a:solidFill>
          <a:ln w="9525">
            <a:solidFill>
              <a:srgbClr val="E2E8F0"/>
            </a:solidFill>
            <a:prstDash val="solid"/>
          </a:ln>
        </p:spPr>
      </p:sp>
      <p:sp>
        <p:nvSpPr>
          <p:cNvPr id="34" name="Text 32"/>
          <p:cNvSpPr txBox="1"/>
          <p:nvPr/>
        </p:nvSpPr>
        <p:spPr>
          <a:xfrm>
            <a:off x="2057400" y="2028825"/>
            <a:ext cx="2190750" cy="1333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Tìm danh mục...</a:t>
            </a:r>
            <a:endParaRPr lang="en-US" sz="660" dirty="0"/>
          </a:p>
        </p:txBody>
      </p:sp>
      <p:sp>
        <p:nvSpPr>
          <p:cNvPr id="35" name="Shape 33"/>
          <p:cNvSpPr/>
          <p:nvPr/>
        </p:nvSpPr>
        <p:spPr>
          <a:xfrm>
            <a:off x="4400550" y="1952625"/>
            <a:ext cx="1066800" cy="266700"/>
          </a:xfrm>
          <a:prstGeom prst="roundRect">
            <a:avLst>
              <a:gd name="adj" fmla="val 21429"/>
            </a:avLst>
          </a:prstGeom>
          <a:solidFill>
            <a:srgbClr val="FFFFFF"/>
          </a:solidFill>
          <a:ln w="9525">
            <a:solidFill>
              <a:srgbClr val="E2E8F0"/>
            </a:solidFill>
            <a:prstDash val="solid"/>
          </a:ln>
        </p:spPr>
      </p:sp>
      <p:sp>
        <p:nvSpPr>
          <p:cNvPr id="36" name="Text 34"/>
          <p:cNvSpPr txBox="1"/>
          <p:nvPr/>
        </p:nvSpPr>
        <p:spPr>
          <a:xfrm>
            <a:off x="4495800" y="2028825"/>
            <a:ext cx="89535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Tất cả loại</a:t>
            </a:r>
            <a:endParaRPr lang="en-US" sz="660" dirty="0"/>
          </a:p>
        </p:txBody>
      </p:sp>
      <p:sp>
        <p:nvSpPr>
          <p:cNvPr id="37" name="Shape 35"/>
          <p:cNvSpPr/>
          <p:nvPr/>
        </p:nvSpPr>
        <p:spPr>
          <a:xfrm>
            <a:off x="6534150" y="1952625"/>
            <a:ext cx="1714500" cy="266700"/>
          </a:xfrm>
          <a:prstGeom prst="roundRect">
            <a:avLst>
              <a:gd name="adj" fmla="val 21429"/>
            </a:avLst>
          </a:prstGeom>
          <a:solidFill>
            <a:srgbClr val="059669"/>
          </a:solidFill>
          <a:ln/>
        </p:spPr>
      </p:sp>
      <p:sp>
        <p:nvSpPr>
          <p:cNvPr id="38" name="Text 36"/>
          <p:cNvSpPr txBox="1"/>
          <p:nvPr/>
        </p:nvSpPr>
        <p:spPr>
          <a:xfrm>
            <a:off x="6534150" y="1952625"/>
            <a:ext cx="1714500" cy="26670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 Thêm danh mục</a:t>
            </a:r>
            <a:endParaRPr lang="en-US" sz="720" dirty="0"/>
          </a:p>
        </p:txBody>
      </p:sp>
      <p:sp>
        <p:nvSpPr>
          <p:cNvPr id="39" name="Shape 37"/>
          <p:cNvSpPr/>
          <p:nvPr/>
        </p:nvSpPr>
        <p:spPr>
          <a:xfrm>
            <a:off x="1943100" y="2333625"/>
            <a:ext cx="1143000" cy="209550"/>
          </a:xfrm>
          <a:prstGeom prst="roundRect">
            <a:avLst>
              <a:gd name="adj" fmla="val 50000"/>
            </a:avLst>
          </a:prstGeom>
          <a:solidFill>
            <a:srgbClr val="ECFDF5"/>
          </a:solidFill>
          <a:ln/>
        </p:spPr>
      </p:sp>
      <p:sp>
        <p:nvSpPr>
          <p:cNvPr id="40" name="Text 38"/>
          <p:cNvSpPr txBox="1"/>
          <p:nvPr/>
        </p:nvSpPr>
        <p:spPr>
          <a:xfrm>
            <a:off x="1971675" y="2333625"/>
            <a:ext cx="108585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8 đang hoạt động</a:t>
            </a:r>
            <a:endParaRPr lang="en-US" sz="600" dirty="0"/>
          </a:p>
        </p:txBody>
      </p:sp>
      <p:sp>
        <p:nvSpPr>
          <p:cNvPr id="41" name="Shape 39"/>
          <p:cNvSpPr/>
          <p:nvPr/>
        </p:nvSpPr>
        <p:spPr>
          <a:xfrm>
            <a:off x="3162300" y="2333625"/>
            <a:ext cx="857250" cy="209550"/>
          </a:xfrm>
          <a:prstGeom prst="roundRect">
            <a:avLst>
              <a:gd name="adj" fmla="val 50000"/>
            </a:avLst>
          </a:prstGeom>
          <a:solidFill>
            <a:srgbClr val="F1F5F9"/>
          </a:solidFill>
          <a:ln/>
        </p:spPr>
      </p:sp>
      <p:sp>
        <p:nvSpPr>
          <p:cNvPr id="42" name="Text 40"/>
          <p:cNvSpPr txBox="1"/>
          <p:nvPr/>
        </p:nvSpPr>
        <p:spPr>
          <a:xfrm>
            <a:off x="3190875" y="2333625"/>
            <a:ext cx="80010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64748B"/>
                </a:solidFill>
                <a:latin typeface="Segoe UI" pitchFamily="34" charset="0"/>
                <a:ea typeface="Segoe UI" pitchFamily="34" charset="-122"/>
                <a:cs typeface="Segoe UI" pitchFamily="34" charset="-120"/>
              </a:rPr>
              <a:t>1 lưu trữ</a:t>
            </a:r>
            <a:endParaRPr lang="en-US" sz="600" dirty="0"/>
          </a:p>
        </p:txBody>
      </p:sp>
      <p:sp>
        <p:nvSpPr>
          <p:cNvPr id="43" name="Shape 41"/>
          <p:cNvSpPr/>
          <p:nvPr/>
        </p:nvSpPr>
        <p:spPr>
          <a:xfrm>
            <a:off x="4095750" y="2333625"/>
            <a:ext cx="1428750" cy="209550"/>
          </a:xfrm>
          <a:prstGeom prst="roundRect">
            <a:avLst>
              <a:gd name="adj" fmla="val 50000"/>
            </a:avLst>
          </a:prstGeom>
          <a:solidFill>
            <a:srgbClr val="FFFFFF"/>
          </a:solidFill>
          <a:ln w="9525">
            <a:solidFill>
              <a:srgbClr val="E2E8F0"/>
            </a:solidFill>
            <a:prstDash val="solid"/>
          </a:ln>
        </p:spPr>
      </p:sp>
      <p:sp>
        <p:nvSpPr>
          <p:cNvPr id="44" name="Text 42"/>
          <p:cNvSpPr txBox="1"/>
          <p:nvPr/>
        </p:nvSpPr>
        <p:spPr>
          <a:xfrm>
            <a:off x="4124325" y="2333625"/>
            <a:ext cx="1371600" cy="209550"/>
          </a:xfrm>
          <a:prstGeom prst="rect">
            <a:avLst/>
          </a:prstGeom>
          <a:noFill/>
          <a:ln/>
        </p:spPr>
        <p:txBody>
          <a:bodyPr wrap="square" lIns="0" tIns="0" rIns="0" bIns="0" rtlCol="0" anchor="ctr"/>
          <a:lstStyle/>
          <a:p>
            <a:pPr algn="ctr" indent="0" marL="0">
              <a:lnSpc>
                <a:spcPct val="106000"/>
              </a:lnSpc>
              <a:buNone/>
            </a:pPr>
            <a:r>
              <a:rPr lang="en-US" sz="600" b="1" dirty="0">
                <a:solidFill>
                  <a:srgbClr val="475569"/>
                </a:solidFill>
                <a:latin typeface="Segoe UI" pitchFamily="34" charset="0"/>
                <a:ea typeface="Segoe UI" pitchFamily="34" charset="-122"/>
                <a:cs typeface="Segoe UI" pitchFamily="34" charset="-120"/>
              </a:rPr>
              <a:t>17 giao dịch tham chiếu</a:t>
            </a:r>
            <a:endParaRPr lang="en-US" sz="600" dirty="0"/>
          </a:p>
        </p:txBody>
      </p:sp>
      <p:sp>
        <p:nvSpPr>
          <p:cNvPr id="45" name="Shape 43"/>
          <p:cNvSpPr/>
          <p:nvPr/>
        </p:nvSpPr>
        <p:spPr>
          <a:xfrm>
            <a:off x="1943100" y="2647950"/>
            <a:ext cx="6305550" cy="3143250"/>
          </a:xfrm>
          <a:prstGeom prst="roundRect">
            <a:avLst>
              <a:gd name="adj" fmla="val 2424"/>
            </a:avLst>
          </a:prstGeom>
          <a:solidFill>
            <a:srgbClr val="FFFFFF"/>
          </a:solidFill>
          <a:ln w="9525">
            <a:solidFill>
              <a:srgbClr val="E2E8F0"/>
            </a:solidFill>
            <a:prstDash val="solid"/>
          </a:ln>
        </p:spPr>
      </p:sp>
      <p:sp>
        <p:nvSpPr>
          <p:cNvPr id="46" name="Shape 44"/>
          <p:cNvSpPr/>
          <p:nvPr/>
        </p:nvSpPr>
        <p:spPr>
          <a:xfrm>
            <a:off x="1952625" y="2657475"/>
            <a:ext cx="6286500" cy="247650"/>
          </a:xfrm>
          <a:prstGeom prst="rect">
            <a:avLst/>
          </a:prstGeom>
          <a:solidFill>
            <a:srgbClr val="F8FAFC"/>
          </a:solidFill>
          <a:ln/>
        </p:spPr>
      </p:sp>
      <p:sp>
        <p:nvSpPr>
          <p:cNvPr id="47" name="Text 45"/>
          <p:cNvSpPr txBox="1"/>
          <p:nvPr/>
        </p:nvSpPr>
        <p:spPr>
          <a:xfrm>
            <a:off x="2057400" y="2733675"/>
            <a:ext cx="190500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Danh mục</a:t>
            </a:r>
            <a:endParaRPr lang="en-US" sz="620" dirty="0"/>
          </a:p>
        </p:txBody>
      </p:sp>
      <p:sp>
        <p:nvSpPr>
          <p:cNvPr id="48" name="Text 46"/>
          <p:cNvSpPr txBox="1"/>
          <p:nvPr/>
        </p:nvSpPr>
        <p:spPr>
          <a:xfrm>
            <a:off x="4038600" y="2733675"/>
            <a:ext cx="95250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Loại</a:t>
            </a:r>
            <a:endParaRPr lang="en-US" sz="620" dirty="0"/>
          </a:p>
        </p:txBody>
      </p:sp>
      <p:sp>
        <p:nvSpPr>
          <p:cNvPr id="49" name="Text 47"/>
          <p:cNvSpPr txBox="1"/>
          <p:nvPr/>
        </p:nvSpPr>
        <p:spPr>
          <a:xfrm>
            <a:off x="5086350" y="2733675"/>
            <a:ext cx="85725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Lượt dùng</a:t>
            </a:r>
            <a:endParaRPr lang="en-US" sz="620" dirty="0"/>
          </a:p>
        </p:txBody>
      </p:sp>
      <p:sp>
        <p:nvSpPr>
          <p:cNvPr id="50" name="Text 48"/>
          <p:cNvSpPr txBox="1"/>
          <p:nvPr/>
        </p:nvSpPr>
        <p:spPr>
          <a:xfrm>
            <a:off x="6038850" y="2733675"/>
            <a:ext cx="95250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Trạng thái</a:t>
            </a:r>
            <a:endParaRPr lang="en-US" sz="620" dirty="0"/>
          </a:p>
        </p:txBody>
      </p:sp>
      <p:sp>
        <p:nvSpPr>
          <p:cNvPr id="51" name="Text 49"/>
          <p:cNvSpPr txBox="1"/>
          <p:nvPr/>
        </p:nvSpPr>
        <p:spPr>
          <a:xfrm>
            <a:off x="7277100" y="2733675"/>
            <a:ext cx="857250" cy="114300"/>
          </a:xfrm>
          <a:prstGeom prst="rect">
            <a:avLst/>
          </a:prstGeom>
          <a:noFill/>
          <a:ln/>
        </p:spPr>
        <p:txBody>
          <a:bodyPr wrap="square" lIns="0" tIns="0" rIns="0" bIns="0" rtlCol="0" anchor="t"/>
          <a:lstStyle/>
          <a:p>
            <a:pPr algn="l" indent="0" marL="0">
              <a:lnSpc>
                <a:spcPct val="106000"/>
              </a:lnSpc>
              <a:buNone/>
            </a:pPr>
            <a:endParaRPr lang="en-US" sz="620" dirty="0"/>
          </a:p>
        </p:txBody>
      </p:sp>
      <p:sp>
        <p:nvSpPr>
          <p:cNvPr id="52" name="Shape 50"/>
          <p:cNvSpPr/>
          <p:nvPr/>
        </p:nvSpPr>
        <p:spPr>
          <a:xfrm>
            <a:off x="1943100" y="2905125"/>
            <a:ext cx="6305550" cy="9525"/>
          </a:xfrm>
          <a:prstGeom prst="line">
            <a:avLst/>
          </a:prstGeom>
          <a:solidFill>
            <a:srgbClr val="FFFFFF">
              <a:alpha val="0"/>
            </a:srgbClr>
          </a:solidFill>
          <a:ln w="9525">
            <a:solidFill>
              <a:srgbClr val="E2E8F0"/>
            </a:solidFill>
            <a:prstDash val="solid"/>
          </a:ln>
        </p:spPr>
      </p:sp>
      <p:sp>
        <p:nvSpPr>
          <p:cNvPr id="53" name="Shape 51"/>
          <p:cNvSpPr/>
          <p:nvPr/>
        </p:nvSpPr>
        <p:spPr>
          <a:xfrm>
            <a:off x="2057400" y="3028950"/>
            <a:ext cx="171450" cy="171450"/>
          </a:xfrm>
          <a:prstGeom prst="roundRect">
            <a:avLst>
              <a:gd name="adj" fmla="val 22222"/>
            </a:avLst>
          </a:prstGeom>
          <a:solidFill>
            <a:srgbClr val="ECFDF5"/>
          </a:solidFill>
          <a:ln/>
        </p:spPr>
      </p:sp>
      <p:sp>
        <p:nvSpPr>
          <p:cNvPr id="54" name="Text 52"/>
          <p:cNvSpPr txBox="1"/>
          <p:nvPr/>
        </p:nvSpPr>
        <p:spPr>
          <a:xfrm>
            <a:off x="2057400" y="302895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Ă</a:t>
            </a:r>
            <a:endParaRPr lang="en-US" sz="620" dirty="0"/>
          </a:p>
        </p:txBody>
      </p:sp>
      <p:sp>
        <p:nvSpPr>
          <p:cNvPr id="55" name="Text 53"/>
          <p:cNvSpPr txBox="1"/>
          <p:nvPr/>
        </p:nvSpPr>
        <p:spPr>
          <a:xfrm>
            <a:off x="2305050" y="304800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Ăn uống</a:t>
            </a:r>
            <a:endParaRPr lang="en-US" sz="720" dirty="0"/>
          </a:p>
        </p:txBody>
      </p:sp>
      <p:sp>
        <p:nvSpPr>
          <p:cNvPr id="56" name="Text 54"/>
          <p:cNvSpPr txBox="1"/>
          <p:nvPr/>
        </p:nvSpPr>
        <p:spPr>
          <a:xfrm>
            <a:off x="4038600" y="304800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57" name="Text 55"/>
          <p:cNvSpPr txBox="1"/>
          <p:nvPr/>
        </p:nvSpPr>
        <p:spPr>
          <a:xfrm>
            <a:off x="5086350" y="304800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5</a:t>
            </a:r>
            <a:endParaRPr lang="en-US" sz="660" dirty="0"/>
          </a:p>
        </p:txBody>
      </p:sp>
      <p:sp>
        <p:nvSpPr>
          <p:cNvPr id="58" name="Shape 56"/>
          <p:cNvSpPr/>
          <p:nvPr/>
        </p:nvSpPr>
        <p:spPr>
          <a:xfrm>
            <a:off x="6038850" y="3038475"/>
            <a:ext cx="590550" cy="142875"/>
          </a:xfrm>
          <a:prstGeom prst="roundRect">
            <a:avLst>
              <a:gd name="adj" fmla="val 50000"/>
            </a:avLst>
          </a:prstGeom>
          <a:solidFill>
            <a:srgbClr val="ECFDF5"/>
          </a:solidFill>
          <a:ln/>
        </p:spPr>
      </p:sp>
      <p:sp>
        <p:nvSpPr>
          <p:cNvPr id="59" name="Text 57"/>
          <p:cNvSpPr txBox="1"/>
          <p:nvPr/>
        </p:nvSpPr>
        <p:spPr>
          <a:xfrm>
            <a:off x="6067425" y="303847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60" name="Text 58"/>
          <p:cNvSpPr txBox="1"/>
          <p:nvPr/>
        </p:nvSpPr>
        <p:spPr>
          <a:xfrm>
            <a:off x="7124700" y="304800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61" name="Text 59"/>
          <p:cNvSpPr txBox="1"/>
          <p:nvPr/>
        </p:nvSpPr>
        <p:spPr>
          <a:xfrm>
            <a:off x="7486650" y="304800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62" name="Shape 60"/>
          <p:cNvSpPr/>
          <p:nvPr/>
        </p:nvSpPr>
        <p:spPr>
          <a:xfrm>
            <a:off x="2057400" y="3295650"/>
            <a:ext cx="6076950" cy="9525"/>
          </a:xfrm>
          <a:prstGeom prst="line">
            <a:avLst/>
          </a:prstGeom>
          <a:solidFill>
            <a:srgbClr val="FFFFFF">
              <a:alpha val="0"/>
            </a:srgbClr>
          </a:solidFill>
          <a:ln w="9525">
            <a:solidFill>
              <a:srgbClr val="F1F5F9"/>
            </a:solidFill>
            <a:prstDash val="solid"/>
          </a:ln>
        </p:spPr>
      </p:sp>
      <p:sp>
        <p:nvSpPr>
          <p:cNvPr id="63" name="Shape 61"/>
          <p:cNvSpPr/>
          <p:nvPr/>
        </p:nvSpPr>
        <p:spPr>
          <a:xfrm>
            <a:off x="2057400" y="3352800"/>
            <a:ext cx="171450" cy="171450"/>
          </a:xfrm>
          <a:prstGeom prst="roundRect">
            <a:avLst>
              <a:gd name="adj" fmla="val 22222"/>
            </a:avLst>
          </a:prstGeom>
          <a:solidFill>
            <a:srgbClr val="ECFDF5"/>
          </a:solidFill>
          <a:ln/>
        </p:spPr>
      </p:sp>
      <p:sp>
        <p:nvSpPr>
          <p:cNvPr id="64" name="Text 62"/>
          <p:cNvSpPr txBox="1"/>
          <p:nvPr/>
        </p:nvSpPr>
        <p:spPr>
          <a:xfrm>
            <a:off x="2057400" y="335280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D</a:t>
            </a:r>
            <a:endParaRPr lang="en-US" sz="620" dirty="0"/>
          </a:p>
        </p:txBody>
      </p:sp>
      <p:sp>
        <p:nvSpPr>
          <p:cNvPr id="65" name="Text 63"/>
          <p:cNvSpPr txBox="1"/>
          <p:nvPr/>
        </p:nvSpPr>
        <p:spPr>
          <a:xfrm>
            <a:off x="2305050" y="337185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Di chuyển</a:t>
            </a:r>
            <a:endParaRPr lang="en-US" sz="720" dirty="0"/>
          </a:p>
        </p:txBody>
      </p:sp>
      <p:sp>
        <p:nvSpPr>
          <p:cNvPr id="66" name="Text 64"/>
          <p:cNvSpPr txBox="1"/>
          <p:nvPr/>
        </p:nvSpPr>
        <p:spPr>
          <a:xfrm>
            <a:off x="4038600" y="337185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67" name="Text 65"/>
          <p:cNvSpPr txBox="1"/>
          <p:nvPr/>
        </p:nvSpPr>
        <p:spPr>
          <a:xfrm>
            <a:off x="5086350" y="337185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4</a:t>
            </a:r>
            <a:endParaRPr lang="en-US" sz="660" dirty="0"/>
          </a:p>
        </p:txBody>
      </p:sp>
      <p:sp>
        <p:nvSpPr>
          <p:cNvPr id="68" name="Shape 66"/>
          <p:cNvSpPr/>
          <p:nvPr/>
        </p:nvSpPr>
        <p:spPr>
          <a:xfrm>
            <a:off x="6038850" y="3362325"/>
            <a:ext cx="590550" cy="142875"/>
          </a:xfrm>
          <a:prstGeom prst="roundRect">
            <a:avLst>
              <a:gd name="adj" fmla="val 50000"/>
            </a:avLst>
          </a:prstGeom>
          <a:solidFill>
            <a:srgbClr val="ECFDF5"/>
          </a:solidFill>
          <a:ln/>
        </p:spPr>
      </p:sp>
      <p:sp>
        <p:nvSpPr>
          <p:cNvPr id="69" name="Text 67"/>
          <p:cNvSpPr txBox="1"/>
          <p:nvPr/>
        </p:nvSpPr>
        <p:spPr>
          <a:xfrm>
            <a:off x="6067425" y="336232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70" name="Text 68"/>
          <p:cNvSpPr txBox="1"/>
          <p:nvPr/>
        </p:nvSpPr>
        <p:spPr>
          <a:xfrm>
            <a:off x="7124700" y="337185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71" name="Text 69"/>
          <p:cNvSpPr txBox="1"/>
          <p:nvPr/>
        </p:nvSpPr>
        <p:spPr>
          <a:xfrm>
            <a:off x="7486650" y="337185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72" name="Shape 70"/>
          <p:cNvSpPr/>
          <p:nvPr/>
        </p:nvSpPr>
        <p:spPr>
          <a:xfrm>
            <a:off x="2057400" y="3619500"/>
            <a:ext cx="6076950" cy="9525"/>
          </a:xfrm>
          <a:prstGeom prst="line">
            <a:avLst/>
          </a:prstGeom>
          <a:solidFill>
            <a:srgbClr val="FFFFFF">
              <a:alpha val="0"/>
            </a:srgbClr>
          </a:solidFill>
          <a:ln w="9525">
            <a:solidFill>
              <a:srgbClr val="F1F5F9"/>
            </a:solidFill>
            <a:prstDash val="solid"/>
          </a:ln>
        </p:spPr>
      </p:sp>
      <p:sp>
        <p:nvSpPr>
          <p:cNvPr id="73" name="Shape 71"/>
          <p:cNvSpPr/>
          <p:nvPr/>
        </p:nvSpPr>
        <p:spPr>
          <a:xfrm>
            <a:off x="2057400" y="3676650"/>
            <a:ext cx="171450" cy="171450"/>
          </a:xfrm>
          <a:prstGeom prst="roundRect">
            <a:avLst>
              <a:gd name="adj" fmla="val 22222"/>
            </a:avLst>
          </a:prstGeom>
          <a:solidFill>
            <a:srgbClr val="ECFDF5"/>
          </a:solidFill>
          <a:ln/>
        </p:spPr>
      </p:sp>
      <p:sp>
        <p:nvSpPr>
          <p:cNvPr id="74" name="Text 72"/>
          <p:cNvSpPr txBox="1"/>
          <p:nvPr/>
        </p:nvSpPr>
        <p:spPr>
          <a:xfrm>
            <a:off x="2057400" y="367665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H</a:t>
            </a:r>
            <a:endParaRPr lang="en-US" sz="620" dirty="0"/>
          </a:p>
        </p:txBody>
      </p:sp>
      <p:sp>
        <p:nvSpPr>
          <p:cNvPr id="75" name="Text 73"/>
          <p:cNvSpPr txBox="1"/>
          <p:nvPr/>
        </p:nvSpPr>
        <p:spPr>
          <a:xfrm>
            <a:off x="2305050" y="369570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Học tập</a:t>
            </a:r>
            <a:endParaRPr lang="en-US" sz="720" dirty="0"/>
          </a:p>
        </p:txBody>
      </p:sp>
      <p:sp>
        <p:nvSpPr>
          <p:cNvPr id="76" name="Text 74"/>
          <p:cNvSpPr txBox="1"/>
          <p:nvPr/>
        </p:nvSpPr>
        <p:spPr>
          <a:xfrm>
            <a:off x="4038600" y="369570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77" name="Text 75"/>
          <p:cNvSpPr txBox="1"/>
          <p:nvPr/>
        </p:nvSpPr>
        <p:spPr>
          <a:xfrm>
            <a:off x="5086350" y="369570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1</a:t>
            </a:r>
            <a:endParaRPr lang="en-US" sz="660" dirty="0"/>
          </a:p>
        </p:txBody>
      </p:sp>
      <p:sp>
        <p:nvSpPr>
          <p:cNvPr id="78" name="Shape 76"/>
          <p:cNvSpPr/>
          <p:nvPr/>
        </p:nvSpPr>
        <p:spPr>
          <a:xfrm>
            <a:off x="6038850" y="3686175"/>
            <a:ext cx="590550" cy="142875"/>
          </a:xfrm>
          <a:prstGeom prst="roundRect">
            <a:avLst>
              <a:gd name="adj" fmla="val 50000"/>
            </a:avLst>
          </a:prstGeom>
          <a:solidFill>
            <a:srgbClr val="ECFDF5"/>
          </a:solidFill>
          <a:ln/>
        </p:spPr>
      </p:sp>
      <p:sp>
        <p:nvSpPr>
          <p:cNvPr id="79" name="Text 77"/>
          <p:cNvSpPr txBox="1"/>
          <p:nvPr/>
        </p:nvSpPr>
        <p:spPr>
          <a:xfrm>
            <a:off x="6067425" y="368617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80" name="Text 78"/>
          <p:cNvSpPr txBox="1"/>
          <p:nvPr/>
        </p:nvSpPr>
        <p:spPr>
          <a:xfrm>
            <a:off x="7124700" y="369570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81" name="Text 79"/>
          <p:cNvSpPr txBox="1"/>
          <p:nvPr/>
        </p:nvSpPr>
        <p:spPr>
          <a:xfrm>
            <a:off x="7486650" y="369570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82" name="Shape 80"/>
          <p:cNvSpPr/>
          <p:nvPr/>
        </p:nvSpPr>
        <p:spPr>
          <a:xfrm>
            <a:off x="2057400" y="3943350"/>
            <a:ext cx="6076950" cy="9525"/>
          </a:xfrm>
          <a:prstGeom prst="line">
            <a:avLst/>
          </a:prstGeom>
          <a:solidFill>
            <a:srgbClr val="FFFFFF">
              <a:alpha val="0"/>
            </a:srgbClr>
          </a:solidFill>
          <a:ln w="9525">
            <a:solidFill>
              <a:srgbClr val="F1F5F9"/>
            </a:solidFill>
            <a:prstDash val="solid"/>
          </a:ln>
        </p:spPr>
      </p:sp>
      <p:sp>
        <p:nvSpPr>
          <p:cNvPr id="83" name="Shape 81"/>
          <p:cNvSpPr/>
          <p:nvPr/>
        </p:nvSpPr>
        <p:spPr>
          <a:xfrm>
            <a:off x="2057400" y="4000500"/>
            <a:ext cx="171450" cy="171450"/>
          </a:xfrm>
          <a:prstGeom prst="roundRect">
            <a:avLst>
              <a:gd name="adj" fmla="val 22222"/>
            </a:avLst>
          </a:prstGeom>
          <a:solidFill>
            <a:srgbClr val="ECFDF5"/>
          </a:solidFill>
          <a:ln/>
        </p:spPr>
      </p:sp>
      <p:sp>
        <p:nvSpPr>
          <p:cNvPr id="84" name="Text 82"/>
          <p:cNvSpPr txBox="1"/>
          <p:nvPr/>
        </p:nvSpPr>
        <p:spPr>
          <a:xfrm>
            <a:off x="2057400" y="400050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G</a:t>
            </a:r>
            <a:endParaRPr lang="en-US" sz="620" dirty="0"/>
          </a:p>
        </p:txBody>
      </p:sp>
      <p:sp>
        <p:nvSpPr>
          <p:cNvPr id="85" name="Text 83"/>
          <p:cNvSpPr txBox="1"/>
          <p:nvPr/>
        </p:nvSpPr>
        <p:spPr>
          <a:xfrm>
            <a:off x="2305050" y="401955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Giải trí</a:t>
            </a:r>
            <a:endParaRPr lang="en-US" sz="720" dirty="0"/>
          </a:p>
        </p:txBody>
      </p:sp>
      <p:sp>
        <p:nvSpPr>
          <p:cNvPr id="86" name="Text 84"/>
          <p:cNvSpPr txBox="1"/>
          <p:nvPr/>
        </p:nvSpPr>
        <p:spPr>
          <a:xfrm>
            <a:off x="4038600" y="401955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87" name="Text 85"/>
          <p:cNvSpPr txBox="1"/>
          <p:nvPr/>
        </p:nvSpPr>
        <p:spPr>
          <a:xfrm>
            <a:off x="5086350" y="401955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1</a:t>
            </a:r>
            <a:endParaRPr lang="en-US" sz="660" dirty="0"/>
          </a:p>
        </p:txBody>
      </p:sp>
      <p:sp>
        <p:nvSpPr>
          <p:cNvPr id="88" name="Shape 86"/>
          <p:cNvSpPr/>
          <p:nvPr/>
        </p:nvSpPr>
        <p:spPr>
          <a:xfrm>
            <a:off x="6038850" y="4010025"/>
            <a:ext cx="590550" cy="142875"/>
          </a:xfrm>
          <a:prstGeom prst="roundRect">
            <a:avLst>
              <a:gd name="adj" fmla="val 50000"/>
            </a:avLst>
          </a:prstGeom>
          <a:solidFill>
            <a:srgbClr val="ECFDF5"/>
          </a:solidFill>
          <a:ln/>
        </p:spPr>
      </p:sp>
      <p:sp>
        <p:nvSpPr>
          <p:cNvPr id="89" name="Text 87"/>
          <p:cNvSpPr txBox="1"/>
          <p:nvPr/>
        </p:nvSpPr>
        <p:spPr>
          <a:xfrm>
            <a:off x="6067425" y="401002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90" name="Text 88"/>
          <p:cNvSpPr txBox="1"/>
          <p:nvPr/>
        </p:nvSpPr>
        <p:spPr>
          <a:xfrm>
            <a:off x="7124700" y="401955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91" name="Text 89"/>
          <p:cNvSpPr txBox="1"/>
          <p:nvPr/>
        </p:nvSpPr>
        <p:spPr>
          <a:xfrm>
            <a:off x="7486650" y="401955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92" name="Shape 90"/>
          <p:cNvSpPr/>
          <p:nvPr/>
        </p:nvSpPr>
        <p:spPr>
          <a:xfrm>
            <a:off x="2057400" y="4267200"/>
            <a:ext cx="6076950" cy="9525"/>
          </a:xfrm>
          <a:prstGeom prst="line">
            <a:avLst/>
          </a:prstGeom>
          <a:solidFill>
            <a:srgbClr val="FFFFFF">
              <a:alpha val="0"/>
            </a:srgbClr>
          </a:solidFill>
          <a:ln w="9525">
            <a:solidFill>
              <a:srgbClr val="F1F5F9"/>
            </a:solidFill>
            <a:prstDash val="solid"/>
          </a:ln>
        </p:spPr>
      </p:sp>
      <p:sp>
        <p:nvSpPr>
          <p:cNvPr id="93" name="Shape 91"/>
          <p:cNvSpPr/>
          <p:nvPr/>
        </p:nvSpPr>
        <p:spPr>
          <a:xfrm>
            <a:off x="2057400" y="4324350"/>
            <a:ext cx="171450" cy="171450"/>
          </a:xfrm>
          <a:prstGeom prst="roundRect">
            <a:avLst>
              <a:gd name="adj" fmla="val 22222"/>
            </a:avLst>
          </a:prstGeom>
          <a:solidFill>
            <a:srgbClr val="ECFDF5"/>
          </a:solidFill>
          <a:ln/>
        </p:spPr>
      </p:sp>
      <p:sp>
        <p:nvSpPr>
          <p:cNvPr id="94" name="Text 92"/>
          <p:cNvSpPr txBox="1"/>
          <p:nvPr/>
        </p:nvSpPr>
        <p:spPr>
          <a:xfrm>
            <a:off x="2057400" y="432435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M</a:t>
            </a:r>
            <a:endParaRPr lang="en-US" sz="620" dirty="0"/>
          </a:p>
        </p:txBody>
      </p:sp>
      <p:sp>
        <p:nvSpPr>
          <p:cNvPr id="95" name="Text 93"/>
          <p:cNvSpPr txBox="1"/>
          <p:nvPr/>
        </p:nvSpPr>
        <p:spPr>
          <a:xfrm>
            <a:off x="2305050" y="434340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Mua sắm</a:t>
            </a:r>
            <a:endParaRPr lang="en-US" sz="720" dirty="0"/>
          </a:p>
        </p:txBody>
      </p:sp>
      <p:sp>
        <p:nvSpPr>
          <p:cNvPr id="96" name="Text 94"/>
          <p:cNvSpPr txBox="1"/>
          <p:nvPr/>
        </p:nvSpPr>
        <p:spPr>
          <a:xfrm>
            <a:off x="4038600" y="434340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97" name="Text 95"/>
          <p:cNvSpPr txBox="1"/>
          <p:nvPr/>
        </p:nvSpPr>
        <p:spPr>
          <a:xfrm>
            <a:off x="5086350" y="434340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1</a:t>
            </a:r>
            <a:endParaRPr lang="en-US" sz="660" dirty="0"/>
          </a:p>
        </p:txBody>
      </p:sp>
      <p:sp>
        <p:nvSpPr>
          <p:cNvPr id="98" name="Shape 96"/>
          <p:cNvSpPr/>
          <p:nvPr/>
        </p:nvSpPr>
        <p:spPr>
          <a:xfrm>
            <a:off x="6038850" y="4333875"/>
            <a:ext cx="590550" cy="142875"/>
          </a:xfrm>
          <a:prstGeom prst="roundRect">
            <a:avLst>
              <a:gd name="adj" fmla="val 50000"/>
            </a:avLst>
          </a:prstGeom>
          <a:solidFill>
            <a:srgbClr val="ECFDF5"/>
          </a:solidFill>
          <a:ln/>
        </p:spPr>
      </p:sp>
      <p:sp>
        <p:nvSpPr>
          <p:cNvPr id="99" name="Text 97"/>
          <p:cNvSpPr txBox="1"/>
          <p:nvPr/>
        </p:nvSpPr>
        <p:spPr>
          <a:xfrm>
            <a:off x="6067425" y="433387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100" name="Text 98"/>
          <p:cNvSpPr txBox="1"/>
          <p:nvPr/>
        </p:nvSpPr>
        <p:spPr>
          <a:xfrm>
            <a:off x="7124700" y="434340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101" name="Text 99"/>
          <p:cNvSpPr txBox="1"/>
          <p:nvPr/>
        </p:nvSpPr>
        <p:spPr>
          <a:xfrm>
            <a:off x="7486650" y="434340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102" name="Shape 100"/>
          <p:cNvSpPr/>
          <p:nvPr/>
        </p:nvSpPr>
        <p:spPr>
          <a:xfrm>
            <a:off x="2057400" y="4591050"/>
            <a:ext cx="6076950" cy="9525"/>
          </a:xfrm>
          <a:prstGeom prst="line">
            <a:avLst/>
          </a:prstGeom>
          <a:solidFill>
            <a:srgbClr val="FFFFFF">
              <a:alpha val="0"/>
            </a:srgbClr>
          </a:solidFill>
          <a:ln w="9525">
            <a:solidFill>
              <a:srgbClr val="F1F5F9"/>
            </a:solidFill>
            <a:prstDash val="solid"/>
          </a:ln>
        </p:spPr>
      </p:sp>
      <p:sp>
        <p:nvSpPr>
          <p:cNvPr id="103" name="Shape 101"/>
          <p:cNvSpPr/>
          <p:nvPr/>
        </p:nvSpPr>
        <p:spPr>
          <a:xfrm>
            <a:off x="2057400" y="4648200"/>
            <a:ext cx="171450" cy="171450"/>
          </a:xfrm>
          <a:prstGeom prst="roundRect">
            <a:avLst>
              <a:gd name="adj" fmla="val 22222"/>
            </a:avLst>
          </a:prstGeom>
          <a:solidFill>
            <a:srgbClr val="ECFDF5"/>
          </a:solidFill>
          <a:ln/>
        </p:spPr>
      </p:sp>
      <p:sp>
        <p:nvSpPr>
          <p:cNvPr id="104" name="Text 102"/>
          <p:cNvSpPr txBox="1"/>
          <p:nvPr/>
        </p:nvSpPr>
        <p:spPr>
          <a:xfrm>
            <a:off x="2057400" y="464820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B</a:t>
            </a:r>
            <a:endParaRPr lang="en-US" sz="620" dirty="0"/>
          </a:p>
        </p:txBody>
      </p:sp>
      <p:sp>
        <p:nvSpPr>
          <p:cNvPr id="105" name="Text 103"/>
          <p:cNvSpPr txBox="1"/>
          <p:nvPr/>
        </p:nvSpPr>
        <p:spPr>
          <a:xfrm>
            <a:off x="2305050" y="466725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Hoá đơn</a:t>
            </a:r>
            <a:endParaRPr lang="en-US" sz="720" dirty="0"/>
          </a:p>
        </p:txBody>
      </p:sp>
      <p:sp>
        <p:nvSpPr>
          <p:cNvPr id="106" name="Text 104"/>
          <p:cNvSpPr txBox="1"/>
          <p:nvPr/>
        </p:nvSpPr>
        <p:spPr>
          <a:xfrm>
            <a:off x="4038600" y="466725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107" name="Text 105"/>
          <p:cNvSpPr txBox="1"/>
          <p:nvPr/>
        </p:nvSpPr>
        <p:spPr>
          <a:xfrm>
            <a:off x="5086350" y="466725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2</a:t>
            </a:r>
            <a:endParaRPr lang="en-US" sz="660" dirty="0"/>
          </a:p>
        </p:txBody>
      </p:sp>
      <p:sp>
        <p:nvSpPr>
          <p:cNvPr id="108" name="Shape 106"/>
          <p:cNvSpPr/>
          <p:nvPr/>
        </p:nvSpPr>
        <p:spPr>
          <a:xfrm>
            <a:off x="6038850" y="4657725"/>
            <a:ext cx="590550" cy="142875"/>
          </a:xfrm>
          <a:prstGeom prst="roundRect">
            <a:avLst>
              <a:gd name="adj" fmla="val 50000"/>
            </a:avLst>
          </a:prstGeom>
          <a:solidFill>
            <a:srgbClr val="ECFDF5"/>
          </a:solidFill>
          <a:ln/>
        </p:spPr>
      </p:sp>
      <p:sp>
        <p:nvSpPr>
          <p:cNvPr id="109" name="Text 107"/>
          <p:cNvSpPr txBox="1"/>
          <p:nvPr/>
        </p:nvSpPr>
        <p:spPr>
          <a:xfrm>
            <a:off x="6067425" y="465772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110" name="Text 108"/>
          <p:cNvSpPr txBox="1"/>
          <p:nvPr/>
        </p:nvSpPr>
        <p:spPr>
          <a:xfrm>
            <a:off x="7124700" y="466725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111" name="Text 109"/>
          <p:cNvSpPr txBox="1"/>
          <p:nvPr/>
        </p:nvSpPr>
        <p:spPr>
          <a:xfrm>
            <a:off x="7486650" y="466725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112" name="Shape 110"/>
          <p:cNvSpPr/>
          <p:nvPr/>
        </p:nvSpPr>
        <p:spPr>
          <a:xfrm>
            <a:off x="2057400" y="4914900"/>
            <a:ext cx="6076950" cy="9525"/>
          </a:xfrm>
          <a:prstGeom prst="line">
            <a:avLst/>
          </a:prstGeom>
          <a:solidFill>
            <a:srgbClr val="FFFFFF">
              <a:alpha val="0"/>
            </a:srgbClr>
          </a:solidFill>
          <a:ln w="9525">
            <a:solidFill>
              <a:srgbClr val="F1F5F9"/>
            </a:solidFill>
            <a:prstDash val="solid"/>
          </a:ln>
        </p:spPr>
      </p:sp>
      <p:sp>
        <p:nvSpPr>
          <p:cNvPr id="113" name="Shape 111"/>
          <p:cNvSpPr/>
          <p:nvPr/>
        </p:nvSpPr>
        <p:spPr>
          <a:xfrm>
            <a:off x="2057400" y="4972050"/>
            <a:ext cx="171450" cy="171450"/>
          </a:xfrm>
          <a:prstGeom prst="roundRect">
            <a:avLst>
              <a:gd name="adj" fmla="val 22222"/>
            </a:avLst>
          </a:prstGeom>
          <a:solidFill>
            <a:srgbClr val="ECFDF5"/>
          </a:solidFill>
          <a:ln/>
        </p:spPr>
      </p:sp>
      <p:sp>
        <p:nvSpPr>
          <p:cNvPr id="114" name="Text 112"/>
          <p:cNvSpPr txBox="1"/>
          <p:nvPr/>
        </p:nvSpPr>
        <p:spPr>
          <a:xfrm>
            <a:off x="2057400" y="497205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S</a:t>
            </a:r>
            <a:endParaRPr lang="en-US" sz="620" dirty="0"/>
          </a:p>
        </p:txBody>
      </p:sp>
      <p:sp>
        <p:nvSpPr>
          <p:cNvPr id="115" name="Text 113"/>
          <p:cNvSpPr txBox="1"/>
          <p:nvPr/>
        </p:nvSpPr>
        <p:spPr>
          <a:xfrm>
            <a:off x="2305050" y="499110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Sức khoẻ</a:t>
            </a:r>
            <a:endParaRPr lang="en-US" sz="720" dirty="0"/>
          </a:p>
        </p:txBody>
      </p:sp>
      <p:sp>
        <p:nvSpPr>
          <p:cNvPr id="116" name="Text 114"/>
          <p:cNvSpPr txBox="1"/>
          <p:nvPr/>
        </p:nvSpPr>
        <p:spPr>
          <a:xfrm>
            <a:off x="4038600" y="499110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Chi</a:t>
            </a:r>
            <a:endParaRPr lang="en-US" sz="640" dirty="0"/>
          </a:p>
        </p:txBody>
      </p:sp>
      <p:sp>
        <p:nvSpPr>
          <p:cNvPr id="117" name="Text 115"/>
          <p:cNvSpPr txBox="1"/>
          <p:nvPr/>
        </p:nvSpPr>
        <p:spPr>
          <a:xfrm>
            <a:off x="5086350" y="499110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1</a:t>
            </a:r>
            <a:endParaRPr lang="en-US" sz="660" dirty="0"/>
          </a:p>
        </p:txBody>
      </p:sp>
      <p:sp>
        <p:nvSpPr>
          <p:cNvPr id="118" name="Shape 116"/>
          <p:cNvSpPr/>
          <p:nvPr/>
        </p:nvSpPr>
        <p:spPr>
          <a:xfrm>
            <a:off x="6038850" y="4981575"/>
            <a:ext cx="590550" cy="142875"/>
          </a:xfrm>
          <a:prstGeom prst="roundRect">
            <a:avLst>
              <a:gd name="adj" fmla="val 50000"/>
            </a:avLst>
          </a:prstGeom>
          <a:solidFill>
            <a:srgbClr val="ECFDF5"/>
          </a:solidFill>
          <a:ln/>
        </p:spPr>
      </p:sp>
      <p:sp>
        <p:nvSpPr>
          <p:cNvPr id="119" name="Text 117"/>
          <p:cNvSpPr txBox="1"/>
          <p:nvPr/>
        </p:nvSpPr>
        <p:spPr>
          <a:xfrm>
            <a:off x="6067425" y="498157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120" name="Text 118"/>
          <p:cNvSpPr txBox="1"/>
          <p:nvPr/>
        </p:nvSpPr>
        <p:spPr>
          <a:xfrm>
            <a:off x="7124700" y="499110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121" name="Text 119"/>
          <p:cNvSpPr txBox="1"/>
          <p:nvPr/>
        </p:nvSpPr>
        <p:spPr>
          <a:xfrm>
            <a:off x="7486650" y="499110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122" name="Shape 120"/>
          <p:cNvSpPr/>
          <p:nvPr/>
        </p:nvSpPr>
        <p:spPr>
          <a:xfrm>
            <a:off x="2057400" y="5238750"/>
            <a:ext cx="6076950" cy="9525"/>
          </a:xfrm>
          <a:prstGeom prst="line">
            <a:avLst/>
          </a:prstGeom>
          <a:solidFill>
            <a:srgbClr val="FFFFFF">
              <a:alpha val="0"/>
            </a:srgbClr>
          </a:solidFill>
          <a:ln w="9525">
            <a:solidFill>
              <a:srgbClr val="F1F5F9"/>
            </a:solidFill>
            <a:prstDash val="solid"/>
          </a:ln>
        </p:spPr>
      </p:sp>
      <p:sp>
        <p:nvSpPr>
          <p:cNvPr id="123" name="Shape 121"/>
          <p:cNvSpPr/>
          <p:nvPr/>
        </p:nvSpPr>
        <p:spPr>
          <a:xfrm>
            <a:off x="2057400" y="5295900"/>
            <a:ext cx="171450" cy="171450"/>
          </a:xfrm>
          <a:prstGeom prst="roundRect">
            <a:avLst>
              <a:gd name="adj" fmla="val 22222"/>
            </a:avLst>
          </a:prstGeom>
          <a:solidFill>
            <a:srgbClr val="ECFDF5"/>
          </a:solidFill>
          <a:ln/>
        </p:spPr>
      </p:sp>
      <p:sp>
        <p:nvSpPr>
          <p:cNvPr id="124" name="Text 122"/>
          <p:cNvSpPr txBox="1"/>
          <p:nvPr/>
        </p:nvSpPr>
        <p:spPr>
          <a:xfrm>
            <a:off x="2057400" y="5295900"/>
            <a:ext cx="171450" cy="171450"/>
          </a:xfrm>
          <a:prstGeom prst="rect">
            <a:avLst/>
          </a:prstGeom>
          <a:noFill/>
          <a:ln/>
        </p:spPr>
        <p:txBody>
          <a:bodyPr wrap="square" lIns="0" tIns="0" rIns="0" bIns="0" rtlCol="0" anchor="ctr"/>
          <a:lstStyle/>
          <a:p>
            <a:pPr algn="ctr" indent="0" marL="0">
              <a:lnSpc>
                <a:spcPct val="106000"/>
              </a:lnSpc>
              <a:buNone/>
            </a:pPr>
            <a:r>
              <a:rPr lang="en-US" sz="620" b="1" dirty="0">
                <a:solidFill>
                  <a:srgbClr val="047857"/>
                </a:solidFill>
                <a:latin typeface="Segoe UI" pitchFamily="34" charset="0"/>
                <a:ea typeface="Segoe UI" pitchFamily="34" charset="-122"/>
                <a:cs typeface="Segoe UI" pitchFamily="34" charset="-120"/>
              </a:rPr>
              <a:t>K</a:t>
            </a:r>
            <a:endParaRPr lang="en-US" sz="620" dirty="0"/>
          </a:p>
        </p:txBody>
      </p:sp>
      <p:sp>
        <p:nvSpPr>
          <p:cNvPr id="125" name="Text 123"/>
          <p:cNvSpPr txBox="1"/>
          <p:nvPr/>
        </p:nvSpPr>
        <p:spPr>
          <a:xfrm>
            <a:off x="2305050" y="5314950"/>
            <a:ext cx="1714500" cy="133350"/>
          </a:xfrm>
          <a:prstGeom prst="rect">
            <a:avLst/>
          </a:prstGeom>
          <a:noFill/>
          <a:ln/>
        </p:spPr>
        <p:txBody>
          <a:bodyPr wrap="square" lIns="0" tIns="0" rIns="0" bIns="0" rtlCol="0" anchor="t"/>
          <a:lstStyle/>
          <a:p>
            <a:pPr algn="l" indent="0" marL="0">
              <a:lnSpc>
                <a:spcPct val="106000"/>
              </a:lnSpc>
              <a:buNone/>
            </a:pPr>
            <a:r>
              <a:rPr lang="en-US" sz="720" b="1" dirty="0">
                <a:solidFill>
                  <a:srgbClr val="0F172A"/>
                </a:solidFill>
                <a:latin typeface="Segoe UI" pitchFamily="34" charset="0"/>
                <a:ea typeface="Segoe UI" pitchFamily="34" charset="-122"/>
                <a:cs typeface="Segoe UI" pitchFamily="34" charset="-120"/>
              </a:rPr>
              <a:t>Khác</a:t>
            </a:r>
            <a:endParaRPr lang="en-US" sz="720" dirty="0"/>
          </a:p>
        </p:txBody>
      </p:sp>
      <p:sp>
        <p:nvSpPr>
          <p:cNvPr id="126" name="Text 124"/>
          <p:cNvSpPr txBox="1"/>
          <p:nvPr/>
        </p:nvSpPr>
        <p:spPr>
          <a:xfrm>
            <a:off x="4038600" y="5314950"/>
            <a:ext cx="762000" cy="13335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Thu/Chi</a:t>
            </a:r>
            <a:endParaRPr lang="en-US" sz="640" dirty="0"/>
          </a:p>
        </p:txBody>
      </p:sp>
      <p:sp>
        <p:nvSpPr>
          <p:cNvPr id="127" name="Text 125"/>
          <p:cNvSpPr txBox="1"/>
          <p:nvPr/>
        </p:nvSpPr>
        <p:spPr>
          <a:xfrm>
            <a:off x="5086350" y="5314950"/>
            <a:ext cx="57150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3</a:t>
            </a:r>
            <a:endParaRPr lang="en-US" sz="660" dirty="0"/>
          </a:p>
        </p:txBody>
      </p:sp>
      <p:sp>
        <p:nvSpPr>
          <p:cNvPr id="128" name="Shape 126"/>
          <p:cNvSpPr/>
          <p:nvPr/>
        </p:nvSpPr>
        <p:spPr>
          <a:xfrm>
            <a:off x="6038850" y="5305425"/>
            <a:ext cx="590550" cy="142875"/>
          </a:xfrm>
          <a:prstGeom prst="roundRect">
            <a:avLst>
              <a:gd name="adj" fmla="val 50000"/>
            </a:avLst>
          </a:prstGeom>
          <a:solidFill>
            <a:srgbClr val="ECFDF5"/>
          </a:solidFill>
          <a:ln/>
        </p:spPr>
      </p:sp>
      <p:sp>
        <p:nvSpPr>
          <p:cNvPr id="129" name="Text 127"/>
          <p:cNvSpPr txBox="1"/>
          <p:nvPr/>
        </p:nvSpPr>
        <p:spPr>
          <a:xfrm>
            <a:off x="6067425" y="5305425"/>
            <a:ext cx="533400" cy="142875"/>
          </a:xfrm>
          <a:prstGeom prst="rect">
            <a:avLst/>
          </a:prstGeom>
          <a:noFill/>
          <a:ln/>
        </p:spPr>
        <p:txBody>
          <a:bodyPr wrap="square" lIns="0" tIns="0" rIns="0" bIns="0" rtlCol="0" anchor="ctr"/>
          <a:lstStyle/>
          <a:p>
            <a:pPr algn="ctr" indent="0" marL="0">
              <a:lnSpc>
                <a:spcPct val="106000"/>
              </a:lnSpc>
              <a:buNone/>
            </a:pPr>
            <a:r>
              <a:rPr lang="en-US" sz="520" b="1" dirty="0">
                <a:solidFill>
                  <a:srgbClr val="047857"/>
                </a:solidFill>
                <a:latin typeface="Segoe UI" pitchFamily="34" charset="0"/>
                <a:ea typeface="Segoe UI" pitchFamily="34" charset="-122"/>
                <a:cs typeface="Segoe UI" pitchFamily="34" charset="-120"/>
              </a:rPr>
              <a:t>Hoạt động</a:t>
            </a:r>
            <a:endParaRPr lang="en-US" sz="520" dirty="0"/>
          </a:p>
        </p:txBody>
      </p:sp>
      <p:sp>
        <p:nvSpPr>
          <p:cNvPr id="130" name="Text 128"/>
          <p:cNvSpPr txBox="1"/>
          <p:nvPr/>
        </p:nvSpPr>
        <p:spPr>
          <a:xfrm>
            <a:off x="7124700" y="5314950"/>
            <a:ext cx="285750" cy="114300"/>
          </a:xfrm>
          <a:prstGeom prst="rect">
            <a:avLst/>
          </a:prstGeom>
          <a:noFill/>
          <a:ln/>
        </p:spPr>
        <p:txBody>
          <a:bodyPr wrap="square" lIns="0" tIns="0" rIns="0" bIns="0" rtlCol="0" anchor="t"/>
          <a:lstStyle/>
          <a:p>
            <a:pPr algn="l"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Sửa</a:t>
            </a:r>
            <a:endParaRPr lang="en-US" sz="600" dirty="0"/>
          </a:p>
        </p:txBody>
      </p:sp>
      <p:sp>
        <p:nvSpPr>
          <p:cNvPr id="131" name="Text 129"/>
          <p:cNvSpPr txBox="1"/>
          <p:nvPr/>
        </p:nvSpPr>
        <p:spPr>
          <a:xfrm>
            <a:off x="7486650" y="5314950"/>
            <a:ext cx="57150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Lưu trữ</a:t>
            </a:r>
            <a:endParaRPr lang="en-US" sz="600" dirty="0"/>
          </a:p>
        </p:txBody>
      </p:sp>
      <p:sp>
        <p:nvSpPr>
          <p:cNvPr id="132" name="Shape 130"/>
          <p:cNvSpPr/>
          <p:nvPr/>
        </p:nvSpPr>
        <p:spPr>
          <a:xfrm>
            <a:off x="2057400" y="5562600"/>
            <a:ext cx="6076950" cy="9525"/>
          </a:xfrm>
          <a:prstGeom prst="line">
            <a:avLst/>
          </a:prstGeom>
          <a:solidFill>
            <a:srgbClr val="FFFFFF">
              <a:alpha val="0"/>
            </a:srgbClr>
          </a:solidFill>
          <a:ln w="9525">
            <a:solidFill>
              <a:srgbClr val="F1F5F9"/>
            </a:solidFill>
            <a:prstDash val="solid"/>
          </a:ln>
        </p:spPr>
      </p:sp>
      <p:sp>
        <p:nvSpPr>
          <p:cNvPr id="133" name="Shape 131"/>
          <p:cNvSpPr/>
          <p:nvPr/>
        </p:nvSpPr>
        <p:spPr>
          <a:xfrm>
            <a:off x="1943100" y="5905500"/>
            <a:ext cx="6305550" cy="571500"/>
          </a:xfrm>
          <a:prstGeom prst="roundRect">
            <a:avLst>
              <a:gd name="adj" fmla="val 13333"/>
            </a:avLst>
          </a:prstGeom>
          <a:solidFill>
            <a:srgbClr val="F8FAFC"/>
          </a:solidFill>
          <a:ln w="9525">
            <a:solidFill>
              <a:srgbClr val="E2E8F0"/>
            </a:solidFill>
            <a:prstDash val="solid"/>
          </a:ln>
        </p:spPr>
      </p:sp>
      <p:sp>
        <p:nvSpPr>
          <p:cNvPr id="134" name="Text 132"/>
          <p:cNvSpPr txBox="1"/>
          <p:nvPr/>
        </p:nvSpPr>
        <p:spPr>
          <a:xfrm>
            <a:off x="2057400" y="5981700"/>
            <a:ext cx="2857500" cy="133350"/>
          </a:xfrm>
          <a:prstGeom prst="rect">
            <a:avLst/>
          </a:prstGeom>
          <a:noFill/>
          <a:ln/>
        </p:spPr>
        <p:txBody>
          <a:bodyPr wrap="square" lIns="0" tIns="0" rIns="0" bIns="0" rtlCol="0" anchor="t"/>
          <a:lstStyle/>
          <a:p>
            <a:pPr algn="l" indent="0" marL="0">
              <a:lnSpc>
                <a:spcPct val="106000"/>
              </a:lnSpc>
              <a:buNone/>
            </a:pPr>
            <a:r>
              <a:rPr lang="en-US" sz="720" b="1" dirty="0">
                <a:solidFill>
                  <a:srgbClr val="475569"/>
                </a:solidFill>
                <a:latin typeface="Segoe UI" pitchFamily="34" charset="0"/>
                <a:ea typeface="Segoe UI" pitchFamily="34" charset="-122"/>
                <a:cs typeface="Segoe UI" pitchFamily="34" charset="-120"/>
              </a:rPr>
              <a:t>Danh mục đã lưu trữ (1)</a:t>
            </a:r>
            <a:endParaRPr lang="en-US" sz="720" dirty="0"/>
          </a:p>
        </p:txBody>
      </p:sp>
      <p:sp>
        <p:nvSpPr>
          <p:cNvPr id="135" name="Text 133"/>
          <p:cNvSpPr txBox="1"/>
          <p:nvPr/>
        </p:nvSpPr>
        <p:spPr>
          <a:xfrm>
            <a:off x="2057400" y="6172200"/>
            <a:ext cx="4953000" cy="152400"/>
          </a:xfrm>
          <a:prstGeom prst="rect">
            <a:avLst/>
          </a:prstGeom>
          <a:noFill/>
          <a:ln/>
        </p:spPr>
        <p:txBody>
          <a:bodyPr wrap="square" lIns="0" tIns="0" rIns="0" bIns="0" rtlCol="0" anchor="t"/>
          <a:lstStyle/>
          <a:p>
            <a:pPr algn="l" indent="0" marL="0">
              <a:lnSpc>
                <a:spcPct val="106000"/>
              </a:lnSpc>
              <a:buNone/>
            </a:pPr>
            <a:r>
              <a:rPr lang="en-US" sz="640" dirty="0">
                <a:solidFill>
                  <a:srgbClr val="94A3B8"/>
                </a:solidFill>
                <a:latin typeface="Segoe UI" pitchFamily="34" charset="0"/>
                <a:ea typeface="Segoe UI" pitchFamily="34" charset="-122"/>
                <a:cs typeface="Segoe UI" pitchFamily="34" charset="-120"/>
              </a:rPr>
              <a:t>Dịch vụ đã ngưng · 0 lượt dùng · ẩn khỏi form nhưng giữ giao dịch cũ</a:t>
            </a:r>
            <a:endParaRPr lang="en-US" sz="640" dirty="0"/>
          </a:p>
        </p:txBody>
      </p:sp>
      <p:sp>
        <p:nvSpPr>
          <p:cNvPr id="136" name="Shape 134"/>
          <p:cNvSpPr/>
          <p:nvPr/>
        </p:nvSpPr>
        <p:spPr>
          <a:xfrm>
            <a:off x="7334250" y="6038850"/>
            <a:ext cx="762000" cy="228600"/>
          </a:xfrm>
          <a:prstGeom prst="roundRect">
            <a:avLst>
              <a:gd name="adj" fmla="val 20833"/>
            </a:avLst>
          </a:prstGeom>
          <a:solidFill>
            <a:srgbClr val="FFFFFF"/>
          </a:solidFill>
          <a:ln w="9525">
            <a:solidFill>
              <a:srgbClr val="E2E8F0"/>
            </a:solidFill>
            <a:prstDash val="solid"/>
          </a:ln>
        </p:spPr>
      </p:sp>
      <p:sp>
        <p:nvSpPr>
          <p:cNvPr id="137" name="Text 135"/>
          <p:cNvSpPr txBox="1"/>
          <p:nvPr/>
        </p:nvSpPr>
        <p:spPr>
          <a:xfrm>
            <a:off x="7334250" y="6038850"/>
            <a:ext cx="762000" cy="228600"/>
          </a:xfrm>
          <a:prstGeom prst="rect">
            <a:avLst/>
          </a:prstGeom>
          <a:noFill/>
          <a:ln/>
        </p:spPr>
        <p:txBody>
          <a:bodyPr wrap="square" lIns="0" tIns="0" rIns="0" bIns="0" rtlCol="0" anchor="ctr"/>
          <a:lstStyle/>
          <a:p>
            <a:pPr algn="ctr" indent="0" marL="0">
              <a:lnSpc>
                <a:spcPct val="106000"/>
              </a:lnSpc>
              <a:buNone/>
            </a:pPr>
            <a:r>
              <a:rPr lang="en-US" sz="600" b="1" dirty="0">
                <a:solidFill>
                  <a:srgbClr val="047857"/>
                </a:solidFill>
                <a:latin typeface="Segoe UI" pitchFamily="34" charset="0"/>
                <a:ea typeface="Segoe UI" pitchFamily="34" charset="-122"/>
                <a:cs typeface="Segoe UI" pitchFamily="34" charset="-120"/>
              </a:rPr>
              <a:t>Khôi phục</a:t>
            </a:r>
            <a:endParaRPr lang="en-US" sz="600" dirty="0"/>
          </a:p>
        </p:txBody>
      </p:sp>
      <p:sp>
        <p:nvSpPr>
          <p:cNvPr id="138" name="Shape 136"/>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139" name="Text 137"/>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24 / 27</a:t>
            </a:r>
            <a:endParaRPr lang="en-US" sz="740" dirty="0"/>
          </a:p>
        </p:txBody>
      </p:sp>
      <p:sp>
        <p:nvSpPr>
          <p:cNvPr id="140" name="Text 138"/>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Quản lý danh mục chi</a:t>
            </a:r>
            <a:endParaRPr lang="en-US" sz="1700" dirty="0"/>
          </a:p>
        </p:txBody>
      </p:sp>
      <p:sp>
        <p:nvSpPr>
          <p:cNvPr id="141" name="Text 139"/>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pages/admin-expense-category-management.html</a:t>
            </a:r>
            <a:endParaRPr lang="en-US" sz="720" dirty="0"/>
          </a:p>
        </p:txBody>
      </p:sp>
      <p:sp>
        <p:nvSpPr>
          <p:cNvPr id="142" name="Shape 140"/>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43" name="Text 141"/>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44" name="Text 142"/>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Quản lý danh mục chi dùng chung: thêm, sửa, lưu trữ và khôi phục mà không làm hỏng giao dịch cũ.</a:t>
            </a:r>
            <a:endParaRPr lang="en-US" sz="920" dirty="0"/>
          </a:p>
        </p:txBody>
      </p:sp>
      <p:sp>
        <p:nvSpPr>
          <p:cNvPr id="145" name="Text 143"/>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46" name="Shape 144"/>
          <p:cNvSpPr/>
          <p:nvPr/>
        </p:nvSpPr>
        <p:spPr>
          <a:xfrm>
            <a:off x="8839200" y="3238500"/>
            <a:ext cx="209550" cy="190500"/>
          </a:xfrm>
          <a:prstGeom prst="roundRect">
            <a:avLst>
              <a:gd name="adj" fmla="val 25000"/>
            </a:avLst>
          </a:prstGeom>
          <a:solidFill>
            <a:srgbClr val="059669"/>
          </a:solidFill>
          <a:ln/>
        </p:spPr>
      </p:sp>
      <p:sp>
        <p:nvSpPr>
          <p:cNvPr id="147" name="Text 145"/>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148" name="Shape 146"/>
          <p:cNvSpPr/>
          <p:nvPr/>
        </p:nvSpPr>
        <p:spPr>
          <a:xfrm>
            <a:off x="9086850" y="3238500"/>
            <a:ext cx="209550" cy="190500"/>
          </a:xfrm>
          <a:prstGeom prst="roundRect">
            <a:avLst>
              <a:gd name="adj" fmla="val 25000"/>
            </a:avLst>
          </a:prstGeom>
          <a:solidFill>
            <a:srgbClr val="059669"/>
          </a:solidFill>
          <a:ln/>
        </p:spPr>
      </p:sp>
      <p:sp>
        <p:nvSpPr>
          <p:cNvPr id="149" name="Text 147"/>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50" name="Shape 148"/>
          <p:cNvSpPr/>
          <p:nvPr/>
        </p:nvSpPr>
        <p:spPr>
          <a:xfrm>
            <a:off x="9334500" y="3238500"/>
            <a:ext cx="209550" cy="190500"/>
          </a:xfrm>
          <a:prstGeom prst="roundRect">
            <a:avLst>
              <a:gd name="adj" fmla="val 25000"/>
            </a:avLst>
          </a:prstGeom>
          <a:solidFill>
            <a:srgbClr val="059669"/>
          </a:solidFill>
          <a:ln/>
        </p:spPr>
      </p:sp>
      <p:sp>
        <p:nvSpPr>
          <p:cNvPr id="151" name="Text 149"/>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52" name="Shape 150"/>
          <p:cNvSpPr/>
          <p:nvPr/>
        </p:nvSpPr>
        <p:spPr>
          <a:xfrm>
            <a:off x="9582150" y="3238500"/>
            <a:ext cx="209550" cy="190500"/>
          </a:xfrm>
          <a:prstGeom prst="roundRect">
            <a:avLst>
              <a:gd name="adj" fmla="val 25000"/>
            </a:avLst>
          </a:prstGeom>
          <a:solidFill>
            <a:srgbClr val="059669"/>
          </a:solidFill>
          <a:ln/>
        </p:spPr>
      </p:sp>
      <p:sp>
        <p:nvSpPr>
          <p:cNvPr id="153" name="Text 151"/>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D</a:t>
            </a:r>
            <a:endParaRPr lang="en-US" sz="740" dirty="0"/>
          </a:p>
        </p:txBody>
      </p:sp>
      <p:sp>
        <p:nvSpPr>
          <p:cNvPr id="154" name="Text 152"/>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Đang hoạt động · lưu trữ · trùng tên · đang dùng (không xoá cứng).</a:t>
            </a:r>
            <a:endParaRPr lang="en-US" sz="900" dirty="0"/>
          </a:p>
        </p:txBody>
      </p:sp>
      <p:sp>
        <p:nvSpPr>
          <p:cNvPr id="155" name="Text 153"/>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56" name="Text 154"/>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Tìm/lọc; modal thêm–sửa; validate tên; lưu trữ/khôi phục; đếm lượt dùng.</a:t>
            </a:r>
            <a:endParaRPr lang="en-US" sz="900" dirty="0"/>
          </a:p>
        </p:txBody>
      </p:sp>
      <p:sp>
        <p:nvSpPr>
          <p:cNvPr id="157" name="Text 155"/>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58" name="Text 156"/>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categories được tham chiếu bởi transactions và budgets.</a:t>
            </a:r>
            <a:endParaRPr lang="en-US" sz="900" dirty="0"/>
          </a:p>
        </p:txBody>
      </p:sp>
      <p:sp>
        <p:nvSpPr>
          <p:cNvPr id="159" name="Shape 157"/>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60" name="Text 158"/>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SV3-06-categories</a:t>
            </a:r>
            <a:endParaRPr lang="en-US" sz="840" dirty="0"/>
          </a:p>
        </p:txBody>
      </p:sp>
      <p:sp>
        <p:nvSpPr>
          <p:cNvPr id="161" name="Text 159"/>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FFBEB"/>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B45309"/>
                </a:solidFill>
                <a:latin typeface="Segoe UI" pitchFamily="34" charset="0"/>
                <a:ea typeface="Segoe UI" pitchFamily="34" charset="-122"/>
                <a:cs typeface="Segoe UI" pitchFamily="34" charset="-120"/>
              </a:rPr>
              <a:t>QUẢN TRỊ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25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Quản lý người dùng</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pages/admin-user-management.html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spendwise.app/pages/admin-user-management.html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Quản trị viên</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Danh mục chi</a:t>
            </a:r>
            <a:endParaRPr lang="en-US" sz="820" dirty="0"/>
          </a:p>
        </p:txBody>
      </p:sp>
      <p:sp>
        <p:nvSpPr>
          <p:cNvPr id="22" name="Shape 20"/>
          <p:cNvSpPr/>
          <p:nvPr/>
        </p:nvSpPr>
        <p:spPr>
          <a:xfrm>
            <a:off x="495300" y="2343150"/>
            <a:ext cx="1181100" cy="209550"/>
          </a:xfrm>
          <a:prstGeom prst="roundRect">
            <a:avLst>
              <a:gd name="adj" fmla="val 27273"/>
            </a:avLst>
          </a:prstGeom>
          <a:solidFill>
            <a:srgbClr val="ECFDF5"/>
          </a:solidFill>
          <a:ln/>
        </p:spPr>
      </p:sp>
      <p:sp>
        <p:nvSpPr>
          <p:cNvPr id="23" name="Text 21"/>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Người dùng</a:t>
            </a:r>
            <a:endParaRPr lang="en-US" sz="820" dirty="0"/>
          </a:p>
        </p:txBody>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Hệ thống</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Quản lý người dùng</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Quản trị hệ thống</a:t>
            </a:r>
            <a:endParaRPr lang="en-US" sz="700" dirty="0"/>
          </a:p>
        </p:txBody>
      </p:sp>
      <p:sp>
        <p:nvSpPr>
          <p:cNvPr id="33" name="Shape 31"/>
          <p:cNvSpPr/>
          <p:nvPr/>
        </p:nvSpPr>
        <p:spPr>
          <a:xfrm>
            <a:off x="1943100" y="1952625"/>
            <a:ext cx="2038350" cy="533400"/>
          </a:xfrm>
          <a:prstGeom prst="roundRect">
            <a:avLst>
              <a:gd name="adj" fmla="val 14286"/>
            </a:avLst>
          </a:prstGeom>
          <a:solidFill>
            <a:srgbClr val="FFFFFF"/>
          </a:solidFill>
          <a:ln w="9525">
            <a:solidFill>
              <a:srgbClr val="E2E8F0"/>
            </a:solidFill>
            <a:prstDash val="solid"/>
          </a:ln>
        </p:spPr>
      </p:sp>
      <p:sp>
        <p:nvSpPr>
          <p:cNvPr id="34" name="Text 32"/>
          <p:cNvSpPr txBox="1"/>
          <p:nvPr/>
        </p:nvSpPr>
        <p:spPr>
          <a:xfrm>
            <a:off x="2057400" y="2038350"/>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6 tài khoản</a:t>
            </a:r>
            <a:endParaRPr lang="en-US" sz="1060" dirty="0"/>
          </a:p>
        </p:txBody>
      </p:sp>
      <p:sp>
        <p:nvSpPr>
          <p:cNvPr id="35" name="Text 33"/>
          <p:cNvSpPr txBox="1"/>
          <p:nvPr/>
        </p:nvSpPr>
        <p:spPr>
          <a:xfrm>
            <a:off x="2057400" y="224790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3 người dùng</a:t>
            </a:r>
            <a:endParaRPr lang="en-US" sz="620" dirty="0"/>
          </a:p>
        </p:txBody>
      </p:sp>
      <p:sp>
        <p:nvSpPr>
          <p:cNvPr id="36" name="Shape 34"/>
          <p:cNvSpPr/>
          <p:nvPr/>
        </p:nvSpPr>
        <p:spPr>
          <a:xfrm>
            <a:off x="4057650" y="1952625"/>
            <a:ext cx="2038350" cy="533400"/>
          </a:xfrm>
          <a:prstGeom prst="roundRect">
            <a:avLst>
              <a:gd name="adj" fmla="val 14286"/>
            </a:avLst>
          </a:prstGeom>
          <a:solidFill>
            <a:srgbClr val="FFFFFF"/>
          </a:solidFill>
          <a:ln w="9525">
            <a:solidFill>
              <a:srgbClr val="E2E8F0"/>
            </a:solidFill>
            <a:prstDash val="solid"/>
          </a:ln>
        </p:spPr>
      </p:sp>
      <p:sp>
        <p:nvSpPr>
          <p:cNvPr id="37" name="Text 35"/>
          <p:cNvSpPr txBox="1"/>
          <p:nvPr/>
        </p:nvSpPr>
        <p:spPr>
          <a:xfrm>
            <a:off x="4171950" y="2038350"/>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5 hoạt động</a:t>
            </a:r>
            <a:endParaRPr lang="en-US" sz="1060" dirty="0"/>
          </a:p>
        </p:txBody>
      </p:sp>
      <p:sp>
        <p:nvSpPr>
          <p:cNvPr id="38" name="Text 36"/>
          <p:cNvSpPr txBox="1"/>
          <p:nvPr/>
        </p:nvSpPr>
        <p:spPr>
          <a:xfrm>
            <a:off x="4171950" y="224790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1 bị khoá</a:t>
            </a:r>
            <a:endParaRPr lang="en-US" sz="620" dirty="0"/>
          </a:p>
        </p:txBody>
      </p:sp>
      <p:sp>
        <p:nvSpPr>
          <p:cNvPr id="39" name="Shape 37"/>
          <p:cNvSpPr/>
          <p:nvPr/>
        </p:nvSpPr>
        <p:spPr>
          <a:xfrm>
            <a:off x="6172200" y="1952625"/>
            <a:ext cx="2038350" cy="533400"/>
          </a:xfrm>
          <a:prstGeom prst="roundRect">
            <a:avLst>
              <a:gd name="adj" fmla="val 14286"/>
            </a:avLst>
          </a:prstGeom>
          <a:solidFill>
            <a:srgbClr val="FFFFFF"/>
          </a:solidFill>
          <a:ln w="9525">
            <a:solidFill>
              <a:srgbClr val="E2E8F0"/>
            </a:solidFill>
            <a:prstDash val="solid"/>
          </a:ln>
        </p:spPr>
      </p:sp>
      <p:sp>
        <p:nvSpPr>
          <p:cNvPr id="40" name="Text 38"/>
          <p:cNvSpPr txBox="1"/>
          <p:nvPr/>
        </p:nvSpPr>
        <p:spPr>
          <a:xfrm>
            <a:off x="6286500" y="2038350"/>
            <a:ext cx="1809750" cy="171450"/>
          </a:xfrm>
          <a:prstGeom prst="rect">
            <a:avLst/>
          </a:prstGeom>
          <a:noFill/>
          <a:ln/>
        </p:spPr>
        <p:txBody>
          <a:bodyPr wrap="square" lIns="0" tIns="0" rIns="0" bIns="0" rtlCol="0" anchor="t"/>
          <a:lstStyle/>
          <a:p>
            <a:pPr algn="l" indent="0" marL="0">
              <a:lnSpc>
                <a:spcPct val="106000"/>
              </a:lnSpc>
              <a:buNone/>
            </a:pPr>
            <a:r>
              <a:rPr lang="en-US" sz="1060" b="1" dirty="0">
                <a:solidFill>
                  <a:srgbClr val="0F172A"/>
                </a:solidFill>
                <a:latin typeface="Segoe UI" pitchFamily="34" charset="0"/>
                <a:ea typeface="Segoe UI" pitchFamily="34" charset="-122"/>
                <a:cs typeface="Segoe UI" pitchFamily="34" charset="-120"/>
              </a:rPr>
              <a:t>1 quản trị</a:t>
            </a:r>
            <a:endParaRPr lang="en-US" sz="1060" dirty="0"/>
          </a:p>
        </p:txBody>
      </p:sp>
      <p:sp>
        <p:nvSpPr>
          <p:cNvPr id="41" name="Text 39"/>
          <p:cNvSpPr txBox="1"/>
          <p:nvPr/>
        </p:nvSpPr>
        <p:spPr>
          <a:xfrm>
            <a:off x="6286500" y="2247900"/>
            <a:ext cx="18097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không thể khoá</a:t>
            </a:r>
            <a:endParaRPr lang="en-US" sz="620" dirty="0"/>
          </a:p>
        </p:txBody>
      </p:sp>
      <p:sp>
        <p:nvSpPr>
          <p:cNvPr id="42" name="Shape 40"/>
          <p:cNvSpPr/>
          <p:nvPr/>
        </p:nvSpPr>
        <p:spPr>
          <a:xfrm>
            <a:off x="1943100" y="2600325"/>
            <a:ext cx="2381250" cy="266700"/>
          </a:xfrm>
          <a:prstGeom prst="roundRect">
            <a:avLst>
              <a:gd name="adj" fmla="val 21429"/>
            </a:avLst>
          </a:prstGeom>
          <a:solidFill>
            <a:srgbClr val="FFFFFF"/>
          </a:solidFill>
          <a:ln w="9525">
            <a:solidFill>
              <a:srgbClr val="E2E8F0"/>
            </a:solidFill>
            <a:prstDash val="solid"/>
          </a:ln>
        </p:spPr>
      </p:sp>
      <p:sp>
        <p:nvSpPr>
          <p:cNvPr id="43" name="Text 41"/>
          <p:cNvSpPr txBox="1"/>
          <p:nvPr/>
        </p:nvSpPr>
        <p:spPr>
          <a:xfrm>
            <a:off x="2057400" y="2676525"/>
            <a:ext cx="2190750" cy="13335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Tìm theo tên hoặc email...</a:t>
            </a:r>
            <a:endParaRPr lang="en-US" sz="660" dirty="0"/>
          </a:p>
        </p:txBody>
      </p:sp>
      <p:sp>
        <p:nvSpPr>
          <p:cNvPr id="44" name="Shape 42"/>
          <p:cNvSpPr/>
          <p:nvPr/>
        </p:nvSpPr>
        <p:spPr>
          <a:xfrm>
            <a:off x="4400550" y="2600325"/>
            <a:ext cx="1066800" cy="266700"/>
          </a:xfrm>
          <a:prstGeom prst="roundRect">
            <a:avLst>
              <a:gd name="adj" fmla="val 21429"/>
            </a:avLst>
          </a:prstGeom>
          <a:solidFill>
            <a:srgbClr val="FFFFFF"/>
          </a:solidFill>
          <a:ln w="9525">
            <a:solidFill>
              <a:srgbClr val="E2E8F0"/>
            </a:solidFill>
            <a:prstDash val="solid"/>
          </a:ln>
        </p:spPr>
      </p:sp>
      <p:sp>
        <p:nvSpPr>
          <p:cNvPr id="45" name="Text 43"/>
          <p:cNvSpPr txBox="1"/>
          <p:nvPr/>
        </p:nvSpPr>
        <p:spPr>
          <a:xfrm>
            <a:off x="4495800" y="2676525"/>
            <a:ext cx="895350" cy="133350"/>
          </a:xfrm>
          <a:prstGeom prst="rect">
            <a:avLst/>
          </a:prstGeom>
          <a:noFill/>
          <a:ln/>
        </p:spPr>
        <p:txBody>
          <a:bodyPr wrap="square" lIns="0" tIns="0" rIns="0" bIns="0" rtlCol="0" anchor="t"/>
          <a:lstStyle/>
          <a:p>
            <a:pPr algn="l" indent="0" marL="0">
              <a:lnSpc>
                <a:spcPct val="106000"/>
              </a:lnSpc>
              <a:buNone/>
            </a:pPr>
            <a:r>
              <a:rPr lang="en-US" sz="660" dirty="0">
                <a:solidFill>
                  <a:srgbClr val="475569"/>
                </a:solidFill>
                <a:latin typeface="Segoe UI" pitchFamily="34" charset="0"/>
                <a:ea typeface="Segoe UI" pitchFamily="34" charset="-122"/>
                <a:cs typeface="Segoe UI" pitchFamily="34" charset="-120"/>
              </a:rPr>
              <a:t>Tất cả vai trò</a:t>
            </a:r>
            <a:endParaRPr lang="en-US" sz="660" dirty="0"/>
          </a:p>
        </p:txBody>
      </p:sp>
      <p:sp>
        <p:nvSpPr>
          <p:cNvPr id="46" name="Shape 44"/>
          <p:cNvSpPr/>
          <p:nvPr/>
        </p:nvSpPr>
        <p:spPr>
          <a:xfrm>
            <a:off x="6534150" y="2600325"/>
            <a:ext cx="1714500" cy="266700"/>
          </a:xfrm>
          <a:prstGeom prst="roundRect">
            <a:avLst>
              <a:gd name="adj" fmla="val 21429"/>
            </a:avLst>
          </a:prstGeom>
          <a:solidFill>
            <a:srgbClr val="059669"/>
          </a:solidFill>
          <a:ln/>
        </p:spPr>
      </p:sp>
      <p:sp>
        <p:nvSpPr>
          <p:cNvPr id="47" name="Text 45"/>
          <p:cNvSpPr txBox="1"/>
          <p:nvPr/>
        </p:nvSpPr>
        <p:spPr>
          <a:xfrm>
            <a:off x="6534150" y="2600325"/>
            <a:ext cx="1714500" cy="266700"/>
          </a:xfrm>
          <a:prstGeom prst="rect">
            <a:avLst/>
          </a:prstGeom>
          <a:noFill/>
          <a:ln/>
        </p:spPr>
        <p:txBody>
          <a:bodyPr wrap="square" lIns="0" tIns="0" rIns="0" bIns="0" rtlCol="0" anchor="ctr"/>
          <a:lstStyle/>
          <a:p>
            <a:pPr algn="ctr" indent="0" marL="0">
              <a:lnSpc>
                <a:spcPct val="106000"/>
              </a:lnSpc>
              <a:buNone/>
            </a:pPr>
            <a:r>
              <a:rPr lang="en-US" sz="720" b="1" dirty="0">
                <a:solidFill>
                  <a:srgbClr val="FFFFFF"/>
                </a:solidFill>
                <a:latin typeface="Segoe UI" pitchFamily="34" charset="0"/>
                <a:ea typeface="Segoe UI" pitchFamily="34" charset="-122"/>
                <a:cs typeface="Segoe UI" pitchFamily="34" charset="-120"/>
              </a:rPr>
              <a:t>+ Thêm người dùng</a:t>
            </a:r>
            <a:endParaRPr lang="en-US" sz="720" dirty="0"/>
          </a:p>
        </p:txBody>
      </p:sp>
      <p:sp>
        <p:nvSpPr>
          <p:cNvPr id="48" name="Shape 46"/>
          <p:cNvSpPr/>
          <p:nvPr/>
        </p:nvSpPr>
        <p:spPr>
          <a:xfrm>
            <a:off x="1943100" y="3000375"/>
            <a:ext cx="6305550" cy="2857500"/>
          </a:xfrm>
          <a:prstGeom prst="roundRect">
            <a:avLst>
              <a:gd name="adj" fmla="val 2667"/>
            </a:avLst>
          </a:prstGeom>
          <a:solidFill>
            <a:srgbClr val="FFFFFF"/>
          </a:solidFill>
          <a:ln w="9525">
            <a:solidFill>
              <a:srgbClr val="E2E8F0"/>
            </a:solidFill>
            <a:prstDash val="solid"/>
          </a:ln>
        </p:spPr>
      </p:sp>
      <p:sp>
        <p:nvSpPr>
          <p:cNvPr id="49" name="Shape 47"/>
          <p:cNvSpPr/>
          <p:nvPr/>
        </p:nvSpPr>
        <p:spPr>
          <a:xfrm>
            <a:off x="1952625" y="3009900"/>
            <a:ext cx="6286500" cy="247650"/>
          </a:xfrm>
          <a:prstGeom prst="rect">
            <a:avLst/>
          </a:prstGeom>
          <a:solidFill>
            <a:srgbClr val="F8FAFC"/>
          </a:solidFill>
          <a:ln/>
        </p:spPr>
      </p:sp>
      <p:sp>
        <p:nvSpPr>
          <p:cNvPr id="50" name="Text 48"/>
          <p:cNvSpPr txBox="1"/>
          <p:nvPr/>
        </p:nvSpPr>
        <p:spPr>
          <a:xfrm>
            <a:off x="2057400" y="3086100"/>
            <a:ext cx="219075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Người dùng</a:t>
            </a:r>
            <a:endParaRPr lang="en-US" sz="620" dirty="0"/>
          </a:p>
        </p:txBody>
      </p:sp>
      <p:sp>
        <p:nvSpPr>
          <p:cNvPr id="51" name="Text 49"/>
          <p:cNvSpPr txBox="1"/>
          <p:nvPr/>
        </p:nvSpPr>
        <p:spPr>
          <a:xfrm>
            <a:off x="4324350" y="3086100"/>
            <a:ext cx="95250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Vai trò</a:t>
            </a:r>
            <a:endParaRPr lang="en-US" sz="620" dirty="0"/>
          </a:p>
        </p:txBody>
      </p:sp>
      <p:sp>
        <p:nvSpPr>
          <p:cNvPr id="52" name="Text 50"/>
          <p:cNvSpPr txBox="1"/>
          <p:nvPr/>
        </p:nvSpPr>
        <p:spPr>
          <a:xfrm>
            <a:off x="5334000" y="3086100"/>
            <a:ext cx="85725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Trạng thái</a:t>
            </a:r>
            <a:endParaRPr lang="en-US" sz="620" dirty="0"/>
          </a:p>
        </p:txBody>
      </p:sp>
      <p:sp>
        <p:nvSpPr>
          <p:cNvPr id="53" name="Text 51"/>
          <p:cNvSpPr txBox="1"/>
          <p:nvPr/>
        </p:nvSpPr>
        <p:spPr>
          <a:xfrm>
            <a:off x="6286500" y="3086100"/>
            <a:ext cx="762000" cy="114300"/>
          </a:xfrm>
          <a:prstGeom prst="rect">
            <a:avLst/>
          </a:prstGeom>
          <a:noFill/>
          <a:ln/>
        </p:spPr>
        <p:txBody>
          <a:bodyPr wrap="square" lIns="0" tIns="0" rIns="0" bIns="0" rtlCol="0" anchor="t"/>
          <a:lstStyle/>
          <a:p>
            <a:pPr algn="l" indent="0" marL="0">
              <a:lnSpc>
                <a:spcPct val="106000"/>
              </a:lnSpc>
              <a:buNone/>
            </a:pPr>
            <a:r>
              <a:rPr lang="en-US" sz="620" b="1" dirty="0">
                <a:solidFill>
                  <a:srgbClr val="475569"/>
                </a:solidFill>
                <a:latin typeface="Segoe UI" pitchFamily="34" charset="0"/>
                <a:ea typeface="Segoe UI" pitchFamily="34" charset="-122"/>
                <a:cs typeface="Segoe UI" pitchFamily="34" charset="-120"/>
              </a:rPr>
              <a:t>Tham gia</a:t>
            </a:r>
            <a:endParaRPr lang="en-US" sz="620" dirty="0"/>
          </a:p>
        </p:txBody>
      </p:sp>
      <p:sp>
        <p:nvSpPr>
          <p:cNvPr id="54" name="Text 52"/>
          <p:cNvSpPr txBox="1"/>
          <p:nvPr/>
        </p:nvSpPr>
        <p:spPr>
          <a:xfrm>
            <a:off x="7239000" y="3086100"/>
            <a:ext cx="857250" cy="114300"/>
          </a:xfrm>
          <a:prstGeom prst="rect">
            <a:avLst/>
          </a:prstGeom>
          <a:noFill/>
          <a:ln/>
        </p:spPr>
        <p:txBody>
          <a:bodyPr wrap="square" lIns="0" tIns="0" rIns="0" bIns="0" rtlCol="0" anchor="t"/>
          <a:lstStyle/>
          <a:p>
            <a:pPr algn="l" indent="0" marL="0">
              <a:lnSpc>
                <a:spcPct val="106000"/>
              </a:lnSpc>
              <a:buNone/>
            </a:pPr>
            <a:endParaRPr lang="en-US" sz="620" dirty="0"/>
          </a:p>
        </p:txBody>
      </p:sp>
      <p:sp>
        <p:nvSpPr>
          <p:cNvPr id="55" name="Shape 53"/>
          <p:cNvSpPr/>
          <p:nvPr/>
        </p:nvSpPr>
        <p:spPr>
          <a:xfrm>
            <a:off x="1943100" y="3257550"/>
            <a:ext cx="6305550" cy="9525"/>
          </a:xfrm>
          <a:prstGeom prst="line">
            <a:avLst/>
          </a:prstGeom>
          <a:solidFill>
            <a:srgbClr val="FFFFFF">
              <a:alpha val="0"/>
            </a:srgbClr>
          </a:solidFill>
          <a:ln w="9525">
            <a:solidFill>
              <a:srgbClr val="E2E8F0"/>
            </a:solidFill>
            <a:prstDash val="solid"/>
          </a:ln>
        </p:spPr>
      </p:sp>
      <p:sp>
        <p:nvSpPr>
          <p:cNvPr id="56" name="Shape 54"/>
          <p:cNvSpPr/>
          <p:nvPr/>
        </p:nvSpPr>
        <p:spPr>
          <a:xfrm>
            <a:off x="2057400" y="3409950"/>
            <a:ext cx="228600" cy="228600"/>
          </a:xfrm>
          <a:prstGeom prst="ellipse">
            <a:avLst/>
          </a:prstGeom>
          <a:solidFill>
            <a:srgbClr val="ECFDF5"/>
          </a:solidFill>
          <a:ln/>
        </p:spPr>
      </p:sp>
      <p:sp>
        <p:nvSpPr>
          <p:cNvPr id="57" name="Text 55"/>
          <p:cNvSpPr txBox="1"/>
          <p:nvPr/>
        </p:nvSpPr>
        <p:spPr>
          <a:xfrm>
            <a:off x="2057400" y="3409950"/>
            <a:ext cx="228600" cy="22860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MN</a:t>
            </a:r>
            <a:endParaRPr lang="en-US" sz="580" dirty="0"/>
          </a:p>
        </p:txBody>
      </p:sp>
      <p:sp>
        <p:nvSpPr>
          <p:cNvPr id="58" name="Text 56"/>
          <p:cNvSpPr txBox="1"/>
          <p:nvPr/>
        </p:nvSpPr>
        <p:spPr>
          <a:xfrm>
            <a:off x="2381250" y="3400425"/>
            <a:ext cx="1238250" cy="123825"/>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Nguyễn Văn Minh</a:t>
            </a:r>
            <a:endParaRPr lang="en-US" sz="680" dirty="0"/>
          </a:p>
        </p:txBody>
      </p:sp>
      <p:sp>
        <p:nvSpPr>
          <p:cNvPr id="59" name="Text 57"/>
          <p:cNvSpPr txBox="1"/>
          <p:nvPr/>
        </p:nvSpPr>
        <p:spPr>
          <a:xfrm>
            <a:off x="2381250" y="3533775"/>
            <a:ext cx="1428750" cy="104775"/>
          </a:xfrm>
          <a:prstGeom prst="rect">
            <a:avLst/>
          </a:prstGeom>
          <a:noFill/>
          <a:ln/>
        </p:spPr>
        <p:txBody>
          <a:bodyPr wrap="square" lIns="0" tIns="0" rIns="0" bIns="0" rtlCol="0" anchor="t"/>
          <a:lstStyle/>
          <a:p>
            <a:pPr algn="l" indent="0" marL="0">
              <a:lnSpc>
                <a:spcPct val="106000"/>
              </a:lnSpc>
              <a:buNone/>
            </a:pPr>
            <a:r>
              <a:rPr lang="en-US" sz="540" dirty="0">
                <a:solidFill>
                  <a:srgbClr val="94A3B8"/>
                </a:solidFill>
                <a:latin typeface="Segoe UI" pitchFamily="34" charset="0"/>
                <a:ea typeface="Segoe UI" pitchFamily="34" charset="-122"/>
                <a:cs typeface="Segoe UI" pitchFamily="34" charset="-120"/>
              </a:rPr>
              <a:t>minh@student.edu.vn</a:t>
            </a:r>
            <a:endParaRPr lang="en-US" sz="540" dirty="0"/>
          </a:p>
        </p:txBody>
      </p:sp>
      <p:sp>
        <p:nvSpPr>
          <p:cNvPr id="60" name="Shape 58"/>
          <p:cNvSpPr/>
          <p:nvPr/>
        </p:nvSpPr>
        <p:spPr>
          <a:xfrm>
            <a:off x="4324350" y="3429000"/>
            <a:ext cx="800100" cy="142875"/>
          </a:xfrm>
          <a:prstGeom prst="roundRect">
            <a:avLst>
              <a:gd name="adj" fmla="val 50000"/>
            </a:avLst>
          </a:prstGeom>
          <a:solidFill>
            <a:srgbClr val="ECFDF5"/>
          </a:solidFill>
          <a:ln/>
        </p:spPr>
      </p:sp>
      <p:sp>
        <p:nvSpPr>
          <p:cNvPr id="61" name="Text 59"/>
          <p:cNvSpPr txBox="1"/>
          <p:nvPr/>
        </p:nvSpPr>
        <p:spPr>
          <a:xfrm>
            <a:off x="4352925" y="3429000"/>
            <a:ext cx="74295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Người dùng</a:t>
            </a:r>
            <a:endParaRPr lang="en-US" sz="500" dirty="0"/>
          </a:p>
        </p:txBody>
      </p:sp>
      <p:sp>
        <p:nvSpPr>
          <p:cNvPr id="62" name="Shape 60"/>
          <p:cNvSpPr/>
          <p:nvPr/>
        </p:nvSpPr>
        <p:spPr>
          <a:xfrm>
            <a:off x="5334000" y="3429000"/>
            <a:ext cx="590550" cy="142875"/>
          </a:xfrm>
          <a:prstGeom prst="roundRect">
            <a:avLst>
              <a:gd name="adj" fmla="val 50000"/>
            </a:avLst>
          </a:prstGeom>
          <a:solidFill>
            <a:srgbClr val="ECFDF5"/>
          </a:solidFill>
          <a:ln/>
        </p:spPr>
      </p:sp>
      <p:sp>
        <p:nvSpPr>
          <p:cNvPr id="63" name="Text 61"/>
          <p:cNvSpPr txBox="1"/>
          <p:nvPr/>
        </p:nvSpPr>
        <p:spPr>
          <a:xfrm>
            <a:off x="5362575" y="3429000"/>
            <a:ext cx="53340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Hoạt động</a:t>
            </a:r>
            <a:endParaRPr lang="en-US" sz="500" dirty="0"/>
          </a:p>
        </p:txBody>
      </p:sp>
      <p:sp>
        <p:nvSpPr>
          <p:cNvPr id="64" name="Text 62"/>
          <p:cNvSpPr txBox="1"/>
          <p:nvPr/>
        </p:nvSpPr>
        <p:spPr>
          <a:xfrm>
            <a:off x="6076950" y="3448050"/>
            <a:ext cx="571500" cy="114300"/>
          </a:xfrm>
          <a:prstGeom prst="rect">
            <a:avLst/>
          </a:prstGeom>
          <a:noFill/>
          <a:ln/>
        </p:spPr>
        <p:txBody>
          <a:bodyPr wrap="square" lIns="0" tIns="0" rIns="0" bIns="0" rtlCol="0" anchor="t"/>
          <a:lstStyle/>
          <a:p>
            <a:pPr algn="l" indent="0" marL="0">
              <a:lnSpc>
                <a:spcPct val="106000"/>
              </a:lnSpc>
              <a:buNone/>
            </a:pPr>
            <a:r>
              <a:rPr lang="en-US" sz="560" dirty="0">
                <a:solidFill>
                  <a:srgbClr val="475569"/>
                </a:solidFill>
                <a:latin typeface="Segoe UI" pitchFamily="34" charset="0"/>
                <a:ea typeface="Segoe UI" pitchFamily="34" charset="-122"/>
                <a:cs typeface="Segoe UI" pitchFamily="34" charset="-120"/>
              </a:rPr>
              <a:t>12/08/2026</a:t>
            </a:r>
            <a:endParaRPr lang="en-US" sz="560" dirty="0"/>
          </a:p>
        </p:txBody>
      </p:sp>
      <p:sp>
        <p:nvSpPr>
          <p:cNvPr id="65" name="Text 63"/>
          <p:cNvSpPr txBox="1"/>
          <p:nvPr/>
        </p:nvSpPr>
        <p:spPr>
          <a:xfrm>
            <a:off x="6915150" y="3448050"/>
            <a:ext cx="247650" cy="114300"/>
          </a:xfrm>
          <a:prstGeom prst="rect">
            <a:avLst/>
          </a:prstGeom>
          <a:noFill/>
          <a:ln/>
        </p:spPr>
        <p:txBody>
          <a:bodyPr wrap="square" lIns="0" tIns="0" rIns="0" bIns="0" rtlCol="0" anchor="t"/>
          <a:lstStyle/>
          <a:p>
            <a:pPr algn="l"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Sửa</a:t>
            </a:r>
            <a:endParaRPr lang="en-US" sz="580" dirty="0"/>
          </a:p>
        </p:txBody>
      </p:sp>
      <p:sp>
        <p:nvSpPr>
          <p:cNvPr id="66" name="Text 64"/>
          <p:cNvSpPr txBox="1"/>
          <p:nvPr/>
        </p:nvSpPr>
        <p:spPr>
          <a:xfrm>
            <a:off x="7239000" y="3448050"/>
            <a:ext cx="419100" cy="114300"/>
          </a:xfrm>
          <a:prstGeom prst="rect">
            <a:avLst/>
          </a:prstGeom>
          <a:noFill/>
          <a:ln/>
        </p:spPr>
        <p:txBody>
          <a:bodyPr wrap="square" lIns="0" tIns="0" rIns="0" bIns="0" rtlCol="0" anchor="t"/>
          <a:lstStyle/>
          <a:p>
            <a:pPr algn="l" indent="0" marL="0">
              <a:lnSpc>
                <a:spcPct val="106000"/>
              </a:lnSpc>
              <a:buNone/>
            </a:pPr>
            <a:r>
              <a:rPr lang="en-US" sz="580" dirty="0">
                <a:solidFill>
                  <a:srgbClr val="DC2626"/>
                </a:solidFill>
                <a:latin typeface="Segoe UI" pitchFamily="34" charset="0"/>
                <a:ea typeface="Segoe UI" pitchFamily="34" charset="-122"/>
                <a:cs typeface="Segoe UI" pitchFamily="34" charset="-120"/>
              </a:rPr>
              <a:t>Khoá</a:t>
            </a:r>
            <a:endParaRPr lang="en-US" sz="580" dirty="0"/>
          </a:p>
        </p:txBody>
      </p:sp>
      <p:sp>
        <p:nvSpPr>
          <p:cNvPr id="67" name="Shape 65"/>
          <p:cNvSpPr/>
          <p:nvPr/>
        </p:nvSpPr>
        <p:spPr>
          <a:xfrm>
            <a:off x="2057400" y="3743325"/>
            <a:ext cx="6076950" cy="9525"/>
          </a:xfrm>
          <a:prstGeom prst="line">
            <a:avLst/>
          </a:prstGeom>
          <a:solidFill>
            <a:srgbClr val="FFFFFF">
              <a:alpha val="0"/>
            </a:srgbClr>
          </a:solidFill>
          <a:ln w="9525">
            <a:solidFill>
              <a:srgbClr val="F1F5F9"/>
            </a:solidFill>
            <a:prstDash val="solid"/>
          </a:ln>
        </p:spPr>
      </p:sp>
      <p:sp>
        <p:nvSpPr>
          <p:cNvPr id="68" name="Shape 66"/>
          <p:cNvSpPr/>
          <p:nvPr/>
        </p:nvSpPr>
        <p:spPr>
          <a:xfrm>
            <a:off x="2057400" y="3819525"/>
            <a:ext cx="228600" cy="228600"/>
          </a:xfrm>
          <a:prstGeom prst="ellipse">
            <a:avLst/>
          </a:prstGeom>
          <a:solidFill>
            <a:srgbClr val="ECFDF5"/>
          </a:solidFill>
          <a:ln/>
        </p:spPr>
      </p:sp>
      <p:sp>
        <p:nvSpPr>
          <p:cNvPr id="69" name="Text 67"/>
          <p:cNvSpPr txBox="1"/>
          <p:nvPr/>
        </p:nvSpPr>
        <p:spPr>
          <a:xfrm>
            <a:off x="2057400" y="3819525"/>
            <a:ext cx="228600" cy="22860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HT</a:t>
            </a:r>
            <a:endParaRPr lang="en-US" sz="580" dirty="0"/>
          </a:p>
        </p:txBody>
      </p:sp>
      <p:sp>
        <p:nvSpPr>
          <p:cNvPr id="70" name="Text 68"/>
          <p:cNvSpPr txBox="1"/>
          <p:nvPr/>
        </p:nvSpPr>
        <p:spPr>
          <a:xfrm>
            <a:off x="2381250" y="3810000"/>
            <a:ext cx="1238250" cy="123825"/>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Trần Thu Hà</a:t>
            </a:r>
            <a:endParaRPr lang="en-US" sz="680" dirty="0"/>
          </a:p>
        </p:txBody>
      </p:sp>
      <p:sp>
        <p:nvSpPr>
          <p:cNvPr id="71" name="Text 69"/>
          <p:cNvSpPr txBox="1"/>
          <p:nvPr/>
        </p:nvSpPr>
        <p:spPr>
          <a:xfrm>
            <a:off x="2381250" y="3943350"/>
            <a:ext cx="1428750" cy="104775"/>
          </a:xfrm>
          <a:prstGeom prst="rect">
            <a:avLst/>
          </a:prstGeom>
          <a:noFill/>
          <a:ln/>
        </p:spPr>
        <p:txBody>
          <a:bodyPr wrap="square" lIns="0" tIns="0" rIns="0" bIns="0" rtlCol="0" anchor="t"/>
          <a:lstStyle/>
          <a:p>
            <a:pPr algn="l" indent="0" marL="0">
              <a:lnSpc>
                <a:spcPct val="106000"/>
              </a:lnSpc>
              <a:buNone/>
            </a:pPr>
            <a:r>
              <a:rPr lang="en-US" sz="540" dirty="0">
                <a:solidFill>
                  <a:srgbClr val="94A3B8"/>
                </a:solidFill>
                <a:latin typeface="Segoe UI" pitchFamily="34" charset="0"/>
                <a:ea typeface="Segoe UI" pitchFamily="34" charset="-122"/>
                <a:cs typeface="Segoe UI" pitchFamily="34" charset="-120"/>
              </a:rPr>
              <a:t>ha@student.edu.vn</a:t>
            </a:r>
            <a:endParaRPr lang="en-US" sz="540" dirty="0"/>
          </a:p>
        </p:txBody>
      </p:sp>
      <p:sp>
        <p:nvSpPr>
          <p:cNvPr id="72" name="Shape 70"/>
          <p:cNvSpPr/>
          <p:nvPr/>
        </p:nvSpPr>
        <p:spPr>
          <a:xfrm>
            <a:off x="4324350" y="3838575"/>
            <a:ext cx="800100" cy="142875"/>
          </a:xfrm>
          <a:prstGeom prst="roundRect">
            <a:avLst>
              <a:gd name="adj" fmla="val 50000"/>
            </a:avLst>
          </a:prstGeom>
          <a:solidFill>
            <a:srgbClr val="ECFDF5"/>
          </a:solidFill>
          <a:ln/>
        </p:spPr>
      </p:sp>
      <p:sp>
        <p:nvSpPr>
          <p:cNvPr id="73" name="Text 71"/>
          <p:cNvSpPr txBox="1"/>
          <p:nvPr/>
        </p:nvSpPr>
        <p:spPr>
          <a:xfrm>
            <a:off x="4352925" y="3838575"/>
            <a:ext cx="74295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Người dùng</a:t>
            </a:r>
            <a:endParaRPr lang="en-US" sz="500" dirty="0"/>
          </a:p>
        </p:txBody>
      </p:sp>
      <p:sp>
        <p:nvSpPr>
          <p:cNvPr id="74" name="Shape 72"/>
          <p:cNvSpPr/>
          <p:nvPr/>
        </p:nvSpPr>
        <p:spPr>
          <a:xfrm>
            <a:off x="5334000" y="3838575"/>
            <a:ext cx="590550" cy="142875"/>
          </a:xfrm>
          <a:prstGeom prst="roundRect">
            <a:avLst>
              <a:gd name="adj" fmla="val 50000"/>
            </a:avLst>
          </a:prstGeom>
          <a:solidFill>
            <a:srgbClr val="ECFDF5"/>
          </a:solidFill>
          <a:ln/>
        </p:spPr>
      </p:sp>
      <p:sp>
        <p:nvSpPr>
          <p:cNvPr id="75" name="Text 73"/>
          <p:cNvSpPr txBox="1"/>
          <p:nvPr/>
        </p:nvSpPr>
        <p:spPr>
          <a:xfrm>
            <a:off x="5362575" y="3838575"/>
            <a:ext cx="53340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Hoạt động</a:t>
            </a:r>
            <a:endParaRPr lang="en-US" sz="500" dirty="0"/>
          </a:p>
        </p:txBody>
      </p:sp>
      <p:sp>
        <p:nvSpPr>
          <p:cNvPr id="76" name="Text 74"/>
          <p:cNvSpPr txBox="1"/>
          <p:nvPr/>
        </p:nvSpPr>
        <p:spPr>
          <a:xfrm>
            <a:off x="6076950" y="3857625"/>
            <a:ext cx="571500" cy="114300"/>
          </a:xfrm>
          <a:prstGeom prst="rect">
            <a:avLst/>
          </a:prstGeom>
          <a:noFill/>
          <a:ln/>
        </p:spPr>
        <p:txBody>
          <a:bodyPr wrap="square" lIns="0" tIns="0" rIns="0" bIns="0" rtlCol="0" anchor="t"/>
          <a:lstStyle/>
          <a:p>
            <a:pPr algn="l" indent="0" marL="0">
              <a:lnSpc>
                <a:spcPct val="106000"/>
              </a:lnSpc>
              <a:buNone/>
            </a:pPr>
            <a:r>
              <a:rPr lang="en-US" sz="560" dirty="0">
                <a:solidFill>
                  <a:srgbClr val="475569"/>
                </a:solidFill>
                <a:latin typeface="Segoe UI" pitchFamily="34" charset="0"/>
                <a:ea typeface="Segoe UI" pitchFamily="34" charset="-122"/>
                <a:cs typeface="Segoe UI" pitchFamily="34" charset="-120"/>
              </a:rPr>
              <a:t>01/09/2026</a:t>
            </a:r>
            <a:endParaRPr lang="en-US" sz="560" dirty="0"/>
          </a:p>
        </p:txBody>
      </p:sp>
      <p:sp>
        <p:nvSpPr>
          <p:cNvPr id="77" name="Text 75"/>
          <p:cNvSpPr txBox="1"/>
          <p:nvPr/>
        </p:nvSpPr>
        <p:spPr>
          <a:xfrm>
            <a:off x="6915150" y="3857625"/>
            <a:ext cx="247650" cy="114300"/>
          </a:xfrm>
          <a:prstGeom prst="rect">
            <a:avLst/>
          </a:prstGeom>
          <a:noFill/>
          <a:ln/>
        </p:spPr>
        <p:txBody>
          <a:bodyPr wrap="square" lIns="0" tIns="0" rIns="0" bIns="0" rtlCol="0" anchor="t"/>
          <a:lstStyle/>
          <a:p>
            <a:pPr algn="l"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Sửa</a:t>
            </a:r>
            <a:endParaRPr lang="en-US" sz="580" dirty="0"/>
          </a:p>
        </p:txBody>
      </p:sp>
      <p:sp>
        <p:nvSpPr>
          <p:cNvPr id="78" name="Text 76"/>
          <p:cNvSpPr txBox="1"/>
          <p:nvPr/>
        </p:nvSpPr>
        <p:spPr>
          <a:xfrm>
            <a:off x="7239000" y="3857625"/>
            <a:ext cx="419100" cy="114300"/>
          </a:xfrm>
          <a:prstGeom prst="rect">
            <a:avLst/>
          </a:prstGeom>
          <a:noFill/>
          <a:ln/>
        </p:spPr>
        <p:txBody>
          <a:bodyPr wrap="square" lIns="0" tIns="0" rIns="0" bIns="0" rtlCol="0" anchor="t"/>
          <a:lstStyle/>
          <a:p>
            <a:pPr algn="l" indent="0" marL="0">
              <a:lnSpc>
                <a:spcPct val="106000"/>
              </a:lnSpc>
              <a:buNone/>
            </a:pPr>
            <a:r>
              <a:rPr lang="en-US" sz="580" dirty="0">
                <a:solidFill>
                  <a:srgbClr val="DC2626"/>
                </a:solidFill>
                <a:latin typeface="Segoe UI" pitchFamily="34" charset="0"/>
                <a:ea typeface="Segoe UI" pitchFamily="34" charset="-122"/>
                <a:cs typeface="Segoe UI" pitchFamily="34" charset="-120"/>
              </a:rPr>
              <a:t>Khoá</a:t>
            </a:r>
            <a:endParaRPr lang="en-US" sz="580" dirty="0"/>
          </a:p>
        </p:txBody>
      </p:sp>
      <p:sp>
        <p:nvSpPr>
          <p:cNvPr id="79" name="Shape 77"/>
          <p:cNvSpPr/>
          <p:nvPr/>
        </p:nvSpPr>
        <p:spPr>
          <a:xfrm>
            <a:off x="2057400" y="4152900"/>
            <a:ext cx="6076950" cy="9525"/>
          </a:xfrm>
          <a:prstGeom prst="line">
            <a:avLst/>
          </a:prstGeom>
          <a:solidFill>
            <a:srgbClr val="FFFFFF">
              <a:alpha val="0"/>
            </a:srgbClr>
          </a:solidFill>
          <a:ln w="9525">
            <a:solidFill>
              <a:srgbClr val="F1F5F9"/>
            </a:solidFill>
            <a:prstDash val="solid"/>
          </a:ln>
        </p:spPr>
      </p:sp>
      <p:sp>
        <p:nvSpPr>
          <p:cNvPr id="80" name="Shape 78"/>
          <p:cNvSpPr/>
          <p:nvPr/>
        </p:nvSpPr>
        <p:spPr>
          <a:xfrm>
            <a:off x="2057400" y="4229100"/>
            <a:ext cx="228600" cy="228600"/>
          </a:xfrm>
          <a:prstGeom prst="ellipse">
            <a:avLst/>
          </a:prstGeom>
          <a:solidFill>
            <a:srgbClr val="F1F5F9"/>
          </a:solidFill>
          <a:ln/>
        </p:spPr>
      </p:sp>
      <p:sp>
        <p:nvSpPr>
          <p:cNvPr id="81" name="Text 79"/>
          <p:cNvSpPr txBox="1"/>
          <p:nvPr/>
        </p:nvSpPr>
        <p:spPr>
          <a:xfrm>
            <a:off x="2057400" y="4229100"/>
            <a:ext cx="228600" cy="228600"/>
          </a:xfrm>
          <a:prstGeom prst="rect">
            <a:avLst/>
          </a:prstGeom>
          <a:noFill/>
          <a:ln/>
        </p:spPr>
        <p:txBody>
          <a:bodyPr wrap="square" lIns="0" tIns="0" rIns="0" bIns="0" rtlCol="0" anchor="ctr"/>
          <a:lstStyle/>
          <a:p>
            <a:pPr algn="ctr" indent="0" marL="0">
              <a:lnSpc>
                <a:spcPct val="106000"/>
              </a:lnSpc>
              <a:buNone/>
            </a:pPr>
            <a:r>
              <a:rPr lang="en-US" sz="580" b="1" dirty="0">
                <a:solidFill>
                  <a:srgbClr val="94A3B8"/>
                </a:solidFill>
                <a:latin typeface="Segoe UI" pitchFamily="34" charset="0"/>
                <a:ea typeface="Segoe UI" pitchFamily="34" charset="-122"/>
                <a:cs typeface="Segoe UI" pitchFamily="34" charset="-120"/>
              </a:rPr>
              <a:t>BL</a:t>
            </a:r>
            <a:endParaRPr lang="en-US" sz="580" dirty="0"/>
          </a:p>
        </p:txBody>
      </p:sp>
      <p:sp>
        <p:nvSpPr>
          <p:cNvPr id="82" name="Text 80"/>
          <p:cNvSpPr txBox="1"/>
          <p:nvPr/>
        </p:nvSpPr>
        <p:spPr>
          <a:xfrm>
            <a:off x="2381250" y="4219575"/>
            <a:ext cx="1238250" cy="123825"/>
          </a:xfrm>
          <a:prstGeom prst="rect">
            <a:avLst/>
          </a:prstGeom>
          <a:noFill/>
          <a:ln/>
        </p:spPr>
        <p:txBody>
          <a:bodyPr wrap="square" lIns="0" tIns="0" rIns="0" bIns="0" rtlCol="0" anchor="t"/>
          <a:lstStyle/>
          <a:p>
            <a:pPr algn="l" indent="0" marL="0">
              <a:lnSpc>
                <a:spcPct val="106000"/>
              </a:lnSpc>
              <a:buNone/>
            </a:pPr>
            <a:r>
              <a:rPr lang="en-US" sz="680" b="1" dirty="0">
                <a:solidFill>
                  <a:srgbClr val="94A3B8"/>
                </a:solidFill>
                <a:latin typeface="Segoe UI" pitchFamily="34" charset="0"/>
                <a:ea typeface="Segoe UI" pitchFamily="34" charset="-122"/>
                <a:cs typeface="Segoe UI" pitchFamily="34" charset="-120"/>
              </a:rPr>
              <a:t>Lê Quốc Bảo</a:t>
            </a:r>
            <a:endParaRPr lang="en-US" sz="680" dirty="0"/>
          </a:p>
        </p:txBody>
      </p:sp>
      <p:sp>
        <p:nvSpPr>
          <p:cNvPr id="83" name="Text 81"/>
          <p:cNvSpPr txBox="1"/>
          <p:nvPr/>
        </p:nvSpPr>
        <p:spPr>
          <a:xfrm>
            <a:off x="2381250" y="4352925"/>
            <a:ext cx="1428750" cy="104775"/>
          </a:xfrm>
          <a:prstGeom prst="rect">
            <a:avLst/>
          </a:prstGeom>
          <a:noFill/>
          <a:ln/>
        </p:spPr>
        <p:txBody>
          <a:bodyPr wrap="square" lIns="0" tIns="0" rIns="0" bIns="0" rtlCol="0" anchor="t"/>
          <a:lstStyle/>
          <a:p>
            <a:pPr algn="l" indent="0" marL="0">
              <a:lnSpc>
                <a:spcPct val="106000"/>
              </a:lnSpc>
              <a:buNone/>
            </a:pPr>
            <a:r>
              <a:rPr lang="en-US" sz="540" dirty="0">
                <a:solidFill>
                  <a:srgbClr val="94A3B8"/>
                </a:solidFill>
                <a:latin typeface="Segoe UI" pitchFamily="34" charset="0"/>
                <a:ea typeface="Segoe UI" pitchFamily="34" charset="-122"/>
                <a:cs typeface="Segoe UI" pitchFamily="34" charset="-120"/>
              </a:rPr>
              <a:t>bao@student.edu.vn</a:t>
            </a:r>
            <a:endParaRPr lang="en-US" sz="540" dirty="0"/>
          </a:p>
        </p:txBody>
      </p:sp>
      <p:sp>
        <p:nvSpPr>
          <p:cNvPr id="84" name="Shape 82"/>
          <p:cNvSpPr/>
          <p:nvPr/>
        </p:nvSpPr>
        <p:spPr>
          <a:xfrm>
            <a:off x="4324350" y="4248150"/>
            <a:ext cx="800100" cy="142875"/>
          </a:xfrm>
          <a:prstGeom prst="roundRect">
            <a:avLst>
              <a:gd name="adj" fmla="val 50000"/>
            </a:avLst>
          </a:prstGeom>
          <a:solidFill>
            <a:srgbClr val="ECFDF5"/>
          </a:solidFill>
          <a:ln/>
        </p:spPr>
      </p:sp>
      <p:sp>
        <p:nvSpPr>
          <p:cNvPr id="85" name="Text 83"/>
          <p:cNvSpPr txBox="1"/>
          <p:nvPr/>
        </p:nvSpPr>
        <p:spPr>
          <a:xfrm>
            <a:off x="4352925" y="4248150"/>
            <a:ext cx="74295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Người dùng</a:t>
            </a:r>
            <a:endParaRPr lang="en-US" sz="500" dirty="0"/>
          </a:p>
        </p:txBody>
      </p:sp>
      <p:sp>
        <p:nvSpPr>
          <p:cNvPr id="86" name="Shape 84"/>
          <p:cNvSpPr/>
          <p:nvPr/>
        </p:nvSpPr>
        <p:spPr>
          <a:xfrm>
            <a:off x="5334000" y="4248150"/>
            <a:ext cx="590550" cy="142875"/>
          </a:xfrm>
          <a:prstGeom prst="roundRect">
            <a:avLst>
              <a:gd name="adj" fmla="val 50000"/>
            </a:avLst>
          </a:prstGeom>
          <a:solidFill>
            <a:srgbClr val="FEF2F2"/>
          </a:solidFill>
          <a:ln/>
        </p:spPr>
      </p:sp>
      <p:sp>
        <p:nvSpPr>
          <p:cNvPr id="87" name="Text 85"/>
          <p:cNvSpPr txBox="1"/>
          <p:nvPr/>
        </p:nvSpPr>
        <p:spPr>
          <a:xfrm>
            <a:off x="5362575" y="4248150"/>
            <a:ext cx="53340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DC2626"/>
                </a:solidFill>
                <a:latin typeface="Segoe UI" pitchFamily="34" charset="0"/>
                <a:ea typeface="Segoe UI" pitchFamily="34" charset="-122"/>
                <a:cs typeface="Segoe UI" pitchFamily="34" charset="-120"/>
              </a:rPr>
              <a:t>Đã khoá</a:t>
            </a:r>
            <a:endParaRPr lang="en-US" sz="500" dirty="0"/>
          </a:p>
        </p:txBody>
      </p:sp>
      <p:sp>
        <p:nvSpPr>
          <p:cNvPr id="88" name="Text 86"/>
          <p:cNvSpPr txBox="1"/>
          <p:nvPr/>
        </p:nvSpPr>
        <p:spPr>
          <a:xfrm>
            <a:off x="6076950" y="4267200"/>
            <a:ext cx="571500" cy="114300"/>
          </a:xfrm>
          <a:prstGeom prst="rect">
            <a:avLst/>
          </a:prstGeom>
          <a:noFill/>
          <a:ln/>
        </p:spPr>
        <p:txBody>
          <a:bodyPr wrap="square" lIns="0" tIns="0" rIns="0" bIns="0" rtlCol="0" anchor="t"/>
          <a:lstStyle/>
          <a:p>
            <a:pPr algn="l" indent="0" marL="0">
              <a:lnSpc>
                <a:spcPct val="106000"/>
              </a:lnSpc>
              <a:buNone/>
            </a:pPr>
            <a:r>
              <a:rPr lang="en-US" sz="560" dirty="0">
                <a:solidFill>
                  <a:srgbClr val="475569"/>
                </a:solidFill>
                <a:latin typeface="Segoe UI" pitchFamily="34" charset="0"/>
                <a:ea typeface="Segoe UI" pitchFamily="34" charset="-122"/>
                <a:cs typeface="Segoe UI" pitchFamily="34" charset="-120"/>
              </a:rPr>
              <a:t>15/09/2026</a:t>
            </a:r>
            <a:endParaRPr lang="en-US" sz="560" dirty="0"/>
          </a:p>
        </p:txBody>
      </p:sp>
      <p:sp>
        <p:nvSpPr>
          <p:cNvPr id="89" name="Text 87"/>
          <p:cNvSpPr txBox="1"/>
          <p:nvPr/>
        </p:nvSpPr>
        <p:spPr>
          <a:xfrm>
            <a:off x="6915150" y="4267200"/>
            <a:ext cx="247650" cy="114300"/>
          </a:xfrm>
          <a:prstGeom prst="rect">
            <a:avLst/>
          </a:prstGeom>
          <a:noFill/>
          <a:ln/>
        </p:spPr>
        <p:txBody>
          <a:bodyPr wrap="square" lIns="0" tIns="0" rIns="0" bIns="0" rtlCol="0" anchor="t"/>
          <a:lstStyle/>
          <a:p>
            <a:pPr algn="l"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Sửa</a:t>
            </a:r>
            <a:endParaRPr lang="en-US" sz="580" dirty="0"/>
          </a:p>
        </p:txBody>
      </p:sp>
      <p:sp>
        <p:nvSpPr>
          <p:cNvPr id="90" name="Text 88"/>
          <p:cNvSpPr txBox="1"/>
          <p:nvPr/>
        </p:nvSpPr>
        <p:spPr>
          <a:xfrm>
            <a:off x="7239000" y="4267200"/>
            <a:ext cx="419100" cy="114300"/>
          </a:xfrm>
          <a:prstGeom prst="rect">
            <a:avLst/>
          </a:prstGeom>
          <a:noFill/>
          <a:ln/>
        </p:spPr>
        <p:txBody>
          <a:bodyPr wrap="square" lIns="0" tIns="0" rIns="0" bIns="0" rtlCol="0" anchor="t"/>
          <a:lstStyle/>
          <a:p>
            <a:pPr algn="l" indent="0" marL="0">
              <a:lnSpc>
                <a:spcPct val="106000"/>
              </a:lnSpc>
              <a:buNone/>
            </a:pPr>
            <a:r>
              <a:rPr lang="en-US" sz="580" dirty="0">
                <a:solidFill>
                  <a:srgbClr val="047857"/>
                </a:solidFill>
                <a:latin typeface="Segoe UI" pitchFamily="34" charset="0"/>
                <a:ea typeface="Segoe UI" pitchFamily="34" charset="-122"/>
                <a:cs typeface="Segoe UI" pitchFamily="34" charset="-120"/>
              </a:rPr>
              <a:t>Mở khoá</a:t>
            </a:r>
            <a:endParaRPr lang="en-US" sz="580" dirty="0"/>
          </a:p>
        </p:txBody>
      </p:sp>
      <p:sp>
        <p:nvSpPr>
          <p:cNvPr id="91" name="Shape 89"/>
          <p:cNvSpPr/>
          <p:nvPr/>
        </p:nvSpPr>
        <p:spPr>
          <a:xfrm>
            <a:off x="2057400" y="4562475"/>
            <a:ext cx="6076950" cy="9525"/>
          </a:xfrm>
          <a:prstGeom prst="line">
            <a:avLst/>
          </a:prstGeom>
          <a:solidFill>
            <a:srgbClr val="FFFFFF">
              <a:alpha val="0"/>
            </a:srgbClr>
          </a:solidFill>
          <a:ln w="9525">
            <a:solidFill>
              <a:srgbClr val="F1F5F9"/>
            </a:solidFill>
            <a:prstDash val="solid"/>
          </a:ln>
        </p:spPr>
      </p:sp>
      <p:sp>
        <p:nvSpPr>
          <p:cNvPr id="92" name="Shape 90"/>
          <p:cNvSpPr/>
          <p:nvPr/>
        </p:nvSpPr>
        <p:spPr>
          <a:xfrm>
            <a:off x="2057400" y="4638675"/>
            <a:ext cx="228600" cy="228600"/>
          </a:xfrm>
          <a:prstGeom prst="ellipse">
            <a:avLst/>
          </a:prstGeom>
          <a:solidFill>
            <a:srgbClr val="ECFDF5"/>
          </a:solidFill>
          <a:ln/>
        </p:spPr>
      </p:sp>
      <p:sp>
        <p:nvSpPr>
          <p:cNvPr id="93" name="Text 91"/>
          <p:cNvSpPr txBox="1"/>
          <p:nvPr/>
        </p:nvSpPr>
        <p:spPr>
          <a:xfrm>
            <a:off x="2057400" y="4638675"/>
            <a:ext cx="228600" cy="22860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LP</a:t>
            </a:r>
            <a:endParaRPr lang="en-US" sz="580" dirty="0"/>
          </a:p>
        </p:txBody>
      </p:sp>
      <p:sp>
        <p:nvSpPr>
          <p:cNvPr id="94" name="Text 92"/>
          <p:cNvSpPr txBox="1"/>
          <p:nvPr/>
        </p:nvSpPr>
        <p:spPr>
          <a:xfrm>
            <a:off x="2381250" y="4629150"/>
            <a:ext cx="1238250" cy="123825"/>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Phạm Thị Lan</a:t>
            </a:r>
            <a:endParaRPr lang="en-US" sz="680" dirty="0"/>
          </a:p>
        </p:txBody>
      </p:sp>
      <p:sp>
        <p:nvSpPr>
          <p:cNvPr id="95" name="Text 93"/>
          <p:cNvSpPr txBox="1"/>
          <p:nvPr/>
        </p:nvSpPr>
        <p:spPr>
          <a:xfrm>
            <a:off x="2381250" y="4762500"/>
            <a:ext cx="1428750" cy="104775"/>
          </a:xfrm>
          <a:prstGeom prst="rect">
            <a:avLst/>
          </a:prstGeom>
          <a:noFill/>
          <a:ln/>
        </p:spPr>
        <p:txBody>
          <a:bodyPr wrap="square" lIns="0" tIns="0" rIns="0" bIns="0" rtlCol="0" anchor="t"/>
          <a:lstStyle/>
          <a:p>
            <a:pPr algn="l" indent="0" marL="0">
              <a:lnSpc>
                <a:spcPct val="106000"/>
              </a:lnSpc>
              <a:buNone/>
            </a:pPr>
            <a:r>
              <a:rPr lang="en-US" sz="540" dirty="0">
                <a:solidFill>
                  <a:srgbClr val="94A3B8"/>
                </a:solidFill>
                <a:latin typeface="Segoe UI" pitchFamily="34" charset="0"/>
                <a:ea typeface="Segoe UI" pitchFamily="34" charset="-122"/>
                <a:cs typeface="Segoe UI" pitchFamily="34" charset="-120"/>
              </a:rPr>
              <a:t>lan.coach@spendwise.vn</a:t>
            </a:r>
            <a:endParaRPr lang="en-US" sz="540" dirty="0"/>
          </a:p>
        </p:txBody>
      </p:sp>
      <p:sp>
        <p:nvSpPr>
          <p:cNvPr id="96" name="Shape 94"/>
          <p:cNvSpPr/>
          <p:nvPr/>
        </p:nvSpPr>
        <p:spPr>
          <a:xfrm>
            <a:off x="4324350" y="4657725"/>
            <a:ext cx="800100" cy="142875"/>
          </a:xfrm>
          <a:prstGeom prst="roundRect">
            <a:avLst>
              <a:gd name="adj" fmla="val 50000"/>
            </a:avLst>
          </a:prstGeom>
          <a:solidFill>
            <a:srgbClr val="FFFFFF"/>
          </a:solidFill>
          <a:ln w="9525">
            <a:solidFill>
              <a:srgbClr val="E2E8F0"/>
            </a:solidFill>
            <a:prstDash val="solid"/>
          </a:ln>
        </p:spPr>
      </p:sp>
      <p:sp>
        <p:nvSpPr>
          <p:cNvPr id="97" name="Text 95"/>
          <p:cNvSpPr txBox="1"/>
          <p:nvPr/>
        </p:nvSpPr>
        <p:spPr>
          <a:xfrm>
            <a:off x="4352925" y="4657725"/>
            <a:ext cx="74295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475569"/>
                </a:solidFill>
                <a:latin typeface="Segoe UI" pitchFamily="34" charset="0"/>
                <a:ea typeface="Segoe UI" pitchFamily="34" charset="-122"/>
                <a:cs typeface="Segoe UI" pitchFamily="34" charset="-120"/>
              </a:rPr>
              <a:t>Huấn luyện viên</a:t>
            </a:r>
            <a:endParaRPr lang="en-US" sz="500" dirty="0"/>
          </a:p>
        </p:txBody>
      </p:sp>
      <p:sp>
        <p:nvSpPr>
          <p:cNvPr id="98" name="Shape 96"/>
          <p:cNvSpPr/>
          <p:nvPr/>
        </p:nvSpPr>
        <p:spPr>
          <a:xfrm>
            <a:off x="5334000" y="4657725"/>
            <a:ext cx="590550" cy="142875"/>
          </a:xfrm>
          <a:prstGeom prst="roundRect">
            <a:avLst>
              <a:gd name="adj" fmla="val 50000"/>
            </a:avLst>
          </a:prstGeom>
          <a:solidFill>
            <a:srgbClr val="ECFDF5"/>
          </a:solidFill>
          <a:ln/>
        </p:spPr>
      </p:sp>
      <p:sp>
        <p:nvSpPr>
          <p:cNvPr id="99" name="Text 97"/>
          <p:cNvSpPr txBox="1"/>
          <p:nvPr/>
        </p:nvSpPr>
        <p:spPr>
          <a:xfrm>
            <a:off x="5362575" y="4657725"/>
            <a:ext cx="53340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Hoạt động</a:t>
            </a:r>
            <a:endParaRPr lang="en-US" sz="500" dirty="0"/>
          </a:p>
        </p:txBody>
      </p:sp>
      <p:sp>
        <p:nvSpPr>
          <p:cNvPr id="100" name="Text 98"/>
          <p:cNvSpPr txBox="1"/>
          <p:nvPr/>
        </p:nvSpPr>
        <p:spPr>
          <a:xfrm>
            <a:off x="6076950" y="4676775"/>
            <a:ext cx="571500" cy="114300"/>
          </a:xfrm>
          <a:prstGeom prst="rect">
            <a:avLst/>
          </a:prstGeom>
          <a:noFill/>
          <a:ln/>
        </p:spPr>
        <p:txBody>
          <a:bodyPr wrap="square" lIns="0" tIns="0" rIns="0" bIns="0" rtlCol="0" anchor="t"/>
          <a:lstStyle/>
          <a:p>
            <a:pPr algn="l" indent="0" marL="0">
              <a:lnSpc>
                <a:spcPct val="106000"/>
              </a:lnSpc>
              <a:buNone/>
            </a:pPr>
            <a:r>
              <a:rPr lang="en-US" sz="560" dirty="0">
                <a:solidFill>
                  <a:srgbClr val="475569"/>
                </a:solidFill>
                <a:latin typeface="Segoe UI" pitchFamily="34" charset="0"/>
                <a:ea typeface="Segoe UI" pitchFamily="34" charset="-122"/>
                <a:cs typeface="Segoe UI" pitchFamily="34" charset="-120"/>
              </a:rPr>
              <a:t>01/07/2026</a:t>
            </a:r>
            <a:endParaRPr lang="en-US" sz="560" dirty="0"/>
          </a:p>
        </p:txBody>
      </p:sp>
      <p:sp>
        <p:nvSpPr>
          <p:cNvPr id="101" name="Text 99"/>
          <p:cNvSpPr txBox="1"/>
          <p:nvPr/>
        </p:nvSpPr>
        <p:spPr>
          <a:xfrm>
            <a:off x="6915150" y="4676775"/>
            <a:ext cx="247650" cy="114300"/>
          </a:xfrm>
          <a:prstGeom prst="rect">
            <a:avLst/>
          </a:prstGeom>
          <a:noFill/>
          <a:ln/>
        </p:spPr>
        <p:txBody>
          <a:bodyPr wrap="square" lIns="0" tIns="0" rIns="0" bIns="0" rtlCol="0" anchor="t"/>
          <a:lstStyle/>
          <a:p>
            <a:pPr algn="l"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Sửa</a:t>
            </a:r>
            <a:endParaRPr lang="en-US" sz="580" dirty="0"/>
          </a:p>
        </p:txBody>
      </p:sp>
      <p:sp>
        <p:nvSpPr>
          <p:cNvPr id="102" name="Text 100"/>
          <p:cNvSpPr txBox="1"/>
          <p:nvPr/>
        </p:nvSpPr>
        <p:spPr>
          <a:xfrm>
            <a:off x="7239000" y="4676775"/>
            <a:ext cx="419100" cy="114300"/>
          </a:xfrm>
          <a:prstGeom prst="rect">
            <a:avLst/>
          </a:prstGeom>
          <a:noFill/>
          <a:ln/>
        </p:spPr>
        <p:txBody>
          <a:bodyPr wrap="square" lIns="0" tIns="0" rIns="0" bIns="0" rtlCol="0" anchor="t"/>
          <a:lstStyle/>
          <a:p>
            <a:pPr algn="l" indent="0" marL="0">
              <a:lnSpc>
                <a:spcPct val="106000"/>
              </a:lnSpc>
              <a:buNone/>
            </a:pPr>
            <a:r>
              <a:rPr lang="en-US" sz="580" dirty="0">
                <a:solidFill>
                  <a:srgbClr val="DC2626"/>
                </a:solidFill>
                <a:latin typeface="Segoe UI" pitchFamily="34" charset="0"/>
                <a:ea typeface="Segoe UI" pitchFamily="34" charset="-122"/>
                <a:cs typeface="Segoe UI" pitchFamily="34" charset="-120"/>
              </a:rPr>
              <a:t>Khoá</a:t>
            </a:r>
            <a:endParaRPr lang="en-US" sz="580" dirty="0"/>
          </a:p>
        </p:txBody>
      </p:sp>
      <p:sp>
        <p:nvSpPr>
          <p:cNvPr id="103" name="Shape 101"/>
          <p:cNvSpPr/>
          <p:nvPr/>
        </p:nvSpPr>
        <p:spPr>
          <a:xfrm>
            <a:off x="2057400" y="4972050"/>
            <a:ext cx="6076950" cy="9525"/>
          </a:xfrm>
          <a:prstGeom prst="line">
            <a:avLst/>
          </a:prstGeom>
          <a:solidFill>
            <a:srgbClr val="FFFFFF">
              <a:alpha val="0"/>
            </a:srgbClr>
          </a:solidFill>
          <a:ln w="9525">
            <a:solidFill>
              <a:srgbClr val="F1F5F9"/>
            </a:solidFill>
            <a:prstDash val="solid"/>
          </a:ln>
        </p:spPr>
      </p:sp>
      <p:sp>
        <p:nvSpPr>
          <p:cNvPr id="104" name="Shape 102"/>
          <p:cNvSpPr/>
          <p:nvPr/>
        </p:nvSpPr>
        <p:spPr>
          <a:xfrm>
            <a:off x="2057400" y="5048250"/>
            <a:ext cx="228600" cy="228600"/>
          </a:xfrm>
          <a:prstGeom prst="ellipse">
            <a:avLst/>
          </a:prstGeom>
          <a:solidFill>
            <a:srgbClr val="ECFDF5"/>
          </a:solidFill>
          <a:ln/>
        </p:spPr>
      </p:sp>
      <p:sp>
        <p:nvSpPr>
          <p:cNvPr id="105" name="Text 103"/>
          <p:cNvSpPr txBox="1"/>
          <p:nvPr/>
        </p:nvSpPr>
        <p:spPr>
          <a:xfrm>
            <a:off x="2057400" y="5048250"/>
            <a:ext cx="228600" cy="22860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vK</a:t>
            </a:r>
            <a:endParaRPr lang="en-US" sz="580" dirty="0"/>
          </a:p>
        </p:txBody>
      </p:sp>
      <p:sp>
        <p:nvSpPr>
          <p:cNvPr id="106" name="Text 104"/>
          <p:cNvSpPr txBox="1"/>
          <p:nvPr/>
        </p:nvSpPr>
        <p:spPr>
          <a:xfrm>
            <a:off x="2381250" y="5038725"/>
            <a:ext cx="1238250" cy="123825"/>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Kiểm duyệt viên</a:t>
            </a:r>
            <a:endParaRPr lang="en-US" sz="680" dirty="0"/>
          </a:p>
        </p:txBody>
      </p:sp>
      <p:sp>
        <p:nvSpPr>
          <p:cNvPr id="107" name="Text 105"/>
          <p:cNvSpPr txBox="1"/>
          <p:nvPr/>
        </p:nvSpPr>
        <p:spPr>
          <a:xfrm>
            <a:off x="2381250" y="5172075"/>
            <a:ext cx="1428750" cy="104775"/>
          </a:xfrm>
          <a:prstGeom prst="rect">
            <a:avLst/>
          </a:prstGeom>
          <a:noFill/>
          <a:ln/>
        </p:spPr>
        <p:txBody>
          <a:bodyPr wrap="square" lIns="0" tIns="0" rIns="0" bIns="0" rtlCol="0" anchor="t"/>
          <a:lstStyle/>
          <a:p>
            <a:pPr algn="l" indent="0" marL="0">
              <a:lnSpc>
                <a:spcPct val="106000"/>
              </a:lnSpc>
              <a:buNone/>
            </a:pPr>
            <a:r>
              <a:rPr lang="en-US" sz="540" dirty="0">
                <a:solidFill>
                  <a:srgbClr val="94A3B8"/>
                </a:solidFill>
                <a:latin typeface="Segoe UI" pitchFamily="34" charset="0"/>
                <a:ea typeface="Segoe UI" pitchFamily="34" charset="-122"/>
                <a:cs typeface="Segoe UI" pitchFamily="34" charset="-120"/>
              </a:rPr>
              <a:t>nam.mod@spendwise.vn</a:t>
            </a:r>
            <a:endParaRPr lang="en-US" sz="540" dirty="0"/>
          </a:p>
        </p:txBody>
      </p:sp>
      <p:sp>
        <p:nvSpPr>
          <p:cNvPr id="108" name="Shape 106"/>
          <p:cNvSpPr/>
          <p:nvPr/>
        </p:nvSpPr>
        <p:spPr>
          <a:xfrm>
            <a:off x="4324350" y="5067300"/>
            <a:ext cx="800100" cy="142875"/>
          </a:xfrm>
          <a:prstGeom prst="roundRect">
            <a:avLst>
              <a:gd name="adj" fmla="val 50000"/>
            </a:avLst>
          </a:prstGeom>
          <a:solidFill>
            <a:srgbClr val="FFFFFF"/>
          </a:solidFill>
          <a:ln w="9525">
            <a:solidFill>
              <a:srgbClr val="E2E8F0"/>
            </a:solidFill>
            <a:prstDash val="solid"/>
          </a:ln>
        </p:spPr>
      </p:sp>
      <p:sp>
        <p:nvSpPr>
          <p:cNvPr id="109" name="Text 107"/>
          <p:cNvSpPr txBox="1"/>
          <p:nvPr/>
        </p:nvSpPr>
        <p:spPr>
          <a:xfrm>
            <a:off x="4352925" y="5067300"/>
            <a:ext cx="74295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475569"/>
                </a:solidFill>
                <a:latin typeface="Segoe UI" pitchFamily="34" charset="0"/>
                <a:ea typeface="Segoe UI" pitchFamily="34" charset="-122"/>
                <a:cs typeface="Segoe UI" pitchFamily="34" charset="-120"/>
              </a:rPr>
              <a:t>Kiểm duyệt</a:t>
            </a:r>
            <a:endParaRPr lang="en-US" sz="500" dirty="0"/>
          </a:p>
        </p:txBody>
      </p:sp>
      <p:sp>
        <p:nvSpPr>
          <p:cNvPr id="110" name="Shape 108"/>
          <p:cNvSpPr/>
          <p:nvPr/>
        </p:nvSpPr>
        <p:spPr>
          <a:xfrm>
            <a:off x="5334000" y="5067300"/>
            <a:ext cx="590550" cy="142875"/>
          </a:xfrm>
          <a:prstGeom prst="roundRect">
            <a:avLst>
              <a:gd name="adj" fmla="val 50000"/>
            </a:avLst>
          </a:prstGeom>
          <a:solidFill>
            <a:srgbClr val="ECFDF5"/>
          </a:solidFill>
          <a:ln/>
        </p:spPr>
      </p:sp>
      <p:sp>
        <p:nvSpPr>
          <p:cNvPr id="111" name="Text 109"/>
          <p:cNvSpPr txBox="1"/>
          <p:nvPr/>
        </p:nvSpPr>
        <p:spPr>
          <a:xfrm>
            <a:off x="5362575" y="5067300"/>
            <a:ext cx="53340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Hoạt động</a:t>
            </a:r>
            <a:endParaRPr lang="en-US" sz="500" dirty="0"/>
          </a:p>
        </p:txBody>
      </p:sp>
      <p:sp>
        <p:nvSpPr>
          <p:cNvPr id="112" name="Text 110"/>
          <p:cNvSpPr txBox="1"/>
          <p:nvPr/>
        </p:nvSpPr>
        <p:spPr>
          <a:xfrm>
            <a:off x="6076950" y="5086350"/>
            <a:ext cx="571500" cy="114300"/>
          </a:xfrm>
          <a:prstGeom prst="rect">
            <a:avLst/>
          </a:prstGeom>
          <a:noFill/>
          <a:ln/>
        </p:spPr>
        <p:txBody>
          <a:bodyPr wrap="square" lIns="0" tIns="0" rIns="0" bIns="0" rtlCol="0" anchor="t"/>
          <a:lstStyle/>
          <a:p>
            <a:pPr algn="l" indent="0" marL="0">
              <a:lnSpc>
                <a:spcPct val="106000"/>
              </a:lnSpc>
              <a:buNone/>
            </a:pPr>
            <a:r>
              <a:rPr lang="en-US" sz="560" dirty="0">
                <a:solidFill>
                  <a:srgbClr val="475569"/>
                </a:solidFill>
                <a:latin typeface="Segoe UI" pitchFamily="34" charset="0"/>
                <a:ea typeface="Segoe UI" pitchFamily="34" charset="-122"/>
                <a:cs typeface="Segoe UI" pitchFamily="34" charset="-120"/>
              </a:rPr>
              <a:t>01/07/2026</a:t>
            </a:r>
            <a:endParaRPr lang="en-US" sz="560" dirty="0"/>
          </a:p>
        </p:txBody>
      </p:sp>
      <p:sp>
        <p:nvSpPr>
          <p:cNvPr id="113" name="Text 111"/>
          <p:cNvSpPr txBox="1"/>
          <p:nvPr/>
        </p:nvSpPr>
        <p:spPr>
          <a:xfrm>
            <a:off x="6915150" y="5086350"/>
            <a:ext cx="247650" cy="114300"/>
          </a:xfrm>
          <a:prstGeom prst="rect">
            <a:avLst/>
          </a:prstGeom>
          <a:noFill/>
          <a:ln/>
        </p:spPr>
        <p:txBody>
          <a:bodyPr wrap="square" lIns="0" tIns="0" rIns="0" bIns="0" rtlCol="0" anchor="t"/>
          <a:lstStyle/>
          <a:p>
            <a:pPr algn="l"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Sửa</a:t>
            </a:r>
            <a:endParaRPr lang="en-US" sz="580" dirty="0"/>
          </a:p>
        </p:txBody>
      </p:sp>
      <p:sp>
        <p:nvSpPr>
          <p:cNvPr id="114" name="Text 112"/>
          <p:cNvSpPr txBox="1"/>
          <p:nvPr/>
        </p:nvSpPr>
        <p:spPr>
          <a:xfrm>
            <a:off x="7239000" y="5086350"/>
            <a:ext cx="419100" cy="114300"/>
          </a:xfrm>
          <a:prstGeom prst="rect">
            <a:avLst/>
          </a:prstGeom>
          <a:noFill/>
          <a:ln/>
        </p:spPr>
        <p:txBody>
          <a:bodyPr wrap="square" lIns="0" tIns="0" rIns="0" bIns="0" rtlCol="0" anchor="t"/>
          <a:lstStyle/>
          <a:p>
            <a:pPr algn="l" indent="0" marL="0">
              <a:lnSpc>
                <a:spcPct val="106000"/>
              </a:lnSpc>
              <a:buNone/>
            </a:pPr>
            <a:r>
              <a:rPr lang="en-US" sz="580" dirty="0">
                <a:solidFill>
                  <a:srgbClr val="DC2626"/>
                </a:solidFill>
                <a:latin typeface="Segoe UI" pitchFamily="34" charset="0"/>
                <a:ea typeface="Segoe UI" pitchFamily="34" charset="-122"/>
                <a:cs typeface="Segoe UI" pitchFamily="34" charset="-120"/>
              </a:rPr>
              <a:t>Khoá</a:t>
            </a:r>
            <a:endParaRPr lang="en-US" sz="580" dirty="0"/>
          </a:p>
        </p:txBody>
      </p:sp>
      <p:sp>
        <p:nvSpPr>
          <p:cNvPr id="115" name="Shape 113"/>
          <p:cNvSpPr/>
          <p:nvPr/>
        </p:nvSpPr>
        <p:spPr>
          <a:xfrm>
            <a:off x="2057400" y="5381625"/>
            <a:ext cx="6076950" cy="9525"/>
          </a:xfrm>
          <a:prstGeom prst="line">
            <a:avLst/>
          </a:prstGeom>
          <a:solidFill>
            <a:srgbClr val="FFFFFF">
              <a:alpha val="0"/>
            </a:srgbClr>
          </a:solidFill>
          <a:ln w="9525">
            <a:solidFill>
              <a:srgbClr val="F1F5F9"/>
            </a:solidFill>
            <a:prstDash val="solid"/>
          </a:ln>
        </p:spPr>
      </p:sp>
      <p:sp>
        <p:nvSpPr>
          <p:cNvPr id="116" name="Shape 114"/>
          <p:cNvSpPr/>
          <p:nvPr/>
        </p:nvSpPr>
        <p:spPr>
          <a:xfrm>
            <a:off x="2057400" y="5457825"/>
            <a:ext cx="228600" cy="228600"/>
          </a:xfrm>
          <a:prstGeom prst="ellipse">
            <a:avLst/>
          </a:prstGeom>
          <a:solidFill>
            <a:srgbClr val="ECFDF5"/>
          </a:solidFill>
          <a:ln/>
        </p:spPr>
      </p:sp>
      <p:sp>
        <p:nvSpPr>
          <p:cNvPr id="117" name="Text 115"/>
          <p:cNvSpPr txBox="1"/>
          <p:nvPr/>
        </p:nvSpPr>
        <p:spPr>
          <a:xfrm>
            <a:off x="2057400" y="5457825"/>
            <a:ext cx="228600" cy="228600"/>
          </a:xfrm>
          <a:prstGeom prst="rect">
            <a:avLst/>
          </a:prstGeom>
          <a:noFill/>
          <a:ln/>
        </p:spPr>
        <p:txBody>
          <a:bodyPr wrap="square" lIns="0" tIns="0" rIns="0" bIns="0" rtlCol="0" anchor="ctr"/>
          <a:lstStyle/>
          <a:p>
            <a:pPr algn="ctr"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tQ</a:t>
            </a:r>
            <a:endParaRPr lang="en-US" sz="580" dirty="0"/>
          </a:p>
        </p:txBody>
      </p:sp>
      <p:sp>
        <p:nvSpPr>
          <p:cNvPr id="118" name="Text 116"/>
          <p:cNvSpPr txBox="1"/>
          <p:nvPr/>
        </p:nvSpPr>
        <p:spPr>
          <a:xfrm>
            <a:off x="2381250" y="5448300"/>
            <a:ext cx="1238250" cy="123825"/>
          </a:xfrm>
          <a:prstGeom prst="rect">
            <a:avLst/>
          </a:prstGeom>
          <a:noFill/>
          <a:ln/>
        </p:spPr>
        <p:txBody>
          <a:bodyPr wrap="square" lIns="0" tIns="0" rIns="0" bIns="0" rtlCol="0" anchor="t"/>
          <a:lstStyle/>
          <a:p>
            <a:pPr algn="l" indent="0" marL="0">
              <a:lnSpc>
                <a:spcPct val="106000"/>
              </a:lnSpc>
              <a:buNone/>
            </a:pPr>
            <a:r>
              <a:rPr lang="en-US" sz="680" b="1" dirty="0">
                <a:solidFill>
                  <a:srgbClr val="0F172A"/>
                </a:solidFill>
                <a:latin typeface="Segoe UI" pitchFamily="34" charset="0"/>
                <a:ea typeface="Segoe UI" pitchFamily="34" charset="-122"/>
                <a:cs typeface="Segoe UI" pitchFamily="34" charset="-120"/>
              </a:rPr>
              <a:t>Quản trị hệ thống</a:t>
            </a:r>
            <a:endParaRPr lang="en-US" sz="680" dirty="0"/>
          </a:p>
        </p:txBody>
      </p:sp>
      <p:sp>
        <p:nvSpPr>
          <p:cNvPr id="119" name="Text 117"/>
          <p:cNvSpPr txBox="1"/>
          <p:nvPr/>
        </p:nvSpPr>
        <p:spPr>
          <a:xfrm>
            <a:off x="2381250" y="5581650"/>
            <a:ext cx="1428750" cy="104775"/>
          </a:xfrm>
          <a:prstGeom prst="rect">
            <a:avLst/>
          </a:prstGeom>
          <a:noFill/>
          <a:ln/>
        </p:spPr>
        <p:txBody>
          <a:bodyPr wrap="square" lIns="0" tIns="0" rIns="0" bIns="0" rtlCol="0" anchor="t"/>
          <a:lstStyle/>
          <a:p>
            <a:pPr algn="l" indent="0" marL="0">
              <a:lnSpc>
                <a:spcPct val="106000"/>
              </a:lnSpc>
              <a:buNone/>
            </a:pPr>
            <a:r>
              <a:rPr lang="en-US" sz="540" dirty="0">
                <a:solidFill>
                  <a:srgbClr val="94A3B8"/>
                </a:solidFill>
                <a:latin typeface="Segoe UI" pitchFamily="34" charset="0"/>
                <a:ea typeface="Segoe UI" pitchFamily="34" charset="-122"/>
                <a:cs typeface="Segoe UI" pitchFamily="34" charset="-120"/>
              </a:rPr>
              <a:t>admin@spendwise.vn</a:t>
            </a:r>
            <a:endParaRPr lang="en-US" sz="540" dirty="0"/>
          </a:p>
        </p:txBody>
      </p:sp>
      <p:sp>
        <p:nvSpPr>
          <p:cNvPr id="120" name="Shape 118"/>
          <p:cNvSpPr/>
          <p:nvPr/>
        </p:nvSpPr>
        <p:spPr>
          <a:xfrm>
            <a:off x="4324350" y="5476875"/>
            <a:ext cx="800100" cy="142875"/>
          </a:xfrm>
          <a:prstGeom prst="roundRect">
            <a:avLst>
              <a:gd name="adj" fmla="val 50000"/>
            </a:avLst>
          </a:prstGeom>
          <a:solidFill>
            <a:srgbClr val="FFFBEB"/>
          </a:solidFill>
          <a:ln/>
        </p:spPr>
      </p:sp>
      <p:sp>
        <p:nvSpPr>
          <p:cNvPr id="121" name="Text 119"/>
          <p:cNvSpPr txBox="1"/>
          <p:nvPr/>
        </p:nvSpPr>
        <p:spPr>
          <a:xfrm>
            <a:off x="4352925" y="5476875"/>
            <a:ext cx="74295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B45309"/>
                </a:solidFill>
                <a:latin typeface="Segoe UI" pitchFamily="34" charset="0"/>
                <a:ea typeface="Segoe UI" pitchFamily="34" charset="-122"/>
                <a:cs typeface="Segoe UI" pitchFamily="34" charset="-120"/>
              </a:rPr>
              <a:t>Quản trị</a:t>
            </a:r>
            <a:endParaRPr lang="en-US" sz="500" dirty="0"/>
          </a:p>
        </p:txBody>
      </p:sp>
      <p:sp>
        <p:nvSpPr>
          <p:cNvPr id="122" name="Shape 120"/>
          <p:cNvSpPr/>
          <p:nvPr/>
        </p:nvSpPr>
        <p:spPr>
          <a:xfrm>
            <a:off x="5334000" y="5476875"/>
            <a:ext cx="590550" cy="142875"/>
          </a:xfrm>
          <a:prstGeom prst="roundRect">
            <a:avLst>
              <a:gd name="adj" fmla="val 50000"/>
            </a:avLst>
          </a:prstGeom>
          <a:solidFill>
            <a:srgbClr val="ECFDF5"/>
          </a:solidFill>
          <a:ln/>
        </p:spPr>
      </p:sp>
      <p:sp>
        <p:nvSpPr>
          <p:cNvPr id="123" name="Text 121"/>
          <p:cNvSpPr txBox="1"/>
          <p:nvPr/>
        </p:nvSpPr>
        <p:spPr>
          <a:xfrm>
            <a:off x="5362575" y="5476875"/>
            <a:ext cx="533400" cy="142875"/>
          </a:xfrm>
          <a:prstGeom prst="rect">
            <a:avLst/>
          </a:prstGeom>
          <a:noFill/>
          <a:ln/>
        </p:spPr>
        <p:txBody>
          <a:bodyPr wrap="square" lIns="0" tIns="0" rIns="0" bIns="0" rtlCol="0" anchor="ctr"/>
          <a:lstStyle/>
          <a:p>
            <a:pPr algn="ctr" indent="0" marL="0">
              <a:lnSpc>
                <a:spcPct val="106000"/>
              </a:lnSpc>
              <a:buNone/>
            </a:pPr>
            <a:r>
              <a:rPr lang="en-US" sz="500" b="1" dirty="0">
                <a:solidFill>
                  <a:srgbClr val="047857"/>
                </a:solidFill>
                <a:latin typeface="Segoe UI" pitchFamily="34" charset="0"/>
                <a:ea typeface="Segoe UI" pitchFamily="34" charset="-122"/>
                <a:cs typeface="Segoe UI" pitchFamily="34" charset="-120"/>
              </a:rPr>
              <a:t>Hoạt động</a:t>
            </a:r>
            <a:endParaRPr lang="en-US" sz="500" dirty="0"/>
          </a:p>
        </p:txBody>
      </p:sp>
      <p:sp>
        <p:nvSpPr>
          <p:cNvPr id="124" name="Text 122"/>
          <p:cNvSpPr txBox="1"/>
          <p:nvPr/>
        </p:nvSpPr>
        <p:spPr>
          <a:xfrm>
            <a:off x="6076950" y="5495925"/>
            <a:ext cx="571500" cy="114300"/>
          </a:xfrm>
          <a:prstGeom prst="rect">
            <a:avLst/>
          </a:prstGeom>
          <a:noFill/>
          <a:ln/>
        </p:spPr>
        <p:txBody>
          <a:bodyPr wrap="square" lIns="0" tIns="0" rIns="0" bIns="0" rtlCol="0" anchor="t"/>
          <a:lstStyle/>
          <a:p>
            <a:pPr algn="l" indent="0" marL="0">
              <a:lnSpc>
                <a:spcPct val="106000"/>
              </a:lnSpc>
              <a:buNone/>
            </a:pPr>
            <a:r>
              <a:rPr lang="en-US" sz="560" dirty="0">
                <a:solidFill>
                  <a:srgbClr val="475569"/>
                </a:solidFill>
                <a:latin typeface="Segoe UI" pitchFamily="34" charset="0"/>
                <a:ea typeface="Segoe UI" pitchFamily="34" charset="-122"/>
                <a:cs typeface="Segoe UI" pitchFamily="34" charset="-120"/>
              </a:rPr>
              <a:t>01/06/2026</a:t>
            </a:r>
            <a:endParaRPr lang="en-US" sz="560" dirty="0"/>
          </a:p>
        </p:txBody>
      </p:sp>
      <p:sp>
        <p:nvSpPr>
          <p:cNvPr id="125" name="Text 123"/>
          <p:cNvSpPr txBox="1"/>
          <p:nvPr/>
        </p:nvSpPr>
        <p:spPr>
          <a:xfrm>
            <a:off x="6915150" y="5495925"/>
            <a:ext cx="247650" cy="114300"/>
          </a:xfrm>
          <a:prstGeom prst="rect">
            <a:avLst/>
          </a:prstGeom>
          <a:noFill/>
          <a:ln/>
        </p:spPr>
        <p:txBody>
          <a:bodyPr wrap="square" lIns="0" tIns="0" rIns="0" bIns="0" rtlCol="0" anchor="t"/>
          <a:lstStyle/>
          <a:p>
            <a:pPr algn="l" indent="0" marL="0">
              <a:lnSpc>
                <a:spcPct val="106000"/>
              </a:lnSpc>
              <a:buNone/>
            </a:pPr>
            <a:r>
              <a:rPr lang="en-US" sz="580" b="1" dirty="0">
                <a:solidFill>
                  <a:srgbClr val="047857"/>
                </a:solidFill>
                <a:latin typeface="Segoe UI" pitchFamily="34" charset="0"/>
                <a:ea typeface="Segoe UI" pitchFamily="34" charset="-122"/>
                <a:cs typeface="Segoe UI" pitchFamily="34" charset="-120"/>
              </a:rPr>
              <a:t>Sửa</a:t>
            </a:r>
            <a:endParaRPr lang="en-US" sz="580" dirty="0"/>
          </a:p>
        </p:txBody>
      </p:sp>
      <p:sp>
        <p:nvSpPr>
          <p:cNvPr id="126" name="Shape 124"/>
          <p:cNvSpPr/>
          <p:nvPr/>
        </p:nvSpPr>
        <p:spPr>
          <a:xfrm>
            <a:off x="2057400" y="5791200"/>
            <a:ext cx="6076950" cy="9525"/>
          </a:xfrm>
          <a:prstGeom prst="line">
            <a:avLst/>
          </a:prstGeom>
          <a:solidFill>
            <a:srgbClr val="FFFFFF">
              <a:alpha val="0"/>
            </a:srgbClr>
          </a:solidFill>
          <a:ln w="9525">
            <a:solidFill>
              <a:srgbClr val="F1F5F9"/>
            </a:solidFill>
            <a:prstDash val="solid"/>
          </a:ln>
        </p:spPr>
      </p:sp>
      <p:sp>
        <p:nvSpPr>
          <p:cNvPr id="127" name="Shape 125"/>
          <p:cNvSpPr/>
          <p:nvPr/>
        </p:nvSpPr>
        <p:spPr>
          <a:xfrm>
            <a:off x="1943100" y="5972175"/>
            <a:ext cx="6305550" cy="590550"/>
          </a:xfrm>
          <a:prstGeom prst="roundRect">
            <a:avLst>
              <a:gd name="adj" fmla="val 11290"/>
            </a:avLst>
          </a:prstGeom>
          <a:solidFill>
            <a:srgbClr val="FEF2F2"/>
          </a:solidFill>
          <a:ln/>
        </p:spPr>
      </p:sp>
      <p:sp>
        <p:nvSpPr>
          <p:cNvPr id="128" name="Text 126"/>
          <p:cNvSpPr txBox="1"/>
          <p:nvPr/>
        </p:nvSpPr>
        <p:spPr>
          <a:xfrm>
            <a:off x="2076450" y="6057900"/>
            <a:ext cx="3619500" cy="133350"/>
          </a:xfrm>
          <a:prstGeom prst="rect">
            <a:avLst/>
          </a:prstGeom>
          <a:noFill/>
          <a:ln/>
        </p:spPr>
        <p:txBody>
          <a:bodyPr wrap="square" lIns="0" tIns="0" rIns="0" bIns="0" rtlCol="0" anchor="t"/>
          <a:lstStyle/>
          <a:p>
            <a:pPr algn="l" indent="0" marL="0">
              <a:lnSpc>
                <a:spcPct val="106000"/>
              </a:lnSpc>
              <a:buNone/>
            </a:pPr>
            <a:r>
              <a:rPr lang="en-US" sz="760" b="1" dirty="0">
                <a:solidFill>
                  <a:srgbClr val="DC2626"/>
                </a:solidFill>
                <a:latin typeface="Segoe UI" pitchFamily="34" charset="0"/>
                <a:ea typeface="Segoe UI" pitchFamily="34" charset="-122"/>
                <a:cs typeface="Segoe UI" pitchFamily="34" charset="-120"/>
              </a:rPr>
              <a:t>Khoá tài khoản Lê Quốc Bảo?</a:t>
            </a:r>
            <a:endParaRPr lang="en-US" sz="760" dirty="0"/>
          </a:p>
        </p:txBody>
      </p:sp>
      <p:sp>
        <p:nvSpPr>
          <p:cNvPr id="129" name="Text 127"/>
          <p:cNvSpPr txBox="1"/>
          <p:nvPr/>
        </p:nvSpPr>
        <p:spPr>
          <a:xfrm>
            <a:off x="2076450" y="6229350"/>
            <a:ext cx="4191000" cy="228600"/>
          </a:xfrm>
          <a:prstGeom prst="rect">
            <a:avLst/>
          </a:prstGeom>
          <a:noFill/>
          <a:ln/>
        </p:spPr>
        <p:txBody>
          <a:bodyPr wrap="square" lIns="0" tIns="0" rIns="0" bIns="0" rtlCol="0" anchor="t"/>
          <a:lstStyle/>
          <a:p>
            <a:pPr algn="l" indent="0" marL="0">
              <a:lnSpc>
                <a:spcPct val="106000"/>
              </a:lnSpc>
              <a:buNone/>
            </a:pPr>
            <a:r>
              <a:rPr lang="en-US" sz="620" dirty="0">
                <a:solidFill>
                  <a:srgbClr val="991B1B"/>
                </a:solidFill>
                <a:latin typeface="Segoe UI" pitchFamily="34" charset="0"/>
                <a:ea typeface="Segoe UI" pitchFamily="34" charset="-122"/>
                <a:cs typeface="Segoe UI" pitchFamily="34" charset="-120"/>
              </a:rPr>
              <a:t>Tài khoản sẽ không thể đăng nhập cho đến khi được mở khoá. Dữ liệu giao dịch vẫn được giữ.</a:t>
            </a:r>
            <a:endParaRPr lang="en-US" sz="620" dirty="0"/>
          </a:p>
        </p:txBody>
      </p:sp>
      <p:sp>
        <p:nvSpPr>
          <p:cNvPr id="130" name="Shape 128"/>
          <p:cNvSpPr/>
          <p:nvPr/>
        </p:nvSpPr>
        <p:spPr>
          <a:xfrm>
            <a:off x="6572250" y="6134100"/>
            <a:ext cx="685800" cy="247650"/>
          </a:xfrm>
          <a:prstGeom prst="roundRect">
            <a:avLst>
              <a:gd name="adj" fmla="val 19231"/>
            </a:avLst>
          </a:prstGeom>
          <a:solidFill>
            <a:srgbClr val="FFFFFF"/>
          </a:solidFill>
          <a:ln w="9525">
            <a:solidFill>
              <a:srgbClr val="E2E8F0"/>
            </a:solidFill>
            <a:prstDash val="solid"/>
          </a:ln>
        </p:spPr>
      </p:sp>
      <p:sp>
        <p:nvSpPr>
          <p:cNvPr id="131" name="Text 129"/>
          <p:cNvSpPr txBox="1"/>
          <p:nvPr/>
        </p:nvSpPr>
        <p:spPr>
          <a:xfrm>
            <a:off x="6572250" y="6134100"/>
            <a:ext cx="685800" cy="247650"/>
          </a:xfrm>
          <a:prstGeom prst="rect">
            <a:avLst/>
          </a:prstGeom>
          <a:noFill/>
          <a:ln/>
        </p:spPr>
        <p:txBody>
          <a:bodyPr wrap="square" lIns="0" tIns="0" rIns="0" bIns="0" rtlCol="0" anchor="ctr"/>
          <a:lstStyle/>
          <a:p>
            <a:pPr algn="ctr" indent="0" marL="0">
              <a:lnSpc>
                <a:spcPct val="106000"/>
              </a:lnSpc>
              <a:buNone/>
            </a:pPr>
            <a:r>
              <a:rPr lang="en-US" sz="620" dirty="0">
                <a:solidFill>
                  <a:srgbClr val="475569"/>
                </a:solidFill>
                <a:latin typeface="Segoe UI" pitchFamily="34" charset="0"/>
                <a:ea typeface="Segoe UI" pitchFamily="34" charset="-122"/>
                <a:cs typeface="Segoe UI" pitchFamily="34" charset="-120"/>
              </a:rPr>
              <a:t>Huỷ</a:t>
            </a:r>
            <a:endParaRPr lang="en-US" sz="620" dirty="0"/>
          </a:p>
        </p:txBody>
      </p:sp>
      <p:sp>
        <p:nvSpPr>
          <p:cNvPr id="132" name="Shape 130"/>
          <p:cNvSpPr/>
          <p:nvPr/>
        </p:nvSpPr>
        <p:spPr>
          <a:xfrm>
            <a:off x="7334250" y="6134100"/>
            <a:ext cx="762000" cy="247650"/>
          </a:xfrm>
          <a:prstGeom prst="roundRect">
            <a:avLst>
              <a:gd name="adj" fmla="val 19231"/>
            </a:avLst>
          </a:prstGeom>
          <a:solidFill>
            <a:srgbClr val="DC2626"/>
          </a:solidFill>
          <a:ln/>
        </p:spPr>
      </p:sp>
      <p:sp>
        <p:nvSpPr>
          <p:cNvPr id="133" name="Text 131"/>
          <p:cNvSpPr txBox="1"/>
          <p:nvPr/>
        </p:nvSpPr>
        <p:spPr>
          <a:xfrm>
            <a:off x="7334250" y="6134100"/>
            <a:ext cx="762000" cy="247650"/>
          </a:xfrm>
          <a:prstGeom prst="rect">
            <a:avLst/>
          </a:prstGeom>
          <a:noFill/>
          <a:ln/>
        </p:spPr>
        <p:txBody>
          <a:bodyPr wrap="square" lIns="0" tIns="0" rIns="0" bIns="0" rtlCol="0" anchor="ctr"/>
          <a:lstStyle/>
          <a:p>
            <a:pPr algn="ctr" indent="0" marL="0">
              <a:lnSpc>
                <a:spcPct val="106000"/>
              </a:lnSpc>
              <a:buNone/>
            </a:pPr>
            <a:r>
              <a:rPr lang="en-US" sz="620" b="1" dirty="0">
                <a:solidFill>
                  <a:srgbClr val="FFFFFF"/>
                </a:solidFill>
                <a:latin typeface="Segoe UI" pitchFamily="34" charset="0"/>
                <a:ea typeface="Segoe UI" pitchFamily="34" charset="-122"/>
                <a:cs typeface="Segoe UI" pitchFamily="34" charset="-120"/>
              </a:rPr>
              <a:t>Xác nhận</a:t>
            </a:r>
            <a:endParaRPr lang="en-US" sz="620" dirty="0"/>
          </a:p>
        </p:txBody>
      </p:sp>
      <p:sp>
        <p:nvSpPr>
          <p:cNvPr id="134" name="Shape 132"/>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135" name="Text 133"/>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25 / 27</a:t>
            </a:r>
            <a:endParaRPr lang="en-US" sz="740" dirty="0"/>
          </a:p>
        </p:txBody>
      </p:sp>
      <p:sp>
        <p:nvSpPr>
          <p:cNvPr id="136" name="Text 134"/>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Quản lý người dùng</a:t>
            </a:r>
            <a:endParaRPr lang="en-US" sz="1700" dirty="0"/>
          </a:p>
        </p:txBody>
      </p:sp>
      <p:sp>
        <p:nvSpPr>
          <p:cNvPr id="137" name="Text 135"/>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pages/admin-user-management.html</a:t>
            </a:r>
            <a:endParaRPr lang="en-US" sz="720" dirty="0"/>
          </a:p>
        </p:txBody>
      </p:sp>
      <p:sp>
        <p:nvSpPr>
          <p:cNvPr id="138" name="Shape 136"/>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39" name="Text 137"/>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40" name="Text 138"/>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Quản lý tài khoản: tạo, sửa vai trò, khoá/mở và xem trạng thái đăng nhập của từng người.</a:t>
            </a:r>
            <a:endParaRPr lang="en-US" sz="920" dirty="0"/>
          </a:p>
        </p:txBody>
      </p:sp>
      <p:sp>
        <p:nvSpPr>
          <p:cNvPr id="141" name="Text 139"/>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42" name="Shape 140"/>
          <p:cNvSpPr/>
          <p:nvPr/>
        </p:nvSpPr>
        <p:spPr>
          <a:xfrm>
            <a:off x="8839200" y="3238500"/>
            <a:ext cx="209550" cy="190500"/>
          </a:xfrm>
          <a:prstGeom prst="roundRect">
            <a:avLst>
              <a:gd name="adj" fmla="val 25000"/>
            </a:avLst>
          </a:prstGeom>
          <a:solidFill>
            <a:srgbClr val="059669"/>
          </a:solidFill>
          <a:ln/>
        </p:spPr>
      </p:sp>
      <p:sp>
        <p:nvSpPr>
          <p:cNvPr id="143" name="Text 141"/>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144" name="Shape 142"/>
          <p:cNvSpPr/>
          <p:nvPr/>
        </p:nvSpPr>
        <p:spPr>
          <a:xfrm>
            <a:off x="9086850" y="3238500"/>
            <a:ext cx="209550" cy="190500"/>
          </a:xfrm>
          <a:prstGeom prst="roundRect">
            <a:avLst>
              <a:gd name="adj" fmla="val 25000"/>
            </a:avLst>
          </a:prstGeom>
          <a:solidFill>
            <a:srgbClr val="059669"/>
          </a:solidFill>
          <a:ln/>
        </p:spPr>
      </p:sp>
      <p:sp>
        <p:nvSpPr>
          <p:cNvPr id="145" name="Text 143"/>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46" name="Shape 144"/>
          <p:cNvSpPr/>
          <p:nvPr/>
        </p:nvSpPr>
        <p:spPr>
          <a:xfrm>
            <a:off x="9334500" y="3238500"/>
            <a:ext cx="209550" cy="190500"/>
          </a:xfrm>
          <a:prstGeom prst="roundRect">
            <a:avLst>
              <a:gd name="adj" fmla="val 25000"/>
            </a:avLst>
          </a:prstGeom>
          <a:solidFill>
            <a:srgbClr val="059669"/>
          </a:solidFill>
          <a:ln/>
        </p:spPr>
      </p:sp>
      <p:sp>
        <p:nvSpPr>
          <p:cNvPr id="147" name="Text 145"/>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U</a:t>
            </a:r>
            <a:endParaRPr lang="en-US" sz="740" dirty="0"/>
          </a:p>
        </p:txBody>
      </p:sp>
      <p:sp>
        <p:nvSpPr>
          <p:cNvPr id="148" name="Shape 146"/>
          <p:cNvSpPr/>
          <p:nvPr/>
        </p:nvSpPr>
        <p:spPr>
          <a:xfrm>
            <a:off x="9582150" y="3238500"/>
            <a:ext cx="209550" cy="190500"/>
          </a:xfrm>
          <a:prstGeom prst="roundRect">
            <a:avLst>
              <a:gd name="adj" fmla="val 25000"/>
            </a:avLst>
          </a:prstGeom>
          <a:solidFill>
            <a:srgbClr val="F1F5F9"/>
          </a:solidFill>
          <a:ln/>
        </p:spPr>
      </p:sp>
      <p:sp>
        <p:nvSpPr>
          <p:cNvPr id="149" name="Text 147"/>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150" name="Text 148"/>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Hoạt động · đã khoá · xác nhận khoá · email trùng · không thể khoá admin.</a:t>
            </a:r>
            <a:endParaRPr lang="en-US" sz="900" dirty="0"/>
          </a:p>
        </p:txBody>
      </p:sp>
      <p:sp>
        <p:nvSpPr>
          <p:cNvPr id="151" name="Text 149"/>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52" name="Text 150"/>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Tìm/lọc vai trò; modal thêm–sửa; hộp xác nhận; toast; khoá/mở.</a:t>
            </a:r>
            <a:endParaRPr lang="en-US" sz="900" dirty="0"/>
          </a:p>
        </p:txBody>
      </p:sp>
      <p:sp>
        <p:nvSpPr>
          <p:cNvPr id="153" name="Text 151"/>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54" name="Text 152"/>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users là nguồn dữ liệu cho đăng nhập và phân quyền.</a:t>
            </a:r>
            <a:endParaRPr lang="en-US" sz="900" dirty="0"/>
          </a:p>
        </p:txBody>
      </p:sp>
      <p:sp>
        <p:nvSpPr>
          <p:cNvPr id="155" name="Shape 153"/>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56" name="Text 154"/>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SV3-07-users</a:t>
            </a:r>
            <a:endParaRPr lang="en-US" sz="840" dirty="0"/>
          </a:p>
        </p:txBody>
      </p:sp>
      <p:sp>
        <p:nvSpPr>
          <p:cNvPr id="157" name="Text 155"/>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1000" y="247650"/>
            <a:ext cx="1524000" cy="228600"/>
          </a:xfrm>
          <a:prstGeom prst="roundRect">
            <a:avLst>
              <a:gd name="adj" fmla="val 50000"/>
            </a:avLst>
          </a:prstGeom>
          <a:solidFill>
            <a:srgbClr val="FFFBEB"/>
          </a:solidFill>
          <a:ln/>
        </p:spPr>
      </p:sp>
      <p:sp>
        <p:nvSpPr>
          <p:cNvPr id="3" name="Text 1"/>
          <p:cNvSpPr txBox="1"/>
          <p:nvPr/>
        </p:nvSpPr>
        <p:spPr>
          <a:xfrm>
            <a:off x="409575" y="247650"/>
            <a:ext cx="1466850" cy="228600"/>
          </a:xfrm>
          <a:prstGeom prst="rect">
            <a:avLst/>
          </a:prstGeom>
          <a:noFill/>
          <a:ln/>
        </p:spPr>
        <p:txBody>
          <a:bodyPr wrap="square" lIns="0" tIns="0" rIns="0" bIns="0" rtlCol="0" anchor="ctr"/>
          <a:lstStyle/>
          <a:p>
            <a:pPr algn="ctr" indent="0" marL="0">
              <a:lnSpc>
                <a:spcPct val="106000"/>
              </a:lnSpc>
              <a:buNone/>
            </a:pPr>
            <a:r>
              <a:rPr lang="en-US" sz="760" b="1" dirty="0">
                <a:solidFill>
                  <a:srgbClr val="B45309"/>
                </a:solidFill>
                <a:latin typeface="Segoe UI" pitchFamily="34" charset="0"/>
                <a:ea typeface="Segoe UI" pitchFamily="34" charset="-122"/>
                <a:cs typeface="Segoe UI" pitchFamily="34" charset="-120"/>
              </a:rPr>
              <a:t>QUẢN TRỊ VIÊN</a:t>
            </a:r>
            <a:endParaRPr lang="en-US" sz="760" dirty="0"/>
          </a:p>
        </p:txBody>
      </p:sp>
      <p:sp>
        <p:nvSpPr>
          <p:cNvPr id="4" name="Text 2"/>
          <p:cNvSpPr txBox="1"/>
          <p:nvPr/>
        </p:nvSpPr>
        <p:spPr>
          <a:xfrm>
            <a:off x="10287000" y="276225"/>
            <a:ext cx="1524000" cy="171450"/>
          </a:xfrm>
          <a:prstGeom prst="rect">
            <a:avLst/>
          </a:prstGeom>
          <a:noFill/>
          <a:ln/>
        </p:spPr>
        <p:txBody>
          <a:bodyPr wrap="square" lIns="0" tIns="0" rIns="0" bIns="0" rtlCol="0" anchor="t"/>
          <a:lstStyle/>
          <a:p>
            <a:pPr algn="r" indent="0" marL="0">
              <a:lnSpc>
                <a:spcPct val="106000"/>
              </a:lnSpc>
              <a:buNone/>
            </a:pPr>
            <a:r>
              <a:rPr lang="en-US" sz="900" dirty="0">
                <a:solidFill>
                  <a:srgbClr val="94A3B8"/>
                </a:solidFill>
                <a:latin typeface="Segoe UI" pitchFamily="34" charset="0"/>
                <a:ea typeface="Segoe UI" pitchFamily="34" charset="-122"/>
                <a:cs typeface="Segoe UI" pitchFamily="34" charset="-120"/>
              </a:rPr>
              <a:t>26 / 27</a:t>
            </a:r>
            <a:endParaRPr lang="en-US" sz="900" dirty="0"/>
          </a:p>
        </p:txBody>
      </p:sp>
      <p:sp>
        <p:nvSpPr>
          <p:cNvPr id="5" name="Text 3"/>
          <p:cNvSpPr txBox="1"/>
          <p:nvPr/>
        </p:nvSpPr>
        <p:spPr>
          <a:xfrm>
            <a:off x="381000" y="533400"/>
            <a:ext cx="8096250" cy="361950"/>
          </a:xfrm>
          <a:prstGeom prst="rect">
            <a:avLst/>
          </a:prstGeom>
          <a:noFill/>
          <a:ln/>
        </p:spPr>
        <p:txBody>
          <a:bodyPr wrap="square" lIns="0" tIns="0" rIns="0" bIns="0" rtlCol="0" anchor="t"/>
          <a:lstStyle/>
          <a:p>
            <a:pPr algn="l" indent="0" marL="0">
              <a:lnSpc>
                <a:spcPct val="106000"/>
              </a:lnSpc>
              <a:buNone/>
            </a:pPr>
            <a:r>
              <a:rPr lang="en-US" sz="2400" b="1" dirty="0">
                <a:solidFill>
                  <a:srgbClr val="0F172A"/>
                </a:solidFill>
                <a:latin typeface="Segoe UI" pitchFamily="34" charset="0"/>
                <a:ea typeface="Segoe UI" pitchFamily="34" charset="-122"/>
                <a:cs typeface="Segoe UI" pitchFamily="34" charset="-120"/>
              </a:rPr>
              <a:t>Bảng điều khiển hệ thống</a:t>
            </a:r>
            <a:endParaRPr lang="en-US" sz="2400" dirty="0"/>
          </a:p>
        </p:txBody>
      </p:sp>
      <p:sp>
        <p:nvSpPr>
          <p:cNvPr id="6" name="Text 4"/>
          <p:cNvSpPr txBox="1"/>
          <p:nvPr/>
        </p:nvSpPr>
        <p:spPr>
          <a:xfrm>
            <a:off x="381000" y="933450"/>
            <a:ext cx="7239000" cy="152400"/>
          </a:xfrm>
          <a:prstGeom prst="rect">
            <a:avLst/>
          </a:prstGeom>
          <a:noFill/>
          <a:ln/>
        </p:spPr>
        <p:txBody>
          <a:bodyPr wrap="square" lIns="0" tIns="0" rIns="0" bIns="0" rtlCol="0" anchor="t"/>
          <a:lstStyle/>
          <a:p>
            <a:pPr algn="l" indent="0" marL="0">
              <a:lnSpc>
                <a:spcPct val="106000"/>
              </a:lnSpc>
              <a:buNone/>
            </a:pPr>
            <a:r>
              <a:rPr lang="en-US" sz="900" dirty="0">
                <a:solidFill>
                  <a:srgbClr val="475569"/>
                </a:solidFill>
                <a:latin typeface="Segoe UI" pitchFamily="34" charset="0"/>
                <a:ea typeface="Segoe UI" pitchFamily="34" charset="-122"/>
                <a:cs typeface="Segoe UI" pitchFamily="34" charset="-120"/>
              </a:rPr>
              <a:t>pages/admin-system-dashboard.html</a:t>
            </a:r>
            <a:endParaRPr lang="en-US" sz="900" dirty="0"/>
          </a:p>
        </p:txBody>
      </p:sp>
      <p:sp>
        <p:nvSpPr>
          <p:cNvPr id="7" name="Shape 5"/>
          <p:cNvSpPr/>
          <p:nvPr/>
        </p:nvSpPr>
        <p:spPr>
          <a:xfrm>
            <a:off x="381000" y="1123950"/>
            <a:ext cx="8001000" cy="5467350"/>
          </a:xfrm>
          <a:prstGeom prst="roundRect">
            <a:avLst>
              <a:gd name="adj" fmla="val 2091"/>
            </a:avLst>
          </a:prstGeom>
          <a:solidFill>
            <a:srgbClr val="FFFFFF"/>
          </a:solidFill>
          <a:ln w="9525">
            <a:solidFill>
              <a:srgbClr val="E2E8F0"/>
            </a:solidFill>
            <a:prstDash val="solid"/>
          </a:ln>
        </p:spPr>
      </p:sp>
      <p:sp>
        <p:nvSpPr>
          <p:cNvPr id="8" name="Shape 6"/>
          <p:cNvSpPr/>
          <p:nvPr/>
        </p:nvSpPr>
        <p:spPr>
          <a:xfrm>
            <a:off x="390525" y="1133475"/>
            <a:ext cx="7981950" cy="295275"/>
          </a:xfrm>
          <a:prstGeom prst="rect">
            <a:avLst/>
          </a:prstGeom>
          <a:solidFill>
            <a:srgbClr val="F1F5F9"/>
          </a:solidFill>
          <a:ln/>
        </p:spPr>
      </p:sp>
      <p:sp>
        <p:nvSpPr>
          <p:cNvPr id="9" name="Shape 7"/>
          <p:cNvSpPr/>
          <p:nvPr/>
        </p:nvSpPr>
        <p:spPr>
          <a:xfrm>
            <a:off x="514350" y="1247775"/>
            <a:ext cx="57150" cy="57150"/>
          </a:xfrm>
          <a:prstGeom prst="ellipse">
            <a:avLst/>
          </a:prstGeom>
          <a:solidFill>
            <a:srgbClr val="CBD5E1"/>
          </a:solidFill>
          <a:ln/>
        </p:spPr>
      </p:sp>
      <p:sp>
        <p:nvSpPr>
          <p:cNvPr id="10" name="Shape 8"/>
          <p:cNvSpPr/>
          <p:nvPr/>
        </p:nvSpPr>
        <p:spPr>
          <a:xfrm>
            <a:off x="628650" y="1247775"/>
            <a:ext cx="57150" cy="57150"/>
          </a:xfrm>
          <a:prstGeom prst="ellipse">
            <a:avLst/>
          </a:prstGeom>
          <a:solidFill>
            <a:srgbClr val="CBD5E1"/>
          </a:solidFill>
          <a:ln/>
        </p:spPr>
      </p:sp>
      <p:sp>
        <p:nvSpPr>
          <p:cNvPr id="11" name="Shape 9"/>
          <p:cNvSpPr/>
          <p:nvPr/>
        </p:nvSpPr>
        <p:spPr>
          <a:xfrm>
            <a:off x="742950" y="1247775"/>
            <a:ext cx="57150" cy="57150"/>
          </a:xfrm>
          <a:prstGeom prst="ellipse">
            <a:avLst/>
          </a:prstGeom>
          <a:solidFill>
            <a:srgbClr val="CBD5E1"/>
          </a:solidFill>
          <a:ln/>
        </p:spPr>
      </p:sp>
      <p:sp>
        <p:nvSpPr>
          <p:cNvPr id="12" name="Shape 10"/>
          <p:cNvSpPr/>
          <p:nvPr/>
        </p:nvSpPr>
        <p:spPr>
          <a:xfrm>
            <a:off x="914400" y="1190625"/>
            <a:ext cx="3143250" cy="180975"/>
          </a:xfrm>
          <a:prstGeom prst="roundRect">
            <a:avLst>
              <a:gd name="adj" fmla="val 47368"/>
            </a:avLst>
          </a:prstGeom>
          <a:solidFill>
            <a:srgbClr val="FFFFFF"/>
          </a:solidFill>
          <a:ln w="9525">
            <a:solidFill>
              <a:srgbClr val="E2E8F0"/>
            </a:solidFill>
            <a:prstDash val="solid"/>
          </a:ln>
        </p:spPr>
      </p:sp>
      <p:sp>
        <p:nvSpPr>
          <p:cNvPr id="13" name="Text 11"/>
          <p:cNvSpPr txBox="1"/>
          <p:nvPr/>
        </p:nvSpPr>
        <p:spPr>
          <a:xfrm>
            <a:off x="1009650" y="1228725"/>
            <a:ext cx="2952750" cy="1143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spendwise.app/pages/admin-system-dashboard.html</a:t>
            </a:r>
            <a:endParaRPr lang="en-US" sz="700" dirty="0"/>
          </a:p>
        </p:txBody>
      </p:sp>
      <p:sp>
        <p:nvSpPr>
          <p:cNvPr id="14" name="Shape 12"/>
          <p:cNvSpPr/>
          <p:nvPr/>
        </p:nvSpPr>
        <p:spPr>
          <a:xfrm>
            <a:off x="390525" y="1419225"/>
            <a:ext cx="1409700" cy="5172075"/>
          </a:xfrm>
          <a:prstGeom prst="rect">
            <a:avLst/>
          </a:prstGeom>
          <a:solidFill>
            <a:srgbClr val="FFFFFF"/>
          </a:solidFill>
          <a:ln/>
        </p:spPr>
      </p:sp>
      <p:sp>
        <p:nvSpPr>
          <p:cNvPr id="15" name="Shape 13"/>
          <p:cNvSpPr/>
          <p:nvPr/>
        </p:nvSpPr>
        <p:spPr>
          <a:xfrm>
            <a:off x="1800225" y="1419225"/>
            <a:ext cx="5172075" cy="9525"/>
          </a:xfrm>
          <a:prstGeom prst="line">
            <a:avLst/>
          </a:prstGeom>
          <a:solidFill>
            <a:srgbClr val="FFFFFF">
              <a:alpha val="0"/>
            </a:srgbClr>
          </a:solidFill>
          <a:ln w="9525">
            <a:solidFill>
              <a:srgbClr val="E2E8F0"/>
            </a:solidFill>
            <a:prstDash val="solid"/>
          </a:ln>
        </p:spPr>
      </p:sp>
      <p:sp>
        <p:nvSpPr>
          <p:cNvPr id="16" name="Shape 14"/>
          <p:cNvSpPr/>
          <p:nvPr/>
        </p:nvSpPr>
        <p:spPr>
          <a:xfrm>
            <a:off x="495300" y="1552575"/>
            <a:ext cx="152400" cy="152400"/>
          </a:xfrm>
          <a:prstGeom prst="roundRect">
            <a:avLst>
              <a:gd name="adj" fmla="val 25000"/>
            </a:avLst>
          </a:prstGeom>
          <a:solidFill>
            <a:srgbClr val="059669"/>
          </a:solidFill>
          <a:ln/>
        </p:spPr>
      </p:sp>
      <p:sp>
        <p:nvSpPr>
          <p:cNvPr id="17" name="Text 15"/>
          <p:cNvSpPr txBox="1"/>
          <p:nvPr/>
        </p:nvSpPr>
        <p:spPr>
          <a:xfrm>
            <a:off x="495300" y="1552575"/>
            <a:ext cx="152400" cy="152400"/>
          </a:xfrm>
          <a:prstGeom prst="rect">
            <a:avLst/>
          </a:prstGeom>
          <a:noFill/>
          <a:ln/>
        </p:spPr>
        <p:txBody>
          <a:bodyPr wrap="square" lIns="0" tIns="0" rIns="0" bIns="0" rtlCol="0" anchor="ctr"/>
          <a:lstStyle/>
          <a:p>
            <a:pPr algn="ctr" indent="0" marL="0">
              <a:lnSpc>
                <a:spcPct val="106000"/>
              </a:lnSpc>
              <a:buNone/>
            </a:pPr>
            <a:r>
              <a:rPr lang="en-US" sz="800" b="1" dirty="0">
                <a:solidFill>
                  <a:srgbClr val="FFFFFF"/>
                </a:solidFill>
                <a:latin typeface="Segoe UI" pitchFamily="34" charset="0"/>
                <a:ea typeface="Segoe UI" pitchFamily="34" charset="-122"/>
                <a:cs typeface="Segoe UI" pitchFamily="34" charset="-120"/>
              </a:rPr>
              <a:t>S</a:t>
            </a:r>
            <a:endParaRPr lang="en-US" sz="800" dirty="0"/>
          </a:p>
        </p:txBody>
      </p:sp>
      <p:sp>
        <p:nvSpPr>
          <p:cNvPr id="18" name="Text 16"/>
          <p:cNvSpPr txBox="1"/>
          <p:nvPr/>
        </p:nvSpPr>
        <p:spPr>
          <a:xfrm>
            <a:off x="704850" y="1524000"/>
            <a:ext cx="1047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SpendWise</a:t>
            </a:r>
            <a:endParaRPr lang="en-US" sz="1050" dirty="0"/>
          </a:p>
        </p:txBody>
      </p:sp>
      <p:sp>
        <p:nvSpPr>
          <p:cNvPr id="19" name="Shape 17"/>
          <p:cNvSpPr/>
          <p:nvPr/>
        </p:nvSpPr>
        <p:spPr>
          <a:xfrm>
            <a:off x="495300" y="1809750"/>
            <a:ext cx="952500" cy="171450"/>
          </a:xfrm>
          <a:prstGeom prst="roundRect">
            <a:avLst>
              <a:gd name="adj" fmla="val 50000"/>
            </a:avLst>
          </a:prstGeom>
          <a:solidFill>
            <a:srgbClr val="ECFDF5"/>
          </a:solidFill>
          <a:ln/>
        </p:spPr>
      </p:sp>
      <p:sp>
        <p:nvSpPr>
          <p:cNvPr id="20" name="Text 18"/>
          <p:cNvSpPr txBox="1"/>
          <p:nvPr/>
        </p:nvSpPr>
        <p:spPr>
          <a:xfrm>
            <a:off x="523875" y="1809750"/>
            <a:ext cx="895350" cy="171450"/>
          </a:xfrm>
          <a:prstGeom prst="rect">
            <a:avLst/>
          </a:prstGeom>
          <a:noFill/>
          <a:ln/>
        </p:spPr>
        <p:txBody>
          <a:bodyPr wrap="square" lIns="0" tIns="0" rIns="0" bIns="0" rtlCol="0" anchor="ctr"/>
          <a:lstStyle/>
          <a:p>
            <a:pPr algn="ctr" indent="0" marL="0">
              <a:lnSpc>
                <a:spcPct val="106000"/>
              </a:lnSpc>
              <a:buNone/>
            </a:pPr>
            <a:r>
              <a:rPr lang="en-US" sz="640" b="1" dirty="0">
                <a:solidFill>
                  <a:srgbClr val="047857"/>
                </a:solidFill>
                <a:latin typeface="Segoe UI" pitchFamily="34" charset="0"/>
                <a:ea typeface="Segoe UI" pitchFamily="34" charset="-122"/>
                <a:cs typeface="Segoe UI" pitchFamily="34" charset="-120"/>
              </a:rPr>
              <a:t>Quản trị viên</a:t>
            </a:r>
            <a:endParaRPr lang="en-US" sz="640" dirty="0"/>
          </a:p>
        </p:txBody>
      </p:sp>
      <p:sp>
        <p:nvSpPr>
          <p:cNvPr id="21" name="Text 19"/>
          <p:cNvSpPr txBox="1"/>
          <p:nvPr/>
        </p:nvSpPr>
        <p:spPr>
          <a:xfrm>
            <a:off x="609600" y="2114550"/>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Danh mục chi</a:t>
            </a:r>
            <a:endParaRPr lang="en-US" sz="820" dirty="0"/>
          </a:p>
        </p:txBody>
      </p:sp>
      <p:sp>
        <p:nvSpPr>
          <p:cNvPr id="22" name="Text 20"/>
          <p:cNvSpPr txBox="1"/>
          <p:nvPr/>
        </p:nvSpPr>
        <p:spPr>
          <a:xfrm>
            <a:off x="609600" y="2371725"/>
            <a:ext cx="1028700" cy="152400"/>
          </a:xfrm>
          <a:prstGeom prst="rect">
            <a:avLst/>
          </a:prstGeom>
          <a:noFill/>
          <a:ln/>
        </p:spPr>
        <p:txBody>
          <a:bodyPr wrap="square" lIns="0" tIns="0" rIns="0" bIns="0" rtlCol="0" anchor="t"/>
          <a:lstStyle/>
          <a:p>
            <a:pPr algn="l" indent="0" marL="0">
              <a:lnSpc>
                <a:spcPct val="106000"/>
              </a:lnSpc>
              <a:buNone/>
            </a:pPr>
            <a:r>
              <a:rPr lang="en-US" sz="820" dirty="0">
                <a:solidFill>
                  <a:srgbClr val="475569"/>
                </a:solidFill>
                <a:latin typeface="Segoe UI" pitchFamily="34" charset="0"/>
                <a:ea typeface="Segoe UI" pitchFamily="34" charset="-122"/>
                <a:cs typeface="Segoe UI" pitchFamily="34" charset="-120"/>
              </a:rPr>
              <a:t>Người dùng</a:t>
            </a:r>
            <a:endParaRPr lang="en-US" sz="820" dirty="0"/>
          </a:p>
        </p:txBody>
      </p:sp>
      <p:sp>
        <p:nvSpPr>
          <p:cNvPr id="23" name="Shape 21"/>
          <p:cNvSpPr/>
          <p:nvPr/>
        </p:nvSpPr>
        <p:spPr>
          <a:xfrm>
            <a:off x="495300" y="2600325"/>
            <a:ext cx="1181100" cy="209550"/>
          </a:xfrm>
          <a:prstGeom prst="roundRect">
            <a:avLst>
              <a:gd name="adj" fmla="val 27273"/>
            </a:avLst>
          </a:prstGeom>
          <a:solidFill>
            <a:srgbClr val="ECFDF5"/>
          </a:solidFill>
          <a:ln/>
        </p:spPr>
      </p:sp>
      <p:sp>
        <p:nvSpPr>
          <p:cNvPr id="24" name="Text 22"/>
          <p:cNvSpPr txBox="1"/>
          <p:nvPr/>
        </p:nvSpPr>
        <p:spPr>
          <a:xfrm>
            <a:off x="609600" y="2628900"/>
            <a:ext cx="1028700" cy="152400"/>
          </a:xfrm>
          <a:prstGeom prst="rect">
            <a:avLst/>
          </a:prstGeom>
          <a:noFill/>
          <a:ln/>
        </p:spPr>
        <p:txBody>
          <a:bodyPr wrap="square" lIns="0" tIns="0" rIns="0" bIns="0" rtlCol="0" anchor="t"/>
          <a:lstStyle/>
          <a:p>
            <a:pPr algn="l" indent="0" marL="0">
              <a:lnSpc>
                <a:spcPct val="106000"/>
              </a:lnSpc>
              <a:buNone/>
            </a:pPr>
            <a:r>
              <a:rPr lang="en-US" sz="820" b="1" dirty="0">
                <a:solidFill>
                  <a:srgbClr val="047857"/>
                </a:solidFill>
                <a:latin typeface="Segoe UI" pitchFamily="34" charset="0"/>
                <a:ea typeface="Segoe UI" pitchFamily="34" charset="-122"/>
                <a:cs typeface="Segoe UI" pitchFamily="34" charset="-120"/>
              </a:rPr>
              <a:t>Hệ thống</a:t>
            </a:r>
            <a:endParaRPr lang="en-US" sz="820" dirty="0"/>
          </a:p>
        </p:txBody>
      </p:sp>
      <p:sp>
        <p:nvSpPr>
          <p:cNvPr id="25" name="Shape 23"/>
          <p:cNvSpPr/>
          <p:nvPr/>
        </p:nvSpPr>
        <p:spPr>
          <a:xfrm>
            <a:off x="495300" y="6105525"/>
            <a:ext cx="1200150" cy="9525"/>
          </a:xfrm>
          <a:prstGeom prst="line">
            <a:avLst/>
          </a:prstGeom>
          <a:solidFill>
            <a:srgbClr val="FFFFFF">
              <a:alpha val="0"/>
            </a:srgbClr>
          </a:solidFill>
          <a:ln w="9525">
            <a:solidFill>
              <a:srgbClr val="E2E8F0"/>
            </a:solidFill>
            <a:prstDash val="solid"/>
          </a:ln>
        </p:spPr>
      </p:sp>
      <p:sp>
        <p:nvSpPr>
          <p:cNvPr id="26" name="Text 24"/>
          <p:cNvSpPr txBox="1"/>
          <p:nvPr/>
        </p:nvSpPr>
        <p:spPr>
          <a:xfrm>
            <a:off x="514350" y="6200775"/>
            <a:ext cx="1200150" cy="114300"/>
          </a:xfrm>
          <a:prstGeom prst="rect">
            <a:avLst/>
          </a:prstGeom>
          <a:noFill/>
          <a:ln/>
        </p:spPr>
        <p:txBody>
          <a:bodyPr wrap="square" lIns="0" tIns="0" rIns="0" bIns="0" rtlCol="0" anchor="t"/>
          <a:lstStyle/>
          <a:p>
            <a:pPr algn="l" indent="0" marL="0">
              <a:lnSpc>
                <a:spcPct val="106000"/>
              </a:lnSpc>
              <a:buNone/>
            </a:pPr>
            <a:r>
              <a:rPr lang="en-US" sz="620" dirty="0">
                <a:solidFill>
                  <a:srgbClr val="94A3B8"/>
                </a:solidFill>
                <a:latin typeface="Segoe UI" pitchFamily="34" charset="0"/>
                <a:ea typeface="Segoe UI" pitchFamily="34" charset="-122"/>
                <a:cs typeface="Segoe UI" pitchFamily="34" charset="-120"/>
              </a:rPr>
              <a:t>Tháng dữ liệu 10/2026</a:t>
            </a:r>
            <a:endParaRPr lang="en-US" sz="620" dirty="0"/>
          </a:p>
        </p:txBody>
      </p:sp>
      <p:sp>
        <p:nvSpPr>
          <p:cNvPr id="27" name="Text 25"/>
          <p:cNvSpPr txBox="1"/>
          <p:nvPr/>
        </p:nvSpPr>
        <p:spPr>
          <a:xfrm>
            <a:off x="514350" y="6353175"/>
            <a:ext cx="952500" cy="133350"/>
          </a:xfrm>
          <a:prstGeom prst="rect">
            <a:avLst/>
          </a:prstGeom>
          <a:noFill/>
          <a:ln/>
        </p:spPr>
        <p:txBody>
          <a:bodyPr wrap="square" lIns="0" tIns="0" rIns="0" bIns="0" rtlCol="0" anchor="t"/>
          <a:lstStyle/>
          <a:p>
            <a:pPr algn="l" indent="0" marL="0">
              <a:lnSpc>
                <a:spcPct val="106000"/>
              </a:lnSpc>
              <a:buNone/>
            </a:pPr>
            <a:r>
              <a:rPr lang="en-US" sz="740" dirty="0">
                <a:solidFill>
                  <a:srgbClr val="475569"/>
                </a:solidFill>
                <a:latin typeface="Segoe UI" pitchFamily="34" charset="0"/>
                <a:ea typeface="Segoe UI" pitchFamily="34" charset="-122"/>
                <a:cs typeface="Segoe UI" pitchFamily="34" charset="-120"/>
              </a:rPr>
              <a:t>Đăng xuất</a:t>
            </a:r>
            <a:endParaRPr lang="en-US" sz="740" dirty="0"/>
          </a:p>
        </p:txBody>
      </p:sp>
      <p:sp>
        <p:nvSpPr>
          <p:cNvPr id="28" name="Shape 26"/>
          <p:cNvSpPr/>
          <p:nvPr/>
        </p:nvSpPr>
        <p:spPr>
          <a:xfrm>
            <a:off x="1809750" y="1419225"/>
            <a:ext cx="6572250" cy="428625"/>
          </a:xfrm>
          <a:prstGeom prst="rect">
            <a:avLst/>
          </a:prstGeom>
          <a:solidFill>
            <a:srgbClr val="FFFFFF"/>
          </a:solidFill>
          <a:ln/>
        </p:spPr>
      </p:sp>
      <p:sp>
        <p:nvSpPr>
          <p:cNvPr id="29" name="Shape 27"/>
          <p:cNvSpPr/>
          <p:nvPr/>
        </p:nvSpPr>
        <p:spPr>
          <a:xfrm>
            <a:off x="1809750" y="1847850"/>
            <a:ext cx="6572250" cy="9525"/>
          </a:xfrm>
          <a:prstGeom prst="line">
            <a:avLst/>
          </a:prstGeom>
          <a:solidFill>
            <a:srgbClr val="FFFFFF">
              <a:alpha val="0"/>
            </a:srgbClr>
          </a:solidFill>
          <a:ln w="9525">
            <a:solidFill>
              <a:srgbClr val="E2E8F0"/>
            </a:solidFill>
            <a:prstDash val="solid"/>
          </a:ln>
        </p:spPr>
      </p:sp>
      <p:sp>
        <p:nvSpPr>
          <p:cNvPr id="30" name="Text 28"/>
          <p:cNvSpPr txBox="1"/>
          <p:nvPr/>
        </p:nvSpPr>
        <p:spPr>
          <a:xfrm>
            <a:off x="1962150" y="1552575"/>
            <a:ext cx="4476750" cy="171450"/>
          </a:xfrm>
          <a:prstGeom prst="rect">
            <a:avLst/>
          </a:prstGeom>
          <a:noFill/>
          <a:ln/>
        </p:spPr>
        <p:txBody>
          <a:bodyPr wrap="square" lIns="0" tIns="0" rIns="0" bIns="0" rtlCol="0" anchor="t"/>
          <a:lstStyle/>
          <a:p>
            <a:pPr algn="l" indent="0" marL="0">
              <a:lnSpc>
                <a:spcPct val="106000"/>
              </a:lnSpc>
              <a:buNone/>
            </a:pPr>
            <a:r>
              <a:rPr lang="en-US" sz="1050" b="1" dirty="0">
                <a:solidFill>
                  <a:srgbClr val="0F172A"/>
                </a:solidFill>
                <a:latin typeface="Segoe UI" pitchFamily="34" charset="0"/>
                <a:ea typeface="Segoe UI" pitchFamily="34" charset="-122"/>
                <a:cs typeface="Segoe UI" pitchFamily="34" charset="-120"/>
              </a:rPr>
              <a:t>Bảng điều khiển hệ thống</a:t>
            </a:r>
            <a:endParaRPr lang="en-US" sz="1050" dirty="0"/>
          </a:p>
        </p:txBody>
      </p:sp>
      <p:sp>
        <p:nvSpPr>
          <p:cNvPr id="31" name="Shape 29"/>
          <p:cNvSpPr/>
          <p:nvPr/>
        </p:nvSpPr>
        <p:spPr>
          <a:xfrm>
            <a:off x="7315200" y="1533525"/>
            <a:ext cx="914400" cy="171450"/>
          </a:xfrm>
          <a:prstGeom prst="roundRect">
            <a:avLst>
              <a:gd name="adj" fmla="val 50000"/>
            </a:avLst>
          </a:prstGeom>
          <a:solidFill>
            <a:srgbClr val="F1F5F9"/>
          </a:solidFill>
          <a:ln/>
        </p:spPr>
      </p:sp>
      <p:sp>
        <p:nvSpPr>
          <p:cNvPr id="32" name="Text 30"/>
          <p:cNvSpPr txBox="1"/>
          <p:nvPr/>
        </p:nvSpPr>
        <p:spPr>
          <a:xfrm>
            <a:off x="7372350" y="1533525"/>
            <a:ext cx="819150" cy="171450"/>
          </a:xfrm>
          <a:prstGeom prst="rect">
            <a:avLst/>
          </a:prstGeom>
          <a:noFill/>
          <a:ln/>
        </p:spPr>
        <p:txBody>
          <a:bodyPr wrap="square" lIns="0" tIns="0" rIns="0" bIns="0" rtlCol="0" anchor="ctr"/>
          <a:lstStyle/>
          <a:p>
            <a:pPr algn="ctr" indent="0" marL="0">
              <a:lnSpc>
                <a:spcPct val="106000"/>
              </a:lnSpc>
              <a:buNone/>
            </a:pPr>
            <a:r>
              <a:rPr lang="en-US" sz="700" dirty="0">
                <a:solidFill>
                  <a:srgbClr val="475569"/>
                </a:solidFill>
                <a:latin typeface="Segoe UI" pitchFamily="34" charset="0"/>
                <a:ea typeface="Segoe UI" pitchFamily="34" charset="-122"/>
                <a:cs typeface="Segoe UI" pitchFamily="34" charset="-120"/>
              </a:rPr>
              <a:t>Quản trị hệ thống</a:t>
            </a:r>
            <a:endParaRPr lang="en-US" sz="700" dirty="0"/>
          </a:p>
        </p:txBody>
      </p:sp>
      <p:sp>
        <p:nvSpPr>
          <p:cNvPr id="33" name="Shape 31"/>
          <p:cNvSpPr/>
          <p:nvPr/>
        </p:nvSpPr>
        <p:spPr>
          <a:xfrm>
            <a:off x="1943100" y="1952625"/>
            <a:ext cx="1466850" cy="590550"/>
          </a:xfrm>
          <a:prstGeom prst="roundRect">
            <a:avLst>
              <a:gd name="adj" fmla="val 12903"/>
            </a:avLst>
          </a:prstGeom>
          <a:solidFill>
            <a:srgbClr val="FFFFFF"/>
          </a:solidFill>
          <a:ln w="9525">
            <a:solidFill>
              <a:srgbClr val="E2E8F0"/>
            </a:solidFill>
            <a:prstDash val="solid"/>
          </a:ln>
        </p:spPr>
      </p:sp>
      <p:sp>
        <p:nvSpPr>
          <p:cNvPr id="34" name="Text 32"/>
          <p:cNvSpPr txBox="1"/>
          <p:nvPr/>
        </p:nvSpPr>
        <p:spPr>
          <a:xfrm>
            <a:off x="2057400" y="2038350"/>
            <a:ext cx="1257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Tài khoản</a:t>
            </a:r>
            <a:endParaRPr lang="en-US" sz="640" dirty="0"/>
          </a:p>
        </p:txBody>
      </p:sp>
      <p:sp>
        <p:nvSpPr>
          <p:cNvPr id="35" name="Text 33"/>
          <p:cNvSpPr txBox="1"/>
          <p:nvPr/>
        </p:nvSpPr>
        <p:spPr>
          <a:xfrm>
            <a:off x="2057400" y="2171700"/>
            <a:ext cx="476250" cy="19050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6</a:t>
            </a:r>
            <a:endParaRPr lang="en-US" sz="1300" dirty="0"/>
          </a:p>
        </p:txBody>
      </p:sp>
      <p:sp>
        <p:nvSpPr>
          <p:cNvPr id="36" name="Text 34"/>
          <p:cNvSpPr txBox="1"/>
          <p:nvPr/>
        </p:nvSpPr>
        <p:spPr>
          <a:xfrm>
            <a:off x="2057400" y="2390775"/>
            <a:ext cx="125730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5 hoạt động · 1 khoá</a:t>
            </a:r>
            <a:endParaRPr lang="en-US" sz="580" dirty="0"/>
          </a:p>
        </p:txBody>
      </p:sp>
      <p:sp>
        <p:nvSpPr>
          <p:cNvPr id="37" name="Shape 35"/>
          <p:cNvSpPr/>
          <p:nvPr/>
        </p:nvSpPr>
        <p:spPr>
          <a:xfrm>
            <a:off x="3524250" y="1952625"/>
            <a:ext cx="1466850" cy="590550"/>
          </a:xfrm>
          <a:prstGeom prst="roundRect">
            <a:avLst>
              <a:gd name="adj" fmla="val 12903"/>
            </a:avLst>
          </a:prstGeom>
          <a:solidFill>
            <a:srgbClr val="FFFFFF"/>
          </a:solidFill>
          <a:ln w="9525">
            <a:solidFill>
              <a:srgbClr val="E2E8F0"/>
            </a:solidFill>
            <a:prstDash val="solid"/>
          </a:ln>
        </p:spPr>
      </p:sp>
      <p:sp>
        <p:nvSpPr>
          <p:cNvPr id="38" name="Text 36"/>
          <p:cNvSpPr txBox="1"/>
          <p:nvPr/>
        </p:nvSpPr>
        <p:spPr>
          <a:xfrm>
            <a:off x="3638550" y="2038350"/>
            <a:ext cx="1257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Giao dịch hoạt động</a:t>
            </a:r>
            <a:endParaRPr lang="en-US" sz="640" dirty="0"/>
          </a:p>
        </p:txBody>
      </p:sp>
      <p:sp>
        <p:nvSpPr>
          <p:cNvPr id="39" name="Text 37"/>
          <p:cNvSpPr txBox="1"/>
          <p:nvPr/>
        </p:nvSpPr>
        <p:spPr>
          <a:xfrm>
            <a:off x="3638550" y="2171700"/>
            <a:ext cx="476250" cy="19050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17</a:t>
            </a:r>
            <a:endParaRPr lang="en-US" sz="1300" dirty="0"/>
          </a:p>
        </p:txBody>
      </p:sp>
      <p:sp>
        <p:nvSpPr>
          <p:cNvPr id="40" name="Text 38"/>
          <p:cNvSpPr txBox="1"/>
          <p:nvPr/>
        </p:nvSpPr>
        <p:spPr>
          <a:xfrm>
            <a:off x="3638550" y="2390775"/>
            <a:ext cx="125730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trong toàn hệ thống</a:t>
            </a:r>
            <a:endParaRPr lang="en-US" sz="580" dirty="0"/>
          </a:p>
        </p:txBody>
      </p:sp>
      <p:sp>
        <p:nvSpPr>
          <p:cNvPr id="41" name="Shape 39"/>
          <p:cNvSpPr/>
          <p:nvPr/>
        </p:nvSpPr>
        <p:spPr>
          <a:xfrm>
            <a:off x="5105400" y="1952625"/>
            <a:ext cx="1466850" cy="590550"/>
          </a:xfrm>
          <a:prstGeom prst="roundRect">
            <a:avLst>
              <a:gd name="adj" fmla="val 12903"/>
            </a:avLst>
          </a:prstGeom>
          <a:solidFill>
            <a:srgbClr val="FFFFFF"/>
          </a:solidFill>
          <a:ln w="9525">
            <a:solidFill>
              <a:srgbClr val="E2E8F0"/>
            </a:solidFill>
            <a:prstDash val="solid"/>
          </a:ln>
        </p:spPr>
      </p:sp>
      <p:sp>
        <p:nvSpPr>
          <p:cNvPr id="42" name="Text 40"/>
          <p:cNvSpPr txBox="1"/>
          <p:nvPr/>
        </p:nvSpPr>
        <p:spPr>
          <a:xfrm>
            <a:off x="5219700" y="2038350"/>
            <a:ext cx="1257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Tài nguyên xuất bản</a:t>
            </a:r>
            <a:endParaRPr lang="en-US" sz="640" dirty="0"/>
          </a:p>
        </p:txBody>
      </p:sp>
      <p:sp>
        <p:nvSpPr>
          <p:cNvPr id="43" name="Text 41"/>
          <p:cNvSpPr txBox="1"/>
          <p:nvPr/>
        </p:nvSpPr>
        <p:spPr>
          <a:xfrm>
            <a:off x="5219700" y="2171700"/>
            <a:ext cx="476250" cy="19050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1</a:t>
            </a:r>
            <a:endParaRPr lang="en-US" sz="1300" dirty="0"/>
          </a:p>
        </p:txBody>
      </p:sp>
      <p:sp>
        <p:nvSpPr>
          <p:cNvPr id="44" name="Text 42"/>
          <p:cNvSpPr txBox="1"/>
          <p:nvPr/>
        </p:nvSpPr>
        <p:spPr>
          <a:xfrm>
            <a:off x="5219700" y="2390775"/>
            <a:ext cx="125730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3 đang chờ xử lý</a:t>
            </a:r>
            <a:endParaRPr lang="en-US" sz="580" dirty="0"/>
          </a:p>
        </p:txBody>
      </p:sp>
      <p:sp>
        <p:nvSpPr>
          <p:cNvPr id="45" name="Shape 43"/>
          <p:cNvSpPr/>
          <p:nvPr/>
        </p:nvSpPr>
        <p:spPr>
          <a:xfrm>
            <a:off x="6686550" y="1952625"/>
            <a:ext cx="1466850" cy="590550"/>
          </a:xfrm>
          <a:prstGeom prst="roundRect">
            <a:avLst>
              <a:gd name="adj" fmla="val 12903"/>
            </a:avLst>
          </a:prstGeom>
          <a:solidFill>
            <a:srgbClr val="FFFFFF"/>
          </a:solidFill>
          <a:ln w="9525">
            <a:solidFill>
              <a:srgbClr val="E2E8F0"/>
            </a:solidFill>
            <a:prstDash val="solid"/>
          </a:ln>
        </p:spPr>
      </p:sp>
      <p:sp>
        <p:nvSpPr>
          <p:cNvPr id="46" name="Text 44"/>
          <p:cNvSpPr txBox="1"/>
          <p:nvPr/>
        </p:nvSpPr>
        <p:spPr>
          <a:xfrm>
            <a:off x="6800850" y="2038350"/>
            <a:ext cx="12573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Phản hồi chờ xử lý</a:t>
            </a:r>
            <a:endParaRPr lang="en-US" sz="640" dirty="0"/>
          </a:p>
        </p:txBody>
      </p:sp>
      <p:sp>
        <p:nvSpPr>
          <p:cNvPr id="47" name="Text 45"/>
          <p:cNvSpPr txBox="1"/>
          <p:nvPr/>
        </p:nvSpPr>
        <p:spPr>
          <a:xfrm>
            <a:off x="6800850" y="2171700"/>
            <a:ext cx="476250" cy="190500"/>
          </a:xfrm>
          <a:prstGeom prst="rect">
            <a:avLst/>
          </a:prstGeom>
          <a:noFill/>
          <a:ln/>
        </p:spPr>
        <p:txBody>
          <a:bodyPr wrap="square" lIns="0" tIns="0" rIns="0" bIns="0" rtlCol="0" anchor="t"/>
          <a:lstStyle/>
          <a:p>
            <a:pPr algn="l" indent="0" marL="0">
              <a:lnSpc>
                <a:spcPct val="106000"/>
              </a:lnSpc>
              <a:buNone/>
            </a:pPr>
            <a:r>
              <a:rPr lang="en-US" sz="1300" b="1" dirty="0">
                <a:solidFill>
                  <a:srgbClr val="0F172A"/>
                </a:solidFill>
                <a:latin typeface="Segoe UI" pitchFamily="34" charset="0"/>
                <a:ea typeface="Segoe UI" pitchFamily="34" charset="-122"/>
                <a:cs typeface="Segoe UI" pitchFamily="34" charset="-120"/>
              </a:rPr>
              <a:t>2</a:t>
            </a:r>
            <a:endParaRPr lang="en-US" sz="1300" dirty="0"/>
          </a:p>
        </p:txBody>
      </p:sp>
      <p:sp>
        <p:nvSpPr>
          <p:cNvPr id="48" name="Text 46"/>
          <p:cNvSpPr txBox="1"/>
          <p:nvPr/>
        </p:nvSpPr>
        <p:spPr>
          <a:xfrm>
            <a:off x="6800850" y="2390775"/>
            <a:ext cx="1257300" cy="95250"/>
          </a:xfrm>
          <a:prstGeom prst="rect">
            <a:avLst/>
          </a:prstGeom>
          <a:noFill/>
          <a:ln/>
        </p:spPr>
        <p:txBody>
          <a:bodyPr wrap="square" lIns="0" tIns="0" rIns="0" bIns="0" rtlCol="0" anchor="t"/>
          <a:lstStyle/>
          <a:p>
            <a:pPr algn="l" indent="0" marL="0">
              <a:lnSpc>
                <a:spcPct val="106000"/>
              </a:lnSpc>
              <a:buNone/>
            </a:pPr>
            <a:r>
              <a:rPr lang="en-US" sz="580" dirty="0">
                <a:solidFill>
                  <a:srgbClr val="94A3B8"/>
                </a:solidFill>
                <a:latin typeface="Segoe UI" pitchFamily="34" charset="0"/>
                <a:ea typeface="Segoe UI" pitchFamily="34" charset="-122"/>
                <a:cs typeface="Segoe UI" pitchFamily="34" charset="-120"/>
              </a:rPr>
              <a:t>mới + đang xử lý</a:t>
            </a:r>
            <a:endParaRPr lang="en-US" sz="580" dirty="0"/>
          </a:p>
        </p:txBody>
      </p:sp>
      <p:sp>
        <p:nvSpPr>
          <p:cNvPr id="49" name="Shape 47"/>
          <p:cNvSpPr/>
          <p:nvPr/>
        </p:nvSpPr>
        <p:spPr>
          <a:xfrm>
            <a:off x="1943100" y="2657475"/>
            <a:ext cx="3810000" cy="1857375"/>
          </a:xfrm>
          <a:prstGeom prst="roundRect">
            <a:avLst>
              <a:gd name="adj" fmla="val 4103"/>
            </a:avLst>
          </a:prstGeom>
          <a:solidFill>
            <a:srgbClr val="FFFFFF"/>
          </a:solidFill>
          <a:ln w="9525">
            <a:solidFill>
              <a:srgbClr val="E2E8F0"/>
            </a:solidFill>
            <a:prstDash val="solid"/>
          </a:ln>
        </p:spPr>
      </p:sp>
      <p:sp>
        <p:nvSpPr>
          <p:cNvPr id="50" name="Text 48"/>
          <p:cNvSpPr txBox="1"/>
          <p:nvPr/>
        </p:nvSpPr>
        <p:spPr>
          <a:xfrm>
            <a:off x="2057400" y="2743200"/>
            <a:ext cx="2857500" cy="133350"/>
          </a:xfrm>
          <a:prstGeom prst="rect">
            <a:avLst/>
          </a:prstGeom>
          <a:noFill/>
          <a:ln/>
        </p:spPr>
        <p:txBody>
          <a:bodyPr wrap="square" lIns="0" tIns="0" rIns="0" bIns="0" rtlCol="0" anchor="t"/>
          <a:lstStyle/>
          <a:p>
            <a:pPr algn="l" indent="0" marL="0">
              <a:lnSpc>
                <a:spcPct val="106000"/>
              </a:lnSpc>
              <a:buNone/>
            </a:pPr>
            <a:r>
              <a:rPr lang="en-US" sz="820" b="1" dirty="0">
                <a:solidFill>
                  <a:srgbClr val="0F172A"/>
                </a:solidFill>
                <a:latin typeface="Segoe UI" pitchFamily="34" charset="0"/>
                <a:ea typeface="Segoe UI" pitchFamily="34" charset="-122"/>
                <a:cs typeface="Segoe UI" pitchFamily="34" charset="-120"/>
              </a:rPr>
              <a:t>Giao dịch hoạt động theo tháng</a:t>
            </a:r>
            <a:endParaRPr lang="en-US" sz="820" dirty="0"/>
          </a:p>
        </p:txBody>
      </p:sp>
      <p:sp>
        <p:nvSpPr>
          <p:cNvPr id="51" name="Shape 49"/>
          <p:cNvSpPr/>
          <p:nvPr/>
        </p:nvSpPr>
        <p:spPr>
          <a:xfrm>
            <a:off x="2362200" y="3768090"/>
            <a:ext cx="400050" cy="480060"/>
          </a:xfrm>
          <a:prstGeom prst="roundRect">
            <a:avLst>
              <a:gd name="adj" fmla="val 7143"/>
            </a:avLst>
          </a:prstGeom>
          <a:solidFill>
            <a:srgbClr val="059669"/>
          </a:solidFill>
          <a:ln/>
        </p:spPr>
      </p:sp>
      <p:sp>
        <p:nvSpPr>
          <p:cNvPr id="52" name="Text 50"/>
          <p:cNvSpPr txBox="1"/>
          <p:nvPr/>
        </p:nvSpPr>
        <p:spPr>
          <a:xfrm>
            <a:off x="2362200" y="3615690"/>
            <a:ext cx="400050" cy="114300"/>
          </a:xfrm>
          <a:prstGeom prst="rect">
            <a:avLst/>
          </a:prstGeom>
          <a:noFill/>
          <a:ln/>
        </p:spPr>
        <p:txBody>
          <a:bodyPr wrap="square" lIns="0" tIns="0" rIns="0" bIns="0" rtlCol="0" anchor="t"/>
          <a:lstStyle/>
          <a:p>
            <a:pPr algn="ct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12</a:t>
            </a:r>
            <a:endParaRPr lang="en-US" sz="620" dirty="0"/>
          </a:p>
        </p:txBody>
      </p:sp>
      <p:sp>
        <p:nvSpPr>
          <p:cNvPr id="53" name="Text 51"/>
          <p:cNvSpPr txBox="1"/>
          <p:nvPr/>
        </p:nvSpPr>
        <p:spPr>
          <a:xfrm>
            <a:off x="2362200" y="4305300"/>
            <a:ext cx="400050" cy="114300"/>
          </a:xfrm>
          <a:prstGeom prst="rect">
            <a:avLst/>
          </a:prstGeom>
          <a:noFill/>
          <a:ln/>
        </p:spPr>
        <p:txBody>
          <a:bodyPr wrap="square" lIns="0" tIns="0" rIns="0" bIns="0" rtlCol="0" anchor="t"/>
          <a:lstStyle/>
          <a:p>
            <a:pPr algn="ctr" indent="0" marL="0">
              <a:lnSpc>
                <a:spcPct val="106000"/>
              </a:lnSpc>
              <a:buNone/>
            </a:pPr>
            <a:r>
              <a:rPr lang="en-US" sz="600" dirty="0">
                <a:solidFill>
                  <a:srgbClr val="94A3B8"/>
                </a:solidFill>
                <a:latin typeface="Segoe UI" pitchFamily="34" charset="0"/>
                <a:ea typeface="Segoe UI" pitchFamily="34" charset="-122"/>
                <a:cs typeface="Segoe UI" pitchFamily="34" charset="-120"/>
              </a:rPr>
              <a:t>T7</a:t>
            </a:r>
            <a:endParaRPr lang="en-US" sz="600" dirty="0"/>
          </a:p>
        </p:txBody>
      </p:sp>
      <p:sp>
        <p:nvSpPr>
          <p:cNvPr id="54" name="Shape 52"/>
          <p:cNvSpPr/>
          <p:nvPr/>
        </p:nvSpPr>
        <p:spPr>
          <a:xfrm>
            <a:off x="3067050" y="3648075"/>
            <a:ext cx="400050" cy="600075"/>
          </a:xfrm>
          <a:prstGeom prst="roundRect">
            <a:avLst>
              <a:gd name="adj" fmla="val 7143"/>
            </a:avLst>
          </a:prstGeom>
          <a:solidFill>
            <a:srgbClr val="059669"/>
          </a:solidFill>
          <a:ln/>
        </p:spPr>
      </p:sp>
      <p:sp>
        <p:nvSpPr>
          <p:cNvPr id="55" name="Text 53"/>
          <p:cNvSpPr txBox="1"/>
          <p:nvPr/>
        </p:nvSpPr>
        <p:spPr>
          <a:xfrm>
            <a:off x="3067050" y="3495675"/>
            <a:ext cx="400050" cy="114300"/>
          </a:xfrm>
          <a:prstGeom prst="rect">
            <a:avLst/>
          </a:prstGeom>
          <a:noFill/>
          <a:ln/>
        </p:spPr>
        <p:txBody>
          <a:bodyPr wrap="square" lIns="0" tIns="0" rIns="0" bIns="0" rtlCol="0" anchor="t"/>
          <a:lstStyle/>
          <a:p>
            <a:pPr algn="ct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15</a:t>
            </a:r>
            <a:endParaRPr lang="en-US" sz="620" dirty="0"/>
          </a:p>
        </p:txBody>
      </p:sp>
      <p:sp>
        <p:nvSpPr>
          <p:cNvPr id="56" name="Text 54"/>
          <p:cNvSpPr txBox="1"/>
          <p:nvPr/>
        </p:nvSpPr>
        <p:spPr>
          <a:xfrm>
            <a:off x="3067050" y="4305300"/>
            <a:ext cx="400050" cy="114300"/>
          </a:xfrm>
          <a:prstGeom prst="rect">
            <a:avLst/>
          </a:prstGeom>
          <a:noFill/>
          <a:ln/>
        </p:spPr>
        <p:txBody>
          <a:bodyPr wrap="square" lIns="0" tIns="0" rIns="0" bIns="0" rtlCol="0" anchor="t"/>
          <a:lstStyle/>
          <a:p>
            <a:pPr algn="ctr" indent="0" marL="0">
              <a:lnSpc>
                <a:spcPct val="106000"/>
              </a:lnSpc>
              <a:buNone/>
            </a:pPr>
            <a:r>
              <a:rPr lang="en-US" sz="600" dirty="0">
                <a:solidFill>
                  <a:srgbClr val="94A3B8"/>
                </a:solidFill>
                <a:latin typeface="Segoe UI" pitchFamily="34" charset="0"/>
                <a:ea typeface="Segoe UI" pitchFamily="34" charset="-122"/>
                <a:cs typeface="Segoe UI" pitchFamily="34" charset="-120"/>
              </a:rPr>
              <a:t>T8</a:t>
            </a:r>
            <a:endParaRPr lang="en-US" sz="600" dirty="0"/>
          </a:p>
        </p:txBody>
      </p:sp>
      <p:sp>
        <p:nvSpPr>
          <p:cNvPr id="57" name="Shape 55"/>
          <p:cNvSpPr/>
          <p:nvPr/>
        </p:nvSpPr>
        <p:spPr>
          <a:xfrm>
            <a:off x="3771900" y="3688080"/>
            <a:ext cx="400050" cy="560070"/>
          </a:xfrm>
          <a:prstGeom prst="roundRect">
            <a:avLst>
              <a:gd name="adj" fmla="val 7143"/>
            </a:avLst>
          </a:prstGeom>
          <a:solidFill>
            <a:srgbClr val="059669"/>
          </a:solidFill>
          <a:ln/>
        </p:spPr>
      </p:sp>
      <p:sp>
        <p:nvSpPr>
          <p:cNvPr id="58" name="Text 56"/>
          <p:cNvSpPr txBox="1"/>
          <p:nvPr/>
        </p:nvSpPr>
        <p:spPr>
          <a:xfrm>
            <a:off x="3771900" y="3535680"/>
            <a:ext cx="400050" cy="114300"/>
          </a:xfrm>
          <a:prstGeom prst="rect">
            <a:avLst/>
          </a:prstGeom>
          <a:noFill/>
          <a:ln/>
        </p:spPr>
        <p:txBody>
          <a:bodyPr wrap="square" lIns="0" tIns="0" rIns="0" bIns="0" rtlCol="0" anchor="t"/>
          <a:lstStyle/>
          <a:p>
            <a:pPr algn="ct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14</a:t>
            </a:r>
            <a:endParaRPr lang="en-US" sz="620" dirty="0"/>
          </a:p>
        </p:txBody>
      </p:sp>
      <p:sp>
        <p:nvSpPr>
          <p:cNvPr id="59" name="Text 57"/>
          <p:cNvSpPr txBox="1"/>
          <p:nvPr/>
        </p:nvSpPr>
        <p:spPr>
          <a:xfrm>
            <a:off x="3771900" y="4305300"/>
            <a:ext cx="400050" cy="114300"/>
          </a:xfrm>
          <a:prstGeom prst="rect">
            <a:avLst/>
          </a:prstGeom>
          <a:noFill/>
          <a:ln/>
        </p:spPr>
        <p:txBody>
          <a:bodyPr wrap="square" lIns="0" tIns="0" rIns="0" bIns="0" rtlCol="0" anchor="t"/>
          <a:lstStyle/>
          <a:p>
            <a:pPr algn="ctr" indent="0" marL="0">
              <a:lnSpc>
                <a:spcPct val="106000"/>
              </a:lnSpc>
              <a:buNone/>
            </a:pPr>
            <a:r>
              <a:rPr lang="en-US" sz="600" dirty="0">
                <a:solidFill>
                  <a:srgbClr val="94A3B8"/>
                </a:solidFill>
                <a:latin typeface="Segoe UI" pitchFamily="34" charset="0"/>
                <a:ea typeface="Segoe UI" pitchFamily="34" charset="-122"/>
                <a:cs typeface="Segoe UI" pitchFamily="34" charset="-120"/>
              </a:rPr>
              <a:t>T9</a:t>
            </a:r>
            <a:endParaRPr lang="en-US" sz="600" dirty="0"/>
          </a:p>
        </p:txBody>
      </p:sp>
      <p:sp>
        <p:nvSpPr>
          <p:cNvPr id="60" name="Shape 58"/>
          <p:cNvSpPr/>
          <p:nvPr/>
        </p:nvSpPr>
        <p:spPr>
          <a:xfrm>
            <a:off x="4476750" y="3568065"/>
            <a:ext cx="400050" cy="680085"/>
          </a:xfrm>
          <a:prstGeom prst="roundRect">
            <a:avLst>
              <a:gd name="adj" fmla="val 7143"/>
            </a:avLst>
          </a:prstGeom>
          <a:solidFill>
            <a:srgbClr val="F59E0B"/>
          </a:solidFill>
          <a:ln/>
        </p:spPr>
      </p:sp>
      <p:sp>
        <p:nvSpPr>
          <p:cNvPr id="61" name="Text 59"/>
          <p:cNvSpPr txBox="1"/>
          <p:nvPr/>
        </p:nvSpPr>
        <p:spPr>
          <a:xfrm>
            <a:off x="4476750" y="3415665"/>
            <a:ext cx="400050" cy="114300"/>
          </a:xfrm>
          <a:prstGeom prst="rect">
            <a:avLst/>
          </a:prstGeom>
          <a:noFill/>
          <a:ln/>
        </p:spPr>
        <p:txBody>
          <a:bodyPr wrap="square" lIns="0" tIns="0" rIns="0" bIns="0" rtlCol="0" anchor="t"/>
          <a:lstStyle/>
          <a:p>
            <a:pPr algn="ct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17</a:t>
            </a:r>
            <a:endParaRPr lang="en-US" sz="620" dirty="0"/>
          </a:p>
        </p:txBody>
      </p:sp>
      <p:sp>
        <p:nvSpPr>
          <p:cNvPr id="62" name="Text 60"/>
          <p:cNvSpPr txBox="1"/>
          <p:nvPr/>
        </p:nvSpPr>
        <p:spPr>
          <a:xfrm>
            <a:off x="4476750" y="4305300"/>
            <a:ext cx="400050" cy="114300"/>
          </a:xfrm>
          <a:prstGeom prst="rect">
            <a:avLst/>
          </a:prstGeom>
          <a:noFill/>
          <a:ln/>
        </p:spPr>
        <p:txBody>
          <a:bodyPr wrap="square" lIns="0" tIns="0" rIns="0" bIns="0" rtlCol="0" anchor="t"/>
          <a:lstStyle/>
          <a:p>
            <a:pPr algn="ctr" indent="0" marL="0">
              <a:lnSpc>
                <a:spcPct val="106000"/>
              </a:lnSpc>
              <a:buNone/>
            </a:pPr>
            <a:r>
              <a:rPr lang="en-US" sz="600" dirty="0">
                <a:solidFill>
                  <a:srgbClr val="94A3B8"/>
                </a:solidFill>
                <a:latin typeface="Segoe UI" pitchFamily="34" charset="0"/>
                <a:ea typeface="Segoe UI" pitchFamily="34" charset="-122"/>
                <a:cs typeface="Segoe UI" pitchFamily="34" charset="-120"/>
              </a:rPr>
              <a:t>T10</a:t>
            </a:r>
            <a:endParaRPr lang="en-US" sz="600" dirty="0"/>
          </a:p>
        </p:txBody>
      </p:sp>
      <p:sp>
        <p:nvSpPr>
          <p:cNvPr id="63" name="Shape 61"/>
          <p:cNvSpPr/>
          <p:nvPr/>
        </p:nvSpPr>
        <p:spPr>
          <a:xfrm>
            <a:off x="2171700" y="4248150"/>
            <a:ext cx="3238500" cy="9525"/>
          </a:xfrm>
          <a:prstGeom prst="line">
            <a:avLst/>
          </a:prstGeom>
          <a:solidFill>
            <a:srgbClr val="FFFFFF">
              <a:alpha val="0"/>
            </a:srgbClr>
          </a:solidFill>
          <a:ln w="9525">
            <a:solidFill>
              <a:srgbClr val="E2E8F0"/>
            </a:solidFill>
            <a:prstDash val="solid"/>
          </a:ln>
        </p:spPr>
      </p:sp>
      <p:sp>
        <p:nvSpPr>
          <p:cNvPr id="64" name="Shape 62"/>
          <p:cNvSpPr/>
          <p:nvPr/>
        </p:nvSpPr>
        <p:spPr>
          <a:xfrm>
            <a:off x="5867400" y="2657475"/>
            <a:ext cx="2381250" cy="1857375"/>
          </a:xfrm>
          <a:prstGeom prst="roundRect">
            <a:avLst>
              <a:gd name="adj" fmla="val 4103"/>
            </a:avLst>
          </a:prstGeom>
          <a:solidFill>
            <a:srgbClr val="FFFFFF"/>
          </a:solidFill>
          <a:ln w="9525">
            <a:solidFill>
              <a:srgbClr val="E2E8F0"/>
            </a:solidFill>
            <a:prstDash val="solid"/>
          </a:ln>
        </p:spPr>
      </p:sp>
      <p:sp>
        <p:nvSpPr>
          <p:cNvPr id="65" name="Text 63"/>
          <p:cNvSpPr txBox="1"/>
          <p:nvPr/>
        </p:nvSpPr>
        <p:spPr>
          <a:xfrm>
            <a:off x="5981700" y="2743200"/>
            <a:ext cx="2095500" cy="133350"/>
          </a:xfrm>
          <a:prstGeom prst="rect">
            <a:avLst/>
          </a:prstGeom>
          <a:noFill/>
          <a:ln/>
        </p:spPr>
        <p:txBody>
          <a:bodyPr wrap="square" lIns="0" tIns="0" rIns="0" bIns="0" rtlCol="0" anchor="t"/>
          <a:lstStyle/>
          <a:p>
            <a:pPr algn="l" indent="0" marL="0">
              <a:lnSpc>
                <a:spcPct val="106000"/>
              </a:lnSpc>
              <a:buNone/>
            </a:pPr>
            <a:r>
              <a:rPr lang="en-US" sz="820" b="1" dirty="0">
                <a:solidFill>
                  <a:srgbClr val="0F172A"/>
                </a:solidFill>
                <a:latin typeface="Segoe UI" pitchFamily="34" charset="0"/>
                <a:ea typeface="Segoe UI" pitchFamily="34" charset="-122"/>
                <a:cs typeface="Segoe UI" pitchFamily="34" charset="-120"/>
              </a:rPr>
              <a:t>Tài nguyên theo trạng thái</a:t>
            </a:r>
            <a:endParaRPr lang="en-US" sz="820" dirty="0"/>
          </a:p>
        </p:txBody>
      </p:sp>
      <p:sp>
        <p:nvSpPr>
          <p:cNvPr id="66" name="Text 64"/>
          <p:cNvSpPr txBox="1"/>
          <p:nvPr/>
        </p:nvSpPr>
        <p:spPr>
          <a:xfrm>
            <a:off x="5981700" y="3009900"/>
            <a:ext cx="762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Xuất bản</a:t>
            </a:r>
            <a:endParaRPr lang="en-US" sz="640" dirty="0"/>
          </a:p>
        </p:txBody>
      </p:sp>
      <p:sp>
        <p:nvSpPr>
          <p:cNvPr id="67" name="Shape 65"/>
          <p:cNvSpPr/>
          <p:nvPr/>
        </p:nvSpPr>
        <p:spPr>
          <a:xfrm>
            <a:off x="6781800" y="3019425"/>
            <a:ext cx="1047750" cy="76200"/>
          </a:xfrm>
          <a:prstGeom prst="roundRect">
            <a:avLst>
              <a:gd name="adj" fmla="val 50000"/>
            </a:avLst>
          </a:prstGeom>
          <a:solidFill>
            <a:srgbClr val="F1F5F9"/>
          </a:solidFill>
          <a:ln/>
        </p:spPr>
      </p:sp>
      <p:sp>
        <p:nvSpPr>
          <p:cNvPr id="68" name="Shape 66"/>
          <p:cNvSpPr/>
          <p:nvPr/>
        </p:nvSpPr>
        <p:spPr>
          <a:xfrm>
            <a:off x="6781800" y="3019425"/>
            <a:ext cx="523875" cy="76200"/>
          </a:xfrm>
          <a:prstGeom prst="roundRect">
            <a:avLst>
              <a:gd name="adj" fmla="val 50000"/>
            </a:avLst>
          </a:prstGeom>
          <a:solidFill>
            <a:srgbClr val="059669"/>
          </a:solidFill>
          <a:ln/>
        </p:spPr>
      </p:sp>
      <p:sp>
        <p:nvSpPr>
          <p:cNvPr id="69" name="Text 67"/>
          <p:cNvSpPr txBox="1"/>
          <p:nvPr/>
        </p:nvSpPr>
        <p:spPr>
          <a:xfrm>
            <a:off x="7905750" y="3000375"/>
            <a:ext cx="190500" cy="114300"/>
          </a:xfrm>
          <a:prstGeom prst="rect">
            <a:avLst/>
          </a:prstGeom>
          <a:noFill/>
          <a:ln/>
        </p:spPr>
        <p:txBody>
          <a:bodyPr wrap="square" lIns="0" tIns="0" rIns="0" bIns="0" rtlCol="0" anchor="t"/>
          <a:lstStyle/>
          <a:p>
            <a:pPr algn="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a:t>
            </a:r>
            <a:endParaRPr lang="en-US" sz="620" dirty="0"/>
          </a:p>
        </p:txBody>
      </p:sp>
      <p:sp>
        <p:nvSpPr>
          <p:cNvPr id="70" name="Text 68"/>
          <p:cNvSpPr txBox="1"/>
          <p:nvPr/>
        </p:nvSpPr>
        <p:spPr>
          <a:xfrm>
            <a:off x="5981700" y="3352800"/>
            <a:ext cx="762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Chờ duyệt</a:t>
            </a:r>
            <a:endParaRPr lang="en-US" sz="640" dirty="0"/>
          </a:p>
        </p:txBody>
      </p:sp>
      <p:sp>
        <p:nvSpPr>
          <p:cNvPr id="71" name="Shape 69"/>
          <p:cNvSpPr/>
          <p:nvPr/>
        </p:nvSpPr>
        <p:spPr>
          <a:xfrm>
            <a:off x="6781800" y="3362325"/>
            <a:ext cx="1047750" cy="76200"/>
          </a:xfrm>
          <a:prstGeom prst="roundRect">
            <a:avLst>
              <a:gd name="adj" fmla="val 50000"/>
            </a:avLst>
          </a:prstGeom>
          <a:solidFill>
            <a:srgbClr val="F1F5F9"/>
          </a:solidFill>
          <a:ln/>
        </p:spPr>
      </p:sp>
      <p:sp>
        <p:nvSpPr>
          <p:cNvPr id="72" name="Shape 70"/>
          <p:cNvSpPr/>
          <p:nvPr/>
        </p:nvSpPr>
        <p:spPr>
          <a:xfrm>
            <a:off x="6781800" y="3362325"/>
            <a:ext cx="523875" cy="76200"/>
          </a:xfrm>
          <a:prstGeom prst="roundRect">
            <a:avLst>
              <a:gd name="adj" fmla="val 50000"/>
            </a:avLst>
          </a:prstGeom>
          <a:solidFill>
            <a:srgbClr val="F59E0B"/>
          </a:solidFill>
          <a:ln/>
        </p:spPr>
      </p:sp>
      <p:sp>
        <p:nvSpPr>
          <p:cNvPr id="73" name="Text 71"/>
          <p:cNvSpPr txBox="1"/>
          <p:nvPr/>
        </p:nvSpPr>
        <p:spPr>
          <a:xfrm>
            <a:off x="7905750" y="3343275"/>
            <a:ext cx="190500" cy="114300"/>
          </a:xfrm>
          <a:prstGeom prst="rect">
            <a:avLst/>
          </a:prstGeom>
          <a:noFill/>
          <a:ln/>
        </p:spPr>
        <p:txBody>
          <a:bodyPr wrap="square" lIns="0" tIns="0" rIns="0" bIns="0" rtlCol="0" anchor="t"/>
          <a:lstStyle/>
          <a:p>
            <a:pPr algn="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a:t>
            </a:r>
            <a:endParaRPr lang="en-US" sz="620" dirty="0"/>
          </a:p>
        </p:txBody>
      </p:sp>
      <p:sp>
        <p:nvSpPr>
          <p:cNvPr id="74" name="Text 72"/>
          <p:cNvSpPr txBox="1"/>
          <p:nvPr/>
        </p:nvSpPr>
        <p:spPr>
          <a:xfrm>
            <a:off x="5981700" y="3695700"/>
            <a:ext cx="762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Nháp</a:t>
            </a:r>
            <a:endParaRPr lang="en-US" sz="640" dirty="0"/>
          </a:p>
        </p:txBody>
      </p:sp>
      <p:sp>
        <p:nvSpPr>
          <p:cNvPr id="75" name="Shape 73"/>
          <p:cNvSpPr/>
          <p:nvPr/>
        </p:nvSpPr>
        <p:spPr>
          <a:xfrm>
            <a:off x="6781800" y="3705225"/>
            <a:ext cx="1047750" cy="76200"/>
          </a:xfrm>
          <a:prstGeom prst="roundRect">
            <a:avLst>
              <a:gd name="adj" fmla="val 50000"/>
            </a:avLst>
          </a:prstGeom>
          <a:solidFill>
            <a:srgbClr val="F1F5F9"/>
          </a:solidFill>
          <a:ln/>
        </p:spPr>
      </p:sp>
      <p:sp>
        <p:nvSpPr>
          <p:cNvPr id="76" name="Shape 74"/>
          <p:cNvSpPr/>
          <p:nvPr/>
        </p:nvSpPr>
        <p:spPr>
          <a:xfrm>
            <a:off x="6781800" y="3705225"/>
            <a:ext cx="523875" cy="76200"/>
          </a:xfrm>
          <a:prstGeom prst="roundRect">
            <a:avLst>
              <a:gd name="adj" fmla="val 50000"/>
            </a:avLst>
          </a:prstGeom>
          <a:solidFill>
            <a:srgbClr val="94A3B8"/>
          </a:solidFill>
          <a:ln/>
        </p:spPr>
      </p:sp>
      <p:sp>
        <p:nvSpPr>
          <p:cNvPr id="77" name="Text 75"/>
          <p:cNvSpPr txBox="1"/>
          <p:nvPr/>
        </p:nvSpPr>
        <p:spPr>
          <a:xfrm>
            <a:off x="7905750" y="3686175"/>
            <a:ext cx="190500" cy="114300"/>
          </a:xfrm>
          <a:prstGeom prst="rect">
            <a:avLst/>
          </a:prstGeom>
          <a:noFill/>
          <a:ln/>
        </p:spPr>
        <p:txBody>
          <a:bodyPr wrap="square" lIns="0" tIns="0" rIns="0" bIns="0" rtlCol="0" anchor="t"/>
          <a:lstStyle/>
          <a:p>
            <a:pPr algn="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a:t>
            </a:r>
            <a:endParaRPr lang="en-US" sz="620" dirty="0"/>
          </a:p>
        </p:txBody>
      </p:sp>
      <p:sp>
        <p:nvSpPr>
          <p:cNvPr id="78" name="Text 76"/>
          <p:cNvSpPr txBox="1"/>
          <p:nvPr/>
        </p:nvSpPr>
        <p:spPr>
          <a:xfrm>
            <a:off x="5981700" y="4038600"/>
            <a:ext cx="762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Từ chối</a:t>
            </a:r>
            <a:endParaRPr lang="en-US" sz="640" dirty="0"/>
          </a:p>
        </p:txBody>
      </p:sp>
      <p:sp>
        <p:nvSpPr>
          <p:cNvPr id="79" name="Shape 77"/>
          <p:cNvSpPr/>
          <p:nvPr/>
        </p:nvSpPr>
        <p:spPr>
          <a:xfrm>
            <a:off x="6781800" y="4048125"/>
            <a:ext cx="1047750" cy="76200"/>
          </a:xfrm>
          <a:prstGeom prst="roundRect">
            <a:avLst>
              <a:gd name="adj" fmla="val 50000"/>
            </a:avLst>
          </a:prstGeom>
          <a:solidFill>
            <a:srgbClr val="F1F5F9"/>
          </a:solidFill>
          <a:ln/>
        </p:spPr>
      </p:sp>
      <p:sp>
        <p:nvSpPr>
          <p:cNvPr id="80" name="Shape 78"/>
          <p:cNvSpPr/>
          <p:nvPr/>
        </p:nvSpPr>
        <p:spPr>
          <a:xfrm>
            <a:off x="6781800" y="4048125"/>
            <a:ext cx="523875" cy="76200"/>
          </a:xfrm>
          <a:prstGeom prst="roundRect">
            <a:avLst>
              <a:gd name="adj" fmla="val 50000"/>
            </a:avLst>
          </a:prstGeom>
          <a:solidFill>
            <a:srgbClr val="DC2626"/>
          </a:solidFill>
          <a:ln/>
        </p:spPr>
      </p:sp>
      <p:sp>
        <p:nvSpPr>
          <p:cNvPr id="81" name="Text 79"/>
          <p:cNvSpPr txBox="1"/>
          <p:nvPr/>
        </p:nvSpPr>
        <p:spPr>
          <a:xfrm>
            <a:off x="7905750" y="4029075"/>
            <a:ext cx="190500" cy="114300"/>
          </a:xfrm>
          <a:prstGeom prst="rect">
            <a:avLst/>
          </a:prstGeom>
          <a:noFill/>
          <a:ln/>
        </p:spPr>
        <p:txBody>
          <a:bodyPr wrap="square" lIns="0" tIns="0" rIns="0" bIns="0" rtlCol="0" anchor="t"/>
          <a:lstStyle/>
          <a:p>
            <a:pPr algn="r" indent="0" marL="0">
              <a:lnSpc>
                <a:spcPct val="106000"/>
              </a:lnSpc>
              <a:buNone/>
            </a:pPr>
            <a:r>
              <a:rPr lang="en-US" sz="620" b="1" dirty="0">
                <a:solidFill>
                  <a:srgbClr val="0F172A"/>
                </a:solidFill>
                <a:latin typeface="Segoe UI" pitchFamily="34" charset="0"/>
                <a:ea typeface="Segoe UI" pitchFamily="34" charset="-122"/>
                <a:cs typeface="Segoe UI" pitchFamily="34" charset="-120"/>
              </a:rPr>
              <a:t>1</a:t>
            </a:r>
            <a:endParaRPr lang="en-US" sz="620" dirty="0"/>
          </a:p>
        </p:txBody>
      </p:sp>
      <p:sp>
        <p:nvSpPr>
          <p:cNvPr id="82" name="Shape 80"/>
          <p:cNvSpPr/>
          <p:nvPr/>
        </p:nvSpPr>
        <p:spPr>
          <a:xfrm>
            <a:off x="1943100" y="4629150"/>
            <a:ext cx="3810000" cy="1771650"/>
          </a:xfrm>
          <a:prstGeom prst="roundRect">
            <a:avLst>
              <a:gd name="adj" fmla="val 4301"/>
            </a:avLst>
          </a:prstGeom>
          <a:solidFill>
            <a:srgbClr val="FFFFFF"/>
          </a:solidFill>
          <a:ln w="9525">
            <a:solidFill>
              <a:srgbClr val="E2E8F0"/>
            </a:solidFill>
            <a:prstDash val="solid"/>
          </a:ln>
        </p:spPr>
      </p:sp>
      <p:sp>
        <p:nvSpPr>
          <p:cNvPr id="83" name="Text 81"/>
          <p:cNvSpPr txBox="1"/>
          <p:nvPr/>
        </p:nvSpPr>
        <p:spPr>
          <a:xfrm>
            <a:off x="2057400" y="4724400"/>
            <a:ext cx="2857500" cy="133350"/>
          </a:xfrm>
          <a:prstGeom prst="rect">
            <a:avLst/>
          </a:prstGeom>
          <a:noFill/>
          <a:ln/>
        </p:spPr>
        <p:txBody>
          <a:bodyPr wrap="square" lIns="0" tIns="0" rIns="0" bIns="0" rtlCol="0" anchor="t"/>
          <a:lstStyle/>
          <a:p>
            <a:pPr algn="l" indent="0" marL="0">
              <a:lnSpc>
                <a:spcPct val="106000"/>
              </a:lnSpc>
              <a:buNone/>
            </a:pPr>
            <a:r>
              <a:rPr lang="en-US" sz="820" b="1" dirty="0">
                <a:solidFill>
                  <a:srgbClr val="0F172A"/>
                </a:solidFill>
                <a:latin typeface="Segoe UI" pitchFamily="34" charset="0"/>
                <a:ea typeface="Segoe UI" pitchFamily="34" charset="-122"/>
                <a:cs typeface="Segoe UI" pitchFamily="34" charset="-120"/>
              </a:rPr>
              <a:t>Nhật ký hệ thống</a:t>
            </a:r>
            <a:endParaRPr lang="en-US" sz="820" dirty="0"/>
          </a:p>
        </p:txBody>
      </p:sp>
      <p:sp>
        <p:nvSpPr>
          <p:cNvPr id="84" name="Shape 82"/>
          <p:cNvSpPr/>
          <p:nvPr/>
        </p:nvSpPr>
        <p:spPr>
          <a:xfrm>
            <a:off x="2057400" y="4972050"/>
            <a:ext cx="47625" cy="47625"/>
          </a:xfrm>
          <a:prstGeom prst="ellipse">
            <a:avLst/>
          </a:prstGeom>
          <a:solidFill>
            <a:srgbClr val="059669"/>
          </a:solidFill>
          <a:ln/>
        </p:spPr>
      </p:sp>
      <p:sp>
        <p:nvSpPr>
          <p:cNvPr id="85" name="Text 83"/>
          <p:cNvSpPr txBox="1"/>
          <p:nvPr/>
        </p:nvSpPr>
        <p:spPr>
          <a:xfrm>
            <a:off x="2171700" y="4933950"/>
            <a:ext cx="2286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a1 duyệt tài nguyên r2</a:t>
            </a:r>
            <a:endParaRPr lang="en-US" sz="640" dirty="0"/>
          </a:p>
        </p:txBody>
      </p:sp>
      <p:sp>
        <p:nvSpPr>
          <p:cNvPr id="86" name="Text 84"/>
          <p:cNvSpPr txBox="1"/>
          <p:nvPr/>
        </p:nvSpPr>
        <p:spPr>
          <a:xfrm>
            <a:off x="4476750" y="4933950"/>
            <a:ext cx="1104900" cy="114300"/>
          </a:xfrm>
          <a:prstGeom prst="rect">
            <a:avLst/>
          </a:prstGeom>
          <a:noFill/>
          <a:ln/>
        </p:spPr>
        <p:txBody>
          <a:bodyPr wrap="square" lIns="0" tIns="0" rIns="0" bIns="0" rtlCol="0" anchor="t"/>
          <a:lstStyle/>
          <a:p>
            <a:pPr algn="r" indent="0" marL="0">
              <a:lnSpc>
                <a:spcPct val="106000"/>
              </a:lnSpc>
              <a:buNone/>
            </a:pPr>
            <a:r>
              <a:rPr lang="en-US" sz="560" dirty="0">
                <a:solidFill>
                  <a:srgbClr val="94A3B8"/>
                </a:solidFill>
                <a:latin typeface="Segoe UI" pitchFamily="34" charset="0"/>
                <a:ea typeface="Segoe UI" pitchFamily="34" charset="-122"/>
                <a:cs typeface="Segoe UI" pitchFamily="34" charset="-120"/>
              </a:rPr>
              <a:t>2 phút trước</a:t>
            </a:r>
            <a:endParaRPr lang="en-US" sz="560" dirty="0"/>
          </a:p>
        </p:txBody>
      </p:sp>
      <p:sp>
        <p:nvSpPr>
          <p:cNvPr id="87" name="Shape 85"/>
          <p:cNvSpPr/>
          <p:nvPr/>
        </p:nvSpPr>
        <p:spPr>
          <a:xfrm>
            <a:off x="2057400" y="5181600"/>
            <a:ext cx="3543300" cy="9525"/>
          </a:xfrm>
          <a:prstGeom prst="line">
            <a:avLst/>
          </a:prstGeom>
          <a:solidFill>
            <a:srgbClr val="FFFFFF">
              <a:alpha val="0"/>
            </a:srgbClr>
          </a:solidFill>
          <a:ln w="9525">
            <a:solidFill>
              <a:srgbClr val="F1F5F9"/>
            </a:solidFill>
            <a:prstDash val="solid"/>
          </a:ln>
        </p:spPr>
      </p:sp>
      <p:sp>
        <p:nvSpPr>
          <p:cNvPr id="88" name="Shape 86"/>
          <p:cNvSpPr/>
          <p:nvPr/>
        </p:nvSpPr>
        <p:spPr>
          <a:xfrm>
            <a:off x="2057400" y="5295900"/>
            <a:ext cx="47625" cy="47625"/>
          </a:xfrm>
          <a:prstGeom prst="ellipse">
            <a:avLst/>
          </a:prstGeom>
          <a:solidFill>
            <a:srgbClr val="059669"/>
          </a:solidFill>
          <a:ln/>
        </p:spPr>
      </p:sp>
      <p:sp>
        <p:nvSpPr>
          <p:cNvPr id="89" name="Text 87"/>
          <p:cNvSpPr txBox="1"/>
          <p:nvPr/>
        </p:nvSpPr>
        <p:spPr>
          <a:xfrm>
            <a:off x="2171700" y="5257800"/>
            <a:ext cx="2286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m1 xử lý phản hồi f1</a:t>
            </a:r>
            <a:endParaRPr lang="en-US" sz="640" dirty="0"/>
          </a:p>
        </p:txBody>
      </p:sp>
      <p:sp>
        <p:nvSpPr>
          <p:cNvPr id="90" name="Text 88"/>
          <p:cNvSpPr txBox="1"/>
          <p:nvPr/>
        </p:nvSpPr>
        <p:spPr>
          <a:xfrm>
            <a:off x="4476750" y="5257800"/>
            <a:ext cx="1104900" cy="114300"/>
          </a:xfrm>
          <a:prstGeom prst="rect">
            <a:avLst/>
          </a:prstGeom>
          <a:noFill/>
          <a:ln/>
        </p:spPr>
        <p:txBody>
          <a:bodyPr wrap="square" lIns="0" tIns="0" rIns="0" bIns="0" rtlCol="0" anchor="t"/>
          <a:lstStyle/>
          <a:p>
            <a:pPr algn="r" indent="0" marL="0">
              <a:lnSpc>
                <a:spcPct val="106000"/>
              </a:lnSpc>
              <a:buNone/>
            </a:pPr>
            <a:r>
              <a:rPr lang="en-US" sz="560" dirty="0">
                <a:solidFill>
                  <a:srgbClr val="94A3B8"/>
                </a:solidFill>
                <a:latin typeface="Segoe UI" pitchFamily="34" charset="0"/>
                <a:ea typeface="Segoe UI" pitchFamily="34" charset="-122"/>
                <a:cs typeface="Segoe UI" pitchFamily="34" charset="-120"/>
              </a:rPr>
              <a:t>18 phút trước</a:t>
            </a:r>
            <a:endParaRPr lang="en-US" sz="560" dirty="0"/>
          </a:p>
        </p:txBody>
      </p:sp>
      <p:sp>
        <p:nvSpPr>
          <p:cNvPr id="91" name="Shape 89"/>
          <p:cNvSpPr/>
          <p:nvPr/>
        </p:nvSpPr>
        <p:spPr>
          <a:xfrm>
            <a:off x="2057400" y="5505450"/>
            <a:ext cx="3543300" cy="9525"/>
          </a:xfrm>
          <a:prstGeom prst="line">
            <a:avLst/>
          </a:prstGeom>
          <a:solidFill>
            <a:srgbClr val="FFFFFF">
              <a:alpha val="0"/>
            </a:srgbClr>
          </a:solidFill>
          <a:ln w="9525">
            <a:solidFill>
              <a:srgbClr val="F1F5F9"/>
            </a:solidFill>
            <a:prstDash val="solid"/>
          </a:ln>
        </p:spPr>
      </p:sp>
      <p:sp>
        <p:nvSpPr>
          <p:cNvPr id="92" name="Shape 90"/>
          <p:cNvSpPr/>
          <p:nvPr/>
        </p:nvSpPr>
        <p:spPr>
          <a:xfrm>
            <a:off x="2057400" y="5619750"/>
            <a:ext cx="47625" cy="47625"/>
          </a:xfrm>
          <a:prstGeom prst="ellipse">
            <a:avLst/>
          </a:prstGeom>
          <a:solidFill>
            <a:srgbClr val="059669"/>
          </a:solidFill>
          <a:ln/>
        </p:spPr>
      </p:sp>
      <p:sp>
        <p:nvSpPr>
          <p:cNvPr id="93" name="Text 91"/>
          <p:cNvSpPr txBox="1"/>
          <p:nvPr/>
        </p:nvSpPr>
        <p:spPr>
          <a:xfrm>
            <a:off x="2171700" y="5581650"/>
            <a:ext cx="2286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c1 duyệt ngân sách b2</a:t>
            </a:r>
            <a:endParaRPr lang="en-US" sz="640" dirty="0"/>
          </a:p>
        </p:txBody>
      </p:sp>
      <p:sp>
        <p:nvSpPr>
          <p:cNvPr id="94" name="Text 92"/>
          <p:cNvSpPr txBox="1"/>
          <p:nvPr/>
        </p:nvSpPr>
        <p:spPr>
          <a:xfrm>
            <a:off x="4476750" y="5581650"/>
            <a:ext cx="1104900" cy="114300"/>
          </a:xfrm>
          <a:prstGeom prst="rect">
            <a:avLst/>
          </a:prstGeom>
          <a:noFill/>
          <a:ln/>
        </p:spPr>
        <p:txBody>
          <a:bodyPr wrap="square" lIns="0" tIns="0" rIns="0" bIns="0" rtlCol="0" anchor="t"/>
          <a:lstStyle/>
          <a:p>
            <a:pPr algn="r" indent="0" marL="0">
              <a:lnSpc>
                <a:spcPct val="106000"/>
              </a:lnSpc>
              <a:buNone/>
            </a:pPr>
            <a:r>
              <a:rPr lang="en-US" sz="560" dirty="0">
                <a:solidFill>
                  <a:srgbClr val="94A3B8"/>
                </a:solidFill>
                <a:latin typeface="Segoe UI" pitchFamily="34" charset="0"/>
                <a:ea typeface="Segoe UI" pitchFamily="34" charset="-122"/>
                <a:cs typeface="Segoe UI" pitchFamily="34" charset="-120"/>
              </a:rPr>
              <a:t>1 giờ trước</a:t>
            </a:r>
            <a:endParaRPr lang="en-US" sz="560" dirty="0"/>
          </a:p>
        </p:txBody>
      </p:sp>
      <p:sp>
        <p:nvSpPr>
          <p:cNvPr id="95" name="Shape 93"/>
          <p:cNvSpPr/>
          <p:nvPr/>
        </p:nvSpPr>
        <p:spPr>
          <a:xfrm>
            <a:off x="2057400" y="5829300"/>
            <a:ext cx="3543300" cy="9525"/>
          </a:xfrm>
          <a:prstGeom prst="line">
            <a:avLst/>
          </a:prstGeom>
          <a:solidFill>
            <a:srgbClr val="FFFFFF">
              <a:alpha val="0"/>
            </a:srgbClr>
          </a:solidFill>
          <a:ln w="9525">
            <a:solidFill>
              <a:srgbClr val="F1F5F9"/>
            </a:solidFill>
            <a:prstDash val="solid"/>
          </a:ln>
        </p:spPr>
      </p:sp>
      <p:sp>
        <p:nvSpPr>
          <p:cNvPr id="96" name="Shape 94"/>
          <p:cNvSpPr/>
          <p:nvPr/>
        </p:nvSpPr>
        <p:spPr>
          <a:xfrm>
            <a:off x="2057400" y="5943600"/>
            <a:ext cx="47625" cy="47625"/>
          </a:xfrm>
          <a:prstGeom prst="ellipse">
            <a:avLst/>
          </a:prstGeom>
          <a:solidFill>
            <a:srgbClr val="059669"/>
          </a:solidFill>
          <a:ln/>
        </p:spPr>
      </p:sp>
      <p:sp>
        <p:nvSpPr>
          <p:cNvPr id="97" name="Text 95"/>
          <p:cNvSpPr txBox="1"/>
          <p:nvPr/>
        </p:nvSpPr>
        <p:spPr>
          <a:xfrm>
            <a:off x="2171700" y="5905500"/>
            <a:ext cx="2286000" cy="1143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u1 tạo giao dịch t01</a:t>
            </a:r>
            <a:endParaRPr lang="en-US" sz="640" dirty="0"/>
          </a:p>
        </p:txBody>
      </p:sp>
      <p:sp>
        <p:nvSpPr>
          <p:cNvPr id="98" name="Text 96"/>
          <p:cNvSpPr txBox="1"/>
          <p:nvPr/>
        </p:nvSpPr>
        <p:spPr>
          <a:xfrm>
            <a:off x="4476750" y="5905500"/>
            <a:ext cx="1104900" cy="114300"/>
          </a:xfrm>
          <a:prstGeom prst="rect">
            <a:avLst/>
          </a:prstGeom>
          <a:noFill/>
          <a:ln/>
        </p:spPr>
        <p:txBody>
          <a:bodyPr wrap="square" lIns="0" tIns="0" rIns="0" bIns="0" rtlCol="0" anchor="t"/>
          <a:lstStyle/>
          <a:p>
            <a:pPr algn="r" indent="0" marL="0">
              <a:lnSpc>
                <a:spcPct val="106000"/>
              </a:lnSpc>
              <a:buNone/>
            </a:pPr>
            <a:r>
              <a:rPr lang="en-US" sz="560" dirty="0">
                <a:solidFill>
                  <a:srgbClr val="94A3B8"/>
                </a:solidFill>
                <a:latin typeface="Segoe UI" pitchFamily="34" charset="0"/>
                <a:ea typeface="Segoe UI" pitchFamily="34" charset="-122"/>
                <a:cs typeface="Segoe UI" pitchFamily="34" charset="-120"/>
              </a:rPr>
              <a:t>2 giờ trước</a:t>
            </a:r>
            <a:endParaRPr lang="en-US" sz="560" dirty="0"/>
          </a:p>
        </p:txBody>
      </p:sp>
      <p:sp>
        <p:nvSpPr>
          <p:cNvPr id="99" name="Shape 97"/>
          <p:cNvSpPr/>
          <p:nvPr/>
        </p:nvSpPr>
        <p:spPr>
          <a:xfrm>
            <a:off x="2057400" y="6153150"/>
            <a:ext cx="3543300" cy="9525"/>
          </a:xfrm>
          <a:prstGeom prst="line">
            <a:avLst/>
          </a:prstGeom>
          <a:solidFill>
            <a:srgbClr val="FFFFFF">
              <a:alpha val="0"/>
            </a:srgbClr>
          </a:solidFill>
          <a:ln w="9525">
            <a:solidFill>
              <a:srgbClr val="F1F5F9"/>
            </a:solidFill>
            <a:prstDash val="solid"/>
          </a:ln>
        </p:spPr>
      </p:sp>
      <p:sp>
        <p:nvSpPr>
          <p:cNvPr id="100" name="Shape 98"/>
          <p:cNvSpPr/>
          <p:nvPr/>
        </p:nvSpPr>
        <p:spPr>
          <a:xfrm>
            <a:off x="5867400" y="4629150"/>
            <a:ext cx="2381250" cy="1771650"/>
          </a:xfrm>
          <a:prstGeom prst="roundRect">
            <a:avLst>
              <a:gd name="adj" fmla="val 4301"/>
            </a:avLst>
          </a:prstGeom>
          <a:solidFill>
            <a:srgbClr val="FFFFFF"/>
          </a:solidFill>
          <a:ln w="9525">
            <a:solidFill>
              <a:srgbClr val="E2E8F0"/>
            </a:solidFill>
            <a:prstDash val="solid"/>
          </a:ln>
        </p:spPr>
      </p:sp>
      <p:sp>
        <p:nvSpPr>
          <p:cNvPr id="101" name="Text 99"/>
          <p:cNvSpPr txBox="1"/>
          <p:nvPr/>
        </p:nvSpPr>
        <p:spPr>
          <a:xfrm>
            <a:off x="5981700" y="4724400"/>
            <a:ext cx="2095500" cy="133350"/>
          </a:xfrm>
          <a:prstGeom prst="rect">
            <a:avLst/>
          </a:prstGeom>
          <a:noFill/>
          <a:ln/>
        </p:spPr>
        <p:txBody>
          <a:bodyPr wrap="square" lIns="0" tIns="0" rIns="0" bIns="0" rtlCol="0" anchor="t"/>
          <a:lstStyle/>
          <a:p>
            <a:pPr algn="l" indent="0" marL="0">
              <a:lnSpc>
                <a:spcPct val="106000"/>
              </a:lnSpc>
              <a:buNone/>
            </a:pPr>
            <a:r>
              <a:rPr lang="en-US" sz="800" b="1" dirty="0">
                <a:solidFill>
                  <a:srgbClr val="0F172A"/>
                </a:solidFill>
                <a:latin typeface="Segoe UI" pitchFamily="34" charset="0"/>
                <a:ea typeface="Segoe UI" pitchFamily="34" charset="-122"/>
                <a:cs typeface="Segoe UI" pitchFamily="34" charset="-120"/>
              </a:rPr>
              <a:t>Gửi thông báo hệ thống</a:t>
            </a:r>
            <a:endParaRPr lang="en-US" sz="800" dirty="0"/>
          </a:p>
        </p:txBody>
      </p:sp>
      <p:sp>
        <p:nvSpPr>
          <p:cNvPr id="102" name="Shape 100"/>
          <p:cNvSpPr/>
          <p:nvPr/>
        </p:nvSpPr>
        <p:spPr>
          <a:xfrm>
            <a:off x="5981700" y="4914900"/>
            <a:ext cx="2152650" cy="228600"/>
          </a:xfrm>
          <a:prstGeom prst="roundRect">
            <a:avLst>
              <a:gd name="adj" fmla="val 20833"/>
            </a:avLst>
          </a:prstGeom>
          <a:solidFill>
            <a:srgbClr val="FFFFFF"/>
          </a:solidFill>
          <a:ln w="9525">
            <a:solidFill>
              <a:srgbClr val="E2E8F0"/>
            </a:solidFill>
            <a:prstDash val="solid"/>
          </a:ln>
        </p:spPr>
      </p:sp>
      <p:sp>
        <p:nvSpPr>
          <p:cNvPr id="103" name="Text 101"/>
          <p:cNvSpPr txBox="1"/>
          <p:nvPr/>
        </p:nvSpPr>
        <p:spPr>
          <a:xfrm>
            <a:off x="6057900" y="4972050"/>
            <a:ext cx="2000250" cy="11430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Tiêu đề thông báo</a:t>
            </a:r>
            <a:endParaRPr lang="en-US" sz="600" dirty="0"/>
          </a:p>
        </p:txBody>
      </p:sp>
      <p:sp>
        <p:nvSpPr>
          <p:cNvPr id="104" name="Shape 102"/>
          <p:cNvSpPr/>
          <p:nvPr/>
        </p:nvSpPr>
        <p:spPr>
          <a:xfrm>
            <a:off x="5981700" y="5219700"/>
            <a:ext cx="2152650" cy="228600"/>
          </a:xfrm>
          <a:prstGeom prst="roundRect">
            <a:avLst>
              <a:gd name="adj" fmla="val 20833"/>
            </a:avLst>
          </a:prstGeom>
          <a:solidFill>
            <a:srgbClr val="FFFFFF"/>
          </a:solidFill>
          <a:ln w="9525">
            <a:solidFill>
              <a:srgbClr val="E2E8F0"/>
            </a:solidFill>
            <a:prstDash val="solid"/>
          </a:ln>
        </p:spPr>
      </p:sp>
      <p:sp>
        <p:nvSpPr>
          <p:cNvPr id="105" name="Text 103"/>
          <p:cNvSpPr txBox="1"/>
          <p:nvPr/>
        </p:nvSpPr>
        <p:spPr>
          <a:xfrm>
            <a:off x="6057900" y="5276850"/>
            <a:ext cx="2000250" cy="114300"/>
          </a:xfrm>
          <a:prstGeom prst="rect">
            <a:avLst/>
          </a:prstGeom>
          <a:noFill/>
          <a:ln/>
        </p:spPr>
        <p:txBody>
          <a:bodyPr wrap="square" lIns="0" tIns="0" rIns="0" bIns="0" rtlCol="0" anchor="t"/>
          <a:lstStyle/>
          <a:p>
            <a:pPr algn="l" indent="0" marL="0">
              <a:lnSpc>
                <a:spcPct val="106000"/>
              </a:lnSpc>
              <a:buNone/>
            </a:pPr>
            <a:r>
              <a:rPr lang="en-US" sz="600" dirty="0">
                <a:solidFill>
                  <a:srgbClr val="475569"/>
                </a:solidFill>
                <a:latin typeface="Segoe UI" pitchFamily="34" charset="0"/>
                <a:ea typeface="Segoe UI" pitchFamily="34" charset="-122"/>
                <a:cs typeface="Segoe UI" pitchFamily="34" charset="-120"/>
              </a:rPr>
              <a:t>Tất cả người dùng</a:t>
            </a:r>
            <a:endParaRPr lang="en-US" sz="600" dirty="0"/>
          </a:p>
        </p:txBody>
      </p:sp>
      <p:sp>
        <p:nvSpPr>
          <p:cNvPr id="106" name="Shape 104"/>
          <p:cNvSpPr/>
          <p:nvPr/>
        </p:nvSpPr>
        <p:spPr>
          <a:xfrm>
            <a:off x="5981700" y="5524500"/>
            <a:ext cx="2152650" cy="419100"/>
          </a:xfrm>
          <a:prstGeom prst="roundRect">
            <a:avLst>
              <a:gd name="adj" fmla="val 11364"/>
            </a:avLst>
          </a:prstGeom>
          <a:solidFill>
            <a:srgbClr val="FFFFFF"/>
          </a:solidFill>
          <a:ln w="9525">
            <a:solidFill>
              <a:srgbClr val="E2E8F0"/>
            </a:solidFill>
            <a:prstDash val="solid"/>
          </a:ln>
        </p:spPr>
      </p:sp>
      <p:sp>
        <p:nvSpPr>
          <p:cNvPr id="107" name="Text 105"/>
          <p:cNvSpPr txBox="1"/>
          <p:nvPr/>
        </p:nvSpPr>
        <p:spPr>
          <a:xfrm>
            <a:off x="6057900" y="5581650"/>
            <a:ext cx="2000250" cy="285750"/>
          </a:xfrm>
          <a:prstGeom prst="rect">
            <a:avLst/>
          </a:prstGeom>
          <a:noFill/>
          <a:ln/>
        </p:spPr>
        <p:txBody>
          <a:bodyPr wrap="square" lIns="0" tIns="0" rIns="0" bIns="0" rtlCol="0" anchor="t"/>
          <a:lstStyle/>
          <a:p>
            <a:pPr algn="l" indent="0" marL="0">
              <a:lnSpc>
                <a:spcPct val="106000"/>
              </a:lnSpc>
              <a:buNone/>
            </a:pPr>
            <a:r>
              <a:rPr lang="en-US" sz="600" dirty="0">
                <a:solidFill>
                  <a:srgbClr val="94A3B8"/>
                </a:solidFill>
                <a:latin typeface="Segoe UI" pitchFamily="34" charset="0"/>
                <a:ea typeface="Segoe UI" pitchFamily="34" charset="-122"/>
                <a:cs typeface="Segoe UI" pitchFamily="34" charset="-120"/>
              </a:rPr>
              <a:t>Nội dung ngắn gọn...</a:t>
            </a:r>
            <a:endParaRPr lang="en-US" sz="600" dirty="0"/>
          </a:p>
        </p:txBody>
      </p:sp>
      <p:sp>
        <p:nvSpPr>
          <p:cNvPr id="108" name="Shape 106"/>
          <p:cNvSpPr/>
          <p:nvPr/>
        </p:nvSpPr>
        <p:spPr>
          <a:xfrm>
            <a:off x="5981700" y="6019800"/>
            <a:ext cx="952500" cy="247650"/>
          </a:xfrm>
          <a:prstGeom prst="roundRect">
            <a:avLst>
              <a:gd name="adj" fmla="val 19231"/>
            </a:avLst>
          </a:prstGeom>
          <a:solidFill>
            <a:srgbClr val="059669"/>
          </a:solidFill>
          <a:ln/>
        </p:spPr>
      </p:sp>
      <p:sp>
        <p:nvSpPr>
          <p:cNvPr id="109" name="Text 107"/>
          <p:cNvSpPr txBox="1"/>
          <p:nvPr/>
        </p:nvSpPr>
        <p:spPr>
          <a:xfrm>
            <a:off x="5981700" y="6019800"/>
            <a:ext cx="952500" cy="247650"/>
          </a:xfrm>
          <a:prstGeom prst="rect">
            <a:avLst/>
          </a:prstGeom>
          <a:noFill/>
          <a:ln/>
        </p:spPr>
        <p:txBody>
          <a:bodyPr wrap="square" lIns="0" tIns="0" rIns="0" bIns="0" rtlCol="0" anchor="ctr"/>
          <a:lstStyle/>
          <a:p>
            <a:pPr algn="ctr" indent="0" marL="0">
              <a:lnSpc>
                <a:spcPct val="106000"/>
              </a:lnSpc>
              <a:buNone/>
            </a:pPr>
            <a:r>
              <a:rPr lang="en-US" sz="620" b="1" dirty="0">
                <a:solidFill>
                  <a:srgbClr val="FFFFFF"/>
                </a:solidFill>
                <a:latin typeface="Segoe UI" pitchFamily="34" charset="0"/>
                <a:ea typeface="Segoe UI" pitchFamily="34" charset="-122"/>
                <a:cs typeface="Segoe UI" pitchFamily="34" charset="-120"/>
              </a:rPr>
              <a:t>Gửi thông báo</a:t>
            </a:r>
            <a:endParaRPr lang="en-US" sz="620" dirty="0"/>
          </a:p>
        </p:txBody>
      </p:sp>
      <p:sp>
        <p:nvSpPr>
          <p:cNvPr id="110" name="Shape 108"/>
          <p:cNvSpPr/>
          <p:nvPr/>
        </p:nvSpPr>
        <p:spPr>
          <a:xfrm>
            <a:off x="8648700" y="1123950"/>
            <a:ext cx="3162300" cy="5467350"/>
          </a:xfrm>
          <a:prstGeom prst="roundRect">
            <a:avLst>
              <a:gd name="adj" fmla="val 3614"/>
            </a:avLst>
          </a:prstGeom>
          <a:solidFill>
            <a:srgbClr val="FFFFFF"/>
          </a:solidFill>
          <a:ln w="9525">
            <a:solidFill>
              <a:srgbClr val="E2E8F0"/>
            </a:solidFill>
            <a:prstDash val="solid"/>
          </a:ln>
        </p:spPr>
      </p:sp>
      <p:sp>
        <p:nvSpPr>
          <p:cNvPr id="111" name="Text 109"/>
          <p:cNvSpPr txBox="1"/>
          <p:nvPr/>
        </p:nvSpPr>
        <p:spPr>
          <a:xfrm>
            <a:off x="8839200" y="1276350"/>
            <a:ext cx="2781300" cy="123825"/>
          </a:xfrm>
          <a:prstGeom prst="rect">
            <a:avLst/>
          </a:prstGeom>
          <a:noFill/>
          <a:ln/>
        </p:spPr>
        <p:txBody>
          <a:bodyPr wrap="square" lIns="0" tIns="0" rIns="0" bIns="0" rtlCol="0" anchor="t"/>
          <a:lstStyle/>
          <a:p>
            <a:pPr algn="l" indent="0" marL="0">
              <a:lnSpc>
                <a:spcPct val="106000"/>
              </a:lnSpc>
              <a:buNone/>
            </a:pPr>
            <a:r>
              <a:rPr lang="en-US" sz="740" b="1" spc="60" kern="0" dirty="0">
                <a:solidFill>
                  <a:srgbClr val="94A3B8"/>
                </a:solidFill>
                <a:latin typeface="Segoe UI" pitchFamily="34" charset="0"/>
                <a:ea typeface="Segoe UI" pitchFamily="34" charset="-122"/>
                <a:cs typeface="Segoe UI" pitchFamily="34" charset="-120"/>
              </a:rPr>
              <a:t>MÀN HÌNH 26 / 27</a:t>
            </a:r>
            <a:endParaRPr lang="en-US" sz="740" dirty="0"/>
          </a:p>
        </p:txBody>
      </p:sp>
      <p:sp>
        <p:nvSpPr>
          <p:cNvPr id="112" name="Text 110"/>
          <p:cNvSpPr txBox="1"/>
          <p:nvPr/>
        </p:nvSpPr>
        <p:spPr>
          <a:xfrm>
            <a:off x="8839200" y="1428750"/>
            <a:ext cx="2781300" cy="457200"/>
          </a:xfrm>
          <a:prstGeom prst="rect">
            <a:avLst/>
          </a:prstGeom>
          <a:noFill/>
          <a:ln/>
        </p:spPr>
        <p:txBody>
          <a:bodyPr wrap="square" lIns="0" tIns="0" rIns="0" bIns="0" rtlCol="0" anchor="t"/>
          <a:lstStyle/>
          <a:p>
            <a:pPr algn="l" indent="0" marL="0">
              <a:lnSpc>
                <a:spcPct val="100000"/>
              </a:lnSpc>
              <a:buNone/>
            </a:pPr>
            <a:r>
              <a:rPr lang="en-US" sz="1700" b="1" dirty="0">
                <a:solidFill>
                  <a:srgbClr val="0F172A"/>
                </a:solidFill>
                <a:latin typeface="Segoe UI" pitchFamily="34" charset="0"/>
                <a:ea typeface="Segoe UI" pitchFamily="34" charset="-122"/>
                <a:cs typeface="Segoe UI" pitchFamily="34" charset="-120"/>
              </a:rPr>
              <a:t>Bảng điều khiển hệ thống</a:t>
            </a:r>
            <a:endParaRPr lang="en-US" sz="1700" dirty="0"/>
          </a:p>
        </p:txBody>
      </p:sp>
      <p:sp>
        <p:nvSpPr>
          <p:cNvPr id="113" name="Text 111"/>
          <p:cNvSpPr txBox="1"/>
          <p:nvPr/>
        </p:nvSpPr>
        <p:spPr>
          <a:xfrm>
            <a:off x="8839200" y="1924050"/>
            <a:ext cx="2781300" cy="133350"/>
          </a:xfrm>
          <a:prstGeom prst="rect">
            <a:avLst/>
          </a:prstGeom>
          <a:noFill/>
          <a:ln/>
        </p:spPr>
        <p:txBody>
          <a:bodyPr wrap="square" lIns="0" tIns="0" rIns="0" bIns="0" rtlCol="0" anchor="t"/>
          <a:lstStyle/>
          <a:p>
            <a:pPr algn="l" indent="0" marL="0">
              <a:lnSpc>
                <a:spcPct val="106000"/>
              </a:lnSpc>
              <a:buNone/>
            </a:pPr>
            <a:r>
              <a:rPr lang="en-US" sz="720" dirty="0">
                <a:solidFill>
                  <a:srgbClr val="475569"/>
                </a:solidFill>
                <a:latin typeface="Segoe UI" pitchFamily="34" charset="0"/>
                <a:ea typeface="Segoe UI" pitchFamily="34" charset="-122"/>
                <a:cs typeface="Segoe UI" pitchFamily="34" charset="-120"/>
              </a:rPr>
              <a:t>pages/admin-system-dashboard.html</a:t>
            </a:r>
            <a:endParaRPr lang="en-US" sz="720" dirty="0"/>
          </a:p>
        </p:txBody>
      </p:sp>
      <p:sp>
        <p:nvSpPr>
          <p:cNvPr id="114" name="Shape 112"/>
          <p:cNvSpPr/>
          <p:nvPr/>
        </p:nvSpPr>
        <p:spPr>
          <a:xfrm>
            <a:off x="8839200" y="2133600"/>
            <a:ext cx="2781300" cy="9525"/>
          </a:xfrm>
          <a:prstGeom prst="line">
            <a:avLst/>
          </a:prstGeom>
          <a:solidFill>
            <a:srgbClr val="FFFFFF">
              <a:alpha val="0"/>
            </a:srgbClr>
          </a:solidFill>
          <a:ln w="9525">
            <a:solidFill>
              <a:srgbClr val="E2E8F0"/>
            </a:solidFill>
            <a:prstDash val="solid"/>
          </a:ln>
        </p:spPr>
      </p:sp>
      <p:sp>
        <p:nvSpPr>
          <p:cNvPr id="115" name="Text 113"/>
          <p:cNvSpPr txBox="1"/>
          <p:nvPr/>
        </p:nvSpPr>
        <p:spPr>
          <a:xfrm>
            <a:off x="8839200" y="22669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MỤC TIÊU</a:t>
            </a:r>
            <a:endParaRPr lang="en-US" sz="720" dirty="0"/>
          </a:p>
        </p:txBody>
      </p:sp>
      <p:sp>
        <p:nvSpPr>
          <p:cNvPr id="116" name="Text 114"/>
          <p:cNvSpPr txBox="1"/>
          <p:nvPr/>
        </p:nvSpPr>
        <p:spPr>
          <a:xfrm>
            <a:off x="8839200" y="2419350"/>
            <a:ext cx="2781300" cy="571500"/>
          </a:xfrm>
          <a:prstGeom prst="rect">
            <a:avLst/>
          </a:prstGeom>
          <a:noFill/>
          <a:ln/>
        </p:spPr>
        <p:txBody>
          <a:bodyPr wrap="square" lIns="0" tIns="0" rIns="0" bIns="0" rtlCol="0" anchor="t"/>
          <a:lstStyle/>
          <a:p>
            <a:pPr algn="l" indent="0" marL="0">
              <a:lnSpc>
                <a:spcPct val="106000"/>
              </a:lnSpc>
              <a:buNone/>
            </a:pPr>
            <a:r>
              <a:rPr lang="en-US" sz="920" dirty="0">
                <a:solidFill>
                  <a:srgbClr val="334155"/>
                </a:solidFill>
                <a:latin typeface="Segoe UI" pitchFamily="34" charset="0"/>
                <a:ea typeface="Segoe UI" pitchFamily="34" charset="-122"/>
                <a:cs typeface="Segoe UI" pitchFamily="34" charset="-120"/>
              </a:rPr>
              <a:t>Theo dõi sức khoẻ hệ thống, hàng chờ kiểm duyệt, nhật ký hoạt động và gửi thông báo hệ thống.</a:t>
            </a:r>
            <a:endParaRPr lang="en-US" sz="920" dirty="0"/>
          </a:p>
        </p:txBody>
      </p:sp>
      <p:sp>
        <p:nvSpPr>
          <p:cNvPr id="117" name="Text 115"/>
          <p:cNvSpPr txBox="1"/>
          <p:nvPr/>
        </p:nvSpPr>
        <p:spPr>
          <a:xfrm>
            <a:off x="8839200" y="308610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CRUD · TRẠNG THÁI</a:t>
            </a:r>
            <a:endParaRPr lang="en-US" sz="720" dirty="0"/>
          </a:p>
        </p:txBody>
      </p:sp>
      <p:sp>
        <p:nvSpPr>
          <p:cNvPr id="118" name="Shape 116"/>
          <p:cNvSpPr/>
          <p:nvPr/>
        </p:nvSpPr>
        <p:spPr>
          <a:xfrm>
            <a:off x="8839200" y="3238500"/>
            <a:ext cx="209550" cy="190500"/>
          </a:xfrm>
          <a:prstGeom prst="roundRect">
            <a:avLst>
              <a:gd name="adj" fmla="val 25000"/>
            </a:avLst>
          </a:prstGeom>
          <a:solidFill>
            <a:srgbClr val="059669"/>
          </a:solidFill>
          <a:ln/>
        </p:spPr>
      </p:sp>
      <p:sp>
        <p:nvSpPr>
          <p:cNvPr id="119" name="Text 117"/>
          <p:cNvSpPr txBox="1"/>
          <p:nvPr/>
        </p:nvSpPr>
        <p:spPr>
          <a:xfrm>
            <a:off x="88392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C</a:t>
            </a:r>
            <a:endParaRPr lang="en-US" sz="740" dirty="0"/>
          </a:p>
        </p:txBody>
      </p:sp>
      <p:sp>
        <p:nvSpPr>
          <p:cNvPr id="120" name="Shape 118"/>
          <p:cNvSpPr/>
          <p:nvPr/>
        </p:nvSpPr>
        <p:spPr>
          <a:xfrm>
            <a:off x="9086850" y="3238500"/>
            <a:ext cx="209550" cy="190500"/>
          </a:xfrm>
          <a:prstGeom prst="roundRect">
            <a:avLst>
              <a:gd name="adj" fmla="val 25000"/>
            </a:avLst>
          </a:prstGeom>
          <a:solidFill>
            <a:srgbClr val="059669"/>
          </a:solidFill>
          <a:ln/>
        </p:spPr>
      </p:sp>
      <p:sp>
        <p:nvSpPr>
          <p:cNvPr id="121" name="Text 119"/>
          <p:cNvSpPr txBox="1"/>
          <p:nvPr/>
        </p:nvSpPr>
        <p:spPr>
          <a:xfrm>
            <a:off x="90868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FFFFFF"/>
                </a:solidFill>
                <a:latin typeface="Segoe UI" pitchFamily="34" charset="0"/>
                <a:ea typeface="Segoe UI" pitchFamily="34" charset="-122"/>
                <a:cs typeface="Segoe UI" pitchFamily="34" charset="-120"/>
              </a:rPr>
              <a:t>R</a:t>
            </a:r>
            <a:endParaRPr lang="en-US" sz="740" dirty="0"/>
          </a:p>
        </p:txBody>
      </p:sp>
      <p:sp>
        <p:nvSpPr>
          <p:cNvPr id="122" name="Shape 120"/>
          <p:cNvSpPr/>
          <p:nvPr/>
        </p:nvSpPr>
        <p:spPr>
          <a:xfrm>
            <a:off x="9334500" y="3238500"/>
            <a:ext cx="209550" cy="190500"/>
          </a:xfrm>
          <a:prstGeom prst="roundRect">
            <a:avLst>
              <a:gd name="adj" fmla="val 25000"/>
            </a:avLst>
          </a:prstGeom>
          <a:solidFill>
            <a:srgbClr val="F1F5F9"/>
          </a:solidFill>
          <a:ln/>
        </p:spPr>
      </p:sp>
      <p:sp>
        <p:nvSpPr>
          <p:cNvPr id="123" name="Text 121"/>
          <p:cNvSpPr txBox="1"/>
          <p:nvPr/>
        </p:nvSpPr>
        <p:spPr>
          <a:xfrm>
            <a:off x="933450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U</a:t>
            </a:r>
            <a:endParaRPr lang="en-US" sz="740" dirty="0"/>
          </a:p>
        </p:txBody>
      </p:sp>
      <p:sp>
        <p:nvSpPr>
          <p:cNvPr id="124" name="Shape 122"/>
          <p:cNvSpPr/>
          <p:nvPr/>
        </p:nvSpPr>
        <p:spPr>
          <a:xfrm>
            <a:off x="9582150" y="3238500"/>
            <a:ext cx="209550" cy="190500"/>
          </a:xfrm>
          <a:prstGeom prst="roundRect">
            <a:avLst>
              <a:gd name="adj" fmla="val 25000"/>
            </a:avLst>
          </a:prstGeom>
          <a:solidFill>
            <a:srgbClr val="F1F5F9"/>
          </a:solidFill>
          <a:ln/>
        </p:spPr>
      </p:sp>
      <p:sp>
        <p:nvSpPr>
          <p:cNvPr id="125" name="Text 123"/>
          <p:cNvSpPr txBox="1"/>
          <p:nvPr/>
        </p:nvSpPr>
        <p:spPr>
          <a:xfrm>
            <a:off x="9582150" y="3238500"/>
            <a:ext cx="209550" cy="190500"/>
          </a:xfrm>
          <a:prstGeom prst="rect">
            <a:avLst/>
          </a:prstGeom>
          <a:noFill/>
          <a:ln/>
        </p:spPr>
        <p:txBody>
          <a:bodyPr wrap="square" lIns="0" tIns="0" rIns="0" bIns="0" rtlCol="0" anchor="ctr"/>
          <a:lstStyle/>
          <a:p>
            <a:pPr algn="ctr" indent="0" marL="0">
              <a:lnSpc>
                <a:spcPct val="106000"/>
              </a:lnSpc>
              <a:buNone/>
            </a:pPr>
            <a:r>
              <a:rPr lang="en-US" sz="740" b="1" dirty="0">
                <a:solidFill>
                  <a:srgbClr val="94A3B8"/>
                </a:solidFill>
                <a:latin typeface="Segoe UI" pitchFamily="34" charset="0"/>
                <a:ea typeface="Segoe UI" pitchFamily="34" charset="-122"/>
                <a:cs typeface="Segoe UI" pitchFamily="34" charset="-120"/>
              </a:rPr>
              <a:t>D</a:t>
            </a:r>
            <a:endParaRPr lang="en-US" sz="740" dirty="0"/>
          </a:p>
        </p:txBody>
      </p:sp>
      <p:sp>
        <p:nvSpPr>
          <p:cNvPr id="126" name="Text 124"/>
          <p:cNvSpPr txBox="1"/>
          <p:nvPr/>
        </p:nvSpPr>
        <p:spPr>
          <a:xfrm>
            <a:off x="8839200" y="3505200"/>
            <a:ext cx="2781300" cy="53340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Đang tải · lỗi · không có log · gửi thông báo thành công · thông báo rỗng.</a:t>
            </a:r>
            <a:endParaRPr lang="en-US" sz="900" dirty="0"/>
          </a:p>
        </p:txBody>
      </p:sp>
      <p:sp>
        <p:nvSpPr>
          <p:cNvPr id="127" name="Text 125"/>
          <p:cNvSpPr txBox="1"/>
          <p:nvPr/>
        </p:nvSpPr>
        <p:spPr>
          <a:xfrm>
            <a:off x="8839200" y="40957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TƯƠNG TÁC CHÍNH</a:t>
            </a:r>
            <a:endParaRPr lang="en-US" sz="720" dirty="0"/>
          </a:p>
        </p:txBody>
      </p:sp>
      <p:sp>
        <p:nvSpPr>
          <p:cNvPr id="128" name="Text 126"/>
          <p:cNvSpPr txBox="1"/>
          <p:nvPr/>
        </p:nvSpPr>
        <p:spPr>
          <a:xfrm>
            <a:off x="8839200" y="4248150"/>
            <a:ext cx="2781300" cy="7429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Tính KPI; xem log; modal gửi thông báo; validate; toast.</a:t>
            </a:r>
            <a:endParaRPr lang="en-US" sz="900" dirty="0"/>
          </a:p>
        </p:txBody>
      </p:sp>
      <p:sp>
        <p:nvSpPr>
          <p:cNvPr id="129" name="Text 127"/>
          <p:cNvSpPr txBox="1"/>
          <p:nvPr/>
        </p:nvSpPr>
        <p:spPr>
          <a:xfrm>
            <a:off x="8839200" y="5048250"/>
            <a:ext cx="2781300" cy="114300"/>
          </a:xfrm>
          <a:prstGeom prst="rect">
            <a:avLst/>
          </a:prstGeom>
          <a:noFill/>
          <a:ln/>
        </p:spPr>
        <p:txBody>
          <a:bodyPr wrap="square" lIns="0" tIns="0" rIns="0" bIns="0" rtlCol="0" anchor="t"/>
          <a:lstStyle/>
          <a:p>
            <a:pPr algn="l" indent="0" marL="0">
              <a:lnSpc>
                <a:spcPct val="106000"/>
              </a:lnSpc>
              <a:buNone/>
            </a:pPr>
            <a:r>
              <a:rPr lang="en-US" sz="720" b="1" spc="50" kern="0" dirty="0">
                <a:solidFill>
                  <a:srgbClr val="059669"/>
                </a:solidFill>
                <a:latin typeface="Segoe UI" pitchFamily="34" charset="0"/>
                <a:ea typeface="Segoe UI" pitchFamily="34" charset="-122"/>
                <a:cs typeface="Segoe UI" pitchFamily="34" charset="-120"/>
              </a:rPr>
              <a:t>AI · DỮ LIỆU</a:t>
            </a:r>
            <a:endParaRPr lang="en-US" sz="720" dirty="0"/>
          </a:p>
        </p:txBody>
      </p:sp>
      <p:sp>
        <p:nvSpPr>
          <p:cNvPr id="130" name="Text 128"/>
          <p:cNvSpPr txBox="1"/>
          <p:nvPr/>
        </p:nvSpPr>
        <p:spPr>
          <a:xfrm>
            <a:off x="8839200" y="5200650"/>
            <a:ext cx="2781300" cy="590550"/>
          </a:xfrm>
          <a:prstGeom prst="rect">
            <a:avLst/>
          </a:prstGeom>
          <a:noFill/>
          <a:ln/>
        </p:spPr>
        <p:txBody>
          <a:bodyPr wrap="square" lIns="0" tIns="0" rIns="0" bIns="0" rtlCol="0" anchor="t"/>
          <a:lstStyle/>
          <a:p>
            <a:pPr algn="l" indent="0" marL="0">
              <a:lnSpc>
                <a:spcPct val="106000"/>
              </a:lnSpc>
              <a:buNone/>
            </a:pPr>
            <a:r>
              <a:rPr lang="en-US" sz="900" dirty="0">
                <a:solidFill>
                  <a:srgbClr val="334155"/>
                </a:solidFill>
                <a:latin typeface="Segoe UI" pitchFamily="34" charset="0"/>
                <a:ea typeface="Segoe UI" pitchFamily="34" charset="-122"/>
                <a:cs typeface="Segoe UI" pitchFamily="34" charset="-120"/>
              </a:rPr>
              <a:t>Không dùng AI; KPI đọc từ users, transactions, resources, feedbacks.</a:t>
            </a:r>
            <a:endParaRPr lang="en-US" sz="900" dirty="0"/>
          </a:p>
        </p:txBody>
      </p:sp>
      <p:sp>
        <p:nvSpPr>
          <p:cNvPr id="131" name="Shape 129"/>
          <p:cNvSpPr/>
          <p:nvPr/>
        </p:nvSpPr>
        <p:spPr>
          <a:xfrm>
            <a:off x="8839200" y="5848350"/>
            <a:ext cx="2781300" cy="9525"/>
          </a:xfrm>
          <a:prstGeom prst="line">
            <a:avLst/>
          </a:prstGeom>
          <a:solidFill>
            <a:srgbClr val="FFFFFF">
              <a:alpha val="0"/>
            </a:srgbClr>
          </a:solidFill>
          <a:ln w="9525">
            <a:solidFill>
              <a:srgbClr val="E2E8F0"/>
            </a:solidFill>
            <a:prstDash val="solid"/>
          </a:ln>
        </p:spPr>
      </p:sp>
      <p:sp>
        <p:nvSpPr>
          <p:cNvPr id="132" name="Text 130"/>
          <p:cNvSpPr txBox="1"/>
          <p:nvPr/>
        </p:nvSpPr>
        <p:spPr>
          <a:xfrm>
            <a:off x="8839200" y="5962650"/>
            <a:ext cx="2781300" cy="133350"/>
          </a:xfrm>
          <a:prstGeom prst="rect">
            <a:avLst/>
          </a:prstGeom>
          <a:noFill/>
          <a:ln/>
        </p:spPr>
        <p:txBody>
          <a:bodyPr wrap="square" lIns="0" tIns="0" rIns="0" bIns="0" rtlCol="0" anchor="t"/>
          <a:lstStyle/>
          <a:p>
            <a:pPr algn="l" indent="0" marL="0">
              <a:lnSpc>
                <a:spcPct val="106000"/>
              </a:lnSpc>
              <a:buNone/>
            </a:pPr>
            <a:r>
              <a:rPr lang="en-US" sz="840" b="1" dirty="0">
                <a:solidFill>
                  <a:srgbClr val="047857"/>
                </a:solidFill>
                <a:latin typeface="Segoe UI" pitchFamily="34" charset="0"/>
                <a:ea typeface="Segoe UI" pitchFamily="34" charset="-122"/>
                <a:cs typeface="Segoe UI" pitchFamily="34" charset="-120"/>
              </a:rPr>
              <a:t>OBS  SV3-08-system</a:t>
            </a:r>
            <a:endParaRPr lang="en-US" sz="840" dirty="0"/>
          </a:p>
        </p:txBody>
      </p:sp>
      <p:sp>
        <p:nvSpPr>
          <p:cNvPr id="133" name="Text 131"/>
          <p:cNvSpPr txBox="1"/>
          <p:nvPr/>
        </p:nvSpPr>
        <p:spPr>
          <a:xfrm>
            <a:off x="8839200" y="6134100"/>
            <a:ext cx="2781300" cy="133350"/>
          </a:xfrm>
          <a:prstGeom prst="rect">
            <a:avLst/>
          </a:prstGeom>
          <a:noFill/>
          <a:ln/>
        </p:spPr>
        <p:txBody>
          <a:bodyPr wrap="square" lIns="0" tIns="0" rIns="0" bIns="0" rtlCol="0" anchor="t"/>
          <a:lstStyle/>
          <a:p>
            <a:pPr algn="l" indent="0" marL="0">
              <a:lnSpc>
                <a:spcPct val="106000"/>
              </a:lnSpc>
              <a:buNone/>
            </a:pPr>
            <a:r>
              <a:rPr lang="en-US" sz="680" dirty="0">
                <a:solidFill>
                  <a:srgbClr val="94A3B8"/>
                </a:solidFill>
                <a:latin typeface="Segoe UI" pitchFamily="34" charset="0"/>
                <a:ea typeface="Segoe UI" pitchFamily="34" charset="-122"/>
                <a:cs typeface="Segoe UI" pitchFamily="34" charset="-120"/>
              </a:rPr>
              <a:t>Thiết kế → code nhánh feature/* → PR → quay OBS</a:t>
            </a:r>
            <a:endParaRPr lang="en-US" sz="6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381000" y="438150"/>
            <a:ext cx="4762500" cy="171450"/>
          </a:xfrm>
          <a:prstGeom prst="rect">
            <a:avLst/>
          </a:prstGeom>
          <a:noFill/>
          <a:ln/>
        </p:spPr>
        <p:txBody>
          <a:bodyPr wrap="square" lIns="0" tIns="0" rIns="0" bIns="0" rtlCol="0" anchor="t"/>
          <a:lstStyle/>
          <a:p>
            <a:pPr algn="l" indent="0" marL="0">
              <a:lnSpc>
                <a:spcPct val="106000"/>
              </a:lnSpc>
              <a:buNone/>
            </a:pPr>
            <a:r>
              <a:rPr lang="en-US" sz="950" b="1" spc="80" kern="0" dirty="0">
                <a:solidFill>
                  <a:srgbClr val="059669"/>
                </a:solidFill>
                <a:latin typeface="Segoe UI" pitchFamily="34" charset="0"/>
                <a:ea typeface="Segoe UI" pitchFamily="34" charset="-122"/>
                <a:cs typeface="Segoe UI" pitchFamily="34" charset="-120"/>
              </a:rPr>
              <a:t>BÀN GIAO THIẾT KẾ</a:t>
            </a:r>
            <a:endParaRPr lang="en-US" sz="950" dirty="0"/>
          </a:p>
        </p:txBody>
      </p:sp>
      <p:sp>
        <p:nvSpPr>
          <p:cNvPr id="3" name="Text 1"/>
          <p:cNvSpPr txBox="1"/>
          <p:nvPr/>
        </p:nvSpPr>
        <p:spPr>
          <a:xfrm>
            <a:off x="381000" y="685800"/>
            <a:ext cx="9525000" cy="457200"/>
          </a:xfrm>
          <a:prstGeom prst="rect">
            <a:avLst/>
          </a:prstGeom>
          <a:noFill/>
          <a:ln/>
        </p:spPr>
        <p:txBody>
          <a:bodyPr wrap="square" lIns="0" tIns="0" rIns="0" bIns="0" rtlCol="0" anchor="t"/>
          <a:lstStyle/>
          <a:p>
            <a:pPr algn="l" indent="0" marL="0">
              <a:lnSpc>
                <a:spcPct val="106000"/>
              </a:lnSpc>
              <a:buNone/>
            </a:pPr>
            <a:r>
              <a:rPr lang="en-US" sz="2900" b="1" dirty="0">
                <a:solidFill>
                  <a:srgbClr val="0F172A"/>
                </a:solidFill>
                <a:latin typeface="Segoe UI" pitchFamily="34" charset="0"/>
                <a:ea typeface="Segoe UI" pitchFamily="34" charset="-122"/>
                <a:cs typeface="Segoe UI" pitchFamily="34" charset="-120"/>
              </a:rPr>
              <a:t>Từ bản thiết kế đến sản phẩm</a:t>
            </a:r>
            <a:endParaRPr lang="en-US" sz="2900" dirty="0"/>
          </a:p>
        </p:txBody>
      </p:sp>
      <p:sp>
        <p:nvSpPr>
          <p:cNvPr id="4" name="Text 2"/>
          <p:cNvSpPr txBox="1"/>
          <p:nvPr/>
        </p:nvSpPr>
        <p:spPr>
          <a:xfrm>
            <a:off x="381000" y="1257300"/>
            <a:ext cx="10287000" cy="209550"/>
          </a:xfrm>
          <a:prstGeom prst="rect">
            <a:avLst/>
          </a:prstGeom>
          <a:noFill/>
          <a:ln/>
        </p:spPr>
        <p:txBody>
          <a:bodyPr wrap="square" lIns="0" tIns="0" rIns="0" bIns="0" rtlCol="0" anchor="t"/>
          <a:lstStyle/>
          <a:p>
            <a:pPr algn="l" indent="0" marL="0">
              <a:lnSpc>
                <a:spcPct val="106000"/>
              </a:lnSpc>
              <a:buNone/>
            </a:pPr>
            <a:r>
              <a:rPr lang="en-US" sz="1200" dirty="0">
                <a:solidFill>
                  <a:srgbClr val="475569"/>
                </a:solidFill>
                <a:latin typeface="Segoe UI" pitchFamily="34" charset="0"/>
                <a:ea typeface="Segoe UI" pitchFamily="34" charset="-122"/>
                <a:cs typeface="Segoe UI" pitchFamily="34" charset="-120"/>
              </a:rPr>
              <a:t>Mỗi màn hình chỉ được tính DONE khi có đủ bằng chứng từ thiết kế, mã nguồn, dữ liệu, PR và video OBS.</a:t>
            </a:r>
            <a:endParaRPr lang="en-US" sz="1200" dirty="0"/>
          </a:p>
        </p:txBody>
      </p:sp>
      <p:sp>
        <p:nvSpPr>
          <p:cNvPr id="5" name="Shape 3"/>
          <p:cNvSpPr/>
          <p:nvPr/>
        </p:nvSpPr>
        <p:spPr>
          <a:xfrm>
            <a:off x="381000" y="1619250"/>
            <a:ext cx="6667500" cy="4286250"/>
          </a:xfrm>
          <a:prstGeom prst="roundRect">
            <a:avLst>
              <a:gd name="adj" fmla="val 1778"/>
            </a:avLst>
          </a:prstGeom>
          <a:solidFill>
            <a:srgbClr val="FFFFFF"/>
          </a:solidFill>
          <a:ln w="9525">
            <a:solidFill>
              <a:srgbClr val="E2E8F0"/>
            </a:solidFill>
            <a:prstDash val="solid"/>
          </a:ln>
        </p:spPr>
      </p:sp>
      <p:sp>
        <p:nvSpPr>
          <p:cNvPr id="6" name="Text 4"/>
          <p:cNvSpPr txBox="1"/>
          <p:nvPr/>
        </p:nvSpPr>
        <p:spPr>
          <a:xfrm>
            <a:off x="609600" y="1809750"/>
            <a:ext cx="4762500" cy="133350"/>
          </a:xfrm>
          <a:prstGeom prst="rect">
            <a:avLst/>
          </a:prstGeom>
          <a:noFill/>
          <a:ln/>
        </p:spPr>
        <p:txBody>
          <a:bodyPr wrap="square" lIns="0" tIns="0" rIns="0" bIns="0" rtlCol="0" anchor="t"/>
          <a:lstStyle/>
          <a:p>
            <a:pPr algn="l" indent="0" marL="0">
              <a:lnSpc>
                <a:spcPct val="106000"/>
              </a:lnSpc>
              <a:buNone/>
            </a:pPr>
            <a:r>
              <a:rPr lang="en-US" sz="760" b="1" spc="50" kern="0" dirty="0">
                <a:solidFill>
                  <a:srgbClr val="059669"/>
                </a:solidFill>
                <a:latin typeface="Segoe UI" pitchFamily="34" charset="0"/>
                <a:ea typeface="Segoe UI" pitchFamily="34" charset="-122"/>
                <a:cs typeface="Segoe UI" pitchFamily="34" charset="-120"/>
              </a:rPr>
              <a:t>ĐỊNH NGHĨA DONE CHO MỖI MÀN HÌNH</a:t>
            </a:r>
            <a:endParaRPr lang="en-US" sz="760" dirty="0"/>
          </a:p>
        </p:txBody>
      </p:sp>
      <p:sp>
        <p:nvSpPr>
          <p:cNvPr id="7" name="Shape 5"/>
          <p:cNvSpPr/>
          <p:nvPr/>
        </p:nvSpPr>
        <p:spPr>
          <a:xfrm>
            <a:off x="609600" y="2076450"/>
            <a:ext cx="152400" cy="152400"/>
          </a:xfrm>
          <a:prstGeom prst="roundRect">
            <a:avLst>
              <a:gd name="adj" fmla="val 25000"/>
            </a:avLst>
          </a:prstGeom>
          <a:solidFill>
            <a:srgbClr val="ECFDF5"/>
          </a:solidFill>
          <a:ln/>
        </p:spPr>
      </p:sp>
      <p:sp>
        <p:nvSpPr>
          <p:cNvPr id="8" name="Text 6"/>
          <p:cNvSpPr txBox="1"/>
          <p:nvPr/>
        </p:nvSpPr>
        <p:spPr>
          <a:xfrm>
            <a:off x="609600" y="207645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9" name="Text 7"/>
          <p:cNvSpPr txBox="1"/>
          <p:nvPr/>
        </p:nvSpPr>
        <p:spPr>
          <a:xfrm>
            <a:off x="857250" y="206692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Figma / Canva</a:t>
            </a:r>
            <a:endParaRPr lang="en-US" sz="860" dirty="0"/>
          </a:p>
        </p:txBody>
      </p:sp>
      <p:sp>
        <p:nvSpPr>
          <p:cNvPr id="10" name="Text 8"/>
          <p:cNvSpPr txBox="1"/>
          <p:nvPr/>
        </p:nvSpPr>
        <p:spPr>
          <a:xfrm>
            <a:off x="857250" y="222885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bản mô phỏng desktop + responsive</a:t>
            </a:r>
            <a:endParaRPr lang="en-US" sz="640" dirty="0"/>
          </a:p>
        </p:txBody>
      </p:sp>
      <p:sp>
        <p:nvSpPr>
          <p:cNvPr id="11" name="Shape 9"/>
          <p:cNvSpPr/>
          <p:nvPr/>
        </p:nvSpPr>
        <p:spPr>
          <a:xfrm>
            <a:off x="3657600" y="2076450"/>
            <a:ext cx="152400" cy="152400"/>
          </a:xfrm>
          <a:prstGeom prst="roundRect">
            <a:avLst>
              <a:gd name="adj" fmla="val 25000"/>
            </a:avLst>
          </a:prstGeom>
          <a:solidFill>
            <a:srgbClr val="ECFDF5"/>
          </a:solidFill>
          <a:ln/>
        </p:spPr>
      </p:sp>
      <p:sp>
        <p:nvSpPr>
          <p:cNvPr id="12" name="Text 10"/>
          <p:cNvSpPr txBox="1"/>
          <p:nvPr/>
        </p:nvSpPr>
        <p:spPr>
          <a:xfrm>
            <a:off x="3657600" y="207645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13" name="Text 11"/>
          <p:cNvSpPr txBox="1"/>
          <p:nvPr/>
        </p:nvSpPr>
        <p:spPr>
          <a:xfrm>
            <a:off x="3905250" y="206692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HTML ngữ nghĩa</a:t>
            </a:r>
            <a:endParaRPr lang="en-US" sz="860" dirty="0"/>
          </a:p>
        </p:txBody>
      </p:sp>
      <p:sp>
        <p:nvSpPr>
          <p:cNvPr id="14" name="Text 12"/>
          <p:cNvSpPr txBox="1"/>
          <p:nvPr/>
        </p:nvSpPr>
        <p:spPr>
          <a:xfrm>
            <a:off x="3905250" y="222885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đúng tên tệp, có landmark</a:t>
            </a:r>
            <a:endParaRPr lang="en-US" sz="640" dirty="0"/>
          </a:p>
        </p:txBody>
      </p:sp>
      <p:sp>
        <p:nvSpPr>
          <p:cNvPr id="15" name="Shape 13"/>
          <p:cNvSpPr/>
          <p:nvPr/>
        </p:nvSpPr>
        <p:spPr>
          <a:xfrm>
            <a:off x="609600" y="2895600"/>
            <a:ext cx="152400" cy="152400"/>
          </a:xfrm>
          <a:prstGeom prst="roundRect">
            <a:avLst>
              <a:gd name="adj" fmla="val 25000"/>
            </a:avLst>
          </a:prstGeom>
          <a:solidFill>
            <a:srgbClr val="ECFDF5"/>
          </a:solidFill>
          <a:ln/>
        </p:spPr>
      </p:sp>
      <p:sp>
        <p:nvSpPr>
          <p:cNvPr id="16" name="Text 14"/>
          <p:cNvSpPr txBox="1"/>
          <p:nvPr/>
        </p:nvSpPr>
        <p:spPr>
          <a:xfrm>
            <a:off x="609600" y="289560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17" name="Text 15"/>
          <p:cNvSpPr txBox="1"/>
          <p:nvPr/>
        </p:nvSpPr>
        <p:spPr>
          <a:xfrm>
            <a:off x="857250" y="288607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CSS hoàn chỉnh</a:t>
            </a:r>
            <a:endParaRPr lang="en-US" sz="860" dirty="0"/>
          </a:p>
        </p:txBody>
      </p:sp>
      <p:sp>
        <p:nvSpPr>
          <p:cNvPr id="18" name="Text 16"/>
          <p:cNvSpPr txBox="1"/>
          <p:nvPr/>
        </p:nvSpPr>
        <p:spPr>
          <a:xfrm>
            <a:off x="857250" y="304800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token dùng chung, responsive 960/640</a:t>
            </a:r>
            <a:endParaRPr lang="en-US" sz="640" dirty="0"/>
          </a:p>
        </p:txBody>
      </p:sp>
      <p:sp>
        <p:nvSpPr>
          <p:cNvPr id="19" name="Shape 17"/>
          <p:cNvSpPr/>
          <p:nvPr/>
        </p:nvSpPr>
        <p:spPr>
          <a:xfrm>
            <a:off x="3657600" y="2895600"/>
            <a:ext cx="152400" cy="152400"/>
          </a:xfrm>
          <a:prstGeom prst="roundRect">
            <a:avLst>
              <a:gd name="adj" fmla="val 25000"/>
            </a:avLst>
          </a:prstGeom>
          <a:solidFill>
            <a:srgbClr val="ECFDF5"/>
          </a:solidFill>
          <a:ln/>
        </p:spPr>
      </p:sp>
      <p:sp>
        <p:nvSpPr>
          <p:cNvPr id="20" name="Text 18"/>
          <p:cNvSpPr txBox="1"/>
          <p:nvPr/>
        </p:nvSpPr>
        <p:spPr>
          <a:xfrm>
            <a:off x="3657600" y="289560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21" name="Text 19"/>
          <p:cNvSpPr txBox="1"/>
          <p:nvPr/>
        </p:nvSpPr>
        <p:spPr>
          <a:xfrm>
            <a:off x="3905250" y="288607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JavaScript</a:t>
            </a:r>
            <a:endParaRPr lang="en-US" sz="860" dirty="0"/>
          </a:p>
        </p:txBody>
      </p:sp>
      <p:sp>
        <p:nvSpPr>
          <p:cNvPr id="22" name="Text 20"/>
          <p:cNvSpPr txBox="1"/>
          <p:nvPr/>
        </p:nvSpPr>
        <p:spPr>
          <a:xfrm>
            <a:off x="3905250" y="304800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tương tác, kiểm tra hợp lệ, trạng thái</a:t>
            </a:r>
            <a:endParaRPr lang="en-US" sz="640" dirty="0"/>
          </a:p>
        </p:txBody>
      </p:sp>
      <p:sp>
        <p:nvSpPr>
          <p:cNvPr id="23" name="Shape 21"/>
          <p:cNvSpPr/>
          <p:nvPr/>
        </p:nvSpPr>
        <p:spPr>
          <a:xfrm>
            <a:off x="609600" y="3714750"/>
            <a:ext cx="152400" cy="152400"/>
          </a:xfrm>
          <a:prstGeom prst="roundRect">
            <a:avLst>
              <a:gd name="adj" fmla="val 25000"/>
            </a:avLst>
          </a:prstGeom>
          <a:solidFill>
            <a:srgbClr val="ECFDF5"/>
          </a:solidFill>
          <a:ln/>
        </p:spPr>
      </p:sp>
      <p:sp>
        <p:nvSpPr>
          <p:cNvPr id="24" name="Text 22"/>
          <p:cNvSpPr txBox="1"/>
          <p:nvPr/>
        </p:nvSpPr>
        <p:spPr>
          <a:xfrm>
            <a:off x="609600" y="371475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25" name="Text 23"/>
          <p:cNvSpPr txBox="1"/>
          <p:nvPr/>
        </p:nvSpPr>
        <p:spPr>
          <a:xfrm>
            <a:off x="857250" y="370522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Dữ liệu</a:t>
            </a:r>
            <a:endParaRPr lang="en-US" sz="860" dirty="0"/>
          </a:p>
        </p:txBody>
      </p:sp>
      <p:sp>
        <p:nvSpPr>
          <p:cNvPr id="26" name="Text 24"/>
          <p:cNvSpPr txBox="1"/>
          <p:nvPr/>
        </p:nvSpPr>
        <p:spPr>
          <a:xfrm>
            <a:off x="857250" y="386715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JSON / LocalStorage, không hard-code rải rác</a:t>
            </a:r>
            <a:endParaRPr lang="en-US" sz="640" dirty="0"/>
          </a:p>
        </p:txBody>
      </p:sp>
      <p:sp>
        <p:nvSpPr>
          <p:cNvPr id="27" name="Shape 25"/>
          <p:cNvSpPr/>
          <p:nvPr/>
        </p:nvSpPr>
        <p:spPr>
          <a:xfrm>
            <a:off x="3657600" y="3714750"/>
            <a:ext cx="152400" cy="152400"/>
          </a:xfrm>
          <a:prstGeom prst="roundRect">
            <a:avLst>
              <a:gd name="adj" fmla="val 25000"/>
            </a:avLst>
          </a:prstGeom>
          <a:solidFill>
            <a:srgbClr val="ECFDF5"/>
          </a:solidFill>
          <a:ln/>
        </p:spPr>
      </p:sp>
      <p:sp>
        <p:nvSpPr>
          <p:cNvPr id="28" name="Text 26"/>
          <p:cNvSpPr txBox="1"/>
          <p:nvPr/>
        </p:nvSpPr>
        <p:spPr>
          <a:xfrm>
            <a:off x="3657600" y="371475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29" name="Text 27"/>
          <p:cNvSpPr txBox="1"/>
          <p:nvPr/>
        </p:nvSpPr>
        <p:spPr>
          <a:xfrm>
            <a:off x="3905250" y="370522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Tiếp cận</a:t>
            </a:r>
            <a:endParaRPr lang="en-US" sz="860" dirty="0"/>
          </a:p>
        </p:txBody>
      </p:sp>
      <p:sp>
        <p:nvSpPr>
          <p:cNvPr id="30" name="Text 28"/>
          <p:cNvSpPr txBox="1"/>
          <p:nvPr/>
        </p:nvSpPr>
        <p:spPr>
          <a:xfrm>
            <a:off x="3905250" y="386715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label, focus, aria, tương phản</a:t>
            </a:r>
            <a:endParaRPr lang="en-US" sz="640" dirty="0"/>
          </a:p>
        </p:txBody>
      </p:sp>
      <p:sp>
        <p:nvSpPr>
          <p:cNvPr id="31" name="Shape 29"/>
          <p:cNvSpPr/>
          <p:nvPr/>
        </p:nvSpPr>
        <p:spPr>
          <a:xfrm>
            <a:off x="609600" y="4533900"/>
            <a:ext cx="152400" cy="152400"/>
          </a:xfrm>
          <a:prstGeom prst="roundRect">
            <a:avLst>
              <a:gd name="adj" fmla="val 25000"/>
            </a:avLst>
          </a:prstGeom>
          <a:solidFill>
            <a:srgbClr val="ECFDF5"/>
          </a:solidFill>
          <a:ln/>
        </p:spPr>
      </p:sp>
      <p:sp>
        <p:nvSpPr>
          <p:cNvPr id="32" name="Text 30"/>
          <p:cNvSpPr txBox="1"/>
          <p:nvPr/>
        </p:nvSpPr>
        <p:spPr>
          <a:xfrm>
            <a:off x="609600" y="453390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33" name="Text 31"/>
          <p:cNvSpPr txBox="1"/>
          <p:nvPr/>
        </p:nvSpPr>
        <p:spPr>
          <a:xfrm>
            <a:off x="857250" y="452437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PR + merge</a:t>
            </a:r>
            <a:endParaRPr lang="en-US" sz="860" dirty="0"/>
          </a:p>
        </p:txBody>
      </p:sp>
      <p:sp>
        <p:nvSpPr>
          <p:cNvPr id="34" name="Text 32"/>
          <p:cNvSpPr txBox="1"/>
          <p:nvPr/>
        </p:nvSpPr>
        <p:spPr>
          <a:xfrm>
            <a:off x="857250" y="468630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nhánh feature/*, review chéo, merge dev</a:t>
            </a:r>
            <a:endParaRPr lang="en-US" sz="640" dirty="0"/>
          </a:p>
        </p:txBody>
      </p:sp>
      <p:sp>
        <p:nvSpPr>
          <p:cNvPr id="35" name="Shape 33"/>
          <p:cNvSpPr/>
          <p:nvPr/>
        </p:nvSpPr>
        <p:spPr>
          <a:xfrm>
            <a:off x="3657600" y="4533900"/>
            <a:ext cx="152400" cy="152400"/>
          </a:xfrm>
          <a:prstGeom prst="roundRect">
            <a:avLst>
              <a:gd name="adj" fmla="val 25000"/>
            </a:avLst>
          </a:prstGeom>
          <a:solidFill>
            <a:srgbClr val="ECFDF5"/>
          </a:solidFill>
          <a:ln/>
        </p:spPr>
      </p:sp>
      <p:sp>
        <p:nvSpPr>
          <p:cNvPr id="36" name="Text 34"/>
          <p:cNvSpPr txBox="1"/>
          <p:nvPr/>
        </p:nvSpPr>
        <p:spPr>
          <a:xfrm>
            <a:off x="3657600" y="4533900"/>
            <a:ext cx="152400" cy="152400"/>
          </a:xfrm>
          <a:prstGeom prst="rect">
            <a:avLst/>
          </a:prstGeom>
          <a:noFill/>
          <a:ln/>
        </p:spPr>
        <p:txBody>
          <a:bodyPr wrap="square" lIns="0" tIns="0" rIns="0" bIns="0" rtlCol="0" anchor="ctr"/>
          <a:lstStyle/>
          <a:p>
            <a:pPr algn="ctr" indent="0" marL="0">
              <a:lnSpc>
                <a:spcPct val="106000"/>
              </a:lnSpc>
              <a:buNone/>
            </a:pPr>
            <a:r>
              <a:rPr lang="en-US" sz="700" b="1" dirty="0">
                <a:solidFill>
                  <a:srgbClr val="047857"/>
                </a:solidFill>
                <a:latin typeface="Segoe UI" pitchFamily="34" charset="0"/>
                <a:ea typeface="Segoe UI" pitchFamily="34" charset="-122"/>
                <a:cs typeface="Segoe UI" pitchFamily="34" charset="-120"/>
              </a:rPr>
              <a:t>✓</a:t>
            </a:r>
            <a:endParaRPr lang="en-US" sz="700" dirty="0"/>
          </a:p>
        </p:txBody>
      </p:sp>
      <p:sp>
        <p:nvSpPr>
          <p:cNvPr id="37" name="Text 35"/>
          <p:cNvSpPr txBox="1"/>
          <p:nvPr/>
        </p:nvSpPr>
        <p:spPr>
          <a:xfrm>
            <a:off x="3905250" y="4524375"/>
            <a:ext cx="2667000" cy="15240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OBS + README</a:t>
            </a:r>
            <a:endParaRPr lang="en-US" sz="860" dirty="0"/>
          </a:p>
        </p:txBody>
      </p:sp>
      <p:sp>
        <p:nvSpPr>
          <p:cNvPr id="38" name="Text 36"/>
          <p:cNvSpPr txBox="1"/>
          <p:nvPr/>
        </p:nvSpPr>
        <p:spPr>
          <a:xfrm>
            <a:off x="3905250" y="4686300"/>
            <a:ext cx="2667000" cy="228600"/>
          </a:xfrm>
          <a:prstGeom prst="rect">
            <a:avLst/>
          </a:prstGeom>
          <a:noFill/>
          <a:ln/>
        </p:spPr>
        <p:txBody>
          <a:bodyPr wrap="square" lIns="0" tIns="0" rIns="0" bIns="0" rtlCol="0" anchor="t"/>
          <a:lstStyle/>
          <a:p>
            <a:pPr algn="l" indent="0" marL="0">
              <a:lnSpc>
                <a:spcPct val="106000"/>
              </a:lnSpc>
              <a:buNone/>
            </a:pPr>
            <a:r>
              <a:rPr lang="en-US" sz="640" dirty="0">
                <a:solidFill>
                  <a:srgbClr val="475569"/>
                </a:solidFill>
                <a:latin typeface="Segoe UI" pitchFamily="34" charset="0"/>
                <a:ea typeface="Segoe UI" pitchFamily="34" charset="-122"/>
                <a:cs typeface="Segoe UI" pitchFamily="34" charset="-120"/>
              </a:rPr>
              <a:t>video có mặt, commit, cập nhật bảng</a:t>
            </a:r>
            <a:endParaRPr lang="en-US" sz="640" dirty="0"/>
          </a:p>
        </p:txBody>
      </p:sp>
      <p:sp>
        <p:nvSpPr>
          <p:cNvPr id="39" name="Text 37"/>
          <p:cNvSpPr txBox="1"/>
          <p:nvPr/>
        </p:nvSpPr>
        <p:spPr>
          <a:xfrm>
            <a:off x="609600" y="5524500"/>
            <a:ext cx="6096000" cy="190500"/>
          </a:xfrm>
          <a:prstGeom prst="rect">
            <a:avLst/>
          </a:prstGeom>
          <a:noFill/>
          <a:ln/>
        </p:spPr>
        <p:txBody>
          <a:bodyPr wrap="square" lIns="0" tIns="0" rIns="0" bIns="0" rtlCol="0" anchor="t"/>
          <a:lstStyle/>
          <a:p>
            <a:pPr algn="l" indent="0" marL="0">
              <a:lnSpc>
                <a:spcPct val="106000"/>
              </a:lnSpc>
              <a:buNone/>
            </a:pPr>
            <a:r>
              <a:rPr lang="en-US" sz="700" dirty="0">
                <a:solidFill>
                  <a:srgbClr val="94A3B8"/>
                </a:solidFill>
                <a:latin typeface="Segoe UI" pitchFamily="34" charset="0"/>
                <a:ea typeface="Segoe UI" pitchFamily="34" charset="-122"/>
                <a:cs typeface="Segoe UI" pitchFamily="34" charset="-120"/>
              </a:rPr>
              <a:t>Một màn hình chưa có video OBS hoặc chưa merge dev thì chưa hoàn thành, kể cả giao diện đã đẹp.</a:t>
            </a:r>
            <a:endParaRPr lang="en-US" sz="700" dirty="0"/>
          </a:p>
        </p:txBody>
      </p:sp>
      <p:sp>
        <p:nvSpPr>
          <p:cNvPr id="40" name="Shape 38"/>
          <p:cNvSpPr/>
          <p:nvPr/>
        </p:nvSpPr>
        <p:spPr>
          <a:xfrm>
            <a:off x="7239000" y="1619250"/>
            <a:ext cx="4572000" cy="4286250"/>
          </a:xfrm>
          <a:prstGeom prst="roundRect">
            <a:avLst>
              <a:gd name="adj" fmla="val 1778"/>
            </a:avLst>
          </a:prstGeom>
          <a:solidFill>
            <a:srgbClr val="FFFFFF"/>
          </a:solidFill>
          <a:ln w="9525">
            <a:solidFill>
              <a:srgbClr val="E2E8F0"/>
            </a:solidFill>
            <a:prstDash val="solid"/>
          </a:ln>
        </p:spPr>
      </p:sp>
      <p:sp>
        <p:nvSpPr>
          <p:cNvPr id="41" name="Text 39"/>
          <p:cNvSpPr txBox="1"/>
          <p:nvPr/>
        </p:nvSpPr>
        <p:spPr>
          <a:xfrm>
            <a:off x="7467600" y="1809750"/>
            <a:ext cx="4095750" cy="133350"/>
          </a:xfrm>
          <a:prstGeom prst="rect">
            <a:avLst/>
          </a:prstGeom>
          <a:noFill/>
          <a:ln/>
        </p:spPr>
        <p:txBody>
          <a:bodyPr wrap="square" lIns="0" tIns="0" rIns="0" bIns="0" rtlCol="0" anchor="t"/>
          <a:lstStyle/>
          <a:p>
            <a:pPr algn="l" indent="0" marL="0">
              <a:lnSpc>
                <a:spcPct val="106000"/>
              </a:lnSpc>
              <a:buNone/>
            </a:pPr>
            <a:r>
              <a:rPr lang="en-US" sz="760" b="1" spc="50" kern="0" dirty="0">
                <a:solidFill>
                  <a:srgbClr val="059669"/>
                </a:solidFill>
                <a:latin typeface="Segoe UI" pitchFamily="34" charset="0"/>
                <a:ea typeface="Segoe UI" pitchFamily="34" charset="-122"/>
                <a:cs typeface="Segoe UI" pitchFamily="34" charset="-120"/>
              </a:rPr>
              <a:t>PHÂN CÔNG &amp; TRÁCH NHIỆM CHÉO</a:t>
            </a:r>
            <a:endParaRPr lang="en-US" sz="760" dirty="0"/>
          </a:p>
        </p:txBody>
      </p:sp>
      <p:sp>
        <p:nvSpPr>
          <p:cNvPr id="42" name="Shape 40"/>
          <p:cNvSpPr/>
          <p:nvPr/>
        </p:nvSpPr>
        <p:spPr>
          <a:xfrm>
            <a:off x="7467600" y="2114550"/>
            <a:ext cx="4114800" cy="990600"/>
          </a:xfrm>
          <a:prstGeom prst="roundRect">
            <a:avLst>
              <a:gd name="adj" fmla="val 7692"/>
            </a:avLst>
          </a:prstGeom>
          <a:solidFill>
            <a:srgbClr val="F8FAFC"/>
          </a:solidFill>
          <a:ln/>
        </p:spPr>
      </p:sp>
      <p:sp>
        <p:nvSpPr>
          <p:cNvPr id="43" name="Text 41"/>
          <p:cNvSpPr txBox="1"/>
          <p:nvPr/>
        </p:nvSpPr>
        <p:spPr>
          <a:xfrm>
            <a:off x="7600950" y="2228850"/>
            <a:ext cx="381000" cy="190500"/>
          </a:xfrm>
          <a:prstGeom prst="rect">
            <a:avLst/>
          </a:prstGeom>
          <a:noFill/>
          <a:ln/>
        </p:spPr>
        <p:txBody>
          <a:bodyPr wrap="square" lIns="0" tIns="0" rIns="0" bIns="0" rtlCol="0" anchor="t"/>
          <a:lstStyle/>
          <a:p>
            <a:pPr algn="l" indent="0" marL="0">
              <a:lnSpc>
                <a:spcPct val="106000"/>
              </a:lnSpc>
              <a:buNone/>
            </a:pPr>
            <a:r>
              <a:rPr lang="en-US" sz="1050" b="1" dirty="0">
                <a:solidFill>
                  <a:srgbClr val="047857"/>
                </a:solidFill>
                <a:latin typeface="Segoe UI" pitchFamily="34" charset="0"/>
                <a:ea typeface="Segoe UI" pitchFamily="34" charset="-122"/>
                <a:cs typeface="Segoe UI" pitchFamily="34" charset="-120"/>
              </a:rPr>
              <a:t>SV1</a:t>
            </a:r>
            <a:endParaRPr lang="en-US" sz="1050" dirty="0"/>
          </a:p>
        </p:txBody>
      </p:sp>
      <p:sp>
        <p:nvSpPr>
          <p:cNvPr id="44" name="Text 42"/>
          <p:cNvSpPr txBox="1"/>
          <p:nvPr/>
        </p:nvSpPr>
        <p:spPr>
          <a:xfrm>
            <a:off x="8058150" y="2228850"/>
            <a:ext cx="3390900" cy="1714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Người dùng + 4 màn hình dùng chung</a:t>
            </a:r>
            <a:endParaRPr lang="en-US" sz="860" dirty="0"/>
          </a:p>
        </p:txBody>
      </p:sp>
      <p:sp>
        <p:nvSpPr>
          <p:cNvPr id="45" name="Text 43"/>
          <p:cNvSpPr txBox="1"/>
          <p:nvPr/>
        </p:nvSpPr>
        <p:spPr>
          <a:xfrm>
            <a:off x="7600950" y="2476500"/>
            <a:ext cx="3810000" cy="2667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8 màn hình · design system · responsive</a:t>
            </a:r>
            <a:endParaRPr lang="en-US" sz="680" dirty="0"/>
          </a:p>
        </p:txBody>
      </p:sp>
      <p:sp>
        <p:nvSpPr>
          <p:cNvPr id="46" name="Text 44"/>
          <p:cNvSpPr txBox="1"/>
          <p:nvPr/>
        </p:nvSpPr>
        <p:spPr>
          <a:xfrm>
            <a:off x="7600950" y="2781300"/>
            <a:ext cx="3810000" cy="190500"/>
          </a:xfrm>
          <a:prstGeom prst="rect">
            <a:avLst/>
          </a:prstGeom>
          <a:noFill/>
          <a:ln/>
        </p:spPr>
        <p:txBody>
          <a:bodyPr wrap="square" lIns="0" tIns="0" rIns="0" bIns="0" rtlCol="0" anchor="t"/>
          <a:lstStyle/>
          <a:p>
            <a:pPr algn="l" indent="0" marL="0">
              <a:lnSpc>
                <a:spcPct val="106000"/>
              </a:lnSpc>
              <a:buNone/>
            </a:pPr>
            <a:r>
              <a:rPr lang="en-US" sz="640" dirty="0">
                <a:solidFill>
                  <a:srgbClr val="047857"/>
                </a:solidFill>
                <a:latin typeface="Segoe UI" pitchFamily="34" charset="0"/>
                <a:ea typeface="Segoe UI" pitchFamily="34" charset="-122"/>
                <a:cs typeface="Segoe UI" pitchFamily="34" charset="-120"/>
              </a:rPr>
              <a:t>Chéo: Review PR của SV2</a:t>
            </a:r>
            <a:endParaRPr lang="en-US" sz="640" dirty="0"/>
          </a:p>
        </p:txBody>
      </p:sp>
      <p:sp>
        <p:nvSpPr>
          <p:cNvPr id="47" name="Shape 45"/>
          <p:cNvSpPr/>
          <p:nvPr/>
        </p:nvSpPr>
        <p:spPr>
          <a:xfrm>
            <a:off x="7467600" y="3257550"/>
            <a:ext cx="4114800" cy="990600"/>
          </a:xfrm>
          <a:prstGeom prst="roundRect">
            <a:avLst>
              <a:gd name="adj" fmla="val 7692"/>
            </a:avLst>
          </a:prstGeom>
          <a:solidFill>
            <a:srgbClr val="F8FAFC"/>
          </a:solidFill>
          <a:ln/>
        </p:spPr>
      </p:sp>
      <p:sp>
        <p:nvSpPr>
          <p:cNvPr id="48" name="Text 46"/>
          <p:cNvSpPr txBox="1"/>
          <p:nvPr/>
        </p:nvSpPr>
        <p:spPr>
          <a:xfrm>
            <a:off x="7600950" y="3371850"/>
            <a:ext cx="381000" cy="190500"/>
          </a:xfrm>
          <a:prstGeom prst="rect">
            <a:avLst/>
          </a:prstGeom>
          <a:noFill/>
          <a:ln/>
        </p:spPr>
        <p:txBody>
          <a:bodyPr wrap="square" lIns="0" tIns="0" rIns="0" bIns="0" rtlCol="0" anchor="t"/>
          <a:lstStyle/>
          <a:p>
            <a:pPr algn="l" indent="0" marL="0">
              <a:lnSpc>
                <a:spcPct val="106000"/>
              </a:lnSpc>
              <a:buNone/>
            </a:pPr>
            <a:r>
              <a:rPr lang="en-US" sz="1050" b="1" dirty="0">
                <a:solidFill>
                  <a:srgbClr val="047857"/>
                </a:solidFill>
                <a:latin typeface="Segoe UI" pitchFamily="34" charset="0"/>
                <a:ea typeface="Segoe UI" pitchFamily="34" charset="-122"/>
                <a:cs typeface="Segoe UI" pitchFamily="34" charset="-120"/>
              </a:rPr>
              <a:t>SV2</a:t>
            </a:r>
            <a:endParaRPr lang="en-US" sz="1050" dirty="0"/>
          </a:p>
        </p:txBody>
      </p:sp>
      <p:sp>
        <p:nvSpPr>
          <p:cNvPr id="49" name="Text 47"/>
          <p:cNvSpPr txBox="1"/>
          <p:nvPr/>
        </p:nvSpPr>
        <p:spPr>
          <a:xfrm>
            <a:off x="8058150" y="3371850"/>
            <a:ext cx="3390900" cy="1714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Huấn luyện viên</a:t>
            </a:r>
            <a:endParaRPr lang="en-US" sz="860" dirty="0"/>
          </a:p>
        </p:txBody>
      </p:sp>
      <p:sp>
        <p:nvSpPr>
          <p:cNvPr id="50" name="Text 48"/>
          <p:cNvSpPr txBox="1"/>
          <p:nvPr/>
        </p:nvSpPr>
        <p:spPr>
          <a:xfrm>
            <a:off x="7600950" y="3619500"/>
            <a:ext cx="3810000" cy="2667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3 màn hình · JavaScript · dữ liệu giả lập</a:t>
            </a:r>
            <a:endParaRPr lang="en-US" sz="680" dirty="0"/>
          </a:p>
        </p:txBody>
      </p:sp>
      <p:sp>
        <p:nvSpPr>
          <p:cNvPr id="51" name="Text 49"/>
          <p:cNvSpPr txBox="1"/>
          <p:nvPr/>
        </p:nvSpPr>
        <p:spPr>
          <a:xfrm>
            <a:off x="7600950" y="3924300"/>
            <a:ext cx="3810000" cy="190500"/>
          </a:xfrm>
          <a:prstGeom prst="rect">
            <a:avLst/>
          </a:prstGeom>
          <a:noFill/>
          <a:ln/>
        </p:spPr>
        <p:txBody>
          <a:bodyPr wrap="square" lIns="0" tIns="0" rIns="0" bIns="0" rtlCol="0" anchor="t"/>
          <a:lstStyle/>
          <a:p>
            <a:pPr algn="l" indent="0" marL="0">
              <a:lnSpc>
                <a:spcPct val="106000"/>
              </a:lnSpc>
              <a:buNone/>
            </a:pPr>
            <a:r>
              <a:rPr lang="en-US" sz="640" dirty="0">
                <a:solidFill>
                  <a:srgbClr val="047857"/>
                </a:solidFill>
                <a:latin typeface="Segoe UI" pitchFamily="34" charset="0"/>
                <a:ea typeface="Segoe UI" pitchFamily="34" charset="-122"/>
                <a:cs typeface="Segoe UI" pitchFamily="34" charset="-120"/>
              </a:rPr>
              <a:t>Chéo: Review PR của SV1</a:t>
            </a:r>
            <a:endParaRPr lang="en-US" sz="640" dirty="0"/>
          </a:p>
        </p:txBody>
      </p:sp>
      <p:sp>
        <p:nvSpPr>
          <p:cNvPr id="52" name="Shape 50"/>
          <p:cNvSpPr/>
          <p:nvPr/>
        </p:nvSpPr>
        <p:spPr>
          <a:xfrm>
            <a:off x="7467600" y="4400550"/>
            <a:ext cx="4114800" cy="990600"/>
          </a:xfrm>
          <a:prstGeom prst="roundRect">
            <a:avLst>
              <a:gd name="adj" fmla="val 7692"/>
            </a:avLst>
          </a:prstGeom>
          <a:solidFill>
            <a:srgbClr val="F8FAFC"/>
          </a:solidFill>
          <a:ln/>
        </p:spPr>
      </p:sp>
      <p:sp>
        <p:nvSpPr>
          <p:cNvPr id="53" name="Text 51"/>
          <p:cNvSpPr txBox="1"/>
          <p:nvPr/>
        </p:nvSpPr>
        <p:spPr>
          <a:xfrm>
            <a:off x="7600950" y="4514850"/>
            <a:ext cx="381000" cy="190500"/>
          </a:xfrm>
          <a:prstGeom prst="rect">
            <a:avLst/>
          </a:prstGeom>
          <a:noFill/>
          <a:ln/>
        </p:spPr>
        <p:txBody>
          <a:bodyPr wrap="square" lIns="0" tIns="0" rIns="0" bIns="0" rtlCol="0" anchor="t"/>
          <a:lstStyle/>
          <a:p>
            <a:pPr algn="l" indent="0" marL="0">
              <a:lnSpc>
                <a:spcPct val="106000"/>
              </a:lnSpc>
              <a:buNone/>
            </a:pPr>
            <a:r>
              <a:rPr lang="en-US" sz="1050" b="1" dirty="0">
                <a:solidFill>
                  <a:srgbClr val="047857"/>
                </a:solidFill>
                <a:latin typeface="Segoe UI" pitchFamily="34" charset="0"/>
                <a:ea typeface="Segoe UI" pitchFamily="34" charset="-122"/>
                <a:cs typeface="Segoe UI" pitchFamily="34" charset="-120"/>
              </a:rPr>
              <a:t>SV3</a:t>
            </a:r>
            <a:endParaRPr lang="en-US" sz="1050" dirty="0"/>
          </a:p>
        </p:txBody>
      </p:sp>
      <p:sp>
        <p:nvSpPr>
          <p:cNvPr id="54" name="Text 52"/>
          <p:cNvSpPr txBox="1"/>
          <p:nvPr/>
        </p:nvSpPr>
        <p:spPr>
          <a:xfrm>
            <a:off x="8058150" y="4514850"/>
            <a:ext cx="3390900" cy="171450"/>
          </a:xfrm>
          <a:prstGeom prst="rect">
            <a:avLst/>
          </a:prstGeom>
          <a:noFill/>
          <a:ln/>
        </p:spPr>
        <p:txBody>
          <a:bodyPr wrap="square" lIns="0" tIns="0" rIns="0" bIns="0" rtlCol="0" anchor="t"/>
          <a:lstStyle/>
          <a:p>
            <a:pPr algn="l" indent="0" marL="0">
              <a:lnSpc>
                <a:spcPct val="106000"/>
              </a:lnSpc>
              <a:buNone/>
            </a:pPr>
            <a:r>
              <a:rPr lang="en-US" sz="860" b="1" dirty="0">
                <a:solidFill>
                  <a:srgbClr val="0F172A"/>
                </a:solidFill>
                <a:latin typeface="Segoe UI" pitchFamily="34" charset="0"/>
                <a:ea typeface="Segoe UI" pitchFamily="34" charset="-122"/>
                <a:cs typeface="Segoe UI" pitchFamily="34" charset="-120"/>
              </a:rPr>
              <a:t>Kiểm duyệt viên + Quản trị viên</a:t>
            </a:r>
            <a:endParaRPr lang="en-US" sz="860" dirty="0"/>
          </a:p>
        </p:txBody>
      </p:sp>
      <p:sp>
        <p:nvSpPr>
          <p:cNvPr id="55" name="Text 53"/>
          <p:cNvSpPr txBox="1"/>
          <p:nvPr/>
        </p:nvSpPr>
        <p:spPr>
          <a:xfrm>
            <a:off x="7600950" y="4762500"/>
            <a:ext cx="3810000" cy="266700"/>
          </a:xfrm>
          <a:prstGeom prst="rect">
            <a:avLst/>
          </a:prstGeom>
          <a:noFill/>
          <a:ln/>
        </p:spPr>
        <p:txBody>
          <a:bodyPr wrap="square" lIns="0" tIns="0" rIns="0" bIns="0" rtlCol="0" anchor="t"/>
          <a:lstStyle/>
          <a:p>
            <a:pPr algn="l" indent="0" marL="0">
              <a:lnSpc>
                <a:spcPct val="106000"/>
              </a:lnSpc>
              <a:buNone/>
            </a:pPr>
            <a:r>
              <a:rPr lang="en-US" sz="680" dirty="0">
                <a:solidFill>
                  <a:srgbClr val="475569"/>
                </a:solidFill>
                <a:latin typeface="Segoe UI" pitchFamily="34" charset="0"/>
                <a:ea typeface="Segoe UI" pitchFamily="34" charset="-122"/>
                <a:cs typeface="Segoe UI" pitchFamily="34" charset="-120"/>
              </a:rPr>
              <a:t>8 màn hình · 6 vai trò + 403/404</a:t>
            </a:r>
            <a:endParaRPr lang="en-US" sz="680" dirty="0"/>
          </a:p>
        </p:txBody>
      </p:sp>
      <p:sp>
        <p:nvSpPr>
          <p:cNvPr id="56" name="Text 54"/>
          <p:cNvSpPr txBox="1"/>
          <p:nvPr/>
        </p:nvSpPr>
        <p:spPr>
          <a:xfrm>
            <a:off x="7600950" y="5067300"/>
            <a:ext cx="3810000" cy="190500"/>
          </a:xfrm>
          <a:prstGeom prst="rect">
            <a:avLst/>
          </a:prstGeom>
          <a:noFill/>
          <a:ln/>
        </p:spPr>
        <p:txBody>
          <a:bodyPr wrap="square" lIns="0" tIns="0" rIns="0" bIns="0" rtlCol="0" anchor="t"/>
          <a:lstStyle/>
          <a:p>
            <a:pPr algn="l" indent="0" marL="0">
              <a:lnSpc>
                <a:spcPct val="106000"/>
              </a:lnSpc>
              <a:buNone/>
            </a:pPr>
            <a:r>
              <a:rPr lang="en-US" sz="640" dirty="0">
                <a:solidFill>
                  <a:srgbClr val="047857"/>
                </a:solidFill>
                <a:latin typeface="Segoe UI" pitchFamily="34" charset="0"/>
                <a:ea typeface="Segoe UI" pitchFamily="34" charset="-122"/>
                <a:cs typeface="Segoe UI" pitchFamily="34" charset="-120"/>
              </a:rPr>
              <a:t>Chéo: Kiểm tính nhất quán toàn dự án</a:t>
            </a:r>
            <a:endParaRPr lang="en-US" sz="640" dirty="0"/>
          </a:p>
        </p:txBody>
      </p:sp>
      <p:sp>
        <p:nvSpPr>
          <p:cNvPr id="57" name="Text 55"/>
          <p:cNvSpPr txBox="1"/>
          <p:nvPr/>
        </p:nvSpPr>
        <p:spPr>
          <a:xfrm>
            <a:off x="7467600" y="5619750"/>
            <a:ext cx="4114800" cy="228600"/>
          </a:xfrm>
          <a:prstGeom prst="rect">
            <a:avLst/>
          </a:prstGeom>
          <a:noFill/>
          <a:ln/>
        </p:spPr>
        <p:txBody>
          <a:bodyPr wrap="square" lIns="0" tIns="0" rIns="0" bIns="0" rtlCol="0" anchor="t"/>
          <a:lstStyle/>
          <a:p>
            <a:pPr algn="l" indent="0" marL="0">
              <a:lnSpc>
                <a:spcPct val="106000"/>
              </a:lnSpc>
              <a:buNone/>
            </a:pPr>
            <a:r>
              <a:rPr lang="en-US" sz="660" dirty="0">
                <a:solidFill>
                  <a:srgbClr val="94A3B8"/>
                </a:solidFill>
                <a:latin typeface="Segoe UI" pitchFamily="34" charset="0"/>
                <a:ea typeface="Segoe UI" pitchFamily="34" charset="-122"/>
                <a:cs typeface="Segoe UI" pitchFamily="34" charset="-120"/>
              </a:rPr>
              <a:t>Mỗi sinh viên tự làm trọn lát cắt: thiết kế → HTML → CSS → JS → dữ liệu → responsive → nhánh → PR → OBS.</a:t>
            </a:r>
            <a:endParaRPr lang="en-US" sz="660" dirty="0"/>
          </a:p>
        </p:txBody>
      </p:sp>
      <p:sp>
        <p:nvSpPr>
          <p:cNvPr id="58" name="Shape 56"/>
          <p:cNvSpPr/>
          <p:nvPr/>
        </p:nvSpPr>
        <p:spPr>
          <a:xfrm>
            <a:off x="381000" y="6096000"/>
            <a:ext cx="11430000" cy="419100"/>
          </a:xfrm>
          <a:prstGeom prst="roundRect">
            <a:avLst>
              <a:gd name="adj" fmla="val 18182"/>
            </a:avLst>
          </a:prstGeom>
          <a:solidFill>
            <a:srgbClr val="052E22"/>
          </a:solidFill>
          <a:ln/>
        </p:spPr>
      </p:sp>
      <p:sp>
        <p:nvSpPr>
          <p:cNvPr id="59" name="Text 57"/>
          <p:cNvSpPr txBox="1"/>
          <p:nvPr/>
        </p:nvSpPr>
        <p:spPr>
          <a:xfrm>
            <a:off x="571500" y="6210300"/>
            <a:ext cx="11049000" cy="209550"/>
          </a:xfrm>
          <a:prstGeom prst="rect">
            <a:avLst/>
          </a:prstGeom>
          <a:noFill/>
          <a:ln/>
        </p:spPr>
        <p:txBody>
          <a:bodyPr wrap="square" lIns="0" tIns="0" rIns="0" bIns="0" rtlCol="0" anchor="t"/>
          <a:lstStyle/>
          <a:p>
            <a:pPr algn="l" indent="0" marL="0">
              <a:lnSpc>
                <a:spcPct val="106000"/>
              </a:lnSpc>
              <a:buNone/>
            </a:pPr>
            <a:r>
              <a:rPr lang="en-US" sz="900" dirty="0">
                <a:solidFill>
                  <a:srgbClr val="D1FAE5"/>
                </a:solidFill>
                <a:latin typeface="Segoe UI" pitchFamily="34" charset="0"/>
                <a:ea typeface="Segoe UI" pitchFamily="34" charset="-122"/>
                <a:cs typeface="Segoe UI" pitchFamily="34" charset="-120"/>
              </a:rPr>
              <a:t>Bước tiếp theo: duyệt thiết kế → khung dây → code nhánh feature/* → PR → OBS → merge dev → main.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CSE.TLU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SpendWise - Thiet ke giao dien</dc:title>
  <dc:subject>BTL-18 CSE122</dc:subject>
  <dc:creator>SpendWise Team</dc:creator>
  <cp:lastModifiedBy>SpendWise Team</cp:lastModifiedBy>
  <cp:revision>1</cp:revision>
  <dcterms:created xsi:type="dcterms:W3CDTF">2026-10-24T15:24:27Z</dcterms:created>
  <dcterms:modified xsi:type="dcterms:W3CDTF">2026-10-24T15:24:27Z</dcterms:modified>
</cp:coreProperties>
</file>